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377" r:id="rId3"/>
    <p:sldId id="378" r:id="rId4"/>
    <p:sldId id="379" r:id="rId5"/>
    <p:sldId id="383" r:id="rId6"/>
    <p:sldId id="382" r:id="rId7"/>
    <p:sldId id="384" r:id="rId8"/>
    <p:sldId id="381" r:id="rId9"/>
    <p:sldId id="344" r:id="rId10"/>
    <p:sldId id="345" r:id="rId11"/>
    <p:sldId id="339" r:id="rId12"/>
    <p:sldId id="346" r:id="rId13"/>
    <p:sldId id="347" r:id="rId14"/>
    <p:sldId id="348" r:id="rId15"/>
    <p:sldId id="350" r:id="rId16"/>
    <p:sldId id="349" r:id="rId17"/>
    <p:sldId id="351" r:id="rId18"/>
    <p:sldId id="352" r:id="rId19"/>
    <p:sldId id="353" r:id="rId20"/>
    <p:sldId id="340" r:id="rId21"/>
    <p:sldId id="374" r:id="rId22"/>
    <p:sldId id="354" r:id="rId23"/>
    <p:sldId id="341" r:id="rId24"/>
    <p:sldId id="342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1" r:id="rId42"/>
    <p:sldId id="373" r:id="rId43"/>
    <p:sldId id="385" r:id="rId44"/>
    <p:sldId id="372" r:id="rId45"/>
    <p:sldId id="375" r:id="rId46"/>
    <p:sldId id="376" r:id="rId47"/>
  </p:sldIdLst>
  <p:sldSz cx="13004800" cy="9753600"/>
  <p:notesSz cx="7007225" cy="9296400"/>
  <p:defaultTextStyle>
    <a:defPPr>
      <a:defRPr lang="en-US"/>
    </a:defPPr>
    <a:lvl1pPr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marL="457200" indent="-2286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marL="914400" indent="-4572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marL="1371600" indent="-6858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marL="1828800" indent="-9144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6pPr>
    <a:lvl7pPr marL="27432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7pPr>
    <a:lvl8pPr marL="32004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8pPr>
    <a:lvl9pPr marL="36576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330" y="-90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8750" y="0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r">
              <a:defRPr sz="1200"/>
            </a:lvl1pPr>
          </a:lstStyle>
          <a:p>
            <a:pPr>
              <a:defRPr/>
            </a:pPr>
            <a:fld id="{231B3D12-EB5E-4DBD-B1D2-B9BE0915A721}" type="datetimeFigureOut">
              <a:rPr lang="en-US"/>
              <a:pPr>
                <a:defRPr/>
              </a:pPr>
              <a:t>7/12/2019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8750" y="8829675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r">
              <a:defRPr sz="1200"/>
            </a:lvl1pPr>
          </a:lstStyle>
          <a:p>
            <a:pPr>
              <a:defRPr/>
            </a:pPr>
            <a:fld id="{9689D15F-4C94-4BB4-A061-5F06739A46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79513" y="696913"/>
            <a:ext cx="4648200" cy="3486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50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35038" y="4416425"/>
            <a:ext cx="5137150" cy="418306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159" tIns="46580" rIns="93159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noProof="0" smtClean="0">
                <a:sym typeface="Helvetica Neue" charset="0"/>
              </a:rPr>
              <a:t>Second level</a:t>
            </a:r>
          </a:p>
          <a:p>
            <a:pPr lvl="2"/>
            <a:r>
              <a:rPr lang="en-US" noProof="0" smtClean="0">
                <a:sym typeface="Helvetica Neue" charset="0"/>
              </a:rPr>
              <a:t>Third level</a:t>
            </a:r>
          </a:p>
          <a:p>
            <a:pPr lvl="3"/>
            <a:r>
              <a:rPr lang="en-US" noProof="0" smtClean="0">
                <a:sym typeface="Helvetica Neue" charset="0"/>
              </a:rPr>
              <a:t>Fourth level</a:t>
            </a:r>
          </a:p>
          <a:p>
            <a:pPr lvl="4"/>
            <a:r>
              <a:rPr lang="en-US" noProof="0" smtClean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1BF73-A674-4D7B-B1DA-2178CF8CE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99800" cy="1498600"/>
          </a:xfrm>
        </p:spPr>
        <p:txBody>
          <a:bodyPr/>
          <a:lstStyle>
            <a:lvl1pPr>
              <a:defRPr sz="48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1099800" cy="6896100"/>
          </a:xfrm>
        </p:spPr>
        <p:txBody>
          <a:bodyPr anchor="t"/>
          <a:lstStyle>
            <a:lvl1pPr marL="457200" indent="-457200">
              <a:spcBef>
                <a:spcPts val="800"/>
              </a:spcBef>
              <a:buSzPct val="100000"/>
              <a:buFont typeface="Wingdings" pitchFamily="2" charset="2"/>
              <a:buChar char="l"/>
              <a:defRPr/>
            </a:lvl1pPr>
            <a:lvl2pPr marL="800100" indent="-342900">
              <a:spcBef>
                <a:spcPts val="700"/>
              </a:spcBef>
              <a:buSzPct val="125000"/>
              <a:buFont typeface="Courier New" pitchFamily="49" charset="0"/>
              <a:buChar char="o"/>
              <a:defRPr sz="2800"/>
            </a:lvl2pPr>
            <a:lvl3pPr marL="1092200" indent="-292100" defTabSz="622300">
              <a:spcBef>
                <a:spcPts val="600"/>
              </a:spcBef>
              <a:buSzPct val="100000"/>
              <a:buFont typeface="Wingdings" pitchFamily="2" charset="2"/>
              <a:buChar char="Ø"/>
              <a:defRPr sz="2400"/>
            </a:lvl3pPr>
            <a:lvl4pPr marL="1435100" indent="-342900">
              <a:spcBef>
                <a:spcPts val="480"/>
              </a:spcBef>
              <a:buSzPct val="90000"/>
              <a:buFont typeface="Wingdings" pitchFamily="2" charset="2"/>
              <a:buChar char="q"/>
              <a:defRPr sz="2000"/>
            </a:lvl4pPr>
            <a:lvl5pPr marL="1663700" indent="-228600">
              <a:spcBef>
                <a:spcPts val="480"/>
              </a:spcBef>
              <a:buSzPct val="100000"/>
              <a:buFont typeface="Wingdings" pitchFamily="2" charset="2"/>
              <a:buChar char="§"/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4083050"/>
            <a:ext cx="11053762" cy="1936750"/>
          </a:xfrm>
        </p:spPr>
        <p:txBody>
          <a:bodyPr anchor="t"/>
          <a:lstStyle>
            <a:lvl1pPr algn="ctr">
              <a:defRPr sz="44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594360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500" y="2590800"/>
            <a:ext cx="5473700" cy="6286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590800"/>
            <a:ext cx="5473700" cy="6286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FB8B4-07D6-4010-AB0B-CBD0D8E2D7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2C210-B940-4792-8C46-1EE289A7C9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804A6F-6B50-4A70-90D5-CDD606E1E1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E4FFF-F21E-4CEF-A104-7D137C108D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7C558-6DD2-4120-9354-832E35A407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Helvetica Neue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E213-355E-4C6F-897A-F8E85C236A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DD4EB-4B13-4170-839C-985C8BDD15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0" y="254000"/>
            <a:ext cx="2774950" cy="8623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500" y="254000"/>
            <a:ext cx="8172450" cy="8623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B3AAA-8235-41AC-B2BA-B48EA47201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 bwMode="auto">
          <a:xfrm>
            <a:off x="952500" y="254000"/>
            <a:ext cx="11099800" cy="215900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Medium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 idx="1"/>
          </p:nvPr>
        </p:nvSpPr>
        <p:spPr bwMode="auto">
          <a:xfrm>
            <a:off x="952500" y="2590800"/>
            <a:ext cx="11099800" cy="628650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" charset="0"/>
              </a:rPr>
              <a:t>Second level</a:t>
            </a:r>
          </a:p>
          <a:p>
            <a:pPr lvl="2"/>
            <a:r>
              <a:rPr lang="en-US" smtClean="0">
                <a:sym typeface="Helvetica Neue" charset="0"/>
              </a:rPr>
              <a:t>Third level</a:t>
            </a:r>
          </a:p>
          <a:p>
            <a:pPr lvl="3"/>
            <a:r>
              <a:rPr lang="en-US" smtClean="0">
                <a:sym typeface="Helvetica Neue" charset="0"/>
              </a:rPr>
              <a:t>Fourth level</a:t>
            </a:r>
          </a:p>
          <a:p>
            <a:pPr lvl="4"/>
            <a:r>
              <a:rPr lang="en-US" smtClean="0">
                <a:sym typeface="Helvetica Neue" charset="0"/>
              </a:rPr>
              <a:t>Fifth level</a:t>
            </a:r>
          </a:p>
        </p:txBody>
      </p:sp>
      <p:sp>
        <p:nvSpPr>
          <p:cNvPr id="2" name="Rectangle 3"/>
          <p:cNvSpPr>
            <a:spLocks noGrp="1"/>
          </p:cNvSpPr>
          <p:nvPr>
            <p:ph type="sldNum" sz="quarter" idx="2"/>
          </p:nvPr>
        </p:nvSpPr>
        <p:spPr bwMode="auto">
          <a:xfrm>
            <a:off x="6327775" y="9296400"/>
            <a:ext cx="341313" cy="323850"/>
          </a:xfrm>
          <a:prstGeom prst="rect">
            <a:avLst/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anchor="t" anchorCtr="0" compatLnSpc="1">
            <a:prstTxWarp prst="textNoShape">
              <a:avLst/>
            </a:prstTxWarp>
          </a:bodyPr>
          <a:lstStyle>
            <a:lvl1pPr>
              <a:defRPr sz="1600" b="0">
                <a:latin typeface="Helvetica Neue Light" charset="0"/>
                <a:ea typeface="Helvetica Neue Light" charset="0"/>
                <a:cs typeface="Helvetica Neue Light" charset="0"/>
                <a:sym typeface="Helvetica Neue Light" charset="0"/>
              </a:defRPr>
            </a:lvl1pPr>
          </a:lstStyle>
          <a:p>
            <a:pPr>
              <a:defRPr/>
            </a:pPr>
            <a:fld id="{25C490D4-7A1B-45D2-B551-E1B1E148D9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4" r:id="rId2"/>
    <p:sldLayoutId id="214748368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+mj-lt"/>
          <a:ea typeface="+mj-ea"/>
          <a:cs typeface="+mj-cs"/>
          <a:sym typeface="Helvetica Neue Medium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9pPr>
    </p:titleStyle>
    <p:bodyStyle>
      <a:lvl1pPr marL="4445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marL="8890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marL="13335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marL="17780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marL="22225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6797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6pPr>
      <a:lvl7pPr marL="31369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7pPr>
      <a:lvl8pPr marL="35941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8pPr>
      <a:lvl9pPr marL="40513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ctrTitle"/>
          </p:nvPr>
        </p:nvSpPr>
        <p:spPr>
          <a:xfrm>
            <a:off x="1270000" y="1638300"/>
            <a:ext cx="10464800" cy="3302000"/>
          </a:xfrm>
        </p:spPr>
        <p:txBody>
          <a:bodyPr anchor="b"/>
          <a:lstStyle/>
          <a:p>
            <a:pPr eaLnBrk="1"/>
            <a:r>
              <a:rPr lang="en-US" dirty="0" smtClean="0"/>
              <a:t>Libraries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0000" y="5041900"/>
            <a:ext cx="10464800" cy="1130300"/>
          </a:xfrm>
        </p:spPr>
        <p:txBody>
          <a:bodyPr anchor="t"/>
          <a:lstStyle/>
          <a:p>
            <a:pPr eaLnBrk="1">
              <a:spcBef>
                <a:spcPct val="0"/>
              </a:spcBef>
              <a:buSzTx/>
            </a:pPr>
            <a:endParaRPr lang="en-US" sz="370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Reusing 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but the simplest programs reuse code already written</a:t>
            </a:r>
          </a:p>
          <a:p>
            <a:pPr lvl="1"/>
            <a:r>
              <a:rPr lang="en-US" dirty="0" smtClean="0"/>
              <a:t>system code</a:t>
            </a:r>
          </a:p>
          <a:p>
            <a:pPr lvl="2">
              <a:buClr>
                <a:schemeClr val="tx1"/>
              </a:buClr>
            </a:pPr>
            <a:r>
              <a:rPr lang="en-US" kern="1200" dirty="0" smtClean="0">
                <a:solidFill>
                  <a:srgbClr val="D03BFF"/>
                </a:solidFill>
                <a:ea typeface="Menlo" charset="0"/>
                <a:cs typeface="Menlo" charset="0"/>
                <a:sym typeface="Menlo" charset="0"/>
              </a:rPr>
              <a:t>#use &lt;</a:t>
            </a:r>
            <a:r>
              <a:rPr lang="en-US" b="1" kern="1200" dirty="0" err="1" smtClean="0">
                <a:solidFill>
                  <a:srgbClr val="D03BFF"/>
                </a:solidFill>
                <a:ea typeface="Menlo" charset="0"/>
                <a:cs typeface="Menlo" charset="0"/>
                <a:sym typeface="Menlo" charset="0"/>
              </a:rPr>
              <a:t>conio</a:t>
            </a:r>
            <a:r>
              <a:rPr lang="en-US" kern="1200" dirty="0" smtClean="0">
                <a:solidFill>
                  <a:srgbClr val="D03BFF"/>
                </a:solidFill>
                <a:ea typeface="Menlo" charset="0"/>
                <a:cs typeface="Menlo" charset="0"/>
                <a:sym typeface="Menlo" charset="0"/>
              </a:rPr>
              <a:t>&gt;</a:t>
            </a:r>
          </a:p>
          <a:p>
            <a:pPr lvl="1"/>
            <a:r>
              <a:rPr lang="en-US" dirty="0" smtClean="0"/>
              <a:t>simple code you wrote in the past</a:t>
            </a:r>
          </a:p>
          <a:p>
            <a:pPr lvl="2"/>
            <a:r>
              <a:rPr lang="en-US" b="1" dirty="0" smtClean="0"/>
              <a:t>pixel.c0</a:t>
            </a:r>
          </a:p>
          <a:p>
            <a:pPr lvl="1"/>
            <a:r>
              <a:rPr lang="en-US" dirty="0" smtClean="0"/>
              <a:t>complex code somebody else wrote</a:t>
            </a:r>
          </a:p>
          <a:p>
            <a:pPr lvl="2"/>
            <a:r>
              <a:rPr lang="en-US" b="1" dirty="0" smtClean="0"/>
              <a:t>jquery.js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Why?</a:t>
            </a:r>
          </a:p>
          <a:p>
            <a:pPr lvl="1"/>
            <a:r>
              <a:rPr lang="en-US" dirty="0" smtClean="0"/>
              <a:t>Writing correct code is hard and time-consuming!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These are </a:t>
            </a:r>
            <a:r>
              <a:rPr lang="en-US" b="1" dirty="0" smtClean="0"/>
              <a:t>libraries</a:t>
            </a:r>
          </a:p>
          <a:p>
            <a:pPr lvl="1"/>
            <a:r>
              <a:rPr lang="en-US" dirty="0" smtClean="0"/>
              <a:t>They separate out code used across many applications from the applications themselves</a:t>
            </a:r>
          </a:p>
          <a:p>
            <a:pPr lvl="1"/>
            <a:endParaRPr lang="en-US" dirty="0"/>
          </a:p>
        </p:txBody>
      </p:sp>
      <p:sp>
        <p:nvSpPr>
          <p:cNvPr id="6" name="Rectangular Callout 5"/>
          <p:cNvSpPr/>
          <p:nvPr/>
        </p:nvSpPr>
        <p:spPr bwMode="auto">
          <a:xfrm>
            <a:off x="5664200" y="2819400"/>
            <a:ext cx="3107646" cy="400110"/>
          </a:xfrm>
          <a:prstGeom prst="wedgeRectCallout">
            <a:avLst>
              <a:gd name="adj1" fmla="val -100178"/>
              <a:gd name="adj2" fmla="val 59596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C0’s input/output functions</a:t>
            </a:r>
            <a:endParaRPr lang="en-US" sz="2000" b="0" dirty="0"/>
          </a:p>
        </p:txBody>
      </p:sp>
      <p:sp>
        <p:nvSpPr>
          <p:cNvPr id="7" name="Rectangular Callout 6"/>
          <p:cNvSpPr/>
          <p:nvPr/>
        </p:nvSpPr>
        <p:spPr bwMode="auto">
          <a:xfrm>
            <a:off x="5604554" y="4095690"/>
            <a:ext cx="4199227" cy="400110"/>
          </a:xfrm>
          <a:prstGeom prst="wedgeRectCallout">
            <a:avLst>
              <a:gd name="adj1" fmla="val -102408"/>
              <a:gd name="adj2" fmla="val -1460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Encoding and manipulation of pixels</a:t>
            </a:r>
            <a:endParaRPr lang="en-US" sz="2000" b="0" dirty="0"/>
          </a:p>
        </p:txBody>
      </p:sp>
      <p:sp>
        <p:nvSpPr>
          <p:cNvPr id="8" name="Rectangular Callout 7"/>
          <p:cNvSpPr/>
          <p:nvPr/>
        </p:nvSpPr>
        <p:spPr bwMode="auto">
          <a:xfrm>
            <a:off x="5588000" y="5029200"/>
            <a:ext cx="5380640" cy="400110"/>
          </a:xfrm>
          <a:prstGeom prst="wedgeRectCallout">
            <a:avLst>
              <a:gd name="adj1" fmla="val -89415"/>
              <a:gd name="adj2" fmla="val 617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err="1" smtClean="0"/>
              <a:t>Javascript</a:t>
            </a:r>
            <a:r>
              <a:rPr lang="en-US" sz="2000" b="0" dirty="0" smtClean="0"/>
              <a:t> utilities to build dynamic web pages</a:t>
            </a:r>
            <a:endParaRPr lang="en-US" sz="20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1341100" cy="6896100"/>
          </a:xfrm>
        </p:spPr>
        <p:txBody>
          <a:bodyPr/>
          <a:lstStyle/>
          <a:p>
            <a:r>
              <a:rPr lang="en-US" dirty="0" smtClean="0"/>
              <a:t>Libraries promote </a:t>
            </a:r>
            <a:r>
              <a:rPr lang="en-US" b="1" dirty="0" smtClean="0"/>
              <a:t>abstraction</a:t>
            </a:r>
          </a:p>
          <a:p>
            <a:pPr lvl="1"/>
            <a:r>
              <a:rPr lang="en-US" dirty="0" smtClean="0"/>
              <a:t>Focus on </a:t>
            </a:r>
            <a:r>
              <a:rPr lang="en-US" b="1" dirty="0" smtClean="0"/>
              <a:t>what</a:t>
            </a:r>
            <a:r>
              <a:rPr lang="en-US" dirty="0" smtClean="0"/>
              <a:t> the library code does</a:t>
            </a:r>
          </a:p>
          <a:p>
            <a:pPr lvl="2"/>
            <a:r>
              <a:rPr lang="en-US" dirty="0" smtClean="0"/>
              <a:t>print an integer to terminal using </a:t>
            </a:r>
            <a:r>
              <a:rPr lang="en-US" dirty="0" err="1" smtClean="0">
                <a:solidFill>
                  <a:srgbClr val="7030A0"/>
                </a:solidFill>
              </a:rPr>
              <a:t>printint</a:t>
            </a:r>
            <a:endParaRPr lang="en-US" dirty="0" smtClean="0">
              <a:solidFill>
                <a:srgbClr val="7030A0"/>
              </a:solidFill>
            </a:endParaRPr>
          </a:p>
          <a:p>
            <a:pPr lvl="1"/>
            <a:r>
              <a:rPr lang="en-US" dirty="0" smtClean="0"/>
              <a:t>not on </a:t>
            </a:r>
            <a:r>
              <a:rPr lang="en-US" b="1" dirty="0" smtClean="0"/>
              <a:t>how</a:t>
            </a:r>
            <a:r>
              <a:rPr lang="en-US" dirty="0" smtClean="0"/>
              <a:t> it does it</a:t>
            </a:r>
          </a:p>
          <a:p>
            <a:pPr lvl="2"/>
            <a:r>
              <a:rPr lang="en-US" dirty="0" smtClean="0"/>
              <a:t>the many minute steps to turn a integer into terminal output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Abstraction has lots of </a:t>
            </a:r>
            <a:r>
              <a:rPr lang="en-US" b="1" dirty="0" smtClean="0"/>
              <a:t>benefits</a:t>
            </a:r>
          </a:p>
          <a:p>
            <a:pPr lvl="1"/>
            <a:r>
              <a:rPr lang="en-US" dirty="0" smtClean="0"/>
              <a:t>Hide inessential details</a:t>
            </a:r>
          </a:p>
          <a:p>
            <a:pPr lvl="2"/>
            <a:r>
              <a:rPr lang="en-US" dirty="0" smtClean="0"/>
              <a:t>writing code is hard enough without also having to know how </a:t>
            </a:r>
            <a:r>
              <a:rPr lang="en-US" dirty="0" err="1" smtClean="0">
                <a:solidFill>
                  <a:srgbClr val="7030A0"/>
                </a:solidFill>
              </a:rPr>
              <a:t>printint</a:t>
            </a:r>
            <a:r>
              <a:rPr lang="en-US" dirty="0" smtClean="0"/>
              <a:t> works</a:t>
            </a:r>
          </a:p>
          <a:p>
            <a:pPr lvl="1"/>
            <a:r>
              <a:rPr lang="en-US" dirty="0" smtClean="0"/>
              <a:t>Make code more manageable</a:t>
            </a:r>
          </a:p>
          <a:p>
            <a:pPr lvl="2"/>
            <a:r>
              <a:rPr lang="en-US" dirty="0" smtClean="0"/>
              <a:t>if we find a bug in </a:t>
            </a:r>
            <a:r>
              <a:rPr lang="en-US" dirty="0" err="1" smtClean="0">
                <a:solidFill>
                  <a:srgbClr val="7030A0"/>
                </a:solidFill>
              </a:rPr>
              <a:t>printint</a:t>
            </a:r>
            <a:r>
              <a:rPr lang="en-US" dirty="0" smtClean="0"/>
              <a:t>, there is a single place where to fix it</a:t>
            </a:r>
          </a:p>
          <a:p>
            <a:pPr lvl="1"/>
            <a:r>
              <a:rPr lang="en-US" dirty="0" smtClean="0"/>
              <a:t>Allow for transparent improvements</a:t>
            </a:r>
          </a:p>
          <a:p>
            <a:pPr lvl="2"/>
            <a:r>
              <a:rPr lang="en-US" dirty="0" smtClean="0"/>
              <a:t>if we find a better way of printing, update the library not the applications</a:t>
            </a:r>
          </a:p>
          <a:p>
            <a:pPr lvl="2"/>
            <a:endParaRPr lang="en-US" dirty="0" smtClean="0"/>
          </a:p>
          <a:p>
            <a:pPr algn="ctr">
              <a:buNone/>
            </a:pPr>
            <a:r>
              <a:rPr lang="en-US" i="1" dirty="0" smtClean="0"/>
              <a:t>Computer science is all about abstraction!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a Library Anyway?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b="1" dirty="0" smtClean="0"/>
              <a:t>interface</a:t>
            </a:r>
            <a:r>
              <a:rPr lang="en-US" dirty="0" smtClean="0"/>
              <a:t> </a:t>
            </a:r>
          </a:p>
          <a:p>
            <a:pPr marL="1263650" lvl="2" indent="-514350"/>
            <a:r>
              <a:rPr lang="en-US" dirty="0" smtClean="0"/>
              <a:t>Lists the functionalities the library exports and how to use them</a:t>
            </a:r>
          </a:p>
          <a:p>
            <a:pPr marL="1263650" lvl="2" indent="-514350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B050"/>
                </a:solidFill>
              </a:rPr>
              <a:t>void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printint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C000"/>
                </a:solidFill>
              </a:rPr>
              <a:t>i</a:t>
            </a:r>
            <a:r>
              <a:rPr lang="en-US" dirty="0" smtClean="0"/>
              <a:t>);</a:t>
            </a:r>
          </a:p>
          <a:p>
            <a:pPr marL="1263650" lvl="2" indent="-514350"/>
            <a:endParaRPr lang="en-US" dirty="0" smtClean="0"/>
          </a:p>
          <a:p>
            <a:pPr marL="1263650" lvl="2" indent="-514350"/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b="1" dirty="0" smtClean="0"/>
              <a:t>implementation</a:t>
            </a:r>
          </a:p>
          <a:p>
            <a:pPr marL="1263650" lvl="2" indent="-514350"/>
            <a:r>
              <a:rPr lang="en-US" dirty="0" smtClean="0"/>
              <a:t>The code that implements them</a:t>
            </a:r>
          </a:p>
          <a:p>
            <a:pPr marL="1263650" lvl="2" indent="-514350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B050"/>
                </a:solidFill>
              </a:rPr>
              <a:t>void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printint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C000"/>
                </a:solidFill>
              </a:rPr>
              <a:t>i</a:t>
            </a:r>
            <a:r>
              <a:rPr lang="en-US" dirty="0" smtClean="0"/>
              <a:t>) {</a:t>
            </a:r>
          </a:p>
          <a:p>
            <a:pPr marL="1263650" lvl="2" indent="-514350">
              <a:buNone/>
            </a:pPr>
            <a:r>
              <a:rPr lang="en-US" dirty="0" smtClean="0"/>
              <a:t>	  …</a:t>
            </a:r>
          </a:p>
          <a:p>
            <a:pPr marL="1263650" lvl="2" indent="-514350">
              <a:buNone/>
            </a:pPr>
            <a:r>
              <a:rPr lang="en-US" dirty="0" smtClean="0"/>
              <a:t>	}</a:t>
            </a:r>
          </a:p>
          <a:p>
            <a:pPr marL="1835150" lvl="4" indent="-514350"/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b="1" dirty="0" smtClean="0"/>
              <a:t>documentation</a:t>
            </a:r>
          </a:p>
          <a:p>
            <a:pPr marL="1263650" lvl="2" indent="-514350"/>
            <a:r>
              <a:rPr lang="en-US" dirty="0" smtClean="0"/>
              <a:t>The explanation of what they do</a:t>
            </a:r>
          </a:p>
          <a:p>
            <a:pPr marL="1263650" lvl="2" indent="-514350">
              <a:buNone/>
            </a:pPr>
            <a:r>
              <a:rPr lang="en-US" dirty="0" smtClean="0"/>
              <a:t>	</a:t>
            </a:r>
            <a:r>
              <a:rPr lang="en-US" i="1" dirty="0" smtClean="0"/>
              <a:t>“print </a:t>
            </a:r>
            <a:r>
              <a:rPr lang="en-US" i="1" dirty="0" err="1" smtClean="0"/>
              <a:t>i</a:t>
            </a:r>
            <a:r>
              <a:rPr lang="en-US" i="1" dirty="0" smtClean="0"/>
              <a:t> to standard output”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Rectangular Callout 3"/>
          <p:cNvSpPr/>
          <p:nvPr/>
        </p:nvSpPr>
        <p:spPr bwMode="auto">
          <a:xfrm>
            <a:off x="5435600" y="3124200"/>
            <a:ext cx="5077672" cy="1508105"/>
          </a:xfrm>
          <a:prstGeom prst="wedgeRectCallout">
            <a:avLst>
              <a:gd name="adj1" fmla="val -63956"/>
              <a:gd name="adj2" fmla="val -432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marL="166688" indent="-166688" algn="l">
              <a:defRPr/>
            </a:pPr>
            <a:r>
              <a:rPr lang="en-US" sz="2000" b="0" dirty="0" smtClean="0"/>
              <a:t>Everything we need to use this functionality:</a:t>
            </a:r>
          </a:p>
          <a:p>
            <a:pPr marL="458788" lvl="1" indent="-166688" algn="l">
              <a:buFont typeface="Arial" pitchFamily="34" charset="0"/>
              <a:buChar char="•"/>
              <a:defRPr/>
            </a:pPr>
            <a:r>
              <a:rPr lang="en-US" sz="1800" b="0" dirty="0" smtClean="0"/>
              <a:t>name of the function</a:t>
            </a:r>
          </a:p>
          <a:p>
            <a:pPr marL="458788" lvl="1" indent="-166688" algn="l">
              <a:buFont typeface="Arial" pitchFamily="34" charset="0"/>
              <a:buChar char="•"/>
              <a:defRPr/>
            </a:pPr>
            <a:r>
              <a:rPr lang="en-US" sz="1800" b="0" dirty="0" smtClean="0"/>
              <a:t>number and type of arguments</a:t>
            </a:r>
          </a:p>
          <a:p>
            <a:pPr marL="458788" lvl="1" indent="-166688" algn="l">
              <a:buFont typeface="Arial" pitchFamily="34" charset="0"/>
              <a:buChar char="•"/>
              <a:defRPr/>
            </a:pPr>
            <a:r>
              <a:rPr lang="en-US" sz="1800" b="0" dirty="0" smtClean="0"/>
              <a:t>output type</a:t>
            </a:r>
          </a:p>
          <a:p>
            <a:pPr marL="458788" lvl="1" indent="-166688" algn="l">
              <a:buFont typeface="Arial" pitchFamily="34" charset="0"/>
              <a:buChar char="•"/>
              <a:defRPr/>
            </a:pPr>
            <a:r>
              <a:rPr lang="en-US" sz="1800" b="0" dirty="0" smtClean="0"/>
              <a:t>contracts</a:t>
            </a:r>
            <a:endParaRPr lang="en-US" sz="2000" b="0" dirty="0"/>
          </a:p>
        </p:txBody>
      </p:sp>
      <p:sp>
        <p:nvSpPr>
          <p:cNvPr id="5" name="Rectangular Callout 4"/>
          <p:cNvSpPr/>
          <p:nvPr/>
        </p:nvSpPr>
        <p:spPr bwMode="auto">
          <a:xfrm>
            <a:off x="3759200" y="5867400"/>
            <a:ext cx="2873544" cy="400110"/>
          </a:xfrm>
          <a:prstGeom prst="wedgeRectCallout">
            <a:avLst>
              <a:gd name="adj1" fmla="val -79208"/>
              <a:gd name="adj2" fmla="val -3132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marL="166688" indent="-166688" algn="l">
              <a:defRPr/>
            </a:pPr>
            <a:r>
              <a:rPr lang="en-US" sz="2000" b="0" dirty="0" smtClean="0"/>
              <a:t>Complex low-level code</a:t>
            </a:r>
            <a:endParaRPr lang="en-US" sz="2000" b="0" dirty="0"/>
          </a:p>
        </p:txBody>
      </p:sp>
      <p:sp>
        <p:nvSpPr>
          <p:cNvPr id="6" name="Rectangular Callout 5"/>
          <p:cNvSpPr/>
          <p:nvPr/>
        </p:nvSpPr>
        <p:spPr bwMode="auto">
          <a:xfrm>
            <a:off x="6350000" y="8077200"/>
            <a:ext cx="4136710" cy="707886"/>
          </a:xfrm>
          <a:prstGeom prst="wedgeRectCallout">
            <a:avLst>
              <a:gd name="adj1" fmla="val -63246"/>
              <a:gd name="adj2" fmla="val -34167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b="0" dirty="0" smtClean="0"/>
              <a:t>Human readable,</a:t>
            </a:r>
            <a:br>
              <a:rPr lang="en-US" sz="2000" b="0" dirty="0" smtClean="0"/>
            </a:br>
            <a:r>
              <a:rPr lang="en-US" sz="2000" b="0" dirty="0" smtClean="0"/>
              <a:t>often in a web page or thick manual</a:t>
            </a:r>
            <a:endParaRPr lang="en-US" sz="2000" b="0" dirty="0"/>
          </a:p>
        </p:txBody>
      </p:sp>
      <p:sp>
        <p:nvSpPr>
          <p:cNvPr id="7" name="Right Arrow Callout 6"/>
          <p:cNvSpPr/>
          <p:nvPr/>
        </p:nvSpPr>
        <p:spPr bwMode="auto">
          <a:xfrm>
            <a:off x="362966" y="2471033"/>
            <a:ext cx="729234" cy="936475"/>
          </a:xfrm>
          <a:prstGeom prst="rightArrowCallout">
            <a:avLst/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270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What</a:t>
            </a:r>
          </a:p>
        </p:txBody>
      </p:sp>
      <p:sp>
        <p:nvSpPr>
          <p:cNvPr id="8" name="Right Arrow Callout 7"/>
          <p:cNvSpPr/>
          <p:nvPr/>
        </p:nvSpPr>
        <p:spPr bwMode="auto">
          <a:xfrm>
            <a:off x="362966" y="5146792"/>
            <a:ext cx="729234" cy="833883"/>
          </a:xfrm>
          <a:prstGeom prst="rightArrowCallout">
            <a:avLst/>
          </a:prstGeom>
          <a:solidFill>
            <a:srgbClr val="FF000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270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How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a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</a:t>
            </a:r>
            <a:r>
              <a:rPr lang="en-US" b="1" dirty="0" smtClean="0"/>
              <a:t>writing</a:t>
            </a:r>
            <a:r>
              <a:rPr lang="en-US" dirty="0" smtClean="0"/>
              <a:t> application code,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we only use the functionalities</a:t>
            </a:r>
            <a:br>
              <a:rPr lang="en-US" dirty="0" smtClean="0"/>
            </a:br>
            <a:r>
              <a:rPr lang="en-US" dirty="0" smtClean="0"/>
              <a:t>listed in the interface</a:t>
            </a:r>
          </a:p>
          <a:p>
            <a:pPr lvl="1"/>
            <a:r>
              <a:rPr lang="en-US" i="1" dirty="0" smtClean="0"/>
              <a:t>No reliance on implementation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When </a:t>
            </a:r>
            <a:r>
              <a:rPr lang="en-US" b="1" dirty="0" smtClean="0"/>
              <a:t>compiling</a:t>
            </a:r>
            <a:r>
              <a:rPr lang="en-US" dirty="0" smtClean="0"/>
              <a:t> the application,</a:t>
            </a:r>
            <a:br>
              <a:rPr lang="en-US" dirty="0" smtClean="0"/>
            </a:br>
            <a:r>
              <a:rPr lang="en-US" dirty="0" smtClean="0"/>
              <a:t>we involve an implementation of</a:t>
            </a:r>
            <a:br>
              <a:rPr lang="en-US" dirty="0" smtClean="0"/>
            </a:br>
            <a:r>
              <a:rPr lang="en-US" dirty="0" smtClean="0"/>
              <a:t>the library</a:t>
            </a:r>
          </a:p>
          <a:p>
            <a:pPr lvl="1"/>
            <a:r>
              <a:rPr lang="en-US" dirty="0" smtClean="0"/>
              <a:t>Needed for the application to run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Implementation is a </a:t>
            </a:r>
            <a:r>
              <a:rPr lang="en-US" b="1" dirty="0" smtClean="0"/>
              <a:t>black box</a:t>
            </a:r>
          </a:p>
          <a:p>
            <a:pPr lvl="1"/>
            <a:endParaRPr lang="en-US" dirty="0" smtClean="0"/>
          </a:p>
        </p:txBody>
      </p:sp>
      <p:sp>
        <p:nvSpPr>
          <p:cNvPr id="4" name="Cube 3"/>
          <p:cNvSpPr/>
          <p:nvPr/>
        </p:nvSpPr>
        <p:spPr bwMode="auto">
          <a:xfrm>
            <a:off x="8483600" y="5257800"/>
            <a:ext cx="3352800" cy="3886200"/>
          </a:xfrm>
          <a:prstGeom prst="cube">
            <a:avLst>
              <a:gd name="adj" fmla="val 16315"/>
            </a:avLst>
          </a:prstGeom>
          <a:solidFill>
            <a:schemeClr val="tx2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5" name="Vertical Scroll 4"/>
          <p:cNvSpPr/>
          <p:nvPr/>
        </p:nvSpPr>
        <p:spPr bwMode="auto">
          <a:xfrm flipH="1">
            <a:off x="8255000" y="6096000"/>
            <a:ext cx="2895600" cy="2139950"/>
          </a:xfrm>
          <a:prstGeom prst="verticalScroll">
            <a:avLst>
              <a:gd name="adj" fmla="val 21027"/>
            </a:avLst>
          </a:prstGeom>
          <a:solidFill>
            <a:schemeClr val="bg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59800" y="6096000"/>
            <a:ext cx="1468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Interface</a:t>
            </a:r>
            <a:endParaRPr lang="en-US" dirty="0">
              <a:latin typeface="Menl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72333" y="5867400"/>
            <a:ext cx="615553" cy="2748509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  <a:latin typeface="Menlo"/>
              </a:rPr>
              <a:t>Implementation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Menlo"/>
            </a:endParaRPr>
          </a:p>
        </p:txBody>
      </p:sp>
      <p:sp>
        <p:nvSpPr>
          <p:cNvPr id="10" name="Vertical Scroll 9"/>
          <p:cNvSpPr/>
          <p:nvPr/>
        </p:nvSpPr>
        <p:spPr bwMode="auto">
          <a:xfrm flipH="1">
            <a:off x="8102600" y="2209800"/>
            <a:ext cx="2895600" cy="2139950"/>
          </a:xfrm>
          <a:prstGeom prst="verticalScroll">
            <a:avLst>
              <a:gd name="adj" fmla="val 21027"/>
            </a:avLst>
          </a:prstGeom>
          <a:solidFill>
            <a:schemeClr val="bg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07400" y="2209800"/>
            <a:ext cx="1468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Interface</a:t>
            </a:r>
            <a:endParaRPr lang="en-US" dirty="0">
              <a:latin typeface="Menlo"/>
            </a:endParaRPr>
          </a:p>
        </p:txBody>
      </p:sp>
      <p:sp>
        <p:nvSpPr>
          <p:cNvPr id="12" name="Rectangular Callout 11"/>
          <p:cNvSpPr/>
          <p:nvPr/>
        </p:nvSpPr>
        <p:spPr bwMode="auto">
          <a:xfrm>
            <a:off x="10769600" y="1143000"/>
            <a:ext cx="2068836" cy="1323439"/>
          </a:xfrm>
          <a:prstGeom prst="wedgeRectCallout">
            <a:avLst>
              <a:gd name="adj1" fmla="val -76070"/>
              <a:gd name="adj2" fmla="val 9189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This is the </a:t>
            </a:r>
            <a:r>
              <a:rPr lang="en-US" sz="2000" dirty="0" smtClean="0"/>
              <a:t>only</a:t>
            </a:r>
            <a:r>
              <a:rPr lang="en-US" sz="2000" b="0" dirty="0" smtClean="0"/>
              <a:t/>
            </a:r>
            <a:br>
              <a:rPr lang="en-US" sz="2000" b="0" dirty="0" smtClean="0"/>
            </a:br>
            <a:r>
              <a:rPr lang="en-US" sz="2000" b="0" dirty="0" smtClean="0"/>
              <a:t>thing that matters</a:t>
            </a:r>
            <a:br>
              <a:rPr lang="en-US" sz="2000" b="0" dirty="0" smtClean="0"/>
            </a:br>
            <a:r>
              <a:rPr lang="en-US" sz="2000" b="0" dirty="0" smtClean="0"/>
              <a:t>while developing</a:t>
            </a:r>
            <a:br>
              <a:rPr lang="en-US" sz="2000" b="0" dirty="0" smtClean="0"/>
            </a:br>
            <a:r>
              <a:rPr lang="en-US" sz="2000" b="0" dirty="0" smtClean="0"/>
              <a:t>the application</a:t>
            </a:r>
            <a:endParaRPr lang="en-US" sz="2000" b="0" dirty="0"/>
          </a:p>
        </p:txBody>
      </p:sp>
      <p:sp>
        <p:nvSpPr>
          <p:cNvPr id="13" name="Right Arrow Callout 12"/>
          <p:cNvSpPr/>
          <p:nvPr/>
        </p:nvSpPr>
        <p:spPr bwMode="auto">
          <a:xfrm flipH="1">
            <a:off x="11150600" y="3254525"/>
            <a:ext cx="729234" cy="936475"/>
          </a:xfrm>
          <a:prstGeom prst="rightArrowCallout">
            <a:avLst/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What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Libraries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 libraries</a:t>
            </a:r>
          </a:p>
          <a:p>
            <a:pPr lvl="1"/>
            <a:r>
              <a:rPr lang="en-US" dirty="0" smtClean="0"/>
              <a:t>part of the programming language</a:t>
            </a:r>
          </a:p>
          <a:p>
            <a:pPr lvl="1">
              <a:buNone/>
            </a:pPr>
            <a:r>
              <a:rPr lang="en-US" dirty="0" smtClean="0">
                <a:latin typeface="Menlo"/>
              </a:rPr>
              <a:t>	</a:t>
            </a:r>
            <a:r>
              <a:rPr lang="en-US" kern="120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#use &lt;</a:t>
            </a:r>
            <a:r>
              <a:rPr lang="en-US" b="1" kern="1200" dirty="0" err="1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conio</a:t>
            </a:r>
            <a:r>
              <a:rPr lang="en-US" kern="120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&gt;</a:t>
            </a:r>
            <a:endParaRPr lang="en-US" dirty="0" smtClean="0">
              <a:latin typeface="Menlo"/>
            </a:endParaRPr>
          </a:p>
          <a:p>
            <a:pPr lvl="2"/>
            <a:r>
              <a:rPr lang="en-US" dirty="0" smtClean="0"/>
              <a:t>No need to do load any file to use them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514350" indent="-514350"/>
            <a:endParaRPr lang="en-US" dirty="0" smtClean="0"/>
          </a:p>
          <a:p>
            <a:r>
              <a:rPr lang="en-US" dirty="0" smtClean="0"/>
              <a:t>User-defined libraries</a:t>
            </a:r>
          </a:p>
          <a:p>
            <a:pPr lvl="1"/>
            <a:r>
              <a:rPr lang="en-US" dirty="0" smtClean="0"/>
              <a:t>written by users or downloaded from the Internet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chemeClr val="tx1"/>
                </a:solidFill>
              </a:rPr>
              <a:t>pixels.c0</a:t>
            </a:r>
          </a:p>
          <a:p>
            <a:pPr lvl="2"/>
            <a:r>
              <a:rPr lang="en-US" dirty="0" smtClean="0"/>
              <a:t>must be compiled with the application</a:t>
            </a:r>
            <a:endParaRPr lang="en-US" dirty="0"/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3663462" y="8229600"/>
            <a:ext cx="6115538" cy="923330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#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cc0 -d pixels.c0 my-image-application.c0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b="0" dirty="0" smtClean="0">
              <a:solidFill>
                <a:schemeClr val="bg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663462" y="7924800"/>
            <a:ext cx="6115538" cy="30480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 smtClean="0"/>
              <a:t>Linux Terminal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3683000" y="4572000"/>
            <a:ext cx="6115538" cy="923330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#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cc0 -d my-math-application.c0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b="0" dirty="0" smtClean="0">
              <a:solidFill>
                <a:schemeClr val="bg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683000" y="4267200"/>
            <a:ext cx="6115538" cy="30480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 smtClean="0"/>
              <a:t>Linux Terminal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a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writing a library, we need to</a:t>
            </a:r>
          </a:p>
          <a:p>
            <a:pPr lvl="1"/>
            <a:r>
              <a:rPr lang="en-US" dirty="0" smtClean="0"/>
              <a:t>decide on the interface</a:t>
            </a:r>
          </a:p>
          <a:p>
            <a:pPr lvl="1"/>
            <a:r>
              <a:rPr lang="en-US" dirty="0" smtClean="0"/>
              <a:t>implement every functionality exported by the interface</a:t>
            </a:r>
          </a:p>
          <a:p>
            <a:pPr lvl="2"/>
            <a:r>
              <a:rPr lang="en-US" dirty="0" smtClean="0"/>
              <a:t>Fill the black box</a:t>
            </a:r>
          </a:p>
          <a:p>
            <a:pPr lvl="1"/>
            <a:r>
              <a:rPr lang="en-US" dirty="0" smtClean="0"/>
              <a:t>write lots of documentation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this class, we will be</a:t>
            </a:r>
            <a:br>
              <a:rPr lang="en-US" dirty="0" smtClean="0"/>
            </a:br>
            <a:r>
              <a:rPr lang="en-US" dirty="0" smtClean="0"/>
              <a:t>writing some of the</a:t>
            </a:r>
            <a:br>
              <a:rPr lang="en-US" dirty="0" smtClean="0"/>
            </a:br>
            <a:r>
              <a:rPr lang="en-US" dirty="0" smtClean="0"/>
              <a:t>system libraries that are</a:t>
            </a:r>
            <a:br>
              <a:rPr lang="en-US" dirty="0" smtClean="0"/>
            </a:br>
            <a:r>
              <a:rPr lang="en-US" dirty="0" smtClean="0"/>
              <a:t>native in other languages</a:t>
            </a:r>
            <a:endParaRPr lang="en-US" dirty="0"/>
          </a:p>
        </p:txBody>
      </p:sp>
      <p:sp>
        <p:nvSpPr>
          <p:cNvPr id="4" name="Cube 3"/>
          <p:cNvSpPr/>
          <p:nvPr/>
        </p:nvSpPr>
        <p:spPr bwMode="auto">
          <a:xfrm>
            <a:off x="7340600" y="4876800"/>
            <a:ext cx="3352800" cy="3886200"/>
          </a:xfrm>
          <a:prstGeom prst="cube">
            <a:avLst>
              <a:gd name="adj" fmla="val 16315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5" name="Vertical Scroll 4"/>
          <p:cNvSpPr/>
          <p:nvPr/>
        </p:nvSpPr>
        <p:spPr bwMode="auto">
          <a:xfrm flipH="1">
            <a:off x="7112000" y="5715000"/>
            <a:ext cx="2895600" cy="2139950"/>
          </a:xfrm>
          <a:prstGeom prst="verticalScroll">
            <a:avLst>
              <a:gd name="adj" fmla="val 21027"/>
            </a:avLst>
          </a:prstGeom>
          <a:solidFill>
            <a:schemeClr val="bg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16800" y="5715000"/>
            <a:ext cx="1468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Interface</a:t>
            </a:r>
            <a:endParaRPr lang="en-US" dirty="0">
              <a:latin typeface="Menl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29333" y="5486400"/>
            <a:ext cx="615553" cy="2748509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2800" dirty="0" smtClean="0">
                <a:latin typeface="Menlo"/>
              </a:rPr>
              <a:t>Implementation</a:t>
            </a:r>
            <a:endParaRPr lang="en-US" sz="2800" dirty="0">
              <a:latin typeface="Menlo"/>
            </a:endParaRPr>
          </a:p>
        </p:txBody>
      </p:sp>
      <p:sp>
        <p:nvSpPr>
          <p:cNvPr id="9" name="Right Arrow Callout 8"/>
          <p:cNvSpPr/>
          <p:nvPr/>
        </p:nvSpPr>
        <p:spPr bwMode="auto">
          <a:xfrm>
            <a:off x="6578600" y="7924800"/>
            <a:ext cx="729234" cy="833883"/>
          </a:xfrm>
          <a:prstGeom prst="rightArrowCallout">
            <a:avLst/>
          </a:prstGeom>
          <a:solidFill>
            <a:srgbClr val="FF000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270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How</a:t>
            </a:r>
          </a:p>
        </p:txBody>
      </p:sp>
      <p:sp>
        <p:nvSpPr>
          <p:cNvPr id="10" name="Right Arrow Callout 9"/>
          <p:cNvSpPr/>
          <p:nvPr/>
        </p:nvSpPr>
        <p:spPr bwMode="auto">
          <a:xfrm>
            <a:off x="6350000" y="5493325"/>
            <a:ext cx="729234" cy="936475"/>
          </a:xfrm>
          <a:prstGeom prst="rightArrowCallout">
            <a:avLst/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270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What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be 8"/>
          <p:cNvSpPr/>
          <p:nvPr/>
        </p:nvSpPr>
        <p:spPr bwMode="auto">
          <a:xfrm>
            <a:off x="10388600" y="7696200"/>
            <a:ext cx="2438400" cy="1905000"/>
          </a:xfrm>
          <a:prstGeom prst="cube">
            <a:avLst>
              <a:gd name="adj" fmla="val 7588"/>
            </a:avLst>
          </a:prstGeom>
          <a:solidFill>
            <a:schemeClr val="tx2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 Data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library that defines a </a:t>
            </a:r>
            <a:r>
              <a:rPr lang="en-US" b="1" dirty="0" smtClean="0"/>
              <a:t>new type </a:t>
            </a:r>
            <a:r>
              <a:rPr lang="en-US" dirty="0" smtClean="0"/>
              <a:t>and the ways to use it</a:t>
            </a:r>
            <a:endParaRPr lang="en-US" i="1" dirty="0" smtClean="0"/>
          </a:p>
          <a:p>
            <a:pPr lvl="1"/>
            <a:r>
              <a:rPr lang="en-US" dirty="0" smtClean="0"/>
              <a:t>Defines the type </a:t>
            </a:r>
            <a:r>
              <a:rPr lang="en-US" dirty="0" err="1" smtClean="0">
                <a:solidFill>
                  <a:srgbClr val="00B050"/>
                </a:solidFill>
              </a:rPr>
              <a:t>pixel_t</a:t>
            </a:r>
            <a:r>
              <a:rPr lang="en-US" dirty="0" smtClean="0"/>
              <a:t> of pixels</a:t>
            </a:r>
          </a:p>
          <a:p>
            <a:pPr lvl="2"/>
            <a:r>
              <a:rPr lang="en-US" dirty="0" smtClean="0"/>
              <a:t>The </a:t>
            </a:r>
            <a:r>
              <a:rPr lang="en-US" b="1" dirty="0" smtClean="0"/>
              <a:t>only</a:t>
            </a:r>
            <a:r>
              <a:rPr lang="en-US" dirty="0" smtClean="0"/>
              <a:t> way we shall refer to pixel in application</a:t>
            </a:r>
          </a:p>
          <a:p>
            <a:pPr lvl="1"/>
            <a:r>
              <a:rPr lang="en-US" dirty="0" smtClean="0"/>
              <a:t>Defines functions that manipulate pixels</a:t>
            </a:r>
          </a:p>
          <a:p>
            <a:pPr lvl="3">
              <a:buNone/>
            </a:pP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get_red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pixel_t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p</a:t>
            </a:r>
            <a:r>
              <a:rPr lang="en-US" dirty="0" smtClean="0"/>
              <a:t>)</a:t>
            </a:r>
          </a:p>
          <a:p>
            <a:pPr lvl="3">
              <a:buNone/>
            </a:pPr>
            <a:r>
              <a:rPr lang="en-US" dirty="0" smtClean="0">
                <a:solidFill>
                  <a:srgbClr val="C00000"/>
                </a:solidFill>
              </a:rPr>
              <a:t>/*@ensures 0 &lt;= \result &amp;&amp; \result &lt; 256; @*/</a:t>
            </a:r>
            <a:r>
              <a:rPr lang="en-US" dirty="0" smtClean="0"/>
              <a:t> ;</a:t>
            </a:r>
          </a:p>
          <a:p>
            <a:pPr lvl="3">
              <a:buNone/>
            </a:pP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get_green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pixel_t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p</a:t>
            </a:r>
            <a:r>
              <a:rPr lang="en-US" dirty="0" smtClean="0"/>
              <a:t>) …</a:t>
            </a:r>
          </a:p>
          <a:p>
            <a:pPr lvl="3">
              <a:buNone/>
            </a:pP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get_blue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pixel_t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p</a:t>
            </a:r>
            <a:r>
              <a:rPr lang="en-US" dirty="0" smtClean="0"/>
              <a:t>) …</a:t>
            </a:r>
          </a:p>
          <a:p>
            <a:pPr lvl="3">
              <a:buNone/>
            </a:pPr>
            <a:r>
              <a:rPr lang="en-US" dirty="0" err="1" smtClean="0">
                <a:solidFill>
                  <a:srgbClr val="00B050"/>
                </a:solidFill>
              </a:rPr>
              <a:t>pixel_t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make_pixel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red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green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blue</a:t>
            </a:r>
            <a:r>
              <a:rPr lang="en-US" dirty="0" smtClean="0"/>
              <a:t>) …</a:t>
            </a:r>
          </a:p>
          <a:p>
            <a:pPr lvl="2"/>
            <a:r>
              <a:rPr lang="en-US" dirty="0" smtClean="0"/>
              <a:t>The </a:t>
            </a:r>
            <a:r>
              <a:rPr lang="en-US" b="1" dirty="0" smtClean="0"/>
              <a:t>only</a:t>
            </a:r>
            <a:r>
              <a:rPr lang="en-US" dirty="0" smtClean="0"/>
              <a:t> operations we shall use to manipulate pixels</a:t>
            </a:r>
          </a:p>
          <a:p>
            <a:pPr lvl="3"/>
            <a:r>
              <a:rPr lang="en-US" dirty="0" smtClean="0"/>
              <a:t>Except for functions we write using them</a:t>
            </a:r>
          </a:p>
          <a:p>
            <a:r>
              <a:rPr lang="en-US" dirty="0" smtClean="0"/>
              <a:t>ADT’s promote a very strong form of </a:t>
            </a:r>
            <a:r>
              <a:rPr lang="en-US" b="1" dirty="0" smtClean="0"/>
              <a:t>abstraction</a:t>
            </a:r>
          </a:p>
          <a:p>
            <a:pPr lvl="1"/>
            <a:r>
              <a:rPr lang="en-US" dirty="0" smtClean="0"/>
              <a:t>If the client only uses the interface, we can</a:t>
            </a:r>
            <a:br>
              <a:rPr lang="en-US" dirty="0" smtClean="0"/>
            </a:br>
            <a:r>
              <a:rPr lang="en-US" dirty="0" smtClean="0"/>
              <a:t>use </a:t>
            </a:r>
            <a:r>
              <a:rPr lang="en-US" i="1" dirty="0" smtClean="0"/>
              <a:t>any correct implementation </a:t>
            </a:r>
            <a:r>
              <a:rPr lang="en-US" dirty="0" smtClean="0"/>
              <a:t>and the</a:t>
            </a:r>
            <a:br>
              <a:rPr lang="en-US" dirty="0" smtClean="0"/>
            </a:br>
            <a:r>
              <a:rPr lang="en-US" dirty="0" smtClean="0"/>
              <a:t>application will work the same!</a:t>
            </a:r>
            <a:endParaRPr lang="en-US" dirty="0"/>
          </a:p>
        </p:txBody>
      </p:sp>
      <p:sp>
        <p:nvSpPr>
          <p:cNvPr id="4" name="Right Brace 3"/>
          <p:cNvSpPr/>
          <p:nvPr/>
        </p:nvSpPr>
        <p:spPr bwMode="auto">
          <a:xfrm>
            <a:off x="8940800" y="2667000"/>
            <a:ext cx="457200" cy="3200400"/>
          </a:xfrm>
          <a:prstGeom prst="rightBrace">
            <a:avLst>
              <a:gd name="adj1" fmla="val 29112"/>
              <a:gd name="adj2" fmla="val 50000"/>
            </a:avLst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02800" y="3429000"/>
            <a:ext cx="23070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/>
              <a:t>This is the pixel</a:t>
            </a:r>
            <a:br>
              <a:rPr lang="en-US" b="0" dirty="0" smtClean="0"/>
            </a:br>
            <a:r>
              <a:rPr lang="en-US" b="0" dirty="0" smtClean="0"/>
              <a:t>interface</a:t>
            </a:r>
            <a:endParaRPr lang="en-US" b="0" dirty="0"/>
          </a:p>
        </p:txBody>
      </p:sp>
      <p:sp>
        <p:nvSpPr>
          <p:cNvPr id="6" name="Vertical Scroll 5"/>
          <p:cNvSpPr/>
          <p:nvPr/>
        </p:nvSpPr>
        <p:spPr bwMode="auto">
          <a:xfrm flipH="1">
            <a:off x="9702800" y="4343400"/>
            <a:ext cx="2209800" cy="1447800"/>
          </a:xfrm>
          <a:prstGeom prst="verticalScroll">
            <a:avLst>
              <a:gd name="adj" fmla="val 13645"/>
            </a:avLst>
          </a:prstGeom>
          <a:solidFill>
            <a:schemeClr val="bg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tabLst>
                <a:tab pos="3943350" algn="l"/>
              </a:tabLst>
            </a:pPr>
            <a:r>
              <a:rPr lang="en-US" sz="1200" dirty="0" smtClean="0">
                <a:latin typeface="Menlo"/>
              </a:rPr>
              <a:t>… </a:t>
            </a:r>
            <a:r>
              <a:rPr lang="en-US" sz="1200" dirty="0" err="1" smtClean="0">
                <a:solidFill>
                  <a:srgbClr val="00B050"/>
                </a:solidFill>
                <a:latin typeface="Menlo"/>
              </a:rPr>
              <a:t>pixel_t</a:t>
            </a:r>
            <a:r>
              <a:rPr lang="en-US" sz="1200" dirty="0" smtClean="0">
                <a:latin typeface="Menlo"/>
              </a:rPr>
              <a:t> …</a:t>
            </a:r>
          </a:p>
          <a:p>
            <a:pPr algn="l">
              <a:tabLst>
                <a:tab pos="3943350" algn="l"/>
              </a:tabLst>
            </a:pPr>
            <a:endParaRPr lang="en-US" sz="1200" dirty="0" smtClean="0">
              <a:latin typeface="Menlo"/>
            </a:endParaRPr>
          </a:p>
          <a:p>
            <a:pPr marL="0" lvl="3" indent="0" algn="l">
              <a:buNone/>
            </a:pPr>
            <a:r>
              <a:rPr lang="en-US" sz="1200" dirty="0" err="1" smtClean="0">
                <a:solidFill>
                  <a:srgbClr val="00B050"/>
                </a:solidFill>
              </a:rPr>
              <a:t>int</a:t>
            </a:r>
            <a:r>
              <a:rPr lang="en-US" sz="1200" dirty="0" smtClean="0"/>
              <a:t> </a:t>
            </a:r>
            <a:r>
              <a:rPr lang="en-US" sz="1200" dirty="0" err="1" smtClean="0">
                <a:solidFill>
                  <a:srgbClr val="7030A0"/>
                </a:solidFill>
              </a:rPr>
              <a:t>get_red</a:t>
            </a:r>
            <a:r>
              <a:rPr lang="en-US" sz="1200" dirty="0" smtClean="0"/>
              <a:t>(</a:t>
            </a:r>
            <a:r>
              <a:rPr lang="en-US" sz="1200" dirty="0" err="1" smtClean="0">
                <a:solidFill>
                  <a:srgbClr val="00B050"/>
                </a:solidFill>
              </a:rPr>
              <a:t>pixel_t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FFC000"/>
                </a:solidFill>
              </a:rPr>
              <a:t>p</a:t>
            </a:r>
            <a:r>
              <a:rPr lang="en-US" sz="1200" dirty="0" smtClean="0"/>
              <a:t>)</a:t>
            </a:r>
          </a:p>
          <a:p>
            <a:pPr marL="0" lvl="3" indent="0" algn="l" defTabSz="615950">
              <a:buNone/>
            </a:pPr>
            <a:r>
              <a:rPr lang="en-US" sz="1200" dirty="0" smtClean="0">
                <a:solidFill>
                  <a:srgbClr val="C00000"/>
                </a:solidFill>
              </a:rPr>
              <a:t>/*@ensures 0 &lt;= \res…</a:t>
            </a:r>
          </a:p>
          <a:p>
            <a:pPr marL="0" lvl="3" indent="0" algn="l" defTabSz="615950"/>
            <a:r>
              <a:rPr lang="en-US" sz="1200" dirty="0" err="1" smtClean="0">
                <a:solidFill>
                  <a:srgbClr val="00B050"/>
                </a:solidFill>
              </a:rPr>
              <a:t>int</a:t>
            </a:r>
            <a:r>
              <a:rPr lang="en-US" sz="1200" dirty="0" smtClean="0"/>
              <a:t> </a:t>
            </a:r>
            <a:r>
              <a:rPr lang="en-US" sz="1200" dirty="0" err="1" smtClean="0">
                <a:solidFill>
                  <a:srgbClr val="7030A0"/>
                </a:solidFill>
              </a:rPr>
              <a:t>get_green</a:t>
            </a:r>
            <a:r>
              <a:rPr lang="en-US" sz="1200" dirty="0" smtClean="0"/>
              <a:t>(</a:t>
            </a:r>
            <a:r>
              <a:rPr lang="en-US" sz="1200" dirty="0" err="1" smtClean="0">
                <a:solidFill>
                  <a:srgbClr val="00B050"/>
                </a:solidFill>
              </a:rPr>
              <a:t>pixel_t</a:t>
            </a:r>
            <a:r>
              <a:rPr lang="en-US" sz="1200" dirty="0" smtClean="0"/>
              <a:t> …</a:t>
            </a:r>
          </a:p>
          <a:p>
            <a:pPr marL="0" lvl="3" indent="0" algn="l" defTabSz="615950"/>
            <a:r>
              <a:rPr lang="en-US" sz="1200" dirty="0" err="1" smtClean="0">
                <a:solidFill>
                  <a:srgbClr val="00B050"/>
                </a:solidFill>
              </a:rPr>
              <a:t>int</a:t>
            </a:r>
            <a:r>
              <a:rPr lang="en-US" sz="1200" dirty="0" smtClean="0"/>
              <a:t> </a:t>
            </a:r>
            <a:r>
              <a:rPr lang="en-US" sz="1200" dirty="0" err="1" smtClean="0">
                <a:solidFill>
                  <a:srgbClr val="7030A0"/>
                </a:solidFill>
              </a:rPr>
              <a:t>get_blue</a:t>
            </a:r>
            <a:r>
              <a:rPr lang="en-US" sz="1200" dirty="0" smtClean="0">
                <a:solidFill>
                  <a:srgbClr val="7030A0"/>
                </a:solidFill>
              </a:rPr>
              <a:t> </a:t>
            </a:r>
            <a:r>
              <a:rPr lang="en-US" sz="1200" dirty="0" smtClean="0"/>
              <a:t>(</a:t>
            </a:r>
            <a:r>
              <a:rPr lang="en-US" sz="1200" dirty="0" err="1" smtClean="0">
                <a:solidFill>
                  <a:srgbClr val="00B050"/>
                </a:solidFill>
              </a:rPr>
              <a:t>pixel_t</a:t>
            </a:r>
            <a:r>
              <a:rPr lang="en-US" sz="1200" dirty="0" smtClean="0"/>
              <a:t> …</a:t>
            </a:r>
            <a:endParaRPr lang="en-US" sz="1200" dirty="0" smtClean="0">
              <a:solidFill>
                <a:srgbClr val="C00000"/>
              </a:solidFill>
            </a:endParaRPr>
          </a:p>
          <a:p>
            <a:pPr marL="0" lvl="3" indent="0" algn="l" defTabSz="615950">
              <a:buNone/>
            </a:pPr>
            <a:endParaRPr lang="en-US" sz="1200" dirty="0" smtClean="0">
              <a:latin typeface="Menlo"/>
            </a:endParaRPr>
          </a:p>
        </p:txBody>
      </p:sp>
      <p:sp>
        <p:nvSpPr>
          <p:cNvPr id="8" name="Vertical Scroll 7"/>
          <p:cNvSpPr/>
          <p:nvPr/>
        </p:nvSpPr>
        <p:spPr bwMode="auto">
          <a:xfrm flipH="1">
            <a:off x="10236200" y="7924800"/>
            <a:ext cx="2209800" cy="1447800"/>
          </a:xfrm>
          <a:prstGeom prst="verticalScroll">
            <a:avLst>
              <a:gd name="adj" fmla="val 13645"/>
            </a:avLst>
          </a:prstGeom>
          <a:solidFill>
            <a:schemeClr val="bg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tabLst>
                <a:tab pos="3943350" algn="l"/>
              </a:tabLst>
            </a:pPr>
            <a:r>
              <a:rPr lang="en-US" sz="1200" dirty="0" smtClean="0">
                <a:latin typeface="Menlo"/>
              </a:rPr>
              <a:t>… </a:t>
            </a:r>
            <a:r>
              <a:rPr lang="en-US" sz="1200" dirty="0" err="1" smtClean="0">
                <a:solidFill>
                  <a:srgbClr val="00B050"/>
                </a:solidFill>
                <a:latin typeface="Menlo"/>
              </a:rPr>
              <a:t>pixel_t</a:t>
            </a:r>
            <a:r>
              <a:rPr lang="en-US" sz="1200" dirty="0" smtClean="0">
                <a:latin typeface="Menlo"/>
              </a:rPr>
              <a:t> …</a:t>
            </a:r>
          </a:p>
          <a:p>
            <a:pPr algn="l">
              <a:tabLst>
                <a:tab pos="3943350" algn="l"/>
              </a:tabLst>
            </a:pPr>
            <a:endParaRPr lang="en-US" sz="1200" dirty="0" smtClean="0">
              <a:latin typeface="Menlo"/>
            </a:endParaRPr>
          </a:p>
          <a:p>
            <a:pPr marL="0" lvl="3" indent="0" algn="l">
              <a:buNone/>
            </a:pPr>
            <a:r>
              <a:rPr lang="en-US" sz="1200" dirty="0" err="1" smtClean="0">
                <a:solidFill>
                  <a:srgbClr val="00B050"/>
                </a:solidFill>
              </a:rPr>
              <a:t>int</a:t>
            </a:r>
            <a:r>
              <a:rPr lang="en-US" sz="1200" dirty="0" smtClean="0"/>
              <a:t> </a:t>
            </a:r>
            <a:r>
              <a:rPr lang="en-US" sz="1200" dirty="0" err="1" smtClean="0">
                <a:solidFill>
                  <a:srgbClr val="7030A0"/>
                </a:solidFill>
              </a:rPr>
              <a:t>get_red</a:t>
            </a:r>
            <a:r>
              <a:rPr lang="en-US" sz="1200" dirty="0" smtClean="0"/>
              <a:t>(</a:t>
            </a:r>
            <a:r>
              <a:rPr lang="en-US" sz="1200" dirty="0" err="1" smtClean="0">
                <a:solidFill>
                  <a:srgbClr val="00B050"/>
                </a:solidFill>
              </a:rPr>
              <a:t>pixel_t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FFC000"/>
                </a:solidFill>
              </a:rPr>
              <a:t>p</a:t>
            </a:r>
            <a:r>
              <a:rPr lang="en-US" sz="1200" dirty="0" smtClean="0"/>
              <a:t>)</a:t>
            </a:r>
          </a:p>
          <a:p>
            <a:pPr marL="0" lvl="3" indent="0" algn="l" defTabSz="615950">
              <a:buNone/>
            </a:pPr>
            <a:r>
              <a:rPr lang="en-US" sz="1200" dirty="0" smtClean="0">
                <a:solidFill>
                  <a:srgbClr val="C00000"/>
                </a:solidFill>
              </a:rPr>
              <a:t>/*@ensures 0 &lt;= \res…</a:t>
            </a:r>
          </a:p>
          <a:p>
            <a:pPr marL="0" lvl="3" indent="0" algn="l" defTabSz="615950"/>
            <a:r>
              <a:rPr lang="en-US" sz="1200" dirty="0" err="1" smtClean="0">
                <a:solidFill>
                  <a:srgbClr val="00B050"/>
                </a:solidFill>
              </a:rPr>
              <a:t>int</a:t>
            </a:r>
            <a:r>
              <a:rPr lang="en-US" sz="1200" dirty="0" smtClean="0"/>
              <a:t> </a:t>
            </a:r>
            <a:r>
              <a:rPr lang="en-US" sz="1200" dirty="0" err="1" smtClean="0">
                <a:solidFill>
                  <a:srgbClr val="7030A0"/>
                </a:solidFill>
              </a:rPr>
              <a:t>get_green</a:t>
            </a:r>
            <a:r>
              <a:rPr lang="en-US" sz="1200" dirty="0" smtClean="0"/>
              <a:t>(</a:t>
            </a:r>
            <a:r>
              <a:rPr lang="en-US" sz="1200" dirty="0" err="1" smtClean="0">
                <a:solidFill>
                  <a:srgbClr val="00B050"/>
                </a:solidFill>
              </a:rPr>
              <a:t>pixel_t</a:t>
            </a:r>
            <a:r>
              <a:rPr lang="en-US" sz="1200" dirty="0" smtClean="0"/>
              <a:t> …</a:t>
            </a:r>
          </a:p>
          <a:p>
            <a:pPr marL="0" lvl="3" indent="0" algn="l" defTabSz="615950"/>
            <a:r>
              <a:rPr lang="en-US" sz="1200" dirty="0" err="1" smtClean="0">
                <a:solidFill>
                  <a:srgbClr val="00B050"/>
                </a:solidFill>
              </a:rPr>
              <a:t>int</a:t>
            </a:r>
            <a:r>
              <a:rPr lang="en-US" sz="1200" dirty="0" smtClean="0"/>
              <a:t> </a:t>
            </a:r>
            <a:r>
              <a:rPr lang="en-US" sz="1200" dirty="0" err="1" smtClean="0">
                <a:solidFill>
                  <a:srgbClr val="7030A0"/>
                </a:solidFill>
              </a:rPr>
              <a:t>get_blue</a:t>
            </a:r>
            <a:r>
              <a:rPr lang="en-US" sz="1200" dirty="0" smtClean="0">
                <a:solidFill>
                  <a:srgbClr val="7030A0"/>
                </a:solidFill>
              </a:rPr>
              <a:t> </a:t>
            </a:r>
            <a:r>
              <a:rPr lang="en-US" sz="1200" dirty="0" smtClean="0"/>
              <a:t>(</a:t>
            </a:r>
            <a:r>
              <a:rPr lang="en-US" sz="1200" dirty="0" err="1" smtClean="0">
                <a:solidFill>
                  <a:srgbClr val="00B050"/>
                </a:solidFill>
              </a:rPr>
              <a:t>pixel_t</a:t>
            </a:r>
            <a:r>
              <a:rPr lang="en-US" sz="1200" dirty="0" smtClean="0"/>
              <a:t> …</a:t>
            </a:r>
            <a:endParaRPr lang="en-US" sz="1200" dirty="0" smtClean="0">
              <a:solidFill>
                <a:srgbClr val="C00000"/>
              </a:solidFill>
            </a:endParaRPr>
          </a:p>
          <a:p>
            <a:pPr marL="0" lvl="3" indent="0" algn="l" defTabSz="615950">
              <a:buNone/>
            </a:pPr>
            <a:endParaRPr lang="en-US" sz="1200" dirty="0" smtClean="0">
              <a:latin typeface="Menlo"/>
            </a:endParaRPr>
          </a:p>
        </p:txBody>
      </p:sp>
      <p:sp>
        <p:nvSpPr>
          <p:cNvPr id="10" name="Right Arrow Callout 9"/>
          <p:cNvSpPr/>
          <p:nvPr/>
        </p:nvSpPr>
        <p:spPr bwMode="auto">
          <a:xfrm>
            <a:off x="9474200" y="7543800"/>
            <a:ext cx="729234" cy="936475"/>
          </a:xfrm>
          <a:prstGeom prst="rightArrowCallout">
            <a:avLst/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270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What</a:t>
            </a:r>
          </a:p>
        </p:txBody>
      </p:sp>
      <p:sp>
        <p:nvSpPr>
          <p:cNvPr id="11" name="Right Arrow Callout 10"/>
          <p:cNvSpPr/>
          <p:nvPr/>
        </p:nvSpPr>
        <p:spPr bwMode="auto">
          <a:xfrm rot="5400000">
            <a:off x="12121641" y="6881876"/>
            <a:ext cx="729234" cy="833883"/>
          </a:xfrm>
          <a:prstGeom prst="rightArrowCallout">
            <a:avLst/>
          </a:prstGeom>
          <a:solidFill>
            <a:srgbClr val="FF000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270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How</a:t>
            </a:r>
          </a:p>
        </p:txBody>
      </p:sp>
      <p:sp>
        <p:nvSpPr>
          <p:cNvPr id="12" name="Pentagon 11"/>
          <p:cNvSpPr/>
          <p:nvPr/>
        </p:nvSpPr>
        <p:spPr bwMode="auto">
          <a:xfrm>
            <a:off x="101600" y="2438400"/>
            <a:ext cx="1295400" cy="838200"/>
          </a:xfrm>
          <a:prstGeom prst="homePlate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E.g.,</a:t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</a:br>
            <a:r>
              <a:rPr kumimoji="0" lang="en-US" sz="240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pixels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Self-Sorting Arrays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Libraries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this course, we will be writing many libraries</a:t>
            </a:r>
          </a:p>
          <a:p>
            <a:endParaRPr lang="en-US" dirty="0" smtClean="0"/>
          </a:p>
          <a:p>
            <a:r>
              <a:rPr lang="en-US" dirty="0" smtClean="0"/>
              <a:t>Case study to gain familiarity</a:t>
            </a:r>
          </a:p>
          <a:p>
            <a:pPr lvl="2"/>
            <a:r>
              <a:rPr lang="en-US" dirty="0" smtClean="0"/>
              <a:t>and define important concepts</a:t>
            </a:r>
          </a:p>
          <a:p>
            <a:pPr lvl="2"/>
            <a:endParaRPr lang="en-US" dirty="0" smtClean="0"/>
          </a:p>
          <a:p>
            <a:pPr>
              <a:buNone/>
            </a:pPr>
            <a:r>
              <a:rPr lang="en-US" dirty="0" smtClean="0"/>
              <a:t>	Self-sorting arrays (SSA)</a:t>
            </a:r>
          </a:p>
          <a:p>
            <a:pPr lvl="1"/>
            <a:r>
              <a:rPr lang="en-US" dirty="0" smtClean="0"/>
              <a:t>a toy data structure that works just like arrays of strings but guarantee that its elements are sorted </a:t>
            </a:r>
          </a:p>
          <a:p>
            <a:endParaRPr lang="en-US" dirty="0" smtClean="0"/>
          </a:p>
          <a:p>
            <a:r>
              <a:rPr lang="en-US" dirty="0" smtClean="0"/>
              <a:t>What we need to do: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 smtClean="0"/>
              <a:t>Define the interface of the SSA library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 smtClean="0"/>
              <a:t>Implement it</a:t>
            </a:r>
            <a:endParaRPr lang="en-US" dirty="0"/>
          </a:p>
        </p:txBody>
      </p:sp>
      <p:sp>
        <p:nvSpPr>
          <p:cNvPr id="6" name="Rectangular Callout 5"/>
          <p:cNvSpPr/>
          <p:nvPr/>
        </p:nvSpPr>
        <p:spPr bwMode="auto">
          <a:xfrm>
            <a:off x="9626600" y="3200400"/>
            <a:ext cx="2590800" cy="1323439"/>
          </a:xfrm>
          <a:prstGeom prst="wedgeRectCallout">
            <a:avLst>
              <a:gd name="adj1" fmla="val -77873"/>
              <a:gd name="adj2" fmla="val 10246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A bit lame, but we need a simple enough example to get us started</a:t>
            </a:r>
            <a:endParaRPr lang="en-US" sz="2000" b="0" dirty="0"/>
          </a:p>
        </p:txBody>
      </p:sp>
      <p:sp>
        <p:nvSpPr>
          <p:cNvPr id="11" name="Cube 10"/>
          <p:cNvSpPr/>
          <p:nvPr/>
        </p:nvSpPr>
        <p:spPr bwMode="auto">
          <a:xfrm>
            <a:off x="10083800" y="6477000"/>
            <a:ext cx="2362200" cy="2590800"/>
          </a:xfrm>
          <a:prstGeom prst="cube">
            <a:avLst>
              <a:gd name="adj" fmla="val 13430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2" name="Vertical Scroll 11"/>
          <p:cNvSpPr/>
          <p:nvPr/>
        </p:nvSpPr>
        <p:spPr bwMode="auto">
          <a:xfrm flipH="1">
            <a:off x="9931400" y="6934200"/>
            <a:ext cx="2133600" cy="1600200"/>
          </a:xfrm>
          <a:prstGeom prst="verticalScroll">
            <a:avLst>
              <a:gd name="adj" fmla="val 21027"/>
            </a:avLst>
          </a:prstGeom>
          <a:solidFill>
            <a:schemeClr val="bg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l">
              <a:tabLst>
                <a:tab pos="3943350" algn="l"/>
              </a:tabLst>
            </a:pPr>
            <a:endParaRPr lang="en-US" sz="1400" b="0" dirty="0" smtClean="0">
              <a:latin typeface="Menl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07600" y="6946557"/>
            <a:ext cx="1343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Menlo"/>
              </a:rPr>
              <a:t>SSA Interface</a:t>
            </a:r>
            <a:endParaRPr lang="en-US" sz="1400" dirty="0">
              <a:latin typeface="Menl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91313" y="6758823"/>
            <a:ext cx="430887" cy="2080377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1600" dirty="0" smtClean="0">
                <a:latin typeface="Menlo"/>
              </a:rPr>
              <a:t>SSA Implementation</a:t>
            </a:r>
            <a:endParaRPr lang="en-US" sz="1600" dirty="0">
              <a:latin typeface="Menlo"/>
            </a:endParaRPr>
          </a:p>
        </p:txBody>
      </p:sp>
      <p:sp>
        <p:nvSpPr>
          <p:cNvPr id="19" name="Right Arrow 18"/>
          <p:cNvSpPr/>
          <p:nvPr/>
        </p:nvSpPr>
        <p:spPr bwMode="auto">
          <a:xfrm>
            <a:off x="8026400" y="7391400"/>
            <a:ext cx="2743200" cy="533400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smtClean="0"/>
          </a:p>
        </p:txBody>
      </p:sp>
      <p:sp>
        <p:nvSpPr>
          <p:cNvPr id="15" name="Right Arrow 14"/>
          <p:cNvSpPr/>
          <p:nvPr/>
        </p:nvSpPr>
        <p:spPr bwMode="auto">
          <a:xfrm>
            <a:off x="8026400" y="7391400"/>
            <a:ext cx="2743200" cy="533400"/>
          </a:xfrm>
          <a:prstGeom prst="rightArrow">
            <a:avLst/>
          </a:prstGeom>
          <a:solidFill>
            <a:srgbClr val="92D05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smtClean="0"/>
          </a:p>
        </p:txBody>
      </p:sp>
      <p:sp>
        <p:nvSpPr>
          <p:cNvPr id="20" name="Right Arrow 19"/>
          <p:cNvSpPr/>
          <p:nvPr/>
        </p:nvSpPr>
        <p:spPr bwMode="auto">
          <a:xfrm rot="388143">
            <a:off x="4059733" y="8235798"/>
            <a:ext cx="6197217" cy="533400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smtClean="0"/>
          </a:p>
        </p:txBody>
      </p:sp>
      <p:sp>
        <p:nvSpPr>
          <p:cNvPr id="16" name="Right Arrow 15"/>
          <p:cNvSpPr/>
          <p:nvPr/>
        </p:nvSpPr>
        <p:spPr bwMode="auto">
          <a:xfrm rot="388143">
            <a:off x="4059733" y="8235798"/>
            <a:ext cx="6197217" cy="533400"/>
          </a:xfrm>
          <a:prstGeom prst="rightArrow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SSA Interface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378700" cy="1498600"/>
          </a:xfrm>
        </p:spPr>
        <p:txBody>
          <a:bodyPr/>
          <a:lstStyle/>
          <a:p>
            <a:r>
              <a:rPr lang="en-US" dirty="0" smtClean="0"/>
              <a:t>Interface Contents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 </a:t>
            </a:r>
            <a:r>
              <a:rPr lang="en-US" b="1" dirty="0" smtClean="0"/>
              <a:t>type</a:t>
            </a:r>
            <a:r>
              <a:rPr lang="en-US" dirty="0" smtClean="0"/>
              <a:t> for self-sorting arrays</a:t>
            </a:r>
          </a:p>
          <a:p>
            <a:pPr>
              <a:buNone/>
            </a:pPr>
            <a:r>
              <a:rPr lang="en-US" sz="4000" dirty="0" smtClean="0">
                <a:solidFill>
                  <a:srgbClr val="00B050"/>
                </a:solidFill>
              </a:rPr>
              <a:t>					</a:t>
            </a:r>
            <a:r>
              <a:rPr lang="en-US" sz="4000" dirty="0" err="1" smtClean="0">
                <a:solidFill>
                  <a:srgbClr val="00B050"/>
                </a:solidFill>
              </a:rPr>
              <a:t>ssa_t</a:t>
            </a:r>
            <a:endParaRPr lang="en-US" sz="4000" dirty="0" smtClean="0">
              <a:solidFill>
                <a:srgbClr val="00B050"/>
              </a:solidFill>
            </a:endParaRPr>
          </a:p>
          <a:p>
            <a:pPr lvl="1"/>
            <a:r>
              <a:rPr lang="en-US" dirty="0" smtClean="0"/>
              <a:t>SSA’s are a data structure</a:t>
            </a:r>
          </a:p>
          <a:p>
            <a:pPr lvl="1"/>
            <a:r>
              <a:rPr lang="en-US" dirty="0" smtClean="0"/>
              <a:t>We need a type refer to them in code</a:t>
            </a:r>
          </a:p>
          <a:p>
            <a:pPr lvl="2"/>
            <a:r>
              <a:rPr lang="en-US" dirty="0" smtClean="0"/>
              <a:t>define variables that can hold an SSA</a:t>
            </a:r>
          </a:p>
          <a:p>
            <a:pPr lvl="2"/>
            <a:r>
              <a:rPr lang="en-US" dirty="0" smtClean="0"/>
              <a:t>define functions that manipulate them, …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We do </a:t>
            </a:r>
            <a:r>
              <a:rPr lang="en-US" b="1" dirty="0" smtClean="0"/>
              <a:t>not</a:t>
            </a:r>
            <a:r>
              <a:rPr lang="en-US" dirty="0" smtClean="0"/>
              <a:t> want the client to learn the details of this type</a:t>
            </a:r>
          </a:p>
          <a:p>
            <a:pPr lvl="1"/>
            <a:r>
              <a:rPr lang="en-US" dirty="0" smtClean="0"/>
              <a:t>This type is </a:t>
            </a:r>
            <a:r>
              <a:rPr lang="en-US" b="1" dirty="0" smtClean="0"/>
              <a:t>abstract</a:t>
            </a:r>
            <a:r>
              <a:rPr lang="en-US" dirty="0" smtClean="0"/>
              <a:t> for the client: </a:t>
            </a:r>
            <a:r>
              <a:rPr lang="en-US" i="1" dirty="0" smtClean="0"/>
              <a:t>just a name</a:t>
            </a:r>
          </a:p>
          <a:p>
            <a:pPr lvl="1"/>
            <a:r>
              <a:rPr lang="en-US" dirty="0" smtClean="0"/>
              <a:t>We define it as a </a:t>
            </a:r>
            <a:r>
              <a:rPr lang="en-US" i="1" dirty="0" smtClean="0"/>
              <a:t>commented-out</a:t>
            </a:r>
            <a:r>
              <a:rPr lang="en-US" dirty="0" smtClean="0"/>
              <a:t> </a:t>
            </a:r>
            <a:r>
              <a:rPr lang="en-US" kern="1200" dirty="0" err="1" smtClean="0">
                <a:solidFill>
                  <a:srgbClr val="D03BFF"/>
                </a:solidFill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dirty="0" smtClean="0"/>
              <a:t> with underscores</a:t>
            </a:r>
          </a:p>
          <a:p>
            <a:pPr>
              <a:buNone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					//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typedef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______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ssa_t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;</a:t>
            </a:r>
          </a:p>
          <a:p>
            <a:pPr lvl="1"/>
            <a:r>
              <a:rPr lang="en-US" dirty="0" smtClean="0"/>
              <a:t>The implementation will contain the actual definition of 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endParaRPr lang="en-US" dirty="0" smtClean="0">
              <a:solidFill>
                <a:srgbClr val="00B050"/>
              </a:solidFill>
            </a:endParaRPr>
          </a:p>
          <a:p>
            <a:pPr lvl="2"/>
            <a:r>
              <a:rPr lang="en-US" b="1" dirty="0" smtClean="0"/>
              <a:t>Concrete</a:t>
            </a:r>
            <a:r>
              <a:rPr lang="en-US" dirty="0" smtClean="0"/>
              <a:t> type of SSA’s</a:t>
            </a:r>
          </a:p>
        </p:txBody>
      </p:sp>
      <p:sp>
        <p:nvSpPr>
          <p:cNvPr id="6" name="Vertical Scroll 5"/>
          <p:cNvSpPr/>
          <p:nvPr/>
        </p:nvSpPr>
        <p:spPr bwMode="auto">
          <a:xfrm flipH="1">
            <a:off x="9474200" y="152400"/>
            <a:ext cx="3505200" cy="1708666"/>
          </a:xfrm>
          <a:prstGeom prst="verticalScroll">
            <a:avLst>
              <a:gd name="adj" fmla="val 21648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  <a:ea typeface="Menlo" charset="0"/>
              <a:cs typeface="Menlo" charset="0"/>
              <a:sym typeface="Menlo" charset="0"/>
            </a:endParaRP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  <a:ea typeface="Menlo" charset="0"/>
              <a:cs typeface="Menlo" charset="0"/>
              <a:sym typeface="Menlo" charset="0"/>
            </a:endParaRP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70429" y="140042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Menlo"/>
              </a:rPr>
              <a:t>SSA Interface</a:t>
            </a:r>
            <a:endParaRPr lang="en-US" sz="2000" dirty="0">
              <a:latin typeface="Menlo"/>
            </a:endParaRPr>
          </a:p>
        </p:txBody>
      </p:sp>
      <p:sp>
        <p:nvSpPr>
          <p:cNvPr id="8" name="Rectangular Callout 7"/>
          <p:cNvSpPr/>
          <p:nvPr/>
        </p:nvSpPr>
        <p:spPr bwMode="auto">
          <a:xfrm>
            <a:off x="8559800" y="3429000"/>
            <a:ext cx="2438400" cy="1015663"/>
          </a:xfrm>
          <a:prstGeom prst="wedgeRectCallout">
            <a:avLst>
              <a:gd name="adj1" fmla="val -207662"/>
              <a:gd name="adj2" fmla="val -8921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spAutoFit/>
          </a:bodyPr>
          <a:lstStyle/>
          <a:p>
            <a:pPr marL="395288" indent="-395288" algn="l">
              <a:defRPr/>
            </a:pPr>
            <a:r>
              <a:rPr lang="en-US" sz="2000" dirty="0" smtClean="0"/>
              <a:t>Convention:</a:t>
            </a:r>
            <a:r>
              <a:rPr lang="en-US" sz="2000" b="0" dirty="0" smtClean="0"/>
              <a:t> types exported by a library end in “</a:t>
            </a:r>
            <a:r>
              <a:rPr lang="en-US" sz="2000" b="0" dirty="0" smtClean="0">
                <a:solidFill>
                  <a:srgbClr val="00B050"/>
                </a:solidFill>
              </a:rPr>
              <a:t>_t</a:t>
            </a:r>
            <a:r>
              <a:rPr lang="en-US" sz="2000" b="0" dirty="0" smtClean="0"/>
              <a:t>”</a:t>
            </a:r>
            <a:endParaRPr lang="en-US" sz="2000" b="0" dirty="0"/>
          </a:p>
        </p:txBody>
      </p:sp>
      <p:sp>
        <p:nvSpPr>
          <p:cNvPr id="9" name="Rectangular Callout 8"/>
          <p:cNvSpPr/>
          <p:nvPr/>
        </p:nvSpPr>
        <p:spPr bwMode="auto">
          <a:xfrm>
            <a:off x="10464800" y="7391400"/>
            <a:ext cx="2438400" cy="400110"/>
          </a:xfrm>
          <a:prstGeom prst="wedgeRectCallout">
            <a:avLst>
              <a:gd name="adj1" fmla="val -50061"/>
              <a:gd name="adj2" fmla="val -115517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Another convention</a:t>
            </a:r>
            <a:endParaRPr lang="en-US" sz="2000" b="0" dirty="0"/>
          </a:p>
        </p:txBody>
      </p:sp>
      <p:sp>
        <p:nvSpPr>
          <p:cNvPr id="10" name="Right Arrow Callout 9"/>
          <p:cNvSpPr/>
          <p:nvPr/>
        </p:nvSpPr>
        <p:spPr bwMode="auto">
          <a:xfrm>
            <a:off x="330200" y="5962100"/>
            <a:ext cx="729234" cy="936475"/>
          </a:xfrm>
          <a:prstGeom prst="rightArrowCallout">
            <a:avLst/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270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What</a:t>
            </a:r>
          </a:p>
        </p:txBody>
      </p:sp>
      <p:sp>
        <p:nvSpPr>
          <p:cNvPr id="11" name="Right Arrow Callout 10"/>
          <p:cNvSpPr/>
          <p:nvPr/>
        </p:nvSpPr>
        <p:spPr bwMode="auto">
          <a:xfrm>
            <a:off x="330200" y="8065325"/>
            <a:ext cx="729234" cy="833883"/>
          </a:xfrm>
          <a:prstGeom prst="rightArrowCallout">
            <a:avLst/>
          </a:prstGeom>
          <a:solidFill>
            <a:srgbClr val="FF000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270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How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7378700" cy="1498600"/>
          </a:xfrm>
        </p:spPr>
        <p:txBody>
          <a:bodyPr/>
          <a:lstStyle/>
          <a:p>
            <a:r>
              <a:rPr lang="en-US" dirty="0" smtClean="0"/>
              <a:t>Interface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 smtClean="0"/>
              <a:t>The </a:t>
            </a:r>
            <a:r>
              <a:rPr lang="en-US" b="1" dirty="0" smtClean="0"/>
              <a:t>operations</a:t>
            </a:r>
            <a:r>
              <a:rPr lang="en-US" dirty="0" smtClean="0"/>
              <a:t> provided by the library</a:t>
            </a:r>
            <a:br>
              <a:rPr lang="en-US" dirty="0" smtClean="0"/>
            </a:br>
            <a:r>
              <a:rPr lang="en-US" dirty="0" smtClean="0"/>
              <a:t>to manipulate SSA’s</a:t>
            </a:r>
          </a:p>
          <a:p>
            <a:pPr lvl="1"/>
            <a:r>
              <a:rPr lang="en-US" dirty="0" smtClean="0"/>
              <a:t>What should these be?</a:t>
            </a:r>
          </a:p>
          <a:p>
            <a:pPr lvl="2"/>
            <a:r>
              <a:rPr lang="en-US" dirty="0" smtClean="0"/>
              <a:t>SSA’s are just fancy arrays</a:t>
            </a:r>
          </a:p>
          <a:p>
            <a:pPr lvl="2"/>
            <a:r>
              <a:rPr lang="en-US" dirty="0" smtClean="0"/>
              <a:t>We will need SSA versions of the standard operations on arrays</a:t>
            </a:r>
          </a:p>
          <a:p>
            <a:pPr lvl="3"/>
            <a:r>
              <a:rPr lang="en-US" dirty="0" smtClean="0"/>
              <a:t>create a new array</a:t>
            </a:r>
          </a:p>
          <a:p>
            <a:pPr lvl="3"/>
            <a:r>
              <a:rPr lang="en-US" dirty="0" smtClean="0"/>
              <a:t>read a value from an array index</a:t>
            </a:r>
          </a:p>
          <a:p>
            <a:pPr lvl="3"/>
            <a:r>
              <a:rPr lang="en-US" dirty="0" smtClean="0"/>
              <a:t>write a value to an array index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Vertical Scroll 3"/>
          <p:cNvSpPr/>
          <p:nvPr/>
        </p:nvSpPr>
        <p:spPr bwMode="auto">
          <a:xfrm flipH="1">
            <a:off x="9474200" y="152400"/>
            <a:ext cx="3505200" cy="1708666"/>
          </a:xfrm>
          <a:prstGeom prst="verticalScroll">
            <a:avLst>
              <a:gd name="adj" fmla="val 21648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  <a:ea typeface="Menlo" charset="0"/>
              <a:cs typeface="Menlo" charset="0"/>
              <a:sym typeface="Menlo" charset="0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Operations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70429" y="140042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Menlo"/>
              </a:rPr>
              <a:t>SSA Interface</a:t>
            </a:r>
            <a:endParaRPr lang="en-US" sz="2000" dirty="0">
              <a:latin typeface="Menl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7378700" cy="1498600"/>
          </a:xfrm>
        </p:spPr>
        <p:txBody>
          <a:bodyPr/>
          <a:lstStyle/>
          <a:p>
            <a:r>
              <a:rPr lang="en-US" dirty="0" smtClean="0"/>
              <a:t>Interface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 smtClean="0"/>
              <a:t>The </a:t>
            </a:r>
            <a:r>
              <a:rPr lang="en-US" b="1" dirty="0" smtClean="0"/>
              <a:t>operations</a:t>
            </a:r>
            <a:r>
              <a:rPr lang="en-US" dirty="0" smtClean="0"/>
              <a:t> provided by the library</a:t>
            </a:r>
            <a:br>
              <a:rPr lang="en-US" dirty="0" smtClean="0"/>
            </a:br>
            <a:r>
              <a:rPr lang="en-US" dirty="0" smtClean="0"/>
              <a:t>to manipulate SSA’s</a:t>
            </a:r>
          </a:p>
          <a:p>
            <a:pPr lvl="1"/>
            <a:r>
              <a:rPr lang="en-US" dirty="0" smtClean="0"/>
              <a:t>Creating a new SSA</a:t>
            </a:r>
          </a:p>
          <a:p>
            <a:pPr lvl="1">
              <a:buNone/>
            </a:pPr>
            <a:r>
              <a:rPr lang="en-US" sz="2000" dirty="0" smtClean="0"/>
              <a:t>	</a:t>
            </a:r>
          </a:p>
          <a:p>
            <a:pPr lvl="1">
              <a:buNone/>
            </a:pPr>
            <a:endParaRPr lang="en-US" sz="1800" dirty="0" smtClean="0">
              <a:solidFill>
                <a:srgbClr val="00B050"/>
              </a:solidFill>
            </a:endParaRPr>
          </a:p>
          <a:p>
            <a:pPr lvl="1">
              <a:buNone/>
            </a:pPr>
            <a:r>
              <a:rPr lang="en-US" dirty="0" smtClean="0">
                <a:solidFill>
                  <a:srgbClr val="00B050"/>
                </a:solidFill>
              </a:rPr>
              <a:t>	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ssa_new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size</a:t>
            </a:r>
            <a:r>
              <a:rPr lang="en-US" dirty="0" smtClean="0">
                <a:solidFill>
                  <a:schemeClr val="tx1"/>
                </a:solidFill>
              </a:rPr>
              <a:t>);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// akin to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alloc_array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(string, size)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Reading the value at an index of an SSA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B050"/>
                </a:solidFill>
              </a:rPr>
              <a:t>string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C000"/>
                </a:solidFill>
              </a:rPr>
              <a:t>i</a:t>
            </a:r>
            <a:r>
              <a:rPr lang="en-US" dirty="0" smtClean="0">
                <a:solidFill>
                  <a:schemeClr val="tx1"/>
                </a:solidFill>
              </a:rPr>
              <a:t>);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 // akin to … A[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] …</a:t>
            </a:r>
          </a:p>
          <a:p>
            <a:pPr lvl="1"/>
            <a:r>
              <a:rPr lang="en-US" dirty="0" smtClean="0"/>
              <a:t>Writing a value to an index of an SSA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B050"/>
                </a:solidFill>
              </a:rPr>
              <a:t>void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ssa_set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C000"/>
                </a:solidFill>
              </a:rPr>
              <a:t>i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string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x</a:t>
            </a:r>
            <a:r>
              <a:rPr lang="en-US" dirty="0" smtClean="0"/>
              <a:t>);   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// akin to A[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] = x</a:t>
            </a:r>
          </a:p>
          <a:p>
            <a:pPr lvl="2"/>
            <a:r>
              <a:rPr lang="en-US" dirty="0" smtClean="0"/>
              <a:t>differently from regular arrays, this may rearrange the contents of A to keep it sorted</a:t>
            </a:r>
          </a:p>
          <a:p>
            <a:pPr lvl="1"/>
            <a:endParaRPr lang="en-US" dirty="0"/>
          </a:p>
        </p:txBody>
      </p:sp>
      <p:sp>
        <p:nvSpPr>
          <p:cNvPr id="4" name="Vertical Scroll 3"/>
          <p:cNvSpPr/>
          <p:nvPr/>
        </p:nvSpPr>
        <p:spPr bwMode="auto">
          <a:xfrm flipH="1">
            <a:off x="8559800" y="76200"/>
            <a:ext cx="4419600" cy="2490748"/>
          </a:xfrm>
          <a:prstGeom prst="verticalScroll">
            <a:avLst>
              <a:gd name="adj" fmla="val 13683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800" b="0" dirty="0" smtClean="0">
                <a:latin typeface="Menlo"/>
              </a:rPr>
              <a:t>)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);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800" b="0" dirty="0" smtClean="0">
                <a:latin typeface="Menlo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6029" y="44733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Menlo"/>
              </a:rPr>
              <a:t>SSA Interface</a:t>
            </a:r>
            <a:endParaRPr lang="en-US" sz="2000" dirty="0">
              <a:latin typeface="Menlo"/>
            </a:endParaRPr>
          </a:p>
        </p:txBody>
      </p:sp>
      <p:sp>
        <p:nvSpPr>
          <p:cNvPr id="6" name="Rectangular Callout 5"/>
          <p:cNvSpPr/>
          <p:nvPr/>
        </p:nvSpPr>
        <p:spPr bwMode="auto">
          <a:xfrm>
            <a:off x="4902200" y="3657600"/>
            <a:ext cx="2438400" cy="400110"/>
          </a:xfrm>
          <a:prstGeom prst="wedgeRectCallout">
            <a:avLst>
              <a:gd name="adj1" fmla="val -41953"/>
              <a:gd name="adj2" fmla="val 12537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Number of elements</a:t>
            </a:r>
            <a:endParaRPr lang="en-US" sz="2000" b="0" dirty="0"/>
          </a:p>
        </p:txBody>
      </p:sp>
      <p:sp>
        <p:nvSpPr>
          <p:cNvPr id="7" name="Rectangular Callout 6"/>
          <p:cNvSpPr/>
          <p:nvPr/>
        </p:nvSpPr>
        <p:spPr bwMode="auto">
          <a:xfrm>
            <a:off x="2006600" y="3657600"/>
            <a:ext cx="2302875" cy="400110"/>
          </a:xfrm>
          <a:prstGeom prst="wedgeRectCallout">
            <a:avLst>
              <a:gd name="adj1" fmla="val -40403"/>
              <a:gd name="adj2" fmla="val 13155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Newly created SSA</a:t>
            </a:r>
            <a:endParaRPr lang="en-US" sz="2000" b="0" dirty="0"/>
          </a:p>
        </p:txBody>
      </p:sp>
      <p:sp>
        <p:nvSpPr>
          <p:cNvPr id="8" name="Rectangular Callout 7"/>
          <p:cNvSpPr/>
          <p:nvPr/>
        </p:nvSpPr>
        <p:spPr bwMode="auto">
          <a:xfrm>
            <a:off x="3683000" y="5181600"/>
            <a:ext cx="4024499" cy="707886"/>
          </a:xfrm>
          <a:prstGeom prst="wedgeRectCallout">
            <a:avLst>
              <a:gd name="adj1" fmla="val -38561"/>
              <a:gd name="adj2" fmla="val -9363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This is a </a:t>
            </a:r>
            <a:r>
              <a:rPr lang="en-US" sz="2000" dirty="0" smtClean="0"/>
              <a:t>function prototype</a:t>
            </a:r>
            <a:r>
              <a:rPr lang="en-US" sz="2000" b="0" dirty="0" smtClean="0"/>
              <a:t>:</a:t>
            </a:r>
          </a:p>
          <a:p>
            <a:pPr>
              <a:defRPr/>
            </a:pPr>
            <a:r>
              <a:rPr lang="en-US" sz="2000" b="0" dirty="0" smtClean="0"/>
              <a:t>a function definition without a body</a:t>
            </a:r>
            <a:endParaRPr lang="en-US" sz="2000" b="0" dirty="0"/>
          </a:p>
        </p:txBody>
      </p:sp>
      <p:sp>
        <p:nvSpPr>
          <p:cNvPr id="9" name="Rectangular Callout 8"/>
          <p:cNvSpPr/>
          <p:nvPr/>
        </p:nvSpPr>
        <p:spPr bwMode="auto">
          <a:xfrm>
            <a:off x="9626600" y="6858000"/>
            <a:ext cx="3259867" cy="954107"/>
          </a:xfrm>
          <a:prstGeom prst="wedgeRectCallout">
            <a:avLst>
              <a:gd name="adj1" fmla="val -50700"/>
              <a:gd name="adj2" fmla="val -26147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Recall that our SSAs</a:t>
            </a:r>
            <a:br>
              <a:rPr lang="en-US" sz="2000" b="0" dirty="0" smtClean="0"/>
            </a:br>
            <a:r>
              <a:rPr lang="en-US" sz="2000" b="0" dirty="0" smtClean="0"/>
              <a:t>contain strings</a:t>
            </a:r>
          </a:p>
          <a:p>
            <a:pPr>
              <a:defRPr/>
            </a:pPr>
            <a:r>
              <a:rPr lang="en-US" sz="1600" b="0" dirty="0" smtClean="0"/>
              <a:t>(we’ll learn later how to generalize)</a:t>
            </a:r>
            <a:endParaRPr lang="en-US" sz="1600" b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7378700" cy="1498600"/>
          </a:xfrm>
        </p:spPr>
        <p:txBody>
          <a:bodyPr/>
          <a:lstStyle/>
          <a:p>
            <a:r>
              <a:rPr lang="en-US" dirty="0" smtClean="0"/>
              <a:t>Interface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The </a:t>
            </a:r>
            <a:r>
              <a:rPr lang="en-US" b="1" dirty="0" smtClean="0"/>
              <a:t>contracts</a:t>
            </a:r>
            <a:r>
              <a:rPr lang="en-US" dirty="0" smtClean="0"/>
              <a:t> of each operation</a:t>
            </a:r>
          </a:p>
          <a:p>
            <a:pPr lvl="1"/>
            <a:r>
              <a:rPr lang="en-US" dirty="0" smtClean="0"/>
              <a:t>The client needs to be able to write safe code</a:t>
            </a:r>
          </a:p>
          <a:p>
            <a:pPr lvl="2"/>
            <a:r>
              <a:rPr lang="en-US" dirty="0" smtClean="0"/>
              <a:t>Provide arguments that satisfy the preconditions of each function</a:t>
            </a:r>
          </a:p>
          <a:p>
            <a:pPr lvl="2"/>
            <a:r>
              <a:rPr lang="en-US" dirty="0" smtClean="0"/>
              <a:t>Use the functions’ </a:t>
            </a:r>
            <a:r>
              <a:rPr lang="en-US" dirty="0" err="1" smtClean="0"/>
              <a:t>postconditions</a:t>
            </a:r>
            <a:r>
              <a:rPr lang="en-US" dirty="0" smtClean="0"/>
              <a:t> to reason about follow-up code</a:t>
            </a:r>
          </a:p>
          <a:p>
            <a:pPr lvl="4"/>
            <a:endParaRPr lang="en-US" dirty="0" smtClean="0"/>
          </a:p>
          <a:p>
            <a:pPr lvl="1"/>
            <a:r>
              <a:rPr lang="en-US" dirty="0" smtClean="0"/>
              <a:t>Reading the value at an index of an SSA</a:t>
            </a:r>
          </a:p>
          <a:p>
            <a:pPr lvl="2"/>
            <a:r>
              <a:rPr lang="en-US" dirty="0" smtClean="0"/>
              <a:t>Same contracts as native A[</a:t>
            </a:r>
            <a:r>
              <a:rPr lang="en-US" dirty="0" err="1" smtClean="0"/>
              <a:t>i</a:t>
            </a:r>
            <a:r>
              <a:rPr lang="en-US" dirty="0" smtClean="0"/>
              <a:t>]</a:t>
            </a:r>
          </a:p>
          <a:p>
            <a:pPr lvl="4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&lt; \length(A); @*/</a:t>
            </a:r>
            <a:endParaRPr lang="en-US" dirty="0" smtClean="0"/>
          </a:p>
          <a:p>
            <a:pPr lvl="2"/>
            <a:r>
              <a:rPr lang="en-US" dirty="0" smtClean="0"/>
              <a:t>So:</a:t>
            </a:r>
          </a:p>
          <a:p>
            <a:pPr lvl="1"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00B050"/>
                </a:solidFill>
              </a:rPr>
              <a:t>string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C000"/>
                </a:solidFill>
              </a:rPr>
              <a:t>i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 // akin to … A[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] …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&lt; \length(A); @*/</a:t>
            </a:r>
            <a:r>
              <a:rPr lang="en-US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  <a:endParaRPr lang="en-US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lvl="4"/>
            <a:endParaRPr lang="en-US" dirty="0" smtClean="0"/>
          </a:p>
          <a:p>
            <a:pPr lvl="1">
              <a:buNone/>
            </a:pPr>
            <a:r>
              <a:rPr lang="en-US" b="1" i="1" dirty="0" smtClean="0"/>
              <a:t>					Can this be right?</a:t>
            </a:r>
            <a:endParaRPr lang="en-US" b="1" i="1" dirty="0"/>
          </a:p>
        </p:txBody>
      </p:sp>
      <p:sp>
        <p:nvSpPr>
          <p:cNvPr id="4" name="Vertical Scroll 3"/>
          <p:cNvSpPr/>
          <p:nvPr/>
        </p:nvSpPr>
        <p:spPr bwMode="auto">
          <a:xfrm flipH="1">
            <a:off x="8559800" y="76200"/>
            <a:ext cx="4419600" cy="2490748"/>
          </a:xfrm>
          <a:prstGeom prst="verticalScroll">
            <a:avLst>
              <a:gd name="adj" fmla="val 13683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800" b="0" dirty="0" smtClean="0">
                <a:latin typeface="Menlo"/>
              </a:rPr>
              <a:t>)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);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800" b="0" dirty="0" smtClean="0">
                <a:latin typeface="Menlo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6029" y="44733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Menlo"/>
              </a:rPr>
              <a:t>SSA Interface</a:t>
            </a:r>
            <a:endParaRPr lang="en-US" sz="2000" dirty="0">
              <a:latin typeface="Menl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7378700" cy="1498600"/>
          </a:xfrm>
        </p:spPr>
        <p:txBody>
          <a:bodyPr/>
          <a:lstStyle/>
          <a:p>
            <a:r>
              <a:rPr lang="en-US" dirty="0" smtClean="0"/>
              <a:t>Interface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The </a:t>
            </a:r>
            <a:r>
              <a:rPr lang="en-US" b="1" dirty="0" smtClean="0"/>
              <a:t>contracts</a:t>
            </a:r>
            <a:r>
              <a:rPr lang="en-US" dirty="0" smtClean="0"/>
              <a:t> of each operation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B050"/>
                </a:solidFill>
              </a:rPr>
              <a:t>string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C000"/>
                </a:solidFill>
              </a:rPr>
              <a:t>i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// akin to … A[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] …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rgbClr val="C00000"/>
                </a:solidFill>
                <a:latin typeface="Menlo"/>
              </a:rPr>
              <a:t> /*@requires 0 &lt;= </a:t>
            </a:r>
            <a:r>
              <a:rPr lang="en-US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&lt; \length(A); @*/</a:t>
            </a:r>
            <a:r>
              <a:rPr lang="en-US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  <a:endParaRPr lang="en-US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lvl="1">
              <a:spcBef>
                <a:spcPts val="1200"/>
              </a:spcBef>
              <a:buNone/>
            </a:pPr>
            <a:r>
              <a:rPr lang="en-US" b="1" i="1" dirty="0" smtClean="0"/>
              <a:t>					Can this be right?</a:t>
            </a:r>
          </a:p>
          <a:p>
            <a:pPr lvl="2"/>
            <a:endParaRPr lang="en-US" dirty="0" smtClean="0"/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\length </a:t>
            </a:r>
            <a:r>
              <a:rPr lang="en-US" dirty="0" smtClean="0"/>
              <a:t>is defined only for C0 arrays</a:t>
            </a:r>
          </a:p>
          <a:p>
            <a:pPr lvl="2"/>
            <a:r>
              <a:rPr lang="en-US" dirty="0" smtClean="0"/>
              <a:t>But SSAs are not C0 arrays</a:t>
            </a:r>
          </a:p>
          <a:p>
            <a:pPr lvl="3"/>
            <a:r>
              <a:rPr lang="en-US" dirty="0" smtClean="0"/>
              <a:t>elements stay sorted</a:t>
            </a:r>
          </a:p>
          <a:p>
            <a:pPr lvl="3"/>
            <a:r>
              <a:rPr lang="en-US" dirty="0" smtClean="0"/>
              <a:t>should be manipulated only with operations in the SSA interface</a:t>
            </a:r>
          </a:p>
          <a:p>
            <a:pPr lvl="1"/>
            <a:r>
              <a:rPr lang="en-US" dirty="0" smtClean="0"/>
              <a:t>We need an additional interface function that reports the length of an SSA</a:t>
            </a:r>
          </a:p>
          <a:p>
            <a:pPr lvl="1">
              <a:buNone/>
            </a:pPr>
            <a:r>
              <a:rPr lang="en-US" dirty="0" smtClean="0">
                <a:solidFill>
                  <a:srgbClr val="00B050"/>
                </a:solidFill>
              </a:rPr>
              <a:t>	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A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 // akin to \length(A)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rgbClr val="C00000"/>
                </a:solidFill>
                <a:latin typeface="Menlo"/>
              </a:rPr>
              <a:t> /*@ensures \result &gt;= 0; @*/</a:t>
            </a:r>
            <a:r>
              <a:rPr lang="en-US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Vertical Scroll 3"/>
          <p:cNvSpPr/>
          <p:nvPr/>
        </p:nvSpPr>
        <p:spPr bwMode="auto">
          <a:xfrm flipH="1">
            <a:off x="8559800" y="76200"/>
            <a:ext cx="4419600" cy="3312418"/>
          </a:xfrm>
          <a:prstGeom prst="verticalScroll">
            <a:avLst>
              <a:gd name="adj" fmla="val 10330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/*@ensures \result &gt;= 0; 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800" b="0" dirty="0" smtClean="0">
                <a:latin typeface="Menlo"/>
              </a:rPr>
              <a:t>)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);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800" b="0" dirty="0" smtClean="0">
                <a:latin typeface="Menlo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6029" y="44733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Menlo"/>
              </a:rPr>
              <a:t>SSA Interface</a:t>
            </a:r>
            <a:endParaRPr lang="en-US" sz="2000" dirty="0">
              <a:latin typeface="Menlo"/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8571675" y="902525"/>
            <a:ext cx="3657600" cy="838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7" name="Rectangular Callout 6"/>
          <p:cNvSpPr/>
          <p:nvPr/>
        </p:nvSpPr>
        <p:spPr bwMode="auto">
          <a:xfrm>
            <a:off x="6807200" y="8915400"/>
            <a:ext cx="6031588" cy="707886"/>
          </a:xfrm>
          <a:prstGeom prst="wedgeRectCallout">
            <a:avLst>
              <a:gd name="adj1" fmla="val -66141"/>
              <a:gd name="adj2" fmla="val -15568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An SSA cannot have a negative number of elements</a:t>
            </a:r>
          </a:p>
          <a:p>
            <a:pPr>
              <a:defRPr/>
            </a:pPr>
            <a:r>
              <a:rPr lang="en-US" sz="2000" b="0" dirty="0" smtClean="0"/>
              <a:t>(same </a:t>
            </a:r>
            <a:r>
              <a:rPr lang="en-US" sz="2000" b="0" dirty="0" err="1" smtClean="0"/>
              <a:t>postcondition</a:t>
            </a:r>
            <a:r>
              <a:rPr lang="en-US" sz="2000" b="0" dirty="0" smtClean="0"/>
              <a:t> as </a:t>
            </a:r>
            <a:r>
              <a:rPr lang="en-US" sz="2000" b="0" dirty="0" smtClean="0">
                <a:solidFill>
                  <a:srgbClr val="C00000"/>
                </a:solidFill>
              </a:rPr>
              <a:t>\length</a:t>
            </a:r>
            <a:r>
              <a:rPr lang="en-US" sz="2000" b="0" dirty="0" smtClean="0"/>
              <a:t>)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7378700" cy="1498600"/>
          </a:xfrm>
        </p:spPr>
        <p:txBody>
          <a:bodyPr/>
          <a:lstStyle/>
          <a:p>
            <a:r>
              <a:rPr lang="en-US" dirty="0" smtClean="0"/>
              <a:t>Interface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The </a:t>
            </a:r>
            <a:r>
              <a:rPr lang="en-US" b="1" dirty="0" smtClean="0"/>
              <a:t>contracts</a:t>
            </a:r>
            <a:r>
              <a:rPr lang="en-US" dirty="0" smtClean="0"/>
              <a:t> of each operation</a:t>
            </a:r>
          </a:p>
          <a:p>
            <a:pPr lvl="1"/>
            <a:r>
              <a:rPr lang="en-US" dirty="0" smtClean="0"/>
              <a:t>With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we can give</a:t>
            </a:r>
            <a:br>
              <a:rPr lang="en-US" dirty="0" smtClean="0"/>
            </a:br>
            <a:r>
              <a:rPr lang="en-US" dirty="0" smtClean="0"/>
              <a:t>a meaningful</a:t>
            </a:r>
            <a:br>
              <a:rPr lang="en-US" dirty="0" smtClean="0"/>
            </a:br>
            <a:r>
              <a:rPr lang="en-US" dirty="0" smtClean="0"/>
              <a:t>precondition to</a:t>
            </a:r>
            <a:br>
              <a:rPr lang="en-US" dirty="0" smtClean="0"/>
            </a:b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endParaRPr lang="en-US" dirty="0" smtClean="0">
              <a:solidFill>
                <a:srgbClr val="7030A0"/>
              </a:solidFill>
            </a:endParaRPr>
          </a:p>
          <a:p>
            <a:pPr lvl="1">
              <a:spcBef>
                <a:spcPts val="1200"/>
              </a:spcBef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B050"/>
                </a:solidFill>
              </a:rPr>
              <a:t>string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C000"/>
                </a:solidFill>
              </a:rPr>
              <a:t>i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// akin to … A[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] …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rgbClr val="C00000"/>
                </a:solidFill>
                <a:latin typeface="Menlo"/>
              </a:rPr>
              <a:t> /*@requires 0 &lt;= </a:t>
            </a:r>
            <a:r>
              <a:rPr lang="en-US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(A); @*/</a:t>
            </a:r>
            <a:r>
              <a:rPr lang="en-US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  <a:endParaRPr lang="en-US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dirty="0" smtClean="0"/>
              <a:t>and to the to </a:t>
            </a:r>
            <a:r>
              <a:rPr lang="en-US" dirty="0" err="1" smtClean="0">
                <a:solidFill>
                  <a:srgbClr val="7030A0"/>
                </a:solidFill>
              </a:rPr>
              <a:t>ssa_set</a:t>
            </a:r>
            <a:endParaRPr lang="en-US" dirty="0" smtClean="0">
              <a:solidFill>
                <a:srgbClr val="7030A0"/>
              </a:solidFill>
            </a:endParaRPr>
          </a:p>
          <a:p>
            <a:pPr lvl="1"/>
            <a:r>
              <a:rPr lang="en-US" dirty="0" smtClean="0"/>
              <a:t>and a </a:t>
            </a:r>
            <a:r>
              <a:rPr lang="en-US" dirty="0" err="1" smtClean="0"/>
              <a:t>postcondition</a:t>
            </a:r>
            <a:r>
              <a:rPr lang="en-US" dirty="0" smtClean="0"/>
              <a:t> to </a:t>
            </a:r>
            <a:r>
              <a:rPr lang="en-US" dirty="0" err="1" smtClean="0">
                <a:solidFill>
                  <a:srgbClr val="7030A0"/>
                </a:solidFill>
              </a:rPr>
              <a:t>ssa_new</a:t>
            </a:r>
            <a:endParaRPr lang="en-US" dirty="0" smtClean="0">
              <a:solidFill>
                <a:srgbClr val="7030A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Vertical Scroll 3"/>
          <p:cNvSpPr/>
          <p:nvPr/>
        </p:nvSpPr>
        <p:spPr bwMode="auto">
          <a:xfrm flipH="1">
            <a:off x="7721600" y="76201"/>
            <a:ext cx="5257800" cy="4419600"/>
          </a:xfrm>
          <a:prstGeom prst="verticalScroll">
            <a:avLst>
              <a:gd name="adj" fmla="val 7472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/*@ensures \result &gt;= 0; 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800" b="0" dirty="0" smtClean="0">
                <a:latin typeface="Menlo"/>
              </a:rPr>
              <a:t>)</a:t>
            </a:r>
            <a:endParaRPr lang="en-US" sz="1800" b="0" dirty="0" smtClean="0">
              <a:solidFill>
                <a:srgbClr val="C00000"/>
              </a:solidFill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/*@requires 0 &lt;= size; 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(\result) == size; 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)</a:t>
            </a:r>
            <a:endParaRPr lang="en-US" sz="1800" b="0" dirty="0" smtClean="0">
              <a:solidFill>
                <a:srgbClr val="C00000"/>
              </a:solidFill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(A); 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800" b="0" dirty="0" smtClean="0">
                <a:latin typeface="Menlo"/>
              </a:rPr>
              <a:t>)</a:t>
            </a:r>
            <a:endParaRPr lang="en-US" sz="1800" b="0" dirty="0" smtClean="0">
              <a:solidFill>
                <a:srgbClr val="C00000"/>
              </a:solidFill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(A); @*/</a:t>
            </a:r>
            <a:r>
              <a:rPr lang="en-US" sz="1800" b="0" dirty="0" smtClean="0">
                <a:latin typeface="Menlo"/>
              </a:rPr>
              <a:t> 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41629" y="44733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Menlo"/>
              </a:rPr>
              <a:t>SSA Interface</a:t>
            </a:r>
            <a:endParaRPr lang="en-US" sz="2000" dirty="0">
              <a:latin typeface="Menlo"/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5207000" y="5105400"/>
            <a:ext cx="3657600" cy="838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7378700" cy="1498600"/>
          </a:xfrm>
        </p:spPr>
        <p:txBody>
          <a:bodyPr/>
          <a:lstStyle/>
          <a:p>
            <a:r>
              <a:rPr lang="en-US" dirty="0" smtClean="0"/>
              <a:t>Interface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dirty="0" smtClean="0"/>
              <a:t>But what kind of type can 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be?</a:t>
            </a:r>
          </a:p>
          <a:p>
            <a:pPr marL="857250" lvl="1" indent="-514350"/>
            <a:r>
              <a:rPr lang="en-US" dirty="0" smtClean="0"/>
              <a:t>An array?</a:t>
            </a:r>
          </a:p>
          <a:p>
            <a:pPr marL="1149350" lvl="2" indent="-514350"/>
            <a:r>
              <a:rPr lang="en-US" dirty="0" smtClean="0"/>
              <a:t>No way to get the length of an array in C0</a:t>
            </a:r>
          </a:p>
          <a:p>
            <a:pPr marL="857250" lvl="1" indent="-514350"/>
            <a:r>
              <a:rPr lang="en-US" dirty="0" smtClean="0"/>
              <a:t>An </a:t>
            </a:r>
            <a:r>
              <a:rPr lang="en-US" dirty="0" err="1" smtClean="0">
                <a:solidFill>
                  <a:srgbClr val="00B050"/>
                </a:solidFill>
              </a:rPr>
              <a:t>int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bool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00B050"/>
                </a:solidFill>
              </a:rPr>
              <a:t>char</a:t>
            </a:r>
            <a:r>
              <a:rPr lang="en-US" dirty="0" smtClean="0"/>
              <a:t>?</a:t>
            </a:r>
          </a:p>
          <a:p>
            <a:pPr marL="1149350" lvl="2" indent="-514350"/>
            <a:r>
              <a:rPr lang="en-US" dirty="0" smtClean="0"/>
              <a:t>No way to represent arbitrarily many strings</a:t>
            </a:r>
          </a:p>
          <a:p>
            <a:pPr marL="857250" lvl="1" indent="-514350"/>
            <a:r>
              <a:rPr lang="en-US" dirty="0" smtClean="0"/>
              <a:t>A </a:t>
            </a:r>
            <a:r>
              <a:rPr lang="en-US" dirty="0" smtClean="0">
                <a:solidFill>
                  <a:srgbClr val="00B050"/>
                </a:solidFill>
              </a:rPr>
              <a:t>string</a:t>
            </a:r>
            <a:r>
              <a:rPr lang="en-US" dirty="0" smtClean="0"/>
              <a:t>?</a:t>
            </a:r>
          </a:p>
          <a:p>
            <a:pPr marL="1149350" lvl="2" indent="-514350"/>
            <a:r>
              <a:rPr lang="en-US" dirty="0" smtClean="0"/>
              <a:t>Let’s not go there …</a:t>
            </a:r>
          </a:p>
          <a:p>
            <a:pPr marL="857250" lvl="1" indent="-514350"/>
            <a:r>
              <a:rPr lang="en-US" dirty="0" smtClean="0"/>
              <a:t>A </a:t>
            </a:r>
            <a:r>
              <a:rPr lang="en-US" dirty="0" err="1" smtClean="0"/>
              <a:t>struct</a:t>
            </a:r>
            <a:r>
              <a:rPr lang="en-US" dirty="0" smtClean="0"/>
              <a:t>?</a:t>
            </a:r>
          </a:p>
          <a:p>
            <a:pPr marL="1149350" lvl="2" indent="-514350"/>
            <a:r>
              <a:rPr lang="en-US" dirty="0" err="1" smtClean="0"/>
              <a:t>Structs</a:t>
            </a:r>
            <a:r>
              <a:rPr lang="en-US" dirty="0" smtClean="0"/>
              <a:t> cannot be passed as function arguments directly</a:t>
            </a:r>
          </a:p>
          <a:p>
            <a:pPr marL="1720850" lvl="4" indent="-514350"/>
            <a:endParaRPr lang="en-US" dirty="0" smtClean="0"/>
          </a:p>
          <a:p>
            <a:pPr marL="514350" indent="-514350"/>
            <a:r>
              <a:rPr lang="en-US" dirty="0" smtClean="0"/>
              <a:t>Then, 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must be a </a:t>
            </a:r>
            <a:r>
              <a:rPr lang="en-US" b="1" dirty="0" smtClean="0"/>
              <a:t>pointer</a:t>
            </a:r>
          </a:p>
          <a:p>
            <a:pPr marL="857250" lvl="1" indent="-514350"/>
            <a:r>
              <a:rPr lang="en-US" dirty="0" smtClean="0"/>
              <a:t>Update the pseudo-</a:t>
            </a:r>
            <a:r>
              <a:rPr lang="en-US" dirty="0" err="1" smtClean="0">
                <a:solidFill>
                  <a:srgbClr val="7030A0"/>
                </a:solidFill>
              </a:rPr>
              <a:t>typedef</a:t>
            </a:r>
            <a:r>
              <a:rPr lang="en-US" dirty="0" smtClean="0"/>
              <a:t> to reflect this</a:t>
            </a:r>
          </a:p>
          <a:p>
            <a:pPr marL="857250" lvl="1" indent="-514350"/>
            <a:r>
              <a:rPr lang="en-US" dirty="0" smtClean="0"/>
              <a:t>Disallow NULL as a valid 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endParaRPr lang="en-US" dirty="0" smtClean="0">
              <a:solidFill>
                <a:srgbClr val="00B050"/>
              </a:solidFill>
            </a:endParaRPr>
          </a:p>
          <a:p>
            <a:pPr marL="1492250" lvl="3" indent="-514350"/>
            <a:r>
              <a:rPr lang="en-US" dirty="0" smtClean="0"/>
              <a:t>Every operation that takes an 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has a NULL-check as a precondition</a:t>
            </a:r>
          </a:p>
          <a:p>
            <a:pPr marL="1492250" lvl="3" indent="-514350"/>
            <a:r>
              <a:rPr lang="en-US" dirty="0" smtClean="0"/>
              <a:t>Every operation that returns an 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r>
              <a:rPr lang="en-US" dirty="0" smtClean="0"/>
              <a:t> has a NULL-check as a </a:t>
            </a:r>
            <a:r>
              <a:rPr lang="en-US" dirty="0" err="1" smtClean="0"/>
              <a:t>postcondition</a:t>
            </a:r>
            <a:endParaRPr lang="en-US" dirty="0" smtClean="0"/>
          </a:p>
        </p:txBody>
      </p:sp>
      <p:sp>
        <p:nvSpPr>
          <p:cNvPr id="4" name="Vertical Scroll 3"/>
          <p:cNvSpPr/>
          <p:nvPr/>
        </p:nvSpPr>
        <p:spPr bwMode="auto">
          <a:xfrm flipH="1">
            <a:off x="7950200" y="76201"/>
            <a:ext cx="5029200" cy="5524440"/>
          </a:xfrm>
          <a:prstGeom prst="verticalScroll">
            <a:avLst>
              <a:gd name="adj" fmla="val 6326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 *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776663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776663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800" b="0" dirty="0" smtClean="0">
              <a:latin typeface="Menlo"/>
            </a:endParaRP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776663" algn="l"/>
              </a:tabLst>
            </a:pPr>
            <a:endParaRPr lang="en-US" sz="18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776663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800" b="0" dirty="0" smtClean="0">
                <a:latin typeface="Menlo"/>
              </a:rPr>
              <a:t>)</a:t>
            </a:r>
            <a:endParaRPr lang="en-US" sz="1800" b="0" dirty="0" smtClean="0">
              <a:solidFill>
                <a:srgbClr val="C00000"/>
              </a:solidFill>
              <a:latin typeface="Menlo"/>
            </a:endParaRP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/*@requires 0 &lt;= size;	@*/</a:t>
            </a: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/*@ensures \result != NULL;	@*/</a:t>
            </a: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(\result) == size;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776663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latin typeface="Menlo"/>
              </a:rPr>
              <a:t> </a:t>
            </a: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776663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800" b="0" dirty="0" smtClean="0">
                <a:latin typeface="Menlo"/>
              </a:rPr>
              <a:t> 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41629" y="44733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Menlo"/>
              </a:rPr>
              <a:t>SSA Interface</a:t>
            </a:r>
            <a:endParaRPr lang="en-US" sz="2000" dirty="0">
              <a:latin typeface="Menlo"/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9855200" y="381000"/>
            <a:ext cx="392874" cy="369125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7" name="Rectangular Callout 6"/>
          <p:cNvSpPr/>
          <p:nvPr/>
        </p:nvSpPr>
        <p:spPr bwMode="auto">
          <a:xfrm>
            <a:off x="9702800" y="7239000"/>
            <a:ext cx="2780568" cy="707886"/>
          </a:xfrm>
          <a:prstGeom prst="wedgeRectCallout">
            <a:avLst>
              <a:gd name="adj1" fmla="val -150798"/>
              <a:gd name="adj2" fmla="val 7156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We never use NULL for</a:t>
            </a:r>
            <a:br>
              <a:rPr lang="en-US" sz="2000" b="0" dirty="0" smtClean="0"/>
            </a:br>
            <a:r>
              <a:rPr lang="en-US" sz="2000" b="0" dirty="0" smtClean="0"/>
              <a:t>an empty data structure</a:t>
            </a:r>
            <a:endParaRPr lang="en-US" sz="2000" b="0" dirty="0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8178800" y="1242950"/>
            <a:ext cx="27432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8178800" y="4812475"/>
            <a:ext cx="27432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8178800" y="3710050"/>
            <a:ext cx="27432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8178800" y="2614550"/>
            <a:ext cx="34290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5" name="TextBox 14"/>
          <p:cNvSpPr txBox="1"/>
          <p:nvPr/>
        </p:nvSpPr>
        <p:spPr>
          <a:xfrm>
            <a:off x="3454400" y="2438400"/>
            <a:ext cx="582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30800" y="3352800"/>
            <a:ext cx="582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02000" y="4350603"/>
            <a:ext cx="582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02000" y="5305578"/>
            <a:ext cx="582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Contents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52500" y="8001000"/>
            <a:ext cx="11099800" cy="8763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Vertical Scroll 5"/>
          <p:cNvSpPr/>
          <p:nvPr/>
        </p:nvSpPr>
        <p:spPr bwMode="auto">
          <a:xfrm flipH="1">
            <a:off x="3911600" y="1905000"/>
            <a:ext cx="5410200" cy="5621873"/>
          </a:xfrm>
          <a:prstGeom prst="verticalScroll">
            <a:avLst>
              <a:gd name="adj" fmla="val 7616"/>
            </a:avLst>
          </a:prstGeom>
          <a:solidFill>
            <a:schemeClr val="bg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______*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A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/*@ensures \result &gt;= 0;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0 &lt;= size;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/*@ensures \result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(\result) == size;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A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0 &lt;=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A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0 &lt;=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800" b="0" dirty="0" smtClean="0">
                <a:latin typeface="Menlo"/>
              </a:rPr>
              <a:t> 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9400" y="1911350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Menlo"/>
              </a:rPr>
              <a:t>SSA Interface</a:t>
            </a:r>
            <a:endParaRPr lang="en-US" sz="2000" dirty="0">
              <a:latin typeface="Menlo"/>
            </a:endParaRPr>
          </a:p>
        </p:txBody>
      </p:sp>
      <p:sp>
        <p:nvSpPr>
          <p:cNvPr id="7" name="Right Arrow Callout 6"/>
          <p:cNvSpPr/>
          <p:nvPr/>
        </p:nvSpPr>
        <p:spPr bwMode="auto">
          <a:xfrm rot="16200000">
            <a:off x="6225020" y="7625345"/>
            <a:ext cx="729234" cy="936475"/>
          </a:xfrm>
          <a:prstGeom prst="rightArrowCallout">
            <a:avLst/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What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 Application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be 6"/>
          <p:cNvSpPr/>
          <p:nvPr/>
        </p:nvSpPr>
        <p:spPr bwMode="auto">
          <a:xfrm>
            <a:off x="787400" y="2209800"/>
            <a:ext cx="5638800" cy="6781800"/>
          </a:xfrm>
          <a:prstGeom prst="cube">
            <a:avLst>
              <a:gd name="adj" fmla="val 7371"/>
            </a:avLst>
          </a:prstGeom>
          <a:solidFill>
            <a:schemeClr val="tx1">
              <a:lumMod val="65000"/>
              <a:lumOff val="35000"/>
            </a:schemeClr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a library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07200" y="2286000"/>
            <a:ext cx="5486400" cy="6591300"/>
          </a:xfrm>
        </p:spPr>
        <p:txBody>
          <a:bodyPr/>
          <a:lstStyle/>
          <a:p>
            <a:r>
              <a:rPr lang="en-US" dirty="0" smtClean="0"/>
              <a:t>The client only knows </a:t>
            </a:r>
            <a:r>
              <a:rPr lang="en-US" b="1" dirty="0" smtClean="0"/>
              <a:t>what</a:t>
            </a:r>
            <a:r>
              <a:rPr lang="en-US" dirty="0" smtClean="0"/>
              <a:t> the library does</a:t>
            </a:r>
          </a:p>
          <a:p>
            <a:pPr lvl="1"/>
            <a:r>
              <a:rPr lang="en-US" dirty="0" smtClean="0"/>
              <a:t>the library interface</a:t>
            </a:r>
          </a:p>
          <a:p>
            <a:pPr lvl="1"/>
            <a:r>
              <a:rPr lang="en-US" dirty="0" smtClean="0"/>
              <a:t>the library documentation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The client does </a:t>
            </a:r>
            <a:r>
              <a:rPr lang="en-US" u="sng" dirty="0" smtClean="0"/>
              <a:t>not</a:t>
            </a:r>
            <a:r>
              <a:rPr lang="en-US" dirty="0" smtClean="0"/>
              <a:t> know </a:t>
            </a:r>
            <a:r>
              <a:rPr lang="en-US" b="1" dirty="0" smtClean="0"/>
              <a:t>how</a:t>
            </a:r>
            <a:r>
              <a:rPr lang="en-US" dirty="0" smtClean="0"/>
              <a:t> it does it</a:t>
            </a:r>
          </a:p>
          <a:p>
            <a:pPr lvl="1"/>
            <a:r>
              <a:rPr lang="en-US" dirty="0" smtClean="0"/>
              <a:t>treat the implementation as a black box</a:t>
            </a:r>
          </a:p>
          <a:p>
            <a:pPr lvl="2"/>
            <a:r>
              <a:rPr lang="en-US" dirty="0" smtClean="0"/>
              <a:t>even if code is available</a:t>
            </a:r>
          </a:p>
          <a:p>
            <a:pPr lvl="3"/>
            <a:r>
              <a:rPr lang="en-US" dirty="0" smtClean="0"/>
              <a:t>it may change!</a:t>
            </a:r>
            <a:endParaRPr lang="en-US" dirty="0"/>
          </a:p>
        </p:txBody>
      </p:sp>
      <p:sp>
        <p:nvSpPr>
          <p:cNvPr id="6" name="Vertical Scroll 5"/>
          <p:cNvSpPr/>
          <p:nvPr/>
        </p:nvSpPr>
        <p:spPr bwMode="auto">
          <a:xfrm flipH="1">
            <a:off x="558800" y="2743200"/>
            <a:ext cx="5410200" cy="5621873"/>
          </a:xfrm>
          <a:prstGeom prst="verticalScroll">
            <a:avLst>
              <a:gd name="adj" fmla="val 7616"/>
            </a:avLst>
          </a:prstGeom>
          <a:solidFill>
            <a:schemeClr val="bg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______*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A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/*@ensures \result &gt;= 0;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0 &lt;= size;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/*@ensures \result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(\result) == size;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A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0 &lt;=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A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0 &lt;=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800" b="0" dirty="0" smtClean="0">
                <a:latin typeface="Menlo"/>
              </a:rPr>
              <a:t> 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6600" y="2749550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Menlo"/>
              </a:rPr>
              <a:t>SSA Interface</a:t>
            </a:r>
            <a:endParaRPr lang="en-US" sz="2000" dirty="0">
              <a:latin typeface="Menlo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4653293" y="4054403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Menlo"/>
              </a:rPr>
              <a:t>SSA Implementation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Menl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150100" cy="1498600"/>
          </a:xfrm>
        </p:spPr>
        <p:txBody>
          <a:bodyPr/>
          <a:lstStyle/>
          <a:p>
            <a:r>
              <a:rPr lang="en-US" dirty="0" smtClean="0"/>
              <a:t>Searching an SSA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Client code that uses binary search</a:t>
            </a:r>
            <a:br>
              <a:rPr lang="en-US" dirty="0" smtClean="0"/>
            </a:br>
            <a:r>
              <a:rPr lang="en-US" dirty="0" smtClean="0"/>
              <a:t>to check if a value is in an SSA</a:t>
            </a:r>
          </a:p>
          <a:p>
            <a:pPr lvl="2"/>
            <a:r>
              <a:rPr lang="en-US" dirty="0" smtClean="0"/>
              <a:t>This is OK because SSAs are sorted!</a:t>
            </a:r>
            <a:endParaRPr lang="en-US" dirty="0"/>
          </a:p>
        </p:txBody>
      </p:sp>
      <p:sp>
        <p:nvSpPr>
          <p:cNvPr id="6" name="Vertical Scroll 5"/>
          <p:cNvSpPr/>
          <p:nvPr/>
        </p:nvSpPr>
        <p:spPr bwMode="auto">
          <a:xfrm flipH="1">
            <a:off x="8559800" y="76201"/>
            <a:ext cx="4445000" cy="4916865"/>
          </a:xfrm>
          <a:prstGeom prst="verticalScroll">
            <a:avLst>
              <a:gd name="adj" fmla="val 5547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6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 *</a:t>
            </a:r>
            <a:r>
              <a:rPr lang="en-US" sz="16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600" b="0" dirty="0" smtClean="0">
                <a:latin typeface="Menlo"/>
              </a:rPr>
              <a:t>)</a:t>
            </a:r>
            <a:endParaRPr lang="en-US" sz="1600" b="0" dirty="0" smtClean="0">
              <a:solidFill>
                <a:srgbClr val="C0000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size;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(\result) == size;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latin typeface="Menlo"/>
              </a:rPr>
              <a:t> 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88379" y="11875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397000" y="3691890"/>
            <a:ext cx="5257800" cy="59093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bool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string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= lo + (hi - lo) / 2;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lo &lt;= mid &amp;&amp; mid &lt; hi;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string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a = </a:t>
            </a:r>
            <a:r>
              <a:rPr lang="en-US" sz="18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(A, mid);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cmp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</a:t>
            </a:r>
            <a:r>
              <a:rPr lang="en-US" sz="18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string_compare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(a, x);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</a:t>
            </a:r>
            <a:r>
              <a:rPr lang="en-US" sz="18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cmp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== 0)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true;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</a:t>
            </a:r>
            <a:r>
              <a:rPr lang="en-US" sz="18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cmp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&lt; 0)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lo = mid + 1;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else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{   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cmp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&gt; 0;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 hi = mid;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return</a:t>
            </a:r>
            <a:r>
              <a:rPr lang="en-US" sz="1800" b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false;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3073400" y="3920490"/>
            <a:ext cx="15240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2604325" y="6382640"/>
            <a:ext cx="19050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6" name="Content Placeholder 4"/>
          <p:cNvSpPr txBox="1">
            <a:spLocks/>
          </p:cNvSpPr>
          <p:nvPr/>
        </p:nvSpPr>
        <p:spPr bwMode="auto">
          <a:xfrm>
            <a:off x="6426200" y="5867400"/>
            <a:ext cx="6248400" cy="323850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marL="800100" marR="0" lvl="1" indent="-342900" algn="l" defTabSz="5842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Pct val="125000"/>
              <a:buFont typeface="Courier New" pitchFamily="49" charset="0"/>
              <a:buChar char="o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Neue" charset="0"/>
              </a:rPr>
              <a:t>All array operations are replaced with functions from the SSA interface</a:t>
            </a:r>
          </a:p>
          <a:p>
            <a:pPr marL="800100" marR="0" lvl="1" indent="-342900" algn="l" defTabSz="5842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Pct val="125000"/>
              <a:buFont typeface="Courier New" pitchFamily="49" charset="0"/>
              <a:buChar char="o"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Helvetica Neue" charset="0"/>
            </a:endParaRPr>
          </a:p>
          <a:p>
            <a:pPr marL="800100" marR="0" lvl="1" indent="-342900" algn="l" defTabSz="5842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Pct val="125000"/>
              <a:buFont typeface="Courier New" pitchFamily="49" charset="0"/>
              <a:buChar char="o"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Helvetica Neue" charset="0"/>
            </a:endParaRPr>
          </a:p>
          <a:p>
            <a:pPr marL="800100" marR="0" lvl="1" indent="-342900" algn="l" defTabSz="5842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Pct val="125000"/>
              <a:buFont typeface="Courier New" pitchFamily="49" charset="0"/>
              <a:buChar char="o"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Neue" charset="0"/>
              </a:rPr>
              <a:t>Safety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Neue" charset="0"/>
              </a:rPr>
              <a:t> is supported by loop invariant and assertion</a:t>
            </a:r>
          </a:p>
          <a:p>
            <a:pPr marL="800100" marR="0" lvl="1" indent="-342900" algn="l" defTabSz="5842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Pct val="125000"/>
              <a:buFont typeface="Courier New" pitchFamily="49" charset="0"/>
              <a:buChar char="o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Neue" charset="0"/>
              </a:rPr>
              <a:t>For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Neue" charset="0"/>
              </a:rPr>
              <a:t>correctness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Neue" charset="0"/>
              </a:rPr>
              <a:t>, we would need to implement SSA versions of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Neue" charset="0"/>
              </a:rPr>
              <a:t>gt_seg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Neue" charset="0"/>
              </a:rPr>
              <a:t> and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Neue" charset="0"/>
              </a:rPr>
              <a:t>lt_seg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  <a:sym typeface="Helvetica Neue" charset="0"/>
            </a:endParaRPr>
          </a:p>
          <a:p>
            <a:pPr marL="800100" marR="0" lvl="1" indent="-342900" algn="l" defTabSz="5842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Pct val="125000"/>
              <a:buFont typeface="Courier New" pitchFamily="49" charset="0"/>
              <a:buChar char="o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Helvetica Neue" charset="0"/>
            </a:endParaRPr>
          </a:p>
          <a:p>
            <a:pPr marL="800100" marR="0" lvl="1" indent="-342900" algn="l" defTabSz="5842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Pct val="125000"/>
              <a:buFont typeface="Courier New" pitchFamily="49" charset="0"/>
              <a:buChar char="o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Helvetica Neue" charset="0"/>
            </a:endParaRPr>
          </a:p>
        </p:txBody>
      </p:sp>
      <p:sp>
        <p:nvSpPr>
          <p:cNvPr id="17" name="Rectangular Callout 16"/>
          <p:cNvSpPr/>
          <p:nvPr/>
        </p:nvSpPr>
        <p:spPr bwMode="auto">
          <a:xfrm>
            <a:off x="6959600" y="6781800"/>
            <a:ext cx="5774979" cy="400110"/>
          </a:xfrm>
          <a:prstGeom prst="wedgeRectCallout">
            <a:avLst>
              <a:gd name="adj1" fmla="val -84235"/>
              <a:gd name="adj2" fmla="val -19156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returns  -1 if a “less than” x, 0 if equal, 1 otherwise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SSA Implementation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5473700" cy="1498600"/>
          </a:xfrm>
        </p:spPr>
        <p:txBody>
          <a:bodyPr/>
          <a:lstStyle/>
          <a:p>
            <a:r>
              <a:rPr lang="en-US" dirty="0" smtClean="0"/>
              <a:t>Implementing SSAs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797800" y="2971800"/>
            <a:ext cx="4648200" cy="590550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Define the type </a:t>
            </a:r>
            <a:r>
              <a:rPr lang="en-US" dirty="0" err="1" smtClean="0">
                <a:solidFill>
                  <a:srgbClr val="00B050"/>
                </a:solidFill>
              </a:rPr>
              <a:t>ssa_t</a:t>
            </a:r>
            <a:endParaRPr lang="en-US" dirty="0" smtClean="0">
              <a:solidFill>
                <a:srgbClr val="00B050"/>
              </a:solidFill>
            </a:endParaRPr>
          </a:p>
          <a:p>
            <a:pPr lvl="1"/>
            <a:r>
              <a:rPr lang="en-US" b="1" dirty="0" smtClean="0"/>
              <a:t>Concrete</a:t>
            </a:r>
            <a:r>
              <a:rPr lang="en-US" dirty="0" smtClean="0"/>
              <a:t> type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Write code for every function</a:t>
            </a:r>
          </a:p>
          <a:p>
            <a:endParaRPr lang="en-US" dirty="0" smtClean="0"/>
          </a:p>
          <a:p>
            <a:r>
              <a:rPr lang="en-US" dirty="0" smtClean="0"/>
              <a:t>Make sure it is safe and correct</a:t>
            </a:r>
            <a:endParaRPr lang="en-US" dirty="0"/>
          </a:p>
        </p:txBody>
      </p:sp>
      <p:sp>
        <p:nvSpPr>
          <p:cNvPr id="7" name="Cube 6"/>
          <p:cNvSpPr/>
          <p:nvPr/>
        </p:nvSpPr>
        <p:spPr bwMode="auto">
          <a:xfrm>
            <a:off x="1625600" y="2133600"/>
            <a:ext cx="5638800" cy="6781800"/>
          </a:xfrm>
          <a:prstGeom prst="cube">
            <a:avLst>
              <a:gd name="adj" fmla="val 7371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6" name="Vertical Scroll 5"/>
          <p:cNvSpPr/>
          <p:nvPr/>
        </p:nvSpPr>
        <p:spPr bwMode="auto">
          <a:xfrm flipH="1">
            <a:off x="1320800" y="2683927"/>
            <a:ext cx="5410200" cy="5621873"/>
          </a:xfrm>
          <a:prstGeom prst="verticalScroll">
            <a:avLst>
              <a:gd name="adj" fmla="val 7616"/>
            </a:avLst>
          </a:prstGeom>
          <a:solidFill>
            <a:schemeClr val="bg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______*</a:t>
            </a:r>
            <a:r>
              <a:rPr lang="en-US" sz="18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A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/*@ensures \result &gt;= 0;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0 &lt;= size;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/*@ensures \result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(\result) == size;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A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0 &lt;=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800" b="0" dirty="0" smtClean="0">
                <a:latin typeface="Menlo"/>
              </a:rPr>
              <a:t> ;</a:t>
            </a:r>
          </a:p>
          <a:p>
            <a:pPr algn="l">
              <a:tabLst>
                <a:tab pos="3943350" algn="l"/>
              </a:tabLst>
            </a:pPr>
            <a:endParaRPr lang="en-US" sz="1800" b="0" dirty="0" smtClean="0"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800" b="0" dirty="0" smtClean="0">
                <a:latin typeface="Menlo"/>
              </a:rPr>
              <a:t>(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800" b="0" dirty="0" smtClean="0">
                <a:latin typeface="Menlo"/>
              </a:rPr>
              <a:t>, </a:t>
            </a:r>
            <a:r>
              <a:rPr lang="en-US" sz="18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800" b="0" dirty="0" smtClean="0">
                <a:latin typeface="Menlo"/>
              </a:rPr>
              <a:t> </a:t>
            </a:r>
            <a:r>
              <a:rPr lang="en-US" sz="18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800" b="0" dirty="0" smtClean="0"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A != NULL;	@*/</a:t>
            </a:r>
          </a:p>
          <a:p>
            <a:pPr algn="l">
              <a:tabLst>
                <a:tab pos="394335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/*@requires 0 &lt;=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800" b="0" dirty="0" smtClean="0">
                <a:latin typeface="Menlo"/>
              </a:rPr>
              <a:t> ;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5474059" y="5334000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68600" y="2690277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Menlo"/>
              </a:rPr>
              <a:t>SSA Interface</a:t>
            </a:r>
            <a:endParaRPr lang="en-US" sz="2000" dirty="0">
              <a:latin typeface="Menlo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7950200" y="692937"/>
            <a:ext cx="2758127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marL="0" marR="0" indent="0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US" sz="3200" b="0" dirty="0" smtClean="0"/>
              <a:t>Now we’ve got</a:t>
            </a:r>
            <a:br>
              <a:rPr lang="en-US" sz="3200" b="0" dirty="0" smtClean="0"/>
            </a:br>
            <a:r>
              <a:rPr lang="en-US" sz="3200" b="0" dirty="0" smtClean="0"/>
              <a:t>to fill the box</a:t>
            </a:r>
          </a:p>
        </p:txBody>
      </p:sp>
      <p:sp>
        <p:nvSpPr>
          <p:cNvPr id="11" name="Bent Arrow 10"/>
          <p:cNvSpPr/>
          <p:nvPr/>
        </p:nvSpPr>
        <p:spPr bwMode="auto">
          <a:xfrm rot="16200000" flipH="1">
            <a:off x="6353572" y="841771"/>
            <a:ext cx="1364460" cy="1828798"/>
          </a:xfrm>
          <a:prstGeom prst="bentArrow">
            <a:avLst>
              <a:gd name="adj1" fmla="val 30222"/>
              <a:gd name="adj2" fmla="val 33268"/>
              <a:gd name="adj3" fmla="val 32833"/>
              <a:gd name="adj4" fmla="val 4375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noAutofit/>
          </a:bodyPr>
          <a:lstStyle/>
          <a:p>
            <a:pPr>
              <a:defRPr/>
            </a:pPr>
            <a:endParaRPr lang="en-US" sz="3200" b="0" smtClean="0"/>
          </a:p>
        </p:txBody>
      </p:sp>
      <p:sp>
        <p:nvSpPr>
          <p:cNvPr id="13" name="Right Arrow Callout 12"/>
          <p:cNvSpPr/>
          <p:nvPr/>
        </p:nvSpPr>
        <p:spPr bwMode="auto">
          <a:xfrm rot="16200000">
            <a:off x="9378441" y="8305800"/>
            <a:ext cx="729234" cy="833883"/>
          </a:xfrm>
          <a:prstGeom prst="rightArrowCallout">
            <a:avLst/>
          </a:prstGeom>
          <a:solidFill>
            <a:srgbClr val="FF000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How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Type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Store elements in a C0 array, but keep track of the length</a:t>
            </a:r>
          </a:p>
          <a:p>
            <a:pPr lvl="1"/>
            <a:r>
              <a:rPr lang="en-US" dirty="0" smtClean="0"/>
              <a:t>Package them together in a </a:t>
            </a:r>
            <a:r>
              <a:rPr lang="en-US" dirty="0" err="1" smtClean="0"/>
              <a:t>struct</a:t>
            </a:r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r>
              <a:rPr lang="en-US" dirty="0" smtClean="0"/>
              <a:t>Define an internal nickname for it</a:t>
            </a:r>
          </a:p>
          <a:p>
            <a:pPr lvl="1"/>
            <a:r>
              <a:rPr lang="en-US" dirty="0" smtClean="0"/>
              <a:t>So that code is succinct and readable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It’s convenient that it </a:t>
            </a:r>
            <a:r>
              <a:rPr lang="en-US" b="1" dirty="0" smtClean="0"/>
              <a:t>not</a:t>
            </a:r>
            <a:r>
              <a:rPr lang="en-US" dirty="0" smtClean="0"/>
              <a:t> be a pointer</a:t>
            </a:r>
          </a:p>
          <a:p>
            <a:pPr lvl="3"/>
            <a:endParaRPr lang="en-US" dirty="0" smtClean="0"/>
          </a:p>
          <a:p>
            <a:r>
              <a:rPr lang="en-US" dirty="0" smtClean="0"/>
              <a:t>Define the abstract type</a:t>
            </a:r>
            <a:br>
              <a:rPr lang="en-US" dirty="0" smtClean="0"/>
            </a:br>
            <a:r>
              <a:rPr lang="en-US" dirty="0" smtClean="0"/>
              <a:t>exported to the client</a:t>
            </a:r>
          </a:p>
          <a:p>
            <a:pPr lvl="1"/>
            <a:r>
              <a:rPr lang="en-US" dirty="0" smtClean="0"/>
              <a:t>This is what connects the concrete</a:t>
            </a:r>
            <a:br>
              <a:rPr lang="en-US" dirty="0" smtClean="0"/>
            </a:br>
            <a:r>
              <a:rPr lang="en-US" dirty="0" smtClean="0"/>
              <a:t>implementation type with the exported abstract type</a:t>
            </a:r>
            <a:endParaRPr lang="en-US" dirty="0"/>
          </a:p>
        </p:txBody>
      </p:sp>
      <p:sp>
        <p:nvSpPr>
          <p:cNvPr id="7" name="Cube 6"/>
          <p:cNvSpPr/>
          <p:nvPr/>
        </p:nvSpPr>
        <p:spPr bwMode="auto">
          <a:xfrm>
            <a:off x="7869534" y="3276600"/>
            <a:ext cx="4191000" cy="4038600"/>
          </a:xfrm>
          <a:prstGeom prst="cube">
            <a:avLst>
              <a:gd name="adj" fmla="val 9135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Implementation-side type</a:t>
            </a:r>
          </a:p>
          <a:p>
            <a:pPr algn="l"/>
            <a:r>
              <a:rPr lang="en-US" sz="20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2000" b="0" dirty="0" smtClean="0">
                <a:latin typeface="Menlo"/>
              </a:rPr>
              <a:t>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2000" b="0" dirty="0" smtClean="0">
                <a:latin typeface="Menlo"/>
              </a:rPr>
              <a:t> {</a:t>
            </a:r>
          </a:p>
          <a:p>
            <a:pPr algn="l"/>
            <a:r>
              <a:rPr lang="en-US" sz="2000" b="0" dirty="0" smtClean="0">
                <a:latin typeface="Menlo"/>
              </a:rPr>
              <a:t>  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2000" b="0" dirty="0" smtClean="0">
                <a:latin typeface="Menlo"/>
              </a:rPr>
              <a:t> data;  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2000" b="0" dirty="0" smtClean="0">
                <a:latin typeface="Menlo"/>
              </a:rPr>
              <a:t> 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latin typeface="Menlo"/>
              </a:rPr>
              <a:t> length;      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2000" b="0" dirty="0" smtClean="0">
                <a:latin typeface="Menlo"/>
              </a:rPr>
              <a:t>};</a:t>
            </a:r>
          </a:p>
          <a:p>
            <a:pPr algn="l"/>
            <a:r>
              <a:rPr lang="en-US" sz="20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20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fr-FR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Client type</a:t>
            </a:r>
          </a:p>
          <a:p>
            <a:pPr algn="l"/>
            <a:r>
              <a:rPr lang="fr-FR" sz="20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fr-FR" sz="2000" b="0" dirty="0" smtClean="0">
                <a:latin typeface="Menlo"/>
              </a:rPr>
              <a:t> </a:t>
            </a:r>
            <a:r>
              <a:rPr lang="fr-FR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fr-FR" sz="2000" b="0" dirty="0" smtClean="0">
                <a:solidFill>
                  <a:srgbClr val="00B050"/>
                </a:solidFill>
                <a:latin typeface="Menlo"/>
              </a:rPr>
              <a:t>* </a:t>
            </a:r>
            <a:r>
              <a:rPr lang="fr-FR" sz="20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fr-FR" sz="2000" b="0" dirty="0" smtClean="0">
                <a:latin typeface="Menlo"/>
              </a:rPr>
              <a:t>;</a:t>
            </a:r>
          </a:p>
          <a:p>
            <a:pPr algn="l"/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10328203" y="50851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2" name="Vertical Scroll 11"/>
          <p:cNvSpPr/>
          <p:nvPr/>
        </p:nvSpPr>
        <p:spPr bwMode="auto">
          <a:xfrm flipH="1">
            <a:off x="9626600" y="152400"/>
            <a:ext cx="3352800" cy="1427004"/>
          </a:xfrm>
          <a:prstGeom prst="verticalScroll">
            <a:avLst>
              <a:gd name="adj" fmla="val 18538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6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______* </a:t>
            </a:r>
            <a:r>
              <a:rPr lang="en-US" sz="16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943350" algn="l"/>
              </a:tabLst>
            </a:pPr>
            <a:endParaRPr lang="en-US" sz="1600" b="0" dirty="0" smtClean="0">
              <a:solidFill>
                <a:schemeClr val="accent5">
                  <a:lumMod val="75000"/>
                </a:schemeClr>
              </a:solidFill>
              <a:latin typeface="Menlo"/>
              <a:ea typeface="Menlo" charset="0"/>
              <a:cs typeface="Menlo" charset="0"/>
              <a:sym typeface="Menlo" charset="0"/>
            </a:endParaRP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…</a:t>
            </a:r>
          </a:p>
          <a:p>
            <a:pPr algn="l">
              <a:tabLst>
                <a:tab pos="3943350" algn="l"/>
              </a:tabLst>
            </a:pPr>
            <a:endParaRPr lang="en-US" sz="1600" b="0" dirty="0" smtClean="0">
              <a:latin typeface="Menl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31400" y="104417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14" name="Rectangular Callout 13"/>
          <p:cNvSpPr/>
          <p:nvPr/>
        </p:nvSpPr>
        <p:spPr bwMode="auto">
          <a:xfrm>
            <a:off x="4288134" y="3429000"/>
            <a:ext cx="2386230" cy="707886"/>
          </a:xfrm>
          <a:prstGeom prst="wedgeRectCallout">
            <a:avLst>
              <a:gd name="adj1" fmla="val 101069"/>
              <a:gd name="adj2" fmla="val 5491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This is the </a:t>
            </a:r>
            <a:r>
              <a:rPr lang="en-US" sz="2000" dirty="0" smtClean="0"/>
              <a:t>concrete</a:t>
            </a:r>
            <a:r>
              <a:rPr lang="en-US" sz="2000" b="0" dirty="0" smtClean="0"/>
              <a:t/>
            </a:r>
            <a:br>
              <a:rPr lang="en-US" sz="2000" b="0" dirty="0" smtClean="0"/>
            </a:br>
            <a:r>
              <a:rPr lang="en-US" sz="2000" b="0" dirty="0" smtClean="0"/>
              <a:t>implementation type</a:t>
            </a:r>
            <a:endParaRPr lang="en-US" sz="2000" b="0" dirty="0"/>
          </a:p>
        </p:txBody>
      </p:sp>
      <p:sp>
        <p:nvSpPr>
          <p:cNvPr id="15" name="Rectangular Callout 14"/>
          <p:cNvSpPr/>
          <p:nvPr/>
        </p:nvSpPr>
        <p:spPr bwMode="auto">
          <a:xfrm>
            <a:off x="4920477" y="5562600"/>
            <a:ext cx="2115323" cy="400110"/>
          </a:xfrm>
          <a:prstGeom prst="wedgeRectCallout">
            <a:avLst>
              <a:gd name="adj1" fmla="val 92648"/>
              <a:gd name="adj2" fmla="val -7271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Internal nickname</a:t>
            </a:r>
            <a:endParaRPr lang="en-US" sz="2000" b="0" dirty="0"/>
          </a:p>
        </p:txBody>
      </p:sp>
      <p:sp>
        <p:nvSpPr>
          <p:cNvPr id="16" name="Rectangular Callout 15"/>
          <p:cNvSpPr/>
          <p:nvPr/>
        </p:nvSpPr>
        <p:spPr bwMode="auto">
          <a:xfrm>
            <a:off x="10769600" y="8458200"/>
            <a:ext cx="1246495" cy="707886"/>
          </a:xfrm>
          <a:prstGeom prst="wedgeRectCallout">
            <a:avLst>
              <a:gd name="adj1" fmla="val -121251"/>
              <a:gd name="adj2" fmla="val -23027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dirty="0" smtClean="0"/>
              <a:t>Abstract</a:t>
            </a:r>
            <a:r>
              <a:rPr lang="en-US" sz="2000" b="0" dirty="0" smtClean="0"/>
              <a:t/>
            </a:r>
            <a:br>
              <a:rPr lang="en-US" sz="2000" b="0" dirty="0" smtClean="0"/>
            </a:br>
            <a:r>
              <a:rPr lang="en-US" sz="2000" b="0" dirty="0" smtClean="0"/>
              <a:t>client type</a:t>
            </a:r>
            <a:endParaRPr lang="en-US" sz="2000" b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Implementing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588000" y="1981200"/>
            <a:ext cx="6464300" cy="6896100"/>
          </a:xfrm>
        </p:spPr>
        <p:txBody>
          <a:bodyPr/>
          <a:lstStyle/>
          <a:p>
            <a:r>
              <a:rPr lang="en-US" dirty="0" smtClean="0"/>
              <a:t>Simply return the </a:t>
            </a:r>
            <a:r>
              <a:rPr lang="en-US" dirty="0" err="1" smtClean="0"/>
              <a:t>i-th</a:t>
            </a:r>
            <a:r>
              <a:rPr lang="en-US" dirty="0" smtClean="0"/>
              <a:t> element of the underlying array</a:t>
            </a:r>
          </a:p>
          <a:p>
            <a:pPr algn="ctr">
              <a:spcBef>
                <a:spcPts val="1200"/>
              </a:spcBef>
              <a:buNone/>
            </a:pPr>
            <a:r>
              <a:rPr lang="en-US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dirty="0" smtClean="0">
                <a:solidFill>
                  <a:schemeClr val="tx1"/>
                </a:solidFill>
                <a:latin typeface="Menlo"/>
              </a:rPr>
              <a:t>]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Is this safe?  We need to check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 != NULL</a:t>
            </a:r>
          </a:p>
          <a:p>
            <a:pPr lvl="2"/>
            <a:r>
              <a:rPr lang="en-US" dirty="0" smtClean="0"/>
              <a:t>By 1</a:t>
            </a:r>
            <a:r>
              <a:rPr lang="en-US" baseline="30000" dirty="0" smtClean="0"/>
              <a:t>st</a:t>
            </a:r>
            <a:r>
              <a:rPr lang="en-US" dirty="0" smtClean="0"/>
              <a:t>	 precondition</a:t>
            </a:r>
          </a:p>
          <a:p>
            <a:pPr lvl="1">
              <a:buClr>
                <a:schemeClr val="tx1"/>
              </a:buClr>
            </a:pP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 &lt;= 0</a:t>
            </a:r>
          </a:p>
          <a:p>
            <a:pPr lvl="2"/>
            <a:r>
              <a:rPr lang="en-US" dirty="0" smtClean="0"/>
              <a:t>By 2</a:t>
            </a:r>
            <a:r>
              <a:rPr lang="en-US" baseline="30000" dirty="0" smtClean="0"/>
              <a:t>nd</a:t>
            </a:r>
            <a:r>
              <a:rPr lang="en-US" dirty="0" smtClean="0"/>
              <a:t> precondition (first conjunct)</a:t>
            </a:r>
          </a:p>
          <a:p>
            <a:pPr lvl="1">
              <a:buClr>
                <a:schemeClr val="tx1"/>
              </a:buClr>
            </a:pP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 &lt; \length(A-&gt;data)</a:t>
            </a:r>
          </a:p>
          <a:p>
            <a:pPr lvl="2"/>
            <a:r>
              <a:rPr lang="en-US" dirty="0" smtClean="0"/>
              <a:t>We know that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 &lt; </a:t>
            </a:r>
            <a:r>
              <a:rPr lang="en-US" dirty="0" err="1" smtClean="0">
                <a:solidFill>
                  <a:srgbClr val="C00000"/>
                </a:solidFill>
              </a:rPr>
              <a:t>ssa_len</a:t>
            </a:r>
            <a:r>
              <a:rPr lang="en-US" dirty="0" smtClean="0">
                <a:solidFill>
                  <a:srgbClr val="C00000"/>
                </a:solidFill>
              </a:rPr>
              <a:t>(A)</a:t>
            </a:r>
          </a:p>
          <a:p>
            <a:pPr lvl="2"/>
            <a:r>
              <a:rPr lang="en-US" dirty="0" smtClean="0"/>
              <a:t>but we don’t know how </a:t>
            </a:r>
            <a:r>
              <a:rPr lang="en-US" dirty="0" err="1" smtClean="0"/>
              <a:t>ssa_len</a:t>
            </a:r>
            <a:r>
              <a:rPr lang="en-US" dirty="0" smtClean="0"/>
              <a:t>(A) and \length(A-&gt;data) are related</a:t>
            </a:r>
          </a:p>
          <a:p>
            <a:pPr lvl="2"/>
            <a:r>
              <a:rPr lang="en-US" b="1" i="1" dirty="0" smtClean="0"/>
              <a:t>Not supported!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711200" y="1905000"/>
            <a:ext cx="4643734" cy="4648200"/>
          </a:xfrm>
          <a:prstGeom prst="cube">
            <a:avLst>
              <a:gd name="adj" fmla="val 8453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  <a:p>
            <a:pPr algn="l"/>
            <a:endParaRPr lang="en-US" sz="1800" b="0" dirty="0" smtClean="0">
              <a:latin typeface="Menlo"/>
            </a:endParaRPr>
          </a:p>
          <a:p>
            <a:pPr algn="l"/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3610728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83600" y="152400"/>
            <a:ext cx="4495800" cy="1447046"/>
          </a:xfrm>
          <a:prstGeom prst="verticalScroll">
            <a:avLst>
              <a:gd name="adj" fmla="val 19269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latin typeface="Menlo"/>
              </a:rPr>
              <a:t> </a:t>
            </a:r>
            <a:endParaRPr lang="en-US" sz="1600" b="0" dirty="0" smtClean="0">
              <a:solidFill>
                <a:schemeClr val="accent5">
                  <a:lumMod val="75000"/>
                </a:schemeClr>
              </a:solidFill>
              <a:latin typeface="Menlo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607800" y="8305800"/>
            <a:ext cx="631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37651" y="5029200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637651" y="6019800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30200" y="3505200"/>
            <a:ext cx="4648200" cy="2286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Let’s also write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588000" y="2438400"/>
            <a:ext cx="6464300" cy="6438900"/>
          </a:xfrm>
        </p:spPr>
        <p:txBody>
          <a:bodyPr/>
          <a:lstStyle/>
          <a:p>
            <a:r>
              <a:rPr lang="en-US" dirty="0" smtClean="0"/>
              <a:t>Simply return the length field</a:t>
            </a:r>
          </a:p>
          <a:p>
            <a:pPr lvl="3"/>
            <a:endParaRPr lang="en-US" dirty="0" smtClean="0"/>
          </a:p>
          <a:p>
            <a:r>
              <a:rPr lang="en-US" dirty="0" smtClean="0"/>
              <a:t>Is this safe?  We need to check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 != NULL</a:t>
            </a:r>
          </a:p>
          <a:p>
            <a:pPr lvl="2"/>
            <a:r>
              <a:rPr lang="en-US" dirty="0" smtClean="0"/>
              <a:t>By precondition</a:t>
            </a:r>
          </a:p>
          <a:p>
            <a:pPr lvl="3"/>
            <a:endParaRPr lang="en-US" dirty="0" smtClean="0"/>
          </a:p>
          <a:p>
            <a:r>
              <a:rPr lang="en-US" dirty="0" smtClean="0"/>
              <a:t>Does this help us with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No useful </a:t>
            </a:r>
            <a:r>
              <a:rPr lang="en-US" dirty="0" err="1" smtClean="0"/>
              <a:t>postcondition</a:t>
            </a:r>
            <a:endParaRPr lang="en-US" dirty="0" smtClean="0"/>
          </a:p>
          <a:p>
            <a:pPr lvl="2"/>
            <a:r>
              <a:rPr lang="en-US" dirty="0" smtClean="0"/>
              <a:t>Peeking at the code of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r>
              <a:rPr lang="en-US" dirty="0" smtClean="0"/>
              <a:t> would be operational reasoning!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711200" y="1905000"/>
            <a:ext cx="4643734" cy="6629400"/>
          </a:xfrm>
          <a:prstGeom prst="cube">
            <a:avLst>
              <a:gd name="adj" fmla="val 8453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&gt;= 0;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A-&gt;length;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  <a:p>
            <a:pPr algn="l"/>
            <a:endParaRPr lang="en-US" sz="1800" b="0" dirty="0" smtClean="0">
              <a:latin typeface="Menlo"/>
            </a:endParaRPr>
          </a:p>
          <a:p>
            <a:pPr algn="l"/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3610728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83600" y="152400"/>
            <a:ext cx="4495800" cy="2186801"/>
          </a:xfrm>
          <a:prstGeom prst="verticalScroll">
            <a:avLst>
              <a:gd name="adj" fmla="val 12669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37651" y="4198203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330200" y="3657600"/>
            <a:ext cx="3276600" cy="2133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2" name="TextBox 11"/>
          <p:cNvSpPr txBox="1"/>
          <p:nvPr/>
        </p:nvSpPr>
        <p:spPr>
          <a:xfrm>
            <a:off x="11607800" y="5791200"/>
            <a:ext cx="631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Let’s also write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2438400"/>
            <a:ext cx="6705600" cy="6438900"/>
          </a:xfrm>
        </p:spPr>
        <p:txBody>
          <a:bodyPr/>
          <a:lstStyle/>
          <a:p>
            <a:r>
              <a:rPr lang="en-US" dirty="0" smtClean="0"/>
              <a:t>Add a </a:t>
            </a:r>
            <a:r>
              <a:rPr lang="en-US" i="1" dirty="0" smtClean="0"/>
              <a:t>useful</a:t>
            </a:r>
            <a:r>
              <a:rPr lang="en-US" dirty="0" smtClean="0"/>
              <a:t> </a:t>
            </a:r>
            <a:r>
              <a:rPr lang="en-US" dirty="0" err="1" smtClean="0"/>
              <a:t>postcondition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sz="2800" dirty="0" smtClean="0">
                <a:solidFill>
                  <a:srgbClr val="C00000"/>
                </a:solidFill>
              </a:rPr>
              <a:t>\result == \length(A-&gt;data)</a:t>
            </a:r>
            <a:endParaRPr lang="en-US" dirty="0" smtClean="0">
              <a:solidFill>
                <a:srgbClr val="C00000"/>
              </a:solidFill>
            </a:endParaRPr>
          </a:p>
          <a:p>
            <a:pPr lvl="3"/>
            <a:endParaRPr lang="en-US" dirty="0" smtClean="0"/>
          </a:p>
          <a:p>
            <a:r>
              <a:rPr lang="en-US" dirty="0" smtClean="0"/>
              <a:t>Is this safe?  We need to check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 != NULL</a:t>
            </a:r>
          </a:p>
          <a:p>
            <a:pPr lvl="2"/>
            <a:r>
              <a:rPr lang="en-US" dirty="0" smtClean="0"/>
              <a:t>By precondition</a:t>
            </a:r>
          </a:p>
          <a:p>
            <a:pPr lvl="3"/>
            <a:endParaRPr lang="en-US" dirty="0" smtClean="0"/>
          </a:p>
          <a:p>
            <a:r>
              <a:rPr lang="en-US" dirty="0" smtClean="0"/>
              <a:t>Is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r>
              <a:rPr lang="en-US" dirty="0" smtClean="0"/>
              <a:t> correct?</a:t>
            </a:r>
          </a:p>
          <a:p>
            <a:pPr lvl="1"/>
            <a:r>
              <a:rPr lang="en-US" dirty="0" smtClean="0"/>
              <a:t>No relation between A-&gt;length and \length(A-&gt;data)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711200" y="1905000"/>
            <a:ext cx="4953000" cy="6934200"/>
          </a:xfrm>
          <a:prstGeom prst="cube">
            <a:avLst>
              <a:gd name="adj" fmla="val 7508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&gt;= 0;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== \length(A-&gt;data);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A-&gt;length;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  <a:p>
            <a:pPr algn="l"/>
            <a:endParaRPr lang="en-US" sz="1800" b="0" dirty="0" smtClean="0">
              <a:latin typeface="Menlo"/>
            </a:endParaRPr>
          </a:p>
          <a:p>
            <a:pPr algn="l"/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83600" y="152400"/>
            <a:ext cx="4495800" cy="2186801"/>
          </a:xfrm>
          <a:prstGeom prst="verticalScroll">
            <a:avLst>
              <a:gd name="adj" fmla="val 12669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37651" y="4579203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330200" y="4724400"/>
            <a:ext cx="5105400" cy="5334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0" name="Rectangular Callout 9"/>
          <p:cNvSpPr/>
          <p:nvPr/>
        </p:nvSpPr>
        <p:spPr bwMode="auto">
          <a:xfrm>
            <a:off x="8533196" y="7723763"/>
            <a:ext cx="4293804" cy="1877437"/>
          </a:xfrm>
          <a:prstGeom prst="wedgeRectCallout">
            <a:avLst>
              <a:gd name="adj1" fmla="val -63252"/>
              <a:gd name="adj2" fmla="val -6198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b="0" i="1" dirty="0" smtClean="0"/>
              <a:t>Innocent mistake: define </a:t>
            </a:r>
            <a:r>
              <a:rPr lang="en-US" sz="2000" b="0" i="1" dirty="0" err="1" smtClean="0">
                <a:solidFill>
                  <a:srgbClr val="7030A0"/>
                </a:solidFill>
              </a:rPr>
              <a:t>ssa_new</a:t>
            </a:r>
            <a:r>
              <a:rPr lang="en-US" sz="2000" b="0" i="1" dirty="0" smtClean="0"/>
              <a:t> as</a:t>
            </a:r>
          </a:p>
          <a:p>
            <a:pPr algn="l">
              <a:defRPr/>
            </a:pPr>
            <a:r>
              <a:rPr lang="en-US" sz="1600" b="0" dirty="0" err="1" smtClean="0"/>
              <a:t>ssa</a:t>
            </a:r>
            <a:r>
              <a:rPr lang="en-US" sz="1600" b="0" dirty="0" smtClean="0"/>
              <a:t>* </a:t>
            </a:r>
            <a:r>
              <a:rPr lang="en-US" sz="1600" b="0" dirty="0" err="1" smtClean="0"/>
              <a:t>ssa_new</a:t>
            </a:r>
            <a:r>
              <a:rPr lang="en-US" sz="1600" b="0" dirty="0" smtClean="0"/>
              <a:t>(</a:t>
            </a:r>
            <a:r>
              <a:rPr lang="en-US" sz="1600" b="0" dirty="0" err="1" smtClean="0"/>
              <a:t>int</a:t>
            </a:r>
            <a:r>
              <a:rPr lang="en-US" sz="1600" b="0" dirty="0" smtClean="0"/>
              <a:t> size) {</a:t>
            </a:r>
            <a:br>
              <a:rPr lang="en-US" sz="1600" b="0" dirty="0" smtClean="0"/>
            </a:br>
            <a:r>
              <a:rPr lang="en-US" sz="1600" b="0" dirty="0" smtClean="0"/>
              <a:t>  </a:t>
            </a:r>
            <a:r>
              <a:rPr lang="en-US" sz="1600" b="0" dirty="0" err="1" smtClean="0"/>
              <a:t>ssa</a:t>
            </a:r>
            <a:r>
              <a:rPr lang="en-US" sz="1600" b="0" dirty="0" smtClean="0"/>
              <a:t>* A = </a:t>
            </a:r>
            <a:r>
              <a:rPr lang="en-US" sz="1600" b="0" dirty="0" err="1" smtClean="0"/>
              <a:t>alloc</a:t>
            </a:r>
            <a:r>
              <a:rPr lang="en-US" sz="1600" b="0" dirty="0" smtClean="0"/>
              <a:t>(</a:t>
            </a:r>
            <a:r>
              <a:rPr lang="en-US" sz="1600" b="0" dirty="0" err="1" smtClean="0"/>
              <a:t>ssa</a:t>
            </a:r>
            <a:r>
              <a:rPr lang="en-US" sz="1600" b="0" dirty="0" smtClean="0"/>
              <a:t>); </a:t>
            </a:r>
            <a:br>
              <a:rPr lang="en-US" sz="1600" b="0" dirty="0" smtClean="0"/>
            </a:br>
            <a:r>
              <a:rPr lang="en-US" sz="1600" b="0" dirty="0" smtClean="0"/>
              <a:t>  A-&gt;length = size;</a:t>
            </a:r>
            <a:br>
              <a:rPr lang="en-US" sz="1600" b="0" dirty="0" smtClean="0"/>
            </a:br>
            <a:r>
              <a:rPr lang="en-US" sz="1600" b="0" dirty="0" smtClean="0"/>
              <a:t>  A-&gt;data = </a:t>
            </a:r>
            <a:r>
              <a:rPr lang="en-US" sz="1600" b="0" dirty="0" err="1" smtClean="0"/>
              <a:t>alloc_array</a:t>
            </a:r>
            <a:r>
              <a:rPr lang="en-US" sz="1600" b="0" dirty="0" smtClean="0"/>
              <a:t>(string, size+1);</a:t>
            </a:r>
          </a:p>
          <a:p>
            <a:pPr algn="l">
              <a:defRPr/>
            </a:pPr>
            <a:r>
              <a:rPr lang="en-US" sz="1600" b="0" dirty="0" smtClean="0"/>
              <a:t>  return A;</a:t>
            </a:r>
            <a:br>
              <a:rPr lang="en-US" sz="1600" b="0" dirty="0" smtClean="0"/>
            </a:br>
            <a:r>
              <a:rPr lang="en-US" sz="1600" b="0" dirty="0" smtClean="0"/>
              <a:t>}</a:t>
            </a:r>
            <a:endParaRPr lang="en-US" sz="1600" b="0" dirty="0"/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11226800" y="8686800"/>
            <a:ext cx="838200" cy="5334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3" name="TextBox 12"/>
          <p:cNvSpPr txBox="1"/>
          <p:nvPr/>
        </p:nvSpPr>
        <p:spPr>
          <a:xfrm>
            <a:off x="11607800" y="6772870"/>
            <a:ext cx="631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Let’s also write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2438400"/>
            <a:ext cx="6705600" cy="6438900"/>
          </a:xfrm>
        </p:spPr>
        <p:txBody>
          <a:bodyPr/>
          <a:lstStyle/>
          <a:p>
            <a:r>
              <a:rPr lang="en-US" dirty="0" smtClean="0"/>
              <a:t>Add it as a precondition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sz="2800" dirty="0" smtClean="0">
                <a:solidFill>
                  <a:srgbClr val="C00000"/>
                </a:solidFill>
              </a:rPr>
              <a:t>A-&gt;length == \length(A-&gt;data)</a:t>
            </a:r>
            <a:endParaRPr lang="en-US" dirty="0" smtClean="0">
              <a:solidFill>
                <a:srgbClr val="C00000"/>
              </a:solidFill>
            </a:endParaRPr>
          </a:p>
          <a:p>
            <a:pPr lvl="3"/>
            <a:endParaRPr lang="en-US" dirty="0" smtClean="0"/>
          </a:p>
          <a:p>
            <a:r>
              <a:rPr lang="en-US" dirty="0" smtClean="0"/>
              <a:t>Is this safe?  We need to check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 != NULL</a:t>
            </a:r>
          </a:p>
          <a:p>
            <a:pPr lvl="2"/>
            <a:r>
              <a:rPr lang="en-US" dirty="0" smtClean="0"/>
              <a:t>By precondition</a:t>
            </a:r>
          </a:p>
          <a:p>
            <a:pPr lvl="3"/>
            <a:endParaRPr lang="en-US" dirty="0" smtClean="0"/>
          </a:p>
          <a:p>
            <a:r>
              <a:rPr lang="en-US" dirty="0" smtClean="0"/>
              <a:t>Is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r>
              <a:rPr lang="en-US" dirty="0" smtClean="0"/>
              <a:t> correct?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A-&gt;length == \length(A-&gt;data)</a:t>
            </a:r>
          </a:p>
          <a:p>
            <a:pPr lvl="2"/>
            <a:r>
              <a:rPr lang="en-US" dirty="0" smtClean="0"/>
              <a:t>By new precondition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\result == A-&gt;length</a:t>
            </a:r>
          </a:p>
          <a:p>
            <a:pPr lvl="2"/>
            <a:r>
              <a:rPr lang="en-US" dirty="0" smtClean="0"/>
              <a:t>By code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\result == \length(A-&gt;data)</a:t>
            </a:r>
          </a:p>
          <a:p>
            <a:pPr lvl="2"/>
            <a:r>
              <a:rPr lang="en-US" dirty="0" smtClean="0"/>
              <a:t>By previous two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2390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 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&gt;= 0;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== \length(A-&gt;data);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A-&gt;length;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  <a:p>
            <a:pPr algn="l"/>
            <a:endParaRPr lang="en-US" sz="1800" b="0" dirty="0" smtClean="0">
              <a:latin typeface="Menlo"/>
            </a:endParaRPr>
          </a:p>
          <a:p>
            <a:pPr algn="l"/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83600" y="152400"/>
            <a:ext cx="4495800" cy="2186801"/>
          </a:xfrm>
          <a:prstGeom prst="verticalScroll">
            <a:avLst>
              <a:gd name="adj" fmla="val 12669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37651" y="4579203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330200" y="4355275"/>
            <a:ext cx="5105400" cy="5334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3" name="TextBox 12"/>
          <p:cNvSpPr txBox="1"/>
          <p:nvPr/>
        </p:nvSpPr>
        <p:spPr>
          <a:xfrm>
            <a:off x="11637651" y="8534400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Back to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2438400"/>
            <a:ext cx="6705600" cy="6438900"/>
          </a:xfrm>
        </p:spPr>
        <p:txBody>
          <a:bodyPr/>
          <a:lstStyle/>
          <a:p>
            <a:r>
              <a:rPr lang="en-US" dirty="0" smtClean="0"/>
              <a:t>Is the code for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r>
              <a:rPr lang="en-US" dirty="0" smtClean="0"/>
              <a:t> safe?</a:t>
            </a:r>
          </a:p>
          <a:p>
            <a:pPr lvl="1"/>
            <a:r>
              <a:rPr lang="en-US" dirty="0" smtClean="0"/>
              <a:t>The new </a:t>
            </a:r>
            <a:r>
              <a:rPr lang="en-US" dirty="0" err="1" smtClean="0"/>
              <a:t>postcondition</a:t>
            </a:r>
            <a:r>
              <a:rPr lang="en-US" dirty="0" smtClean="0"/>
              <a:t> of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r>
              <a:rPr lang="en-US" dirty="0" smtClean="0"/>
              <a:t> takes care of the remaining safety check</a:t>
            </a:r>
          </a:p>
          <a:p>
            <a:pPr lvl="2">
              <a:buClr>
                <a:schemeClr val="tx1"/>
              </a:buClr>
            </a:pP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 &lt; \length(A-&gt;data)</a:t>
            </a:r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But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r>
              <a:rPr lang="en-US" dirty="0" smtClean="0"/>
              <a:t> has a new precondition</a:t>
            </a:r>
          </a:p>
          <a:p>
            <a:pPr lvl="2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A-&gt;length == \length(A-&gt;data)</a:t>
            </a:r>
          </a:p>
          <a:p>
            <a:pPr lvl="2"/>
            <a:r>
              <a:rPr lang="en-US" dirty="0" smtClean="0"/>
              <a:t>we need to have a reason for why it is satisfied</a:t>
            </a:r>
          </a:p>
          <a:p>
            <a:pPr lvl="3"/>
            <a:r>
              <a:rPr lang="en-US" dirty="0" smtClean="0"/>
              <a:t>but we don’t</a:t>
            </a:r>
          </a:p>
          <a:p>
            <a:pPr lvl="2"/>
            <a:r>
              <a:rPr lang="en-US" b="1" i="1" dirty="0" smtClean="0"/>
              <a:t>Not supported!</a:t>
            </a:r>
          </a:p>
          <a:p>
            <a:pPr lvl="3"/>
            <a:endParaRPr lang="en-US" dirty="0" smtClean="0"/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2390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 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&gt;= 0;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== \length(A-&gt;data);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A-&gt;length;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  <a:p>
            <a:pPr algn="l"/>
            <a:endParaRPr lang="en-US" sz="1800" b="0" dirty="0" smtClean="0">
              <a:latin typeface="Menlo"/>
            </a:endParaRPr>
          </a:p>
          <a:p>
            <a:pPr algn="l"/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83600" y="152400"/>
            <a:ext cx="4495800" cy="2186801"/>
          </a:xfrm>
          <a:prstGeom prst="verticalScroll">
            <a:avLst>
              <a:gd name="adj" fmla="val 12669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47051" y="4191000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3202050" y="7162800"/>
            <a:ext cx="1447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2" name="TextBox 11"/>
          <p:cNvSpPr txBox="1"/>
          <p:nvPr/>
        </p:nvSpPr>
        <p:spPr>
          <a:xfrm>
            <a:off x="10594896" y="7315200"/>
            <a:ext cx="631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Back to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2438400"/>
            <a:ext cx="6705600" cy="6438900"/>
          </a:xfrm>
        </p:spPr>
        <p:txBody>
          <a:bodyPr/>
          <a:lstStyle/>
          <a:p>
            <a:r>
              <a:rPr lang="en-US" dirty="0" smtClean="0"/>
              <a:t>Is the code for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r>
              <a:rPr lang="en-US" dirty="0" smtClean="0"/>
              <a:t> safe?</a:t>
            </a:r>
          </a:p>
          <a:p>
            <a:pPr lvl="1"/>
            <a:r>
              <a:rPr lang="en-US" dirty="0" smtClean="0"/>
              <a:t>Add</a:t>
            </a:r>
          </a:p>
          <a:p>
            <a:pPr lvl="2">
              <a:buClr>
                <a:schemeClr val="tx1"/>
              </a:buClr>
              <a:buNone/>
            </a:pPr>
            <a:r>
              <a:rPr lang="en-US" dirty="0" smtClean="0">
                <a:solidFill>
                  <a:srgbClr val="C00000"/>
                </a:solidFill>
              </a:rPr>
              <a:t>	A-&gt;length == \length(A-&gt;data)</a:t>
            </a:r>
          </a:p>
          <a:p>
            <a:pPr lvl="1">
              <a:buNone/>
            </a:pPr>
            <a:r>
              <a:rPr lang="en-US" dirty="0" smtClean="0"/>
              <a:t>	as a precondition to </a:t>
            </a:r>
            <a:r>
              <a:rPr lang="en-US" dirty="0" err="1" smtClean="0">
                <a:solidFill>
                  <a:srgbClr val="7030A0"/>
                </a:solidFill>
              </a:rPr>
              <a:t>ssa_get</a:t>
            </a:r>
            <a:r>
              <a:rPr lang="en-US" dirty="0" smtClean="0"/>
              <a:t> to support the safety of </a:t>
            </a:r>
            <a:r>
              <a:rPr lang="en-US" dirty="0" err="1" smtClean="0">
                <a:solidFill>
                  <a:srgbClr val="7030A0"/>
                </a:solidFill>
              </a:rPr>
              <a:t>ssa_len</a:t>
            </a:r>
            <a:endParaRPr lang="en-US" dirty="0" smtClean="0"/>
          </a:p>
          <a:p>
            <a:pPr lvl="2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A-&gt;length == \length(A-&gt;data)</a:t>
            </a:r>
            <a:endParaRPr lang="en-US" dirty="0" smtClean="0"/>
          </a:p>
          <a:p>
            <a:pPr lvl="3"/>
            <a:r>
              <a:rPr lang="en-US" dirty="0" smtClean="0"/>
              <a:t>By new precondition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5438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 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&gt;= 0;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== \length(A-&gt;data);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A-&gt;length;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 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  <a:p>
            <a:pPr algn="l"/>
            <a:endParaRPr lang="en-US" sz="1800" b="0" dirty="0" smtClean="0">
              <a:latin typeface="Menlo"/>
            </a:endParaRPr>
          </a:p>
          <a:p>
            <a:pPr algn="l"/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83600" y="152400"/>
            <a:ext cx="4495800" cy="2186801"/>
          </a:xfrm>
          <a:prstGeom prst="verticalScroll">
            <a:avLst>
              <a:gd name="adj" fmla="val 12669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07800" y="5265003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330200" y="7110350"/>
            <a:ext cx="5105400" cy="5334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Representation Invariants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Where are we?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2438400"/>
            <a:ext cx="6705600" cy="6438900"/>
          </a:xfrm>
        </p:spPr>
        <p:txBody>
          <a:bodyPr/>
          <a:lstStyle/>
          <a:p>
            <a:r>
              <a:rPr lang="en-US" dirty="0" smtClean="0"/>
              <a:t>All our code is safe</a:t>
            </a:r>
          </a:p>
          <a:p>
            <a:r>
              <a:rPr lang="en-US" dirty="0" smtClean="0"/>
              <a:t>Both functions have preconditions</a:t>
            </a:r>
          </a:p>
          <a:p>
            <a:pPr lvl="2">
              <a:buClr>
                <a:schemeClr val="tx1"/>
              </a:buClr>
              <a:buNone/>
            </a:pPr>
            <a:r>
              <a:rPr lang="en-US" dirty="0" smtClean="0">
                <a:solidFill>
                  <a:srgbClr val="C00000"/>
                </a:solidFill>
              </a:rPr>
              <a:t>		A != NULL</a:t>
            </a:r>
          </a:p>
          <a:p>
            <a:pPr lvl="2">
              <a:spcBef>
                <a:spcPts val="0"/>
              </a:spcBef>
              <a:buClr>
                <a:schemeClr val="tx1"/>
              </a:buClr>
              <a:buNone/>
            </a:pPr>
            <a:r>
              <a:rPr lang="en-US" dirty="0" smtClean="0">
                <a:solidFill>
                  <a:srgbClr val="C00000"/>
                </a:solidFill>
              </a:rPr>
              <a:t>		A-&gt;length == \length(A-&gt;data)</a:t>
            </a:r>
            <a:endParaRPr lang="en-US" dirty="0" smtClean="0"/>
          </a:p>
          <a:p>
            <a:pPr lvl="1">
              <a:buClr>
                <a:schemeClr val="tx1"/>
              </a:buClr>
            </a:pPr>
            <a:r>
              <a:rPr lang="en-US" dirty="0" err="1" smtClean="0">
                <a:solidFill>
                  <a:srgbClr val="7030A0"/>
                </a:solidFill>
              </a:rPr>
              <a:t>ssa_set</a:t>
            </a:r>
            <a:r>
              <a:rPr lang="en-US" dirty="0" smtClean="0"/>
              <a:t> will need them too</a:t>
            </a:r>
          </a:p>
          <a:p>
            <a:pPr lvl="1"/>
            <a:r>
              <a:rPr lang="en-US" dirty="0" smtClean="0"/>
              <a:t>and </a:t>
            </a:r>
            <a:r>
              <a:rPr lang="en-US" dirty="0" err="1" smtClean="0">
                <a:solidFill>
                  <a:srgbClr val="7030A0"/>
                </a:solidFill>
              </a:rPr>
              <a:t>ssa_new</a:t>
            </a:r>
            <a:r>
              <a:rPr lang="en-US" dirty="0" smtClean="0"/>
              <a:t> will have them as </a:t>
            </a:r>
            <a:r>
              <a:rPr lang="en-US" dirty="0" err="1" smtClean="0"/>
              <a:t>postconditions</a:t>
            </a:r>
            <a:endParaRPr lang="en-US" dirty="0" smtClean="0"/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5438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&gt;= 0;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== \length(A-&gt;data);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A-&gt;length;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 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  <a:p>
            <a:pPr algn="l"/>
            <a:endParaRPr lang="en-US" sz="1800" b="0" dirty="0" smtClean="0">
              <a:latin typeface="Menlo"/>
            </a:endParaRPr>
          </a:p>
          <a:p>
            <a:pPr algn="l"/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83600" y="152400"/>
            <a:ext cx="4495800" cy="2186801"/>
          </a:xfrm>
          <a:prstGeom prst="verticalScroll">
            <a:avLst>
              <a:gd name="adj" fmla="val 12669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06400" y="4191000"/>
            <a:ext cx="4800600" cy="60960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smtClean="0"/>
          </a:p>
        </p:txBody>
      </p:sp>
      <p:sp>
        <p:nvSpPr>
          <p:cNvPr id="11" name="Rectangle 10"/>
          <p:cNvSpPr/>
          <p:nvPr/>
        </p:nvSpPr>
        <p:spPr bwMode="auto">
          <a:xfrm>
            <a:off x="406400" y="6934200"/>
            <a:ext cx="4800600" cy="60960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Where are we?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2438400"/>
            <a:ext cx="6934200" cy="6438900"/>
          </a:xfrm>
        </p:spPr>
        <p:txBody>
          <a:bodyPr/>
          <a:lstStyle/>
          <a:p>
            <a:r>
              <a:rPr lang="en-US" dirty="0" smtClean="0"/>
              <a:t>They are fundamental properties an </a:t>
            </a:r>
            <a:r>
              <a:rPr lang="en-US" dirty="0" err="1" smtClean="0">
                <a:solidFill>
                  <a:srgbClr val="00B050"/>
                </a:solidFill>
              </a:rPr>
              <a:t>ssa</a:t>
            </a:r>
            <a:r>
              <a:rPr lang="en-US" dirty="0" smtClean="0">
                <a:solidFill>
                  <a:srgbClr val="00B050"/>
                </a:solidFill>
              </a:rPr>
              <a:t>*</a:t>
            </a:r>
            <a:r>
              <a:rPr lang="en-US" dirty="0" smtClean="0"/>
              <a:t> must obey to be the representation of a valid SSA</a:t>
            </a:r>
          </a:p>
          <a:p>
            <a:pPr lvl="1"/>
            <a:r>
              <a:rPr lang="en-US" dirty="0" smtClean="0"/>
              <a:t>NULL is not a valid SSA</a:t>
            </a:r>
          </a:p>
          <a:p>
            <a:pPr lvl="1"/>
            <a:r>
              <a:rPr lang="en-US" dirty="0" smtClean="0"/>
              <a:t>The length field must be equal to the length of the array field data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These are </a:t>
            </a:r>
            <a:r>
              <a:rPr lang="en-US" b="1" dirty="0" smtClean="0"/>
              <a:t>invariants</a:t>
            </a:r>
            <a:r>
              <a:rPr lang="en-US" dirty="0" smtClean="0"/>
              <a:t> of our representation:</a:t>
            </a:r>
          </a:p>
          <a:p>
            <a:pPr lvl="1"/>
            <a:r>
              <a:rPr lang="en-US" dirty="0" smtClean="0"/>
              <a:t>Preconditions of every library function that takes an SSA as a parameter</a:t>
            </a:r>
          </a:p>
          <a:p>
            <a:pPr lvl="1"/>
            <a:r>
              <a:rPr lang="en-US" dirty="0" err="1" smtClean="0"/>
              <a:t>Postcondition</a:t>
            </a:r>
            <a:r>
              <a:rPr lang="en-US" dirty="0" smtClean="0"/>
              <a:t> of every library function that returns or modifies an SSA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5438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 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&gt;= 0;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== \length(A-&gt;data);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A-&gt;length;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 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  <a:p>
            <a:pPr algn="l"/>
            <a:endParaRPr lang="en-US" sz="1800" b="0" dirty="0" smtClean="0">
              <a:latin typeface="Menlo"/>
            </a:endParaRPr>
          </a:p>
          <a:p>
            <a:pPr algn="l"/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83600" y="152400"/>
            <a:ext cx="4495800" cy="2186801"/>
          </a:xfrm>
          <a:prstGeom prst="verticalScroll">
            <a:avLst>
              <a:gd name="adj" fmla="val 12669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06400" y="4191000"/>
            <a:ext cx="4800600" cy="60960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smtClean="0"/>
          </a:p>
        </p:txBody>
      </p:sp>
      <p:sp>
        <p:nvSpPr>
          <p:cNvPr id="11" name="Rectangle 10"/>
          <p:cNvSpPr/>
          <p:nvPr/>
        </p:nvSpPr>
        <p:spPr bwMode="auto">
          <a:xfrm>
            <a:off x="406400" y="6934200"/>
            <a:ext cx="4800600" cy="60960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Representation Invariants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2438400"/>
            <a:ext cx="6934200" cy="6438900"/>
          </a:xfrm>
        </p:spPr>
        <p:txBody>
          <a:bodyPr/>
          <a:lstStyle/>
          <a:p>
            <a:r>
              <a:rPr lang="en-US" b="1" dirty="0" smtClean="0"/>
              <a:t>Representation invariants</a:t>
            </a:r>
          </a:p>
          <a:p>
            <a:pPr lvl="2"/>
            <a:r>
              <a:rPr lang="en-US" dirty="0" smtClean="0"/>
              <a:t>Preconditions of every library function that takes an SSA as a parameter</a:t>
            </a:r>
          </a:p>
          <a:p>
            <a:pPr lvl="2"/>
            <a:r>
              <a:rPr lang="en-US" dirty="0" err="1" smtClean="0"/>
              <a:t>Postcondition</a:t>
            </a:r>
            <a:r>
              <a:rPr lang="en-US" dirty="0" smtClean="0"/>
              <a:t> of every library function that returns or modifies an SSA</a:t>
            </a:r>
          </a:p>
          <a:p>
            <a:pPr lvl="1"/>
            <a:r>
              <a:rPr lang="en-US" dirty="0" smtClean="0"/>
              <a:t>Also called </a:t>
            </a:r>
            <a:r>
              <a:rPr lang="en-US" b="1" dirty="0" smtClean="0"/>
              <a:t>data structure invariants</a:t>
            </a:r>
          </a:p>
          <a:p>
            <a:endParaRPr lang="en-US" dirty="0" smtClean="0"/>
          </a:p>
          <a:p>
            <a:r>
              <a:rPr lang="en-US" dirty="0" smtClean="0"/>
              <a:t>Do </a:t>
            </a:r>
            <a:r>
              <a:rPr lang="en-US" dirty="0" err="1" smtClean="0">
                <a:solidFill>
                  <a:srgbClr val="00B050"/>
                </a:solidFill>
              </a:rPr>
              <a:t>ssa</a:t>
            </a:r>
            <a:r>
              <a:rPr lang="en-US" dirty="0" smtClean="0">
                <a:solidFill>
                  <a:srgbClr val="00B050"/>
                </a:solidFill>
              </a:rPr>
              <a:t>*</a:t>
            </a:r>
            <a:r>
              <a:rPr lang="en-US" dirty="0" smtClean="0"/>
              <a:t> have other representation invariants?</a:t>
            </a:r>
          </a:p>
          <a:p>
            <a:pPr lvl="1"/>
            <a:r>
              <a:rPr lang="en-US" dirty="0" smtClean="0"/>
              <a:t>Yes!  A-&gt;data should be sorted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>
                <a:solidFill>
                  <a:srgbClr val="C00000"/>
                </a:solidFill>
              </a:rPr>
              <a:t>is_sorted</a:t>
            </a:r>
            <a:r>
              <a:rPr lang="en-US" dirty="0" smtClean="0">
                <a:solidFill>
                  <a:srgbClr val="C00000"/>
                </a:solidFill>
              </a:rPr>
              <a:t>(A)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6962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 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is_sorted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&gt;= 0;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== \length(A-&gt;data);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A-&gt;length;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 != NULL;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 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is_sorted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  <a:endParaRPr lang="en-US" sz="1800" b="0" dirty="0" smtClean="0">
              <a:latin typeface="Menlo"/>
            </a:endParaRPr>
          </a:p>
          <a:p>
            <a:pPr algn="l"/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83600" y="152400"/>
            <a:ext cx="4495800" cy="2186801"/>
          </a:xfrm>
          <a:prstGeom prst="verticalScroll">
            <a:avLst>
              <a:gd name="adj" fmla="val 12669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06400" y="4191000"/>
            <a:ext cx="4800600" cy="91440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</p:txBody>
      </p:sp>
      <p:sp>
        <p:nvSpPr>
          <p:cNvPr id="11" name="Rectangle 10"/>
          <p:cNvSpPr/>
          <p:nvPr/>
        </p:nvSpPr>
        <p:spPr bwMode="auto">
          <a:xfrm>
            <a:off x="406400" y="7262750"/>
            <a:ext cx="4800600" cy="89065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ular Callout 12"/>
          <p:cNvSpPr/>
          <p:nvPr/>
        </p:nvSpPr>
        <p:spPr bwMode="auto">
          <a:xfrm>
            <a:off x="9321800" y="6220361"/>
            <a:ext cx="2590800" cy="1323439"/>
          </a:xfrm>
          <a:prstGeom prst="wedgeRectCallout">
            <a:avLst>
              <a:gd name="adj1" fmla="val -50500"/>
              <a:gd name="adj2" fmla="val -17715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spAutoFit/>
          </a:bodyPr>
          <a:lstStyle/>
          <a:p>
            <a:pPr marL="395288" indent="-395288" algn="l">
              <a:defRPr/>
            </a:pPr>
            <a:r>
              <a:rPr lang="en-US" sz="2000" dirty="0" smtClean="0"/>
              <a:t>Convention:</a:t>
            </a:r>
            <a:r>
              <a:rPr lang="en-US" sz="2000" b="0" dirty="0" smtClean="0"/>
              <a:t> name of representation invariant functions start with  “</a:t>
            </a:r>
            <a:r>
              <a:rPr lang="en-US" sz="2000" b="0" dirty="0" smtClean="0">
                <a:solidFill>
                  <a:srgbClr val="00B050"/>
                </a:solidFill>
              </a:rPr>
              <a:t>is_</a:t>
            </a:r>
            <a:r>
              <a:rPr lang="en-US" sz="2000" b="0" dirty="0" smtClean="0"/>
              <a:t>”</a:t>
            </a:r>
            <a:endParaRPr lang="en-US" sz="2000" b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Representation Invariants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2438400"/>
            <a:ext cx="6934200" cy="3352800"/>
          </a:xfrm>
        </p:spPr>
        <p:txBody>
          <a:bodyPr/>
          <a:lstStyle/>
          <a:p>
            <a:r>
              <a:rPr lang="en-US" dirty="0" smtClean="0"/>
              <a:t>Factor out them out into a single function that checks that they are satisfied</a:t>
            </a:r>
          </a:p>
          <a:p>
            <a:pPr lvl="1">
              <a:buNone/>
            </a:pPr>
            <a:r>
              <a:rPr lang="en-US" dirty="0" smtClean="0"/>
              <a:t>					</a:t>
            </a:r>
            <a:r>
              <a:rPr lang="en-US" dirty="0" err="1" smtClean="0">
                <a:solidFill>
                  <a:srgbClr val="7030A0"/>
                </a:solidFill>
              </a:rPr>
              <a:t>is_ssa</a:t>
            </a:r>
            <a:endParaRPr lang="en-US" dirty="0" smtClean="0">
              <a:solidFill>
                <a:srgbClr val="7030A0"/>
              </a:solidFill>
            </a:endParaRPr>
          </a:p>
          <a:p>
            <a:pPr lvl="1"/>
            <a:r>
              <a:rPr lang="en-US" b="1" dirty="0" smtClean="0"/>
              <a:t>Representation    invariant function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6962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bool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7030A0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 { … }</a:t>
            </a:r>
            <a:endParaRPr lang="en-US" sz="2000" b="0" dirty="0" smtClean="0">
              <a:latin typeface="Menlo"/>
            </a:endParaRP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&gt;= 0;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\result == \length(A-&gt;data);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A-&gt;length;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  <a:endParaRPr lang="en-US" sz="1800" b="0" dirty="0" smtClean="0">
              <a:latin typeface="Menlo"/>
            </a:endParaRPr>
          </a:p>
          <a:p>
            <a:pPr algn="l"/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83600" y="152400"/>
            <a:ext cx="4495800" cy="2186801"/>
          </a:xfrm>
          <a:prstGeom prst="verticalScroll">
            <a:avLst>
              <a:gd name="adj" fmla="val 12669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06400" y="4800600"/>
            <a:ext cx="2667000" cy="30480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</p:txBody>
      </p:sp>
      <p:sp>
        <p:nvSpPr>
          <p:cNvPr id="12" name="Rectangle 11"/>
          <p:cNvSpPr/>
          <p:nvPr/>
        </p:nvSpPr>
        <p:spPr bwMode="auto">
          <a:xfrm>
            <a:off x="406400" y="7239000"/>
            <a:ext cx="2667000" cy="30480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7073900" cy="1498600"/>
          </a:xfrm>
        </p:spPr>
        <p:txBody>
          <a:bodyPr/>
          <a:lstStyle/>
          <a:p>
            <a:r>
              <a:rPr lang="en-US" dirty="0" smtClean="0"/>
              <a:t>Representation Invariants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3124200"/>
            <a:ext cx="6934200" cy="5753100"/>
          </a:xfrm>
        </p:spPr>
        <p:txBody>
          <a:bodyPr/>
          <a:lstStyle/>
          <a:p>
            <a:r>
              <a:rPr lang="en-US" dirty="0" smtClean="0"/>
              <a:t>The remaining functions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Precondition of every </a:t>
            </a:r>
            <a:r>
              <a:rPr lang="en-US" dirty="0" err="1" smtClean="0">
                <a:solidFill>
                  <a:srgbClr val="00B050"/>
                </a:solidFill>
              </a:rPr>
              <a:t>ssa</a:t>
            </a:r>
            <a:r>
              <a:rPr lang="en-US" dirty="0" smtClean="0">
                <a:solidFill>
                  <a:srgbClr val="00B050"/>
                </a:solidFill>
              </a:rPr>
              <a:t>* </a:t>
            </a:r>
            <a:r>
              <a:rPr lang="en-US" dirty="0" smtClean="0"/>
              <a:t>parameter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Postcondition</a:t>
            </a:r>
            <a:r>
              <a:rPr lang="en-US" dirty="0" smtClean="0"/>
              <a:t> of</a:t>
            </a:r>
          </a:p>
          <a:p>
            <a:pPr lvl="2"/>
            <a:r>
              <a:rPr lang="en-US" dirty="0" smtClean="0"/>
              <a:t>any returned </a:t>
            </a:r>
            <a:r>
              <a:rPr lang="en-US" dirty="0" err="1" smtClean="0">
                <a:solidFill>
                  <a:srgbClr val="00B050"/>
                </a:solidFill>
              </a:rPr>
              <a:t>ssa</a:t>
            </a:r>
            <a:r>
              <a:rPr lang="en-US" dirty="0" smtClean="0">
                <a:solidFill>
                  <a:srgbClr val="00B050"/>
                </a:solidFill>
              </a:rPr>
              <a:t>*</a:t>
            </a:r>
          </a:p>
          <a:p>
            <a:pPr lvl="2"/>
            <a:r>
              <a:rPr lang="en-US" dirty="0" smtClean="0"/>
              <a:t>any modified </a:t>
            </a:r>
            <a:r>
              <a:rPr lang="en-US" dirty="0" err="1" smtClean="0">
                <a:solidFill>
                  <a:srgbClr val="00B050"/>
                </a:solidFill>
              </a:rPr>
              <a:t>ssa</a:t>
            </a:r>
            <a:r>
              <a:rPr lang="en-US" dirty="0" smtClean="0">
                <a:solidFill>
                  <a:srgbClr val="00B050"/>
                </a:solidFill>
              </a:rPr>
              <a:t>* </a:t>
            </a:r>
            <a:r>
              <a:rPr lang="en-US" dirty="0" smtClean="0"/>
              <a:t>parameter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6962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bool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7030A0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 { … }</a:t>
            </a:r>
            <a:endParaRPr lang="en-US" sz="2000" b="0" dirty="0" smtClean="0">
              <a:latin typeface="Menlo"/>
            </a:endParaRP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ssa_new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size &gt;= 0;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(\result);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(\result) == size;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A = 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alloc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A-&gt;data = 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alloc_array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size);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A-&gt;length = size;</a:t>
            </a:r>
          </a:p>
          <a:p>
            <a:pPr algn="l"/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A;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void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ssa_set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, 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</a:p>
          <a:p>
            <a:pPr algn="l"/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tx1"/>
              </a:solidFill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//@ensures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 </a:t>
            </a:r>
            <a:r>
              <a:rPr lang="en-US" sz="2000" b="0" dirty="0" smtClean="0">
                <a:solidFill>
                  <a:schemeClr val="accent5">
                    <a:lumMod val="90000"/>
                  </a:schemeClr>
                </a:solidFill>
                <a:latin typeface="Menlo"/>
              </a:rPr>
              <a:t>/* left as exercise */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}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8" name="Vertical Scroll 17"/>
          <p:cNvSpPr/>
          <p:nvPr/>
        </p:nvSpPr>
        <p:spPr bwMode="auto">
          <a:xfrm flipH="1">
            <a:off x="8407400" y="152400"/>
            <a:ext cx="4572000" cy="2529265"/>
          </a:xfrm>
          <a:prstGeom prst="verticalScroll">
            <a:avLst>
              <a:gd name="adj" fmla="val 11482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600" b="0" dirty="0" smtClean="0">
                <a:latin typeface="Menlo"/>
              </a:rPr>
              <a:t>)</a:t>
            </a:r>
            <a:endParaRPr lang="en-US" sz="1600" b="0" dirty="0" smtClean="0">
              <a:solidFill>
                <a:srgbClr val="C0000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size;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(\result) == size;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4579" y="107432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06400" y="5105400"/>
            <a:ext cx="3124200" cy="30480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</p:txBody>
      </p:sp>
      <p:sp>
        <p:nvSpPr>
          <p:cNvPr id="12" name="Rectangle 11"/>
          <p:cNvSpPr/>
          <p:nvPr/>
        </p:nvSpPr>
        <p:spPr bwMode="auto">
          <a:xfrm>
            <a:off x="406400" y="8153400"/>
            <a:ext cx="2667000" cy="30480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</p:txBody>
      </p:sp>
      <p:sp>
        <p:nvSpPr>
          <p:cNvPr id="11" name="Rectangle 10"/>
          <p:cNvSpPr/>
          <p:nvPr/>
        </p:nvSpPr>
        <p:spPr bwMode="auto">
          <a:xfrm>
            <a:off x="406400" y="8763000"/>
            <a:ext cx="2667000" cy="30480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 w="19050" cap="flat" cmpd="sng" algn="ctr">
            <a:solidFill>
              <a:srgbClr val="00B0F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  <a:p>
            <a:pPr marL="0" marR="0" indent="0" algn="l" eaLnBrk="1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lang="en-US" sz="2000" b="0" i="1" dirty="0" smtClean="0"/>
          </a:p>
        </p:txBody>
      </p:sp>
      <p:sp>
        <p:nvSpPr>
          <p:cNvPr id="13" name="Rectangular Callout 12"/>
          <p:cNvSpPr/>
          <p:nvPr/>
        </p:nvSpPr>
        <p:spPr bwMode="auto">
          <a:xfrm>
            <a:off x="8483600" y="5616714"/>
            <a:ext cx="4343400" cy="707886"/>
          </a:xfrm>
          <a:prstGeom prst="wedgeRectCallout">
            <a:avLst>
              <a:gd name="adj1" fmla="val -181542"/>
              <a:gd name="adj2" fmla="val 3129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Defining the internal type </a:t>
            </a:r>
            <a:r>
              <a:rPr lang="en-US" sz="2000" b="0" dirty="0" err="1" smtClean="0">
                <a:solidFill>
                  <a:srgbClr val="00B050"/>
                </a:solidFill>
              </a:rPr>
              <a:t>ssa</a:t>
            </a:r>
            <a:r>
              <a:rPr lang="en-US" sz="2000" b="0" dirty="0" smtClean="0"/>
              <a:t> </a:t>
            </a:r>
            <a:r>
              <a:rPr lang="en-US" sz="2000" dirty="0" smtClean="0"/>
              <a:t>not</a:t>
            </a:r>
            <a:r>
              <a:rPr lang="en-US" sz="2000" b="0" dirty="0" smtClean="0"/>
              <a:t> to be a pointer allow simpler allocations</a:t>
            </a:r>
            <a:endParaRPr lang="en-US" sz="2000" b="0" dirty="0"/>
          </a:p>
        </p:txBody>
      </p:sp>
      <p:cxnSp>
        <p:nvCxnSpPr>
          <p:cNvPr id="15" name="Curved Connector 14"/>
          <p:cNvCxnSpPr>
            <a:endCxn id="12" idx="3"/>
          </p:cNvCxnSpPr>
          <p:nvPr/>
        </p:nvCxnSpPr>
        <p:spPr bwMode="auto">
          <a:xfrm rot="10800000" flipV="1">
            <a:off x="3073400" y="5181600"/>
            <a:ext cx="3352800" cy="3124200"/>
          </a:xfrm>
          <a:prstGeom prst="curvedConnector3">
            <a:avLst>
              <a:gd name="adj1" fmla="val -1358"/>
            </a:avLst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arrow"/>
          </a:ln>
          <a:effectLst/>
        </p:spPr>
      </p:cxnSp>
      <p:cxnSp>
        <p:nvCxnSpPr>
          <p:cNvPr id="23" name="Curved Connector 22"/>
          <p:cNvCxnSpPr>
            <a:endCxn id="11" idx="3"/>
          </p:cNvCxnSpPr>
          <p:nvPr/>
        </p:nvCxnSpPr>
        <p:spPr bwMode="auto">
          <a:xfrm rot="10800000" flipV="1">
            <a:off x="3073400" y="8382000"/>
            <a:ext cx="3505200" cy="533400"/>
          </a:xfrm>
          <a:prstGeom prst="curvedConnector3">
            <a:avLst>
              <a:gd name="adj1" fmla="val 41191"/>
            </a:avLst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arrow"/>
          </a:ln>
          <a:effectLst/>
        </p:spPr>
      </p:cxnSp>
      <p:cxnSp>
        <p:nvCxnSpPr>
          <p:cNvPr id="28" name="Curved Connector 27"/>
          <p:cNvCxnSpPr>
            <a:endCxn id="10" idx="3"/>
          </p:cNvCxnSpPr>
          <p:nvPr/>
        </p:nvCxnSpPr>
        <p:spPr bwMode="auto">
          <a:xfrm rot="10800000">
            <a:off x="3530600" y="5257800"/>
            <a:ext cx="3048000" cy="2743200"/>
          </a:xfrm>
          <a:prstGeom prst="curvedConnector3">
            <a:avLst>
              <a:gd name="adj1" fmla="val 23506"/>
            </a:avLst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36300" cy="1498600"/>
          </a:xfrm>
        </p:spPr>
        <p:txBody>
          <a:bodyPr/>
          <a:lstStyle/>
          <a:p>
            <a:r>
              <a:rPr lang="en-US" dirty="0" smtClean="0"/>
              <a:t>The representation Invariant Function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1981200"/>
            <a:ext cx="6934200" cy="68961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Let’s write it!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attempt: simply copy the contracts it stands for</a:t>
            </a:r>
          </a:p>
          <a:p>
            <a:pPr lvl="2"/>
            <a:endParaRPr lang="en-US" dirty="0" smtClean="0"/>
          </a:p>
          <a:p>
            <a:pPr lvl="1"/>
            <a:r>
              <a:rPr lang="en-US" b="1" dirty="0" smtClean="0"/>
              <a:t>Problem: </a:t>
            </a:r>
            <a:r>
              <a:rPr lang="en-US" dirty="0" smtClean="0">
                <a:solidFill>
                  <a:srgbClr val="C00000"/>
                </a:solidFill>
              </a:rPr>
              <a:t>\length </a:t>
            </a:r>
            <a:r>
              <a:rPr lang="en-US" dirty="0" smtClean="0"/>
              <a:t>can only be used in contracts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6962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Representation invariant</a:t>
            </a:r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bool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7030A0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 {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A != NULL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    &amp;&amp; A-&gt;length == 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\length(A-&gt;data)</a:t>
            </a:r>
            <a:endParaRPr lang="en-US" sz="20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    &amp;&amp; 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is_sorted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(A);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  <a:endParaRPr lang="en-US" sz="2000" b="0" dirty="0" smtClean="0">
              <a:latin typeface="Menlo"/>
            </a:endParaRPr>
          </a:p>
          <a:p>
            <a:pPr algn="l"/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13696" y="6019800"/>
            <a:ext cx="631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36300" cy="1498600"/>
          </a:xfrm>
        </p:spPr>
        <p:txBody>
          <a:bodyPr/>
          <a:lstStyle/>
          <a:p>
            <a:r>
              <a:rPr lang="en-US" dirty="0" smtClean="0"/>
              <a:t>The representation Invariant Function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1981200"/>
            <a:ext cx="6934200" cy="68961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Let’s write it!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attempt: move that part in the precondition of </a:t>
            </a:r>
            <a:r>
              <a:rPr lang="en-US" dirty="0" err="1" smtClean="0">
                <a:solidFill>
                  <a:srgbClr val="7030A0"/>
                </a:solidFill>
              </a:rPr>
              <a:t>is_ssa</a:t>
            </a:r>
            <a:endParaRPr lang="en-US" dirty="0" smtClean="0">
              <a:solidFill>
                <a:srgbClr val="7030A0"/>
              </a:solidFill>
            </a:endParaRPr>
          </a:p>
          <a:p>
            <a:pPr lvl="2"/>
            <a:endParaRPr lang="en-US" dirty="0" smtClean="0"/>
          </a:p>
          <a:p>
            <a:pPr lvl="1"/>
            <a:r>
              <a:rPr lang="en-US" b="1" dirty="0" smtClean="0"/>
              <a:t>Problem: </a:t>
            </a:r>
            <a:r>
              <a:rPr lang="en-US" dirty="0" smtClean="0"/>
              <a:t>this is unsafe!</a:t>
            </a:r>
          </a:p>
          <a:p>
            <a:pPr lvl="2"/>
            <a:r>
              <a:rPr lang="en-US" dirty="0" smtClean="0"/>
              <a:t>A may be NULL</a:t>
            </a:r>
          </a:p>
          <a:p>
            <a:pPr lvl="2"/>
            <a:r>
              <a:rPr lang="en-US" dirty="0" smtClean="0"/>
              <a:t>NULL checked only </a:t>
            </a:r>
            <a:r>
              <a:rPr lang="en-US" i="1" dirty="0" smtClean="0"/>
              <a:t>after</a:t>
            </a:r>
            <a:r>
              <a:rPr lang="en-US" dirty="0" smtClean="0"/>
              <a:t> the precondition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6962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Representation invariant</a:t>
            </a:r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bool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7030A0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/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//@requires A-&gt;length == \length(A-&gt;data);</a:t>
            </a:r>
            <a:endParaRPr lang="en-US" sz="20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A != NULL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     &amp;&amp; 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is_sorted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(A);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  <a:endParaRPr lang="en-US" sz="2000" b="0" dirty="0" smtClean="0">
              <a:latin typeface="Menlo"/>
            </a:endParaRPr>
          </a:p>
          <a:p>
            <a:pPr algn="l"/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13696" y="6315670"/>
            <a:ext cx="631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36300" cy="1498600"/>
          </a:xfrm>
        </p:spPr>
        <p:txBody>
          <a:bodyPr/>
          <a:lstStyle/>
          <a:p>
            <a:r>
              <a:rPr lang="en-US" dirty="0" smtClean="0"/>
              <a:t>The representation Invariant Function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188200" y="1981200"/>
            <a:ext cx="5562600" cy="68961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Let’s write it!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attempt: move it into a helper function</a:t>
            </a:r>
            <a:endParaRPr lang="en-US" dirty="0" smtClean="0">
              <a:solidFill>
                <a:srgbClr val="C00000"/>
              </a:solidFill>
            </a:endParaRPr>
          </a:p>
          <a:p>
            <a:pPr lvl="2"/>
            <a:endParaRPr lang="en-US" dirty="0" smtClean="0"/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6629400" cy="7696200"/>
          </a:xfrm>
          <a:prstGeom prst="cube">
            <a:avLst>
              <a:gd name="adj" fmla="val 5732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Representation invariant</a:t>
            </a:r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bool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is_array_expected_length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FFC000"/>
                </a:solidFill>
                <a:latin typeface="Menlo"/>
              </a:rPr>
              <a:t>len</a:t>
            </a:r>
            <a:r>
              <a:rPr lang="en-US" sz="2000" b="0" smtClean="0">
                <a:solidFill>
                  <a:schemeClr val="tx1"/>
                </a:solidFill>
                <a:latin typeface="Menlo"/>
              </a:rPr>
              <a:t>)  {</a:t>
            </a:r>
            <a:endParaRPr lang="en-US" sz="20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//@assert \length(A) == </a:t>
            </a:r>
            <a:r>
              <a:rPr lang="en-US" sz="2000" b="0" dirty="0" err="1" smtClean="0">
                <a:solidFill>
                  <a:srgbClr val="C00000"/>
                </a:solidFill>
                <a:latin typeface="Menlo"/>
              </a:rPr>
              <a:t>len</a:t>
            </a:r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;</a:t>
            </a:r>
            <a:endParaRPr lang="en-US" sz="20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true;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  <a:endParaRPr lang="en-US" sz="2000" b="0" dirty="0" smtClean="0">
              <a:latin typeface="Menlo"/>
            </a:endParaRPr>
          </a:p>
          <a:p>
            <a:pPr algn="l"/>
            <a:endParaRPr lang="en-US" sz="20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bool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7030A0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 {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A != NULL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     &amp;&amp; 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is_array_expected_length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(A-&gt;data, A-&gt;length)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      &amp;&amp; 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is_sorted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(A);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  <a:endParaRPr lang="en-US" sz="2000" b="0" dirty="0" smtClean="0">
              <a:latin typeface="Menlo"/>
            </a:endParaRPr>
          </a:p>
          <a:p>
            <a:pPr algn="l"/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5222803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75451" y="4655403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36300" cy="1498600"/>
          </a:xfrm>
        </p:spPr>
        <p:txBody>
          <a:bodyPr/>
          <a:lstStyle/>
          <a:p>
            <a:r>
              <a:rPr lang="en-US" dirty="0" smtClean="0"/>
              <a:t>The representation Invariant Function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6600" y="1981200"/>
            <a:ext cx="6934200" cy="68961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Let’s write it!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Alternative 3</a:t>
            </a:r>
            <a:r>
              <a:rPr lang="en-US" baseline="30000" dirty="0" smtClean="0"/>
              <a:t>rd</a:t>
            </a:r>
            <a:r>
              <a:rPr lang="en-US" dirty="0" smtClean="0"/>
              <a:t> attempt: turn it into an </a:t>
            </a:r>
            <a:r>
              <a:rPr lang="en-US" dirty="0" smtClean="0">
                <a:solidFill>
                  <a:srgbClr val="C00000"/>
                </a:solidFill>
              </a:rPr>
              <a:t>//@assert</a:t>
            </a:r>
            <a:r>
              <a:rPr lang="en-US" dirty="0" smtClean="0">
                <a:solidFill>
                  <a:schemeClr val="tx1"/>
                </a:solidFill>
              </a:rPr>
              <a:t> in </a:t>
            </a:r>
            <a:r>
              <a:rPr lang="en-US" dirty="0" err="1" smtClean="0">
                <a:solidFill>
                  <a:srgbClr val="7030A0"/>
                </a:solidFill>
              </a:rPr>
              <a:t>is_ssa</a:t>
            </a:r>
            <a:endParaRPr lang="en-US" dirty="0" smtClean="0">
              <a:solidFill>
                <a:srgbClr val="7030A0"/>
              </a:solidFill>
            </a:endParaRPr>
          </a:p>
          <a:p>
            <a:pPr lvl="2"/>
            <a:endParaRPr lang="en-US" dirty="0" smtClean="0"/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5334000" cy="7696200"/>
          </a:xfrm>
          <a:prstGeom prst="cube">
            <a:avLst>
              <a:gd name="adj" fmla="val 661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Representation invariant</a:t>
            </a:r>
            <a:endParaRPr lang="en-US" sz="2000" b="0" dirty="0" smtClean="0">
              <a:latin typeface="Menlo"/>
            </a:endParaRPr>
          </a:p>
          <a:p>
            <a:pPr algn="l"/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bool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rgbClr val="7030A0"/>
                </a:solidFill>
                <a:latin typeface="Menlo"/>
              </a:rPr>
              <a:t>is_ssa</a:t>
            </a:r>
            <a:r>
              <a:rPr lang="en-US" sz="2000" b="0" dirty="0" smtClean="0">
                <a:solidFill>
                  <a:srgbClr val="7030A0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20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20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) {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if 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(A == NULL) </a:t>
            </a:r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false;</a:t>
            </a:r>
          </a:p>
          <a:p>
            <a:pPr algn="l"/>
            <a:r>
              <a:rPr lang="en-US" sz="2000" b="0" dirty="0" smtClean="0">
                <a:solidFill>
                  <a:srgbClr val="C00000"/>
                </a:solidFill>
                <a:latin typeface="Menlo"/>
              </a:rPr>
              <a:t>  //@assert A-&gt;length == \length(A-&gt;data);</a:t>
            </a:r>
            <a:endParaRPr lang="en-US" sz="20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r>
              <a:rPr lang="en-US" sz="20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return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2000" b="0" dirty="0" err="1" smtClean="0">
                <a:solidFill>
                  <a:schemeClr val="tx1"/>
                </a:solidFill>
                <a:latin typeface="Menlo"/>
              </a:rPr>
              <a:t>is_sorted</a:t>
            </a:r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(A);</a:t>
            </a:r>
          </a:p>
          <a:p>
            <a:pPr algn="l"/>
            <a:r>
              <a:rPr lang="en-US" sz="2000" b="0" dirty="0" smtClean="0">
                <a:solidFill>
                  <a:schemeClr val="tx1"/>
                </a:solidFill>
                <a:latin typeface="Menlo"/>
              </a:rPr>
              <a:t>}</a:t>
            </a:r>
            <a:endParaRPr lang="en-US" sz="2000" b="0" dirty="0" smtClean="0">
              <a:latin typeface="Menlo"/>
            </a:endParaRPr>
          </a:p>
          <a:p>
            <a:pPr algn="l"/>
            <a:endParaRPr lang="en-US" sz="20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… rest of implementation 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39318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37251" y="4655403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Things to Note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1341100" cy="6896100"/>
          </a:xfrm>
        </p:spPr>
        <p:txBody>
          <a:bodyPr/>
          <a:lstStyle/>
          <a:p>
            <a:r>
              <a:rPr lang="en-US" dirty="0" smtClean="0"/>
              <a:t>The representation invariant function </a:t>
            </a:r>
            <a:r>
              <a:rPr lang="en-US" dirty="0" err="1" smtClean="0">
                <a:solidFill>
                  <a:srgbClr val="7030A0"/>
                </a:solidFill>
              </a:rPr>
              <a:t>is_ssa</a:t>
            </a:r>
            <a:r>
              <a:rPr lang="en-US" dirty="0" smtClean="0"/>
              <a:t> is </a:t>
            </a:r>
            <a:r>
              <a:rPr lang="en-US" b="1" u="sng" dirty="0" smtClean="0"/>
              <a:t>NOT</a:t>
            </a:r>
            <a:r>
              <a:rPr lang="en-US" dirty="0" smtClean="0"/>
              <a:t> </a:t>
            </a:r>
            <a:r>
              <a:rPr lang="en-US" b="1" dirty="0" smtClean="0"/>
              <a:t>part of interface</a:t>
            </a:r>
          </a:p>
          <a:p>
            <a:pPr lvl="1"/>
            <a:r>
              <a:rPr lang="en-US" dirty="0" smtClean="0"/>
              <a:t>Clients are allowed to manipulate SSA’s </a:t>
            </a:r>
            <a:r>
              <a:rPr lang="en-US" b="1" dirty="0" smtClean="0"/>
              <a:t>only using the interface </a:t>
            </a:r>
            <a:r>
              <a:rPr lang="en-US" dirty="0" smtClean="0"/>
              <a:t>functions</a:t>
            </a:r>
          </a:p>
          <a:p>
            <a:pPr lvl="2"/>
            <a:r>
              <a:rPr lang="en-US" dirty="0" smtClean="0"/>
              <a:t>If library is correct, </a:t>
            </a:r>
            <a:r>
              <a:rPr lang="en-US" dirty="0" err="1" smtClean="0">
                <a:solidFill>
                  <a:srgbClr val="C00000"/>
                </a:solidFill>
              </a:rPr>
              <a:t>is_ssa</a:t>
            </a:r>
            <a:r>
              <a:rPr lang="en-US" dirty="0" smtClean="0">
                <a:solidFill>
                  <a:srgbClr val="C00000"/>
                </a:solidFill>
              </a:rPr>
              <a:t>(A)</a:t>
            </a:r>
            <a:r>
              <a:rPr lang="en-US" dirty="0" smtClean="0"/>
              <a:t> will always return true</a:t>
            </a:r>
          </a:p>
          <a:p>
            <a:pPr lvl="2"/>
            <a:r>
              <a:rPr lang="en-US" dirty="0" smtClean="0"/>
              <a:t>Client must ensure the safety of library calls according to the interface</a:t>
            </a:r>
          </a:p>
          <a:p>
            <a:pPr lvl="3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 != NULL </a:t>
            </a:r>
            <a:r>
              <a:rPr lang="en-US" dirty="0" smtClean="0"/>
              <a:t>only</a:t>
            </a:r>
          </a:p>
          <a:p>
            <a:pPr lvl="2"/>
            <a:r>
              <a:rPr lang="en-US" dirty="0" smtClean="0"/>
              <a:t>Providing </a:t>
            </a:r>
            <a:r>
              <a:rPr lang="en-US" dirty="0" err="1" smtClean="0">
                <a:solidFill>
                  <a:srgbClr val="7030A0"/>
                </a:solidFill>
              </a:rPr>
              <a:t>is_ssa</a:t>
            </a:r>
            <a:r>
              <a:rPr lang="en-US" dirty="0" smtClean="0"/>
              <a:t> to clients would encourage them to bypass the interface</a:t>
            </a:r>
          </a:p>
          <a:p>
            <a:pPr lvl="3"/>
            <a:r>
              <a:rPr lang="en-US" dirty="0" smtClean="0"/>
              <a:t>use </a:t>
            </a:r>
            <a:r>
              <a:rPr lang="en-US" dirty="0" err="1" smtClean="0">
                <a:solidFill>
                  <a:srgbClr val="7030A0"/>
                </a:solidFill>
              </a:rPr>
              <a:t>is_ssa</a:t>
            </a:r>
            <a:r>
              <a:rPr lang="en-US" dirty="0" smtClean="0"/>
              <a:t> to test if hacks are successful</a:t>
            </a:r>
          </a:p>
          <a:p>
            <a:pPr lvl="1"/>
            <a:r>
              <a:rPr lang="en-US" dirty="0" smtClean="0"/>
              <a:t>The representation invariant function is an implementation device to ensure the safety and correctness of the library code</a:t>
            </a:r>
          </a:p>
          <a:p>
            <a:pPr lvl="2"/>
            <a:r>
              <a:rPr lang="en-US" dirty="0" smtClean="0"/>
              <a:t>Used while developing the library</a:t>
            </a:r>
          </a:p>
          <a:p>
            <a:pPr lvl="4"/>
            <a:r>
              <a:rPr lang="en-US" dirty="0" smtClean="0"/>
              <a:t>Every function that takes an SSA A must have </a:t>
            </a:r>
            <a:r>
              <a:rPr lang="en-US" dirty="0" smtClean="0">
                <a:solidFill>
                  <a:srgbClr val="C00000"/>
                </a:solidFill>
              </a:rPr>
              <a:t>//@requires </a:t>
            </a:r>
            <a:r>
              <a:rPr lang="en-US" dirty="0" err="1" smtClean="0">
                <a:solidFill>
                  <a:srgbClr val="C00000"/>
                </a:solidFill>
              </a:rPr>
              <a:t>is_ssa</a:t>
            </a:r>
            <a:r>
              <a:rPr lang="en-US" dirty="0" smtClean="0">
                <a:solidFill>
                  <a:srgbClr val="C00000"/>
                </a:solidFill>
              </a:rPr>
              <a:t>(A);</a:t>
            </a:r>
          </a:p>
          <a:p>
            <a:pPr lvl="4"/>
            <a:r>
              <a:rPr lang="en-US" dirty="0" smtClean="0"/>
              <a:t>Every function that modifies an input SSA A must have </a:t>
            </a:r>
            <a:r>
              <a:rPr lang="en-US" dirty="0" smtClean="0">
                <a:solidFill>
                  <a:srgbClr val="C00000"/>
                </a:solidFill>
              </a:rPr>
              <a:t>//@ensures </a:t>
            </a:r>
            <a:r>
              <a:rPr lang="en-US" dirty="0" err="1" smtClean="0">
                <a:solidFill>
                  <a:srgbClr val="C00000"/>
                </a:solidFill>
              </a:rPr>
              <a:t>is_ssa</a:t>
            </a:r>
            <a:r>
              <a:rPr lang="en-US" dirty="0" smtClean="0">
                <a:solidFill>
                  <a:srgbClr val="C00000"/>
                </a:solidFill>
              </a:rPr>
              <a:t>(A);</a:t>
            </a:r>
          </a:p>
          <a:p>
            <a:pPr lvl="4"/>
            <a:r>
              <a:rPr lang="en-US" dirty="0" smtClean="0"/>
              <a:t>Every function that returns an SSA must have </a:t>
            </a:r>
            <a:r>
              <a:rPr lang="en-US" dirty="0" smtClean="0">
                <a:solidFill>
                  <a:srgbClr val="C00000"/>
                </a:solidFill>
              </a:rPr>
              <a:t>//@ensures </a:t>
            </a:r>
            <a:r>
              <a:rPr lang="en-US" dirty="0" err="1" smtClean="0">
                <a:solidFill>
                  <a:srgbClr val="C00000"/>
                </a:solidFill>
              </a:rPr>
              <a:t>is_ssa</a:t>
            </a:r>
            <a:r>
              <a:rPr lang="en-US" dirty="0" smtClean="0">
                <a:solidFill>
                  <a:srgbClr val="C00000"/>
                </a:solidFill>
              </a:rPr>
              <a:t>(\result);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Things to Note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1341100" cy="6896100"/>
          </a:xfrm>
        </p:spPr>
        <p:txBody>
          <a:bodyPr/>
          <a:lstStyle/>
          <a:p>
            <a:r>
              <a:rPr lang="en-US" dirty="0" smtClean="0"/>
              <a:t>The contracts in the interface and the implementation are </a:t>
            </a:r>
            <a:r>
              <a:rPr lang="en-US" b="1" dirty="0" smtClean="0"/>
              <a:t>different</a:t>
            </a:r>
          </a:p>
          <a:p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endParaRPr lang="en-US" b="1" dirty="0" smtClean="0"/>
          </a:p>
          <a:p>
            <a:r>
              <a:rPr lang="en-US" dirty="0" smtClean="0"/>
              <a:t>The implementation contracts are more detailed</a:t>
            </a:r>
          </a:p>
          <a:p>
            <a:pPr lvl="2">
              <a:buClr>
                <a:schemeClr val="tx1"/>
              </a:buClr>
            </a:pPr>
            <a:r>
              <a:rPr lang="en-US" dirty="0" err="1" smtClean="0">
                <a:solidFill>
                  <a:srgbClr val="C00000"/>
                </a:solidFill>
              </a:rPr>
              <a:t>is_ssa</a:t>
            </a:r>
            <a:r>
              <a:rPr lang="en-US" dirty="0" smtClean="0">
                <a:solidFill>
                  <a:srgbClr val="C00000"/>
                </a:solidFill>
              </a:rPr>
              <a:t>(A) </a:t>
            </a:r>
            <a:r>
              <a:rPr lang="en-US" dirty="0" smtClean="0"/>
              <a:t>checks </a:t>
            </a:r>
            <a:r>
              <a:rPr lang="en-US" dirty="0" smtClean="0">
                <a:solidFill>
                  <a:srgbClr val="C00000"/>
                </a:solidFill>
              </a:rPr>
              <a:t>A != NULL</a:t>
            </a:r>
          </a:p>
          <a:p>
            <a:pPr lvl="1"/>
            <a:r>
              <a:rPr lang="en-US" dirty="0" smtClean="0"/>
              <a:t>The implementation contains more information,</a:t>
            </a:r>
            <a:br>
              <a:rPr lang="en-US" dirty="0" smtClean="0"/>
            </a:br>
            <a:r>
              <a:rPr lang="en-US" dirty="0" smtClean="0"/>
              <a:t>so it needs to check more things</a:t>
            </a:r>
          </a:p>
          <a:p>
            <a:pPr lvl="1"/>
            <a:r>
              <a:rPr lang="en-US" dirty="0" smtClean="0"/>
              <a:t>There is no point having </a:t>
            </a:r>
            <a:r>
              <a:rPr lang="en-US" dirty="0" smtClean="0">
                <a:solidFill>
                  <a:srgbClr val="C00000"/>
                </a:solidFill>
              </a:rPr>
              <a:t>//@ensures A != NULL </a:t>
            </a:r>
            <a:r>
              <a:rPr lang="en-US" dirty="0" smtClean="0"/>
              <a:t>in the interface</a:t>
            </a:r>
          </a:p>
          <a:p>
            <a:pPr lvl="2">
              <a:buClr>
                <a:schemeClr val="tx1"/>
              </a:buClr>
            </a:pPr>
            <a:r>
              <a:rPr lang="en-US" dirty="0" err="1" smtClean="0">
                <a:solidFill>
                  <a:srgbClr val="7030A0"/>
                </a:solidFill>
              </a:rPr>
              <a:t>ssa_set</a:t>
            </a:r>
            <a:r>
              <a:rPr lang="en-US" dirty="0" smtClean="0"/>
              <a:t> is called with a </a:t>
            </a:r>
            <a:r>
              <a:rPr lang="en-US" i="1" dirty="0" smtClean="0"/>
              <a:t>copy</a:t>
            </a:r>
            <a:r>
              <a:rPr lang="en-US" dirty="0" smtClean="0"/>
              <a:t> of the address of A</a:t>
            </a:r>
          </a:p>
          <a:p>
            <a:pPr lvl="2"/>
            <a:r>
              <a:rPr lang="en-US" dirty="0" smtClean="0"/>
              <a:t>when returning, the original has not changed, even if </a:t>
            </a:r>
            <a:r>
              <a:rPr lang="en-US" dirty="0" err="1" smtClean="0">
                <a:solidFill>
                  <a:srgbClr val="7030A0"/>
                </a:solidFill>
              </a:rPr>
              <a:t>ssa_set</a:t>
            </a:r>
            <a:r>
              <a:rPr lang="en-US" dirty="0" smtClean="0"/>
              <a:t> modified its copy of A</a:t>
            </a:r>
          </a:p>
          <a:p>
            <a:pPr lvl="3"/>
            <a:r>
              <a:rPr lang="en-US" dirty="0" smtClean="0"/>
              <a:t>If original A was not NULL when calling </a:t>
            </a:r>
            <a:r>
              <a:rPr lang="en-US" dirty="0" err="1" smtClean="0">
                <a:solidFill>
                  <a:srgbClr val="7030A0"/>
                </a:solidFill>
              </a:rPr>
              <a:t>ssa_set</a:t>
            </a:r>
            <a:r>
              <a:rPr lang="en-US" dirty="0" smtClean="0"/>
              <a:t>, it will not be NULL when returning from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25600" y="3200400"/>
          <a:ext cx="10134600" cy="143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300"/>
                <a:gridCol w="50673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Interface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Implementation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tabLst>
                          <a:tab pos="3371850" algn="l"/>
                        </a:tabLst>
                      </a:pPr>
                      <a:r>
                        <a:rPr lang="en-US" sz="1600" b="0" dirty="0" smtClean="0">
                          <a:solidFill>
                            <a:srgbClr val="00B050"/>
                          </a:solidFill>
                          <a:latin typeface="Menlo"/>
                        </a:rPr>
                        <a:t>void</a:t>
                      </a:r>
                      <a:r>
                        <a:rPr lang="en-US" sz="1600" b="0" dirty="0" smtClean="0">
                          <a:latin typeface="Menlo"/>
                        </a:rPr>
                        <a:t> </a:t>
                      </a:r>
                      <a:r>
                        <a:rPr lang="en-US" sz="1600" b="0" dirty="0" err="1" smtClean="0">
                          <a:solidFill>
                            <a:srgbClr val="5E34FF"/>
                          </a:solidFill>
                          <a:latin typeface="Menlo" charset="0"/>
                          <a:ea typeface="Menlo" charset="0"/>
                          <a:cs typeface="Menlo" charset="0"/>
                          <a:sym typeface="Menlo" charset="0"/>
                        </a:rPr>
                        <a:t>ssa_set</a:t>
                      </a:r>
                      <a:r>
                        <a:rPr lang="en-US" sz="1600" b="0" dirty="0" smtClean="0">
                          <a:latin typeface="Menlo"/>
                        </a:rPr>
                        <a:t>(</a:t>
                      </a:r>
                      <a:r>
                        <a:rPr lang="en-US" sz="1600" b="0" dirty="0" err="1" smtClean="0">
                          <a:solidFill>
                            <a:srgbClr val="00B050"/>
                          </a:solidFill>
                          <a:latin typeface="Menlo"/>
                        </a:rPr>
                        <a:t>ssa_t</a:t>
                      </a:r>
                      <a:r>
                        <a:rPr lang="en-US" sz="1600" b="0" dirty="0" smtClean="0">
                          <a:solidFill>
                            <a:srgbClr val="00B050"/>
                          </a:solidFill>
                          <a:latin typeface="Menlo"/>
                        </a:rPr>
                        <a:t> </a:t>
                      </a:r>
                      <a:r>
                        <a:rPr lang="en-US" sz="1600" b="0" dirty="0" smtClean="0">
                          <a:solidFill>
                            <a:srgbClr val="FFC000"/>
                          </a:solidFill>
                          <a:latin typeface="Menlo"/>
                        </a:rPr>
                        <a:t>A</a:t>
                      </a:r>
                      <a:r>
                        <a:rPr lang="en-US" sz="1600" b="0" dirty="0" smtClean="0">
                          <a:latin typeface="Menlo"/>
                        </a:rPr>
                        <a:t>, </a:t>
                      </a:r>
                      <a:r>
                        <a:rPr lang="en-US" sz="1600" b="0" dirty="0" err="1" smtClean="0">
                          <a:solidFill>
                            <a:srgbClr val="00B050"/>
                          </a:solidFill>
                          <a:latin typeface="Menlo"/>
                        </a:rPr>
                        <a:t>int</a:t>
                      </a:r>
                      <a:r>
                        <a:rPr lang="en-US" sz="1600" b="0" dirty="0" smtClean="0">
                          <a:latin typeface="Menlo"/>
                        </a:rPr>
                        <a:t> </a:t>
                      </a:r>
                      <a:r>
                        <a:rPr lang="en-US" sz="1600" b="0" dirty="0" err="1" smtClean="0">
                          <a:solidFill>
                            <a:srgbClr val="FFC000"/>
                          </a:solidFill>
                          <a:latin typeface="Menlo"/>
                        </a:rPr>
                        <a:t>i</a:t>
                      </a:r>
                      <a:r>
                        <a:rPr lang="en-US" sz="1600" b="0" dirty="0" smtClean="0">
                          <a:latin typeface="Menlo"/>
                        </a:rPr>
                        <a:t>, </a:t>
                      </a:r>
                      <a:r>
                        <a:rPr lang="en-US" sz="1600" b="0" dirty="0" smtClean="0">
                          <a:solidFill>
                            <a:srgbClr val="00B050"/>
                          </a:solidFill>
                          <a:latin typeface="Menlo"/>
                        </a:rPr>
                        <a:t>string</a:t>
                      </a:r>
                      <a:r>
                        <a:rPr lang="en-US" sz="1600" b="0" dirty="0" smtClean="0">
                          <a:latin typeface="Menlo"/>
                        </a:rPr>
                        <a:t> </a:t>
                      </a:r>
                      <a:r>
                        <a:rPr lang="en-US" sz="1600" b="0" dirty="0" smtClean="0">
                          <a:solidFill>
                            <a:srgbClr val="FFC000"/>
                          </a:solidFill>
                          <a:latin typeface="Menlo"/>
                        </a:rPr>
                        <a:t>x</a:t>
                      </a:r>
                      <a:r>
                        <a:rPr lang="en-US" sz="1600" b="0" dirty="0" smtClean="0">
                          <a:latin typeface="Menlo"/>
                        </a:rPr>
                        <a:t>)</a:t>
                      </a:r>
                    </a:p>
                    <a:p>
                      <a:pPr algn="l">
                        <a:tabLst>
                          <a:tab pos="3371850" algn="l"/>
                        </a:tabLst>
                      </a:pPr>
                      <a:r>
                        <a:rPr lang="en-US" sz="1600" b="0" dirty="0" smtClean="0">
                          <a:solidFill>
                            <a:srgbClr val="C00000"/>
                          </a:solidFill>
                          <a:latin typeface="Menlo"/>
                        </a:rPr>
                        <a:t>/*@requires A != NULL;	@*/</a:t>
                      </a:r>
                    </a:p>
                    <a:p>
                      <a:pPr algn="l">
                        <a:tabLst>
                          <a:tab pos="3371850" algn="l"/>
                        </a:tabLst>
                      </a:pPr>
                      <a:r>
                        <a:rPr lang="en-US" sz="1600" b="0" dirty="0" smtClean="0">
                          <a:solidFill>
                            <a:srgbClr val="C00000"/>
                          </a:solidFill>
                          <a:latin typeface="Menlo"/>
                        </a:rPr>
                        <a:t>/*@requires 0 &lt;= </a:t>
                      </a:r>
                      <a:r>
                        <a:rPr lang="en-US" sz="1600" b="0" dirty="0" err="1" smtClean="0">
                          <a:solidFill>
                            <a:srgbClr val="C00000"/>
                          </a:solidFill>
                          <a:latin typeface="Menlo"/>
                        </a:rPr>
                        <a:t>i</a:t>
                      </a:r>
                      <a:r>
                        <a:rPr lang="en-US" sz="1600" b="0" dirty="0" smtClean="0">
                          <a:solidFill>
                            <a:srgbClr val="C00000"/>
                          </a:solidFill>
                          <a:latin typeface="Menlo"/>
                        </a:rPr>
                        <a:t> &amp;&amp; </a:t>
                      </a:r>
                      <a:r>
                        <a:rPr lang="en-US" sz="1600" b="0" dirty="0" err="1" smtClean="0">
                          <a:solidFill>
                            <a:srgbClr val="C00000"/>
                          </a:solidFill>
                          <a:latin typeface="Menlo"/>
                        </a:rPr>
                        <a:t>i</a:t>
                      </a:r>
                      <a:r>
                        <a:rPr lang="en-US" sz="1600" b="0" dirty="0" smtClean="0">
                          <a:solidFill>
                            <a:srgbClr val="C00000"/>
                          </a:solidFill>
                          <a:latin typeface="Menlo"/>
                        </a:rPr>
                        <a:t> &lt; </a:t>
                      </a:r>
                      <a:r>
                        <a:rPr lang="en-US" sz="1600" b="0" dirty="0" err="1" smtClean="0">
                          <a:solidFill>
                            <a:srgbClr val="C00000"/>
                          </a:solidFill>
                          <a:latin typeface="Menlo"/>
                        </a:rPr>
                        <a:t>ssa_len</a:t>
                      </a:r>
                      <a:r>
                        <a:rPr lang="en-US" sz="1600" b="0" dirty="0" smtClean="0">
                          <a:solidFill>
                            <a:srgbClr val="C00000"/>
                          </a:solidFill>
                          <a:latin typeface="Menlo"/>
                        </a:rPr>
                        <a:t>(A);	@*/</a:t>
                      </a:r>
                      <a:r>
                        <a:rPr lang="en-US" sz="1600" b="0" dirty="0" smtClean="0">
                          <a:latin typeface="Menlo"/>
                        </a:rPr>
                        <a:t> 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void </a:t>
                      </a:r>
                      <a:r>
                        <a:rPr kumimoji="0" lang="en-US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ssa_set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(</a:t>
                      </a:r>
                      <a:r>
                        <a:rPr kumimoji="0" lang="en-US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ssa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*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A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, </a:t>
                      </a:r>
                      <a:r>
                        <a:rPr kumimoji="0" lang="en-US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int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i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 ,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string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x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)</a:t>
                      </a:r>
                    </a:p>
                    <a:p>
                      <a:pPr marL="0" marR="0" lvl="0" indent="0" algn="l" defTabSz="584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43350" algn="l"/>
                        </a:tabLst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//@requires </a:t>
                      </a:r>
                      <a:r>
                        <a:rPr kumimoji="0" lang="en-US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is_ssa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(A);</a:t>
                      </a:r>
                    </a:p>
                    <a:p>
                      <a:pPr marL="0" marR="0" lvl="0" indent="0" algn="l" defTabSz="584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//@requires 0 &lt;= </a:t>
                      </a:r>
                      <a:r>
                        <a:rPr kumimoji="0" lang="en-US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i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 &amp;&amp; </a:t>
                      </a:r>
                      <a:r>
                        <a:rPr kumimoji="0" lang="en-US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i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 &lt; </a:t>
                      </a:r>
                      <a:r>
                        <a:rPr kumimoji="0" lang="en-US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ssa_len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(A);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nlo"/>
                        <a:sym typeface="Helvetica Neue" charset="0"/>
                      </a:endParaRPr>
                    </a:p>
                    <a:p>
                      <a:pPr marL="0" marR="0" lvl="0" indent="0" algn="l" defTabSz="584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943350" algn="l"/>
                        </a:tabLst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//@ensures </a:t>
                      </a:r>
                      <a:r>
                        <a:rPr kumimoji="0" lang="en-US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is_ssa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Menlo"/>
                          <a:sym typeface="Helvetica Neue" charset="0"/>
                        </a:rPr>
                        <a:t>(A);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AACEFF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Menlo"/>
                        <a:sym typeface="Helvetica Neue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36300" cy="1498600"/>
          </a:xfrm>
        </p:spPr>
        <p:txBody>
          <a:bodyPr/>
          <a:lstStyle/>
          <a:p>
            <a:r>
              <a:rPr lang="en-US" dirty="0" smtClean="0"/>
              <a:t>Overall Implementation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559800" y="1981200"/>
            <a:ext cx="4114800" cy="2514600"/>
          </a:xfrm>
        </p:spPr>
        <p:txBody>
          <a:bodyPr/>
          <a:lstStyle/>
          <a:p>
            <a:r>
              <a:rPr lang="en-US" dirty="0" smtClean="0"/>
              <a:t>By </a:t>
            </a:r>
            <a:r>
              <a:rPr lang="en-US" b="1" dirty="0" smtClean="0"/>
              <a:t>convention</a:t>
            </a:r>
            <a:r>
              <a:rPr lang="en-US" dirty="0" smtClean="0"/>
              <a:t>, we put the interface </a:t>
            </a:r>
            <a:r>
              <a:rPr lang="en-US" b="1" dirty="0" smtClean="0"/>
              <a:t>after</a:t>
            </a:r>
            <a:r>
              <a:rPr lang="en-US" dirty="0" smtClean="0"/>
              <a:t> the implementation in the same file</a:t>
            </a:r>
          </a:p>
        </p:txBody>
      </p:sp>
      <p:sp>
        <p:nvSpPr>
          <p:cNvPr id="7" name="Cube 6"/>
          <p:cNvSpPr/>
          <p:nvPr/>
        </p:nvSpPr>
        <p:spPr bwMode="auto">
          <a:xfrm>
            <a:off x="330200" y="1905000"/>
            <a:ext cx="7772400" cy="6858000"/>
          </a:xfrm>
          <a:prstGeom prst="cube">
            <a:avLst>
              <a:gd name="adj" fmla="val 4765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Implementation-side type</a:t>
            </a:r>
            <a:endParaRPr lang="en-US" sz="1600" b="0" dirty="0" smtClean="0">
              <a:solidFill>
                <a:srgbClr val="D03BFF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string[]</a:t>
            </a:r>
            <a:r>
              <a:rPr lang="en-US" sz="1600" b="0" dirty="0" smtClean="0">
                <a:latin typeface="Menlo"/>
              </a:rPr>
              <a:t> data;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sorted</a:t>
            </a:r>
          </a:p>
          <a:p>
            <a:pPr algn="l"/>
            <a:r>
              <a:rPr lang="en-US" sz="1600" b="0" dirty="0" smtClean="0"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length;      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= \length(data)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1600" b="0" dirty="0" smtClean="0"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Representation invariant</a:t>
            </a:r>
          </a:p>
          <a:p>
            <a:pPr algn="l"/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bool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7030A0"/>
                </a:solidFill>
                <a:latin typeface="Menlo"/>
              </a:rPr>
              <a:t>is_sorted</a:t>
            </a:r>
            <a:r>
              <a:rPr lang="en-US" sz="1600" b="0" dirty="0" smtClean="0">
                <a:solidFill>
                  <a:srgbClr val="7030A0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) {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{ </a:t>
            </a:r>
            <a:r>
              <a:rPr lang="en-US" sz="1600" b="0" dirty="0" smtClean="0">
                <a:solidFill>
                  <a:schemeClr val="accent5">
                    <a:lumMod val="90000"/>
                  </a:schemeClr>
                </a:solidFill>
                <a:latin typeface="Menlo"/>
              </a:rPr>
              <a:t>/* left as exercise */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}</a:t>
            </a:r>
          </a:p>
          <a:p>
            <a:pPr algn="l"/>
            <a:endParaRPr lang="en-US" sz="1600" b="0" dirty="0" smtClean="0">
              <a:latin typeface="Menlo"/>
            </a:endParaRPr>
          </a:p>
          <a:p>
            <a:pPr algn="l"/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bool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7030A0"/>
                </a:solidFill>
                <a:latin typeface="Menlo"/>
              </a:rPr>
              <a:t>is_ssa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) {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if 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(A == NULL) 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false;</a:t>
            </a:r>
          </a:p>
          <a:p>
            <a:pPr algn="l"/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 //@assert A-&gt;length == \length(A-&gt;data);</a:t>
            </a:r>
            <a:endParaRPr lang="en-US" sz="16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return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chemeClr val="tx1"/>
                </a:solidFill>
                <a:latin typeface="Menlo"/>
              </a:rPr>
              <a:t>is_sorted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(A);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6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Implementation of interface functions</a:t>
            </a:r>
          </a:p>
          <a:p>
            <a:pPr algn="l"/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//@requires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is_ssa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</a:t>
            </a: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//@ensures \result &gt;= 0;</a:t>
            </a: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//@ensures \result == \length(A-&gt;data);</a:t>
            </a:r>
            <a:endParaRPr lang="en-US" sz="16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A-&gt;length;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6370269" y="3713532"/>
            <a:ext cx="316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SSA Implementation</a:t>
            </a:r>
            <a:endParaRPr lang="en-US" dirty="0">
              <a:latin typeface="Menlo"/>
            </a:endParaRPr>
          </a:p>
        </p:txBody>
      </p:sp>
      <p:sp>
        <p:nvSpPr>
          <p:cNvPr id="9" name="Vertical Scroll 8"/>
          <p:cNvSpPr/>
          <p:nvPr/>
        </p:nvSpPr>
        <p:spPr bwMode="auto">
          <a:xfrm flipH="1">
            <a:off x="8458200" y="4684335"/>
            <a:ext cx="4445000" cy="4916865"/>
          </a:xfrm>
          <a:prstGeom prst="verticalScroll">
            <a:avLst>
              <a:gd name="adj" fmla="val 5547"/>
            </a:avLst>
          </a:prstGeom>
          <a:solidFill>
            <a:schemeClr val="bg1"/>
          </a:solidFill>
          <a:ln w="9525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6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 *</a:t>
            </a:r>
            <a:r>
              <a:rPr lang="en-US" sz="16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600" b="0" dirty="0" smtClean="0">
                <a:latin typeface="Menlo"/>
              </a:rPr>
              <a:t>)</a:t>
            </a:r>
            <a:endParaRPr lang="en-US" sz="1600" b="0" dirty="0" smtClean="0">
              <a:solidFill>
                <a:srgbClr val="C00000"/>
              </a:solidFill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size;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(\result) == size;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latin typeface="Menlo"/>
              </a:rPr>
              <a:t> 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void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latin typeface="Menlo"/>
              </a:rPr>
              <a:t>,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	@*/</a:t>
            </a:r>
            <a:r>
              <a:rPr lang="en-US" sz="1600" b="0" dirty="0" smtClean="0">
                <a:latin typeface="Menlo"/>
              </a:rPr>
              <a:t> 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779" y="4620009"/>
            <a:ext cx="16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Menlo"/>
              </a:rPr>
              <a:t>SSA Interface</a:t>
            </a:r>
            <a:endParaRPr lang="en-US" sz="1800" dirty="0">
              <a:latin typeface="Menlo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 rot="5400000" flipH="1">
            <a:off x="1026198" y="5497392"/>
            <a:ext cx="6531216" cy="15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292600" y="2262250"/>
            <a:ext cx="3429000" cy="6500750"/>
          </a:xfrm>
          <a:prstGeom prst="rect">
            <a:avLst/>
          </a:prstGeom>
          <a:noFill/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* </a:t>
            </a:r>
            <a:r>
              <a:rPr lang="en-US" sz="1600" b="0" dirty="0" err="1" smtClean="0">
                <a:solidFill>
                  <a:srgbClr val="7030A0"/>
                </a:solidFill>
                <a:latin typeface="Menlo"/>
              </a:rPr>
              <a:t>ssa_new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size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//@requires size &gt;= 0;</a:t>
            </a: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//@ensures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is_ssa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(\result);</a:t>
            </a: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//@ensures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(\result) == size;</a:t>
            </a:r>
            <a:endParaRPr lang="en-US" sz="16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A = </a:t>
            </a:r>
            <a:r>
              <a:rPr lang="en-US" sz="1600" b="0" dirty="0" err="1" smtClean="0">
                <a:solidFill>
                  <a:schemeClr val="tx1"/>
                </a:solidFill>
                <a:latin typeface="Menlo"/>
              </a:rPr>
              <a:t>alloc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);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 A-&gt;data = </a:t>
            </a:r>
            <a:r>
              <a:rPr lang="en-US" sz="1600" b="0" dirty="0" err="1" smtClean="0">
                <a:solidFill>
                  <a:schemeClr val="tx1"/>
                </a:solidFill>
                <a:latin typeface="Menlo"/>
              </a:rPr>
              <a:t>alloc_array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, size);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 A-&gt;length = size;</a:t>
            </a:r>
          </a:p>
          <a:p>
            <a:pPr algn="l"/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A;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600" b="0" dirty="0" smtClean="0">
              <a:solidFill>
                <a:srgbClr val="00B050"/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7030A0"/>
                </a:solidFill>
                <a:latin typeface="Menlo"/>
              </a:rPr>
              <a:t>ssa_get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//@requires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is_ssa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</a:t>
            </a: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16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{</a:t>
            </a: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 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A-&gt;data[</a:t>
            </a:r>
            <a:r>
              <a:rPr lang="en-US" sz="1600" b="0" dirty="0" err="1" smtClean="0">
                <a:solidFill>
                  <a:schemeClr val="tx1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];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}</a:t>
            </a:r>
            <a:endParaRPr lang="en-US" sz="1400" b="0" dirty="0" smtClean="0">
              <a:latin typeface="Menlo"/>
            </a:endParaRPr>
          </a:p>
          <a:p>
            <a:pPr algn="l"/>
            <a:endParaRPr lang="en-US" sz="16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void </a:t>
            </a:r>
            <a:r>
              <a:rPr lang="en-US" sz="1600" b="0" dirty="0" err="1" smtClean="0">
                <a:solidFill>
                  <a:srgbClr val="7030A0"/>
                </a:solidFill>
                <a:latin typeface="Menlo"/>
              </a:rPr>
              <a:t>ssa_set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,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FFC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, 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string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x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)</a:t>
            </a: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//@requires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is_ssa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</a:t>
            </a:r>
          </a:p>
          <a:p>
            <a:pPr algn="l"/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//@requires 0 &lt;=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&amp;&amp;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 &lt;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1600" b="0" dirty="0" smtClean="0">
              <a:solidFill>
                <a:schemeClr val="tx1"/>
              </a:solidFill>
              <a:latin typeface="Menlo"/>
            </a:endParaRPr>
          </a:p>
          <a:p>
            <a:pPr algn="l">
              <a:tabLst>
                <a:tab pos="39433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//@ensures </a:t>
            </a:r>
            <a:r>
              <a:rPr lang="en-US" sz="1600" b="0" dirty="0" err="1" smtClean="0">
                <a:solidFill>
                  <a:srgbClr val="C00000"/>
                </a:solidFill>
                <a:latin typeface="Menlo"/>
              </a:rPr>
              <a:t>is_ssa</a:t>
            </a: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(A);</a:t>
            </a:r>
            <a:endParaRPr lang="en-US" sz="16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{ </a:t>
            </a:r>
            <a:r>
              <a:rPr lang="en-US" sz="1600" b="0" dirty="0" smtClean="0">
                <a:solidFill>
                  <a:schemeClr val="accent5">
                    <a:lumMod val="90000"/>
                  </a:schemeClr>
                </a:solidFill>
                <a:latin typeface="Menlo"/>
              </a:rPr>
              <a:t>/* left as exercise */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}</a:t>
            </a:r>
          </a:p>
          <a:p>
            <a:pPr algn="l"/>
            <a:endParaRPr lang="en-US" sz="1600" b="0" dirty="0" smtClean="0">
              <a:latin typeface="Menlo"/>
            </a:endParaRPr>
          </a:p>
          <a:p>
            <a:pPr algn="l"/>
            <a:r>
              <a:rPr lang="fr-FR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Client type</a:t>
            </a:r>
          </a:p>
          <a:p>
            <a:pPr algn="l"/>
            <a:r>
              <a:rPr lang="fr-FR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fr-FR" sz="1600" b="0" dirty="0" smtClean="0">
                <a:latin typeface="Menlo"/>
              </a:rPr>
              <a:t> </a:t>
            </a:r>
            <a:r>
              <a:rPr lang="fr-FR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fr-FR" sz="1600" b="0" dirty="0" smtClean="0">
                <a:solidFill>
                  <a:srgbClr val="00B050"/>
                </a:solidFill>
                <a:latin typeface="Menlo"/>
              </a:rPr>
              <a:t>* </a:t>
            </a:r>
            <a:r>
              <a:rPr lang="fr-FR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fr-FR" sz="1600" b="0" dirty="0" smtClean="0">
                <a:latin typeface="Menlo"/>
              </a:rPr>
              <a:t>;</a:t>
            </a:r>
          </a:p>
          <a:p>
            <a:pPr algn="l"/>
            <a:endParaRPr lang="en-US" sz="1600" b="0" dirty="0" smtClean="0">
              <a:solidFill>
                <a:schemeClr val="accent5">
                  <a:lumMod val="75000"/>
                </a:schemeClr>
              </a:solidFill>
              <a:latin typeface="Menlo"/>
            </a:endParaRPr>
          </a:p>
        </p:txBody>
      </p:sp>
      <p:sp>
        <p:nvSpPr>
          <p:cNvPr id="11" name="Right Arrow Callout 10"/>
          <p:cNvSpPr/>
          <p:nvPr/>
        </p:nvSpPr>
        <p:spPr bwMode="auto">
          <a:xfrm rot="16200000">
            <a:off x="839725" y="8819641"/>
            <a:ext cx="729234" cy="833883"/>
          </a:xfrm>
          <a:prstGeom prst="rightArrowCallout">
            <a:avLst/>
          </a:prstGeom>
          <a:solidFill>
            <a:srgbClr val="FF000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vert" wrap="none" lIns="54864" tIns="91440" rIns="50800" bIns="9144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How</a:t>
            </a:r>
          </a:p>
        </p:txBody>
      </p:sp>
      <p:sp>
        <p:nvSpPr>
          <p:cNvPr id="13" name="Right Arrow Callout 12"/>
          <p:cNvSpPr/>
          <p:nvPr/>
        </p:nvSpPr>
        <p:spPr bwMode="auto">
          <a:xfrm>
            <a:off x="7397044" y="9121069"/>
            <a:ext cx="1238956" cy="480131"/>
          </a:xfrm>
          <a:prstGeom prst="rightArrowCallout">
            <a:avLst>
              <a:gd name="adj1" fmla="val 29947"/>
              <a:gd name="adj2" fmla="val 32420"/>
              <a:gd name="adj3" fmla="val 32420"/>
              <a:gd name="adj4" fmla="val 81586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91440" tIns="54864" rIns="91440" bIns="54864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What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a C0 Library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6600" y="1981200"/>
            <a:ext cx="6477000" cy="6896100"/>
          </a:xfrm>
        </p:spPr>
        <p:txBody>
          <a:bodyPr/>
          <a:lstStyle/>
          <a:p>
            <a:r>
              <a:rPr lang="en-US" dirty="0" smtClean="0"/>
              <a:t>Implementation</a:t>
            </a:r>
          </a:p>
          <a:p>
            <a:pPr lvl="1"/>
            <a:r>
              <a:rPr lang="en-US" dirty="0" smtClean="0"/>
              <a:t>Concrete type definition</a:t>
            </a:r>
          </a:p>
          <a:p>
            <a:pPr lvl="1"/>
            <a:r>
              <a:rPr lang="en-US" dirty="0" smtClean="0"/>
              <a:t>Representation invariant function</a:t>
            </a:r>
          </a:p>
          <a:p>
            <a:pPr lvl="1"/>
            <a:r>
              <a:rPr lang="en-US" dirty="0" smtClean="0"/>
              <a:t>Implementation of interface functions</a:t>
            </a:r>
          </a:p>
          <a:p>
            <a:pPr lvl="1"/>
            <a:r>
              <a:rPr lang="en-US" dirty="0" smtClean="0"/>
              <a:t>Client type definition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Interface</a:t>
            </a:r>
          </a:p>
          <a:p>
            <a:pPr lvl="1"/>
            <a:r>
              <a:rPr lang="en-US" dirty="0" smtClean="0"/>
              <a:t>Abstract type name</a:t>
            </a:r>
          </a:p>
          <a:p>
            <a:pPr lvl="2"/>
            <a:r>
              <a:rPr lang="en-US" dirty="0" smtClean="0"/>
              <a:t>Pseudo-</a:t>
            </a:r>
            <a:r>
              <a:rPr lang="en-US" kern="1200" dirty="0" err="1" smtClean="0">
                <a:solidFill>
                  <a:srgbClr val="D03BFF"/>
                </a:solidFill>
                <a:ea typeface="Menlo" charset="0"/>
                <a:cs typeface="Menlo" charset="0"/>
                <a:sym typeface="Menlo" charset="0"/>
              </a:rPr>
              <a:t>typedef</a:t>
            </a:r>
            <a:endParaRPr lang="en-US" kern="1200" dirty="0" smtClean="0">
              <a:solidFill>
                <a:srgbClr val="D03BFF"/>
              </a:solidFill>
              <a:ea typeface="Menlo" charset="0"/>
              <a:cs typeface="Menlo" charset="0"/>
              <a:sym typeface="Menlo" charset="0"/>
            </a:endParaRPr>
          </a:p>
          <a:p>
            <a:pPr lvl="1"/>
            <a:r>
              <a:rPr lang="en-US" dirty="0" smtClean="0"/>
              <a:t>Prototype of exported functions 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30200" y="1905000"/>
            <a:ext cx="4267200" cy="7467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91440" tIns="91440" rIns="50800" bIns="508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/************ IMPLEMENTATION ************/</a:t>
            </a:r>
          </a:p>
          <a:p>
            <a:pPr algn="l"/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Implementation-side type</a:t>
            </a:r>
            <a:endParaRPr lang="en-US" sz="1600" dirty="0" smtClean="0">
              <a:solidFill>
                <a:srgbClr val="D03BFF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latin typeface="Menlo"/>
              </a:rPr>
              <a:t> {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 …</a:t>
            </a:r>
          </a:p>
          <a:p>
            <a:pPr algn="l"/>
            <a:r>
              <a:rPr lang="en-US" sz="1600" b="0" dirty="0" smtClean="0">
                <a:latin typeface="Menlo"/>
              </a:rPr>
              <a:t>};</a:t>
            </a:r>
          </a:p>
          <a:p>
            <a:pPr algn="l"/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struct</a:t>
            </a:r>
            <a:r>
              <a:rPr lang="en-US" sz="16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ssa_header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latin typeface="Menlo"/>
              </a:rPr>
              <a:t>;</a:t>
            </a:r>
          </a:p>
          <a:p>
            <a:pPr algn="l"/>
            <a:endParaRPr lang="en-US" sz="1600" b="0" dirty="0" smtClean="0">
              <a:latin typeface="Menlo"/>
            </a:endParaRPr>
          </a:p>
          <a:p>
            <a:pPr algn="l"/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Representation invariant</a:t>
            </a:r>
            <a:endParaRPr lang="en-US" sz="1600" b="0" dirty="0" smtClean="0">
              <a:latin typeface="Menlo"/>
            </a:endParaRPr>
          </a:p>
          <a:p>
            <a:pPr algn="l"/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bool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7030A0"/>
                </a:solidFill>
                <a:latin typeface="Menlo"/>
              </a:rPr>
              <a:t>is_ssa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) {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 …</a:t>
            </a: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/>
            <a:endParaRPr lang="en-US" sz="16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Implementation of interface functions</a:t>
            </a:r>
          </a:p>
          <a:p>
            <a:pPr algn="l"/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 </a:t>
            </a:r>
            <a:r>
              <a:rPr lang="en-US" sz="1600" b="0" dirty="0" err="1" smtClean="0">
                <a:solidFill>
                  <a:srgbClr val="7030A0"/>
                </a:solidFill>
                <a:latin typeface="Menlo"/>
              </a:rPr>
              <a:t>ssa_len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en-US" sz="1600" b="0" dirty="0" smtClean="0">
                <a:solidFill>
                  <a:srgbClr val="00B050"/>
                </a:solidFill>
                <a:latin typeface="Menlo"/>
              </a:rPr>
              <a:t>*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) { … }</a:t>
            </a:r>
          </a:p>
          <a:p>
            <a:pPr algn="l"/>
            <a:endParaRPr lang="en-US" sz="16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tx1"/>
                </a:solidFill>
                <a:latin typeface="Menlo"/>
              </a:rPr>
              <a:t>…</a:t>
            </a:r>
          </a:p>
          <a:p>
            <a:pPr algn="l"/>
            <a:endParaRPr lang="en-US" sz="1600" b="0" dirty="0" smtClean="0">
              <a:latin typeface="Menlo"/>
            </a:endParaRPr>
          </a:p>
          <a:p>
            <a:pPr algn="l"/>
            <a:r>
              <a:rPr lang="fr-FR" sz="160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// Client type</a:t>
            </a:r>
          </a:p>
          <a:p>
            <a:pPr algn="l"/>
            <a:r>
              <a:rPr lang="fr-FR" sz="1600" b="0" dirty="0" err="1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fr-FR" sz="1600" b="0" dirty="0" smtClean="0">
                <a:latin typeface="Menlo"/>
              </a:rPr>
              <a:t> </a:t>
            </a:r>
            <a:r>
              <a:rPr lang="fr-FR" sz="1600" b="0" dirty="0" err="1" smtClean="0">
                <a:solidFill>
                  <a:srgbClr val="00B050"/>
                </a:solidFill>
                <a:latin typeface="Menlo"/>
              </a:rPr>
              <a:t>ssa</a:t>
            </a:r>
            <a:r>
              <a:rPr lang="fr-FR" sz="1600" b="0" dirty="0" smtClean="0">
                <a:solidFill>
                  <a:srgbClr val="00B050"/>
                </a:solidFill>
                <a:latin typeface="Menlo"/>
              </a:rPr>
              <a:t>* </a:t>
            </a:r>
            <a:r>
              <a:rPr lang="fr-FR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fr-FR" sz="1600" b="0" dirty="0" smtClean="0">
                <a:latin typeface="Menlo"/>
              </a:rPr>
              <a:t>;</a:t>
            </a:r>
          </a:p>
          <a:p>
            <a:pPr algn="l"/>
            <a:endParaRPr lang="en-US" sz="16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endParaRPr lang="en-US" sz="1600" b="0" dirty="0" smtClean="0">
              <a:solidFill>
                <a:schemeClr val="tx1"/>
              </a:solidFill>
              <a:latin typeface="Menlo"/>
            </a:endParaRPr>
          </a:p>
          <a:p>
            <a:pPr algn="l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rPr>
              <a:t>/*********** LIBRARY INTERFACE ***********/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 </a:t>
            </a:r>
            <a:r>
              <a:rPr lang="en-US" sz="16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typedef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______ *</a:t>
            </a:r>
            <a:r>
              <a:rPr lang="en-US" sz="1600" b="0" dirty="0" err="1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int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600" b="0" dirty="0" smtClean="0">
                <a:latin typeface="Menlo"/>
              </a:rPr>
              <a:t>(</a:t>
            </a:r>
            <a:r>
              <a:rPr lang="en-US" sz="1600" b="0" dirty="0" err="1" smtClean="0">
                <a:solidFill>
                  <a:srgbClr val="00B050"/>
                </a:solidFill>
                <a:latin typeface="Menlo"/>
              </a:rPr>
              <a:t>ssa_t</a:t>
            </a:r>
            <a:r>
              <a:rPr lang="en-US" sz="1600" b="0" dirty="0" smtClean="0">
                <a:latin typeface="Menlo"/>
              </a:rPr>
              <a:t> </a:t>
            </a:r>
            <a:r>
              <a:rPr lang="en-US" sz="1600" b="0" dirty="0" smtClean="0">
                <a:solidFill>
                  <a:srgbClr val="FFC000"/>
                </a:solidFill>
                <a:latin typeface="Menlo"/>
              </a:rPr>
              <a:t>A</a:t>
            </a:r>
            <a:r>
              <a:rPr lang="en-US" sz="1600" b="0" dirty="0" smtClean="0">
                <a:latin typeface="Menlo"/>
              </a:rPr>
              <a:t>)</a:t>
            </a: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/*@requires A != NULL;	@*/</a:t>
            </a: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solidFill>
                  <a:srgbClr val="C00000"/>
                </a:solidFill>
                <a:latin typeface="Menlo"/>
              </a:rPr>
              <a:t>/*@ensures \result &gt;= 0;	@*/</a:t>
            </a:r>
            <a:r>
              <a:rPr lang="en-US" sz="1600" b="0" dirty="0" smtClean="0">
                <a:latin typeface="Menlo"/>
              </a:rPr>
              <a:t> ;</a:t>
            </a:r>
          </a:p>
          <a:p>
            <a:pPr algn="l">
              <a:tabLst>
                <a:tab pos="3371850" algn="l"/>
              </a:tabLst>
            </a:pPr>
            <a:endParaRPr lang="en-US" sz="1600" b="0" dirty="0" smtClean="0">
              <a:latin typeface="Menlo"/>
            </a:endParaRPr>
          </a:p>
          <a:p>
            <a:pPr algn="l">
              <a:tabLst>
                <a:tab pos="3371850" algn="l"/>
              </a:tabLst>
            </a:pPr>
            <a:r>
              <a:rPr lang="en-US" sz="1600" b="0" dirty="0" smtClean="0">
                <a:latin typeface="Menlo"/>
              </a:rPr>
              <a:t>…</a:t>
            </a:r>
          </a:p>
          <a:p>
            <a:pPr algn="l"/>
            <a:endParaRPr lang="en-US" sz="1600" b="0" dirty="0" smtClean="0">
              <a:solidFill>
                <a:schemeClr val="tx1"/>
              </a:solidFill>
              <a:latin typeface="Menlo"/>
            </a:endParaRPr>
          </a:p>
        </p:txBody>
      </p:sp>
      <p:sp>
        <p:nvSpPr>
          <p:cNvPr id="5" name="Right Brace 4"/>
          <p:cNvSpPr/>
          <p:nvPr/>
        </p:nvSpPr>
        <p:spPr bwMode="auto">
          <a:xfrm>
            <a:off x="4749800" y="1905000"/>
            <a:ext cx="304800" cy="5029200"/>
          </a:xfrm>
          <a:prstGeom prst="rightBrace">
            <a:avLst>
              <a:gd name="adj1" fmla="val 21320"/>
              <a:gd name="adj2" fmla="val 50000"/>
            </a:avLst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rot="5400000">
            <a:off x="4132771" y="4179105"/>
            <a:ext cx="2457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Implementation</a:t>
            </a:r>
            <a:endParaRPr lang="en-US" dirty="0">
              <a:latin typeface="Menlo"/>
            </a:endParaRPr>
          </a:p>
        </p:txBody>
      </p:sp>
      <p:sp>
        <p:nvSpPr>
          <p:cNvPr id="7" name="Right Brace 6"/>
          <p:cNvSpPr/>
          <p:nvPr/>
        </p:nvSpPr>
        <p:spPr bwMode="auto">
          <a:xfrm>
            <a:off x="4749800" y="7162800"/>
            <a:ext cx="304800" cy="2133600"/>
          </a:xfrm>
          <a:prstGeom prst="rightBrace">
            <a:avLst>
              <a:gd name="adj1" fmla="val 21320"/>
              <a:gd name="adj2" fmla="val 50000"/>
            </a:avLst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4627297" y="7994854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Menlo"/>
              </a:rPr>
              <a:t>Interface</a:t>
            </a:r>
            <a:endParaRPr lang="en-US" dirty="0">
              <a:latin typeface="Menlo"/>
            </a:endParaRPr>
          </a:p>
        </p:txBody>
      </p:sp>
      <p:sp>
        <p:nvSpPr>
          <p:cNvPr id="9" name="Rectangular Callout 8"/>
          <p:cNvSpPr/>
          <p:nvPr/>
        </p:nvSpPr>
        <p:spPr bwMode="auto">
          <a:xfrm>
            <a:off x="6426200" y="8972490"/>
            <a:ext cx="2182713" cy="400110"/>
          </a:xfrm>
          <a:prstGeom prst="wedgeRectCallout">
            <a:avLst>
              <a:gd name="adj1" fmla="val -20257"/>
              <a:gd name="adj2" fmla="val -14394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We will revisit this</a:t>
            </a:r>
            <a:endParaRPr lang="en-US" sz="2000" b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Compiling a Library in a C0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Library file contains both implementation and interface</a:t>
            </a:r>
          </a:p>
          <a:p>
            <a:r>
              <a:rPr lang="en-US" dirty="0" smtClean="0"/>
              <a:t>When compiling,</a:t>
            </a:r>
            <a:br>
              <a:rPr lang="en-US" dirty="0" smtClean="0"/>
            </a:br>
            <a:r>
              <a:rPr lang="en-US" dirty="0" smtClean="0"/>
              <a:t>library file comes </a:t>
            </a:r>
            <a:r>
              <a:rPr lang="en-US" b="1" dirty="0" smtClean="0"/>
              <a:t>before</a:t>
            </a:r>
            <a:r>
              <a:rPr lang="en-US" dirty="0" smtClean="0"/>
              <a:t> application file</a:t>
            </a:r>
          </a:p>
          <a:p>
            <a:pPr lvl="1"/>
            <a:r>
              <a:rPr lang="en-US" dirty="0" smtClean="0"/>
              <a:t>Application uses library interface types and functions</a:t>
            </a:r>
          </a:p>
          <a:p>
            <a:pPr lvl="1"/>
            <a:r>
              <a:rPr lang="en-US" dirty="0" smtClean="0"/>
              <a:t>They need to be defined first</a:t>
            </a:r>
          </a:p>
          <a:p>
            <a:pPr lvl="2"/>
            <a:r>
              <a:rPr lang="en-US" dirty="0" smtClean="0"/>
              <a:t>this happens in the library</a:t>
            </a:r>
            <a:endParaRPr lang="en-US" dirty="0"/>
          </a:p>
        </p:txBody>
      </p:sp>
      <p:sp>
        <p:nvSpPr>
          <p:cNvPr id="15" name="Rectangle 4"/>
          <p:cNvSpPr>
            <a:spLocks/>
          </p:cNvSpPr>
          <p:nvPr/>
        </p:nvSpPr>
        <p:spPr bwMode="auto">
          <a:xfrm>
            <a:off x="1397000" y="7273894"/>
            <a:ext cx="5505938" cy="923330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#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cc0 -d ssa.c0 main.c0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b="0" dirty="0" smtClean="0">
              <a:solidFill>
                <a:schemeClr val="bg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397000" y="6969094"/>
            <a:ext cx="5505938" cy="30480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 smtClean="0"/>
              <a:t>Linux Terminal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7" name="Bent Arrow 16"/>
          <p:cNvSpPr/>
          <p:nvPr/>
        </p:nvSpPr>
        <p:spPr bwMode="auto">
          <a:xfrm rot="5400000" flipH="1" flipV="1">
            <a:off x="5327708" y="5933985"/>
            <a:ext cx="1434983" cy="5181598"/>
          </a:xfrm>
          <a:prstGeom prst="bentArrow">
            <a:avLst>
              <a:gd name="adj1" fmla="val 52180"/>
              <a:gd name="adj2" fmla="val 41535"/>
              <a:gd name="adj3" fmla="val 38250"/>
              <a:gd name="adj4" fmla="val 4375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40400" y="8487201"/>
            <a:ext cx="15808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Application</a:t>
            </a:r>
            <a:endParaRPr lang="en-US" sz="2000" b="0" dirty="0" smtClean="0"/>
          </a:p>
          <a:p>
            <a:r>
              <a:rPr lang="en-US" sz="2000" b="0" dirty="0" smtClean="0"/>
              <a:t>file main.c0</a:t>
            </a:r>
          </a:p>
        </p:txBody>
      </p:sp>
      <p:sp>
        <p:nvSpPr>
          <p:cNvPr id="19" name="Bent Arrow 18"/>
          <p:cNvSpPr/>
          <p:nvPr/>
        </p:nvSpPr>
        <p:spPr bwMode="auto">
          <a:xfrm rot="16200000" flipH="1">
            <a:off x="4559299" y="3231878"/>
            <a:ext cx="1905001" cy="6400800"/>
          </a:xfrm>
          <a:prstGeom prst="bentArrow">
            <a:avLst>
              <a:gd name="adj1" fmla="val 38554"/>
              <a:gd name="adj2" fmla="val 34322"/>
              <a:gd name="adj3" fmla="val 34137"/>
              <a:gd name="adj4" fmla="val 3535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6066" y="5495288"/>
            <a:ext cx="13949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Library</a:t>
            </a:r>
            <a:br>
              <a:rPr lang="en-US" sz="2000" dirty="0" smtClean="0"/>
            </a:br>
            <a:r>
              <a:rPr lang="en-US" sz="2000" b="0" dirty="0" smtClean="0"/>
              <a:t> file ssa.c0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559800" y="4191000"/>
            <a:ext cx="4046846" cy="3527276"/>
            <a:chOff x="330200" y="1905000"/>
            <a:chExt cx="7869103" cy="6858794"/>
          </a:xfrm>
        </p:grpSpPr>
        <p:sp>
          <p:nvSpPr>
            <p:cNvPr id="4" name="Cube 3"/>
            <p:cNvSpPr/>
            <p:nvPr/>
          </p:nvSpPr>
          <p:spPr bwMode="auto">
            <a:xfrm>
              <a:off x="330200" y="1905000"/>
              <a:ext cx="7772400" cy="6858000"/>
            </a:xfrm>
            <a:prstGeom prst="cube">
              <a:avLst>
                <a:gd name="adj" fmla="val 4765"/>
              </a:avLst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none" lIns="91440" tIns="91440" rIns="50800" bIns="50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// Implementation-side type</a:t>
              </a:r>
              <a:endParaRPr lang="en-US" sz="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endParaRPr>
            </a:p>
            <a:p>
              <a:pPr algn="l"/>
              <a:r>
                <a:rPr lang="en-US" sz="800" b="0" dirty="0" err="1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struct</a:t>
              </a:r>
              <a:r>
                <a:rPr lang="en-US" sz="800" b="0" dirty="0" smtClean="0"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ssa_header</a:t>
              </a:r>
              <a:r>
                <a:rPr lang="en-US" sz="800" b="0" dirty="0" smtClean="0">
                  <a:latin typeface="Menlo"/>
                </a:rPr>
                <a:t> {</a:t>
              </a:r>
            </a:p>
            <a:p>
              <a:pPr algn="l"/>
              <a:r>
                <a:rPr lang="en-US" sz="800" b="0" dirty="0" smtClean="0">
                  <a:latin typeface="Menlo"/>
                </a:rPr>
                <a:t>  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string[]</a:t>
              </a:r>
              <a:r>
                <a:rPr lang="en-US" sz="800" b="0" dirty="0" smtClean="0">
                  <a:latin typeface="Menlo"/>
                </a:rPr>
                <a:t> data;  </a:t>
              </a:r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// sorted</a:t>
              </a:r>
            </a:p>
            <a:p>
              <a:pPr algn="l"/>
              <a:r>
                <a:rPr lang="en-US" sz="800" b="0" dirty="0" smtClean="0">
                  <a:latin typeface="Menlo"/>
                </a:rPr>
                <a:t>  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int</a:t>
              </a:r>
              <a:r>
                <a:rPr lang="en-US" sz="800" b="0" dirty="0" smtClean="0">
                  <a:latin typeface="Menlo"/>
                </a:rPr>
                <a:t> length;      </a:t>
              </a:r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// = \length(data)</a:t>
              </a:r>
            </a:p>
            <a:p>
              <a:pPr algn="l"/>
              <a:r>
                <a:rPr lang="en-US" sz="800" b="0" dirty="0" smtClean="0">
                  <a:latin typeface="Menlo"/>
                </a:rPr>
                <a:t>};</a:t>
              </a:r>
            </a:p>
            <a:p>
              <a:pPr algn="l"/>
              <a:r>
                <a:rPr lang="en-US" sz="800" b="0" dirty="0" err="1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typedef</a:t>
              </a:r>
              <a:r>
                <a:rPr lang="en-US" sz="800" b="0" dirty="0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 </a:t>
              </a:r>
              <a:r>
                <a:rPr lang="en-US" sz="800" b="0" dirty="0" err="1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struct</a:t>
              </a:r>
              <a:r>
                <a:rPr lang="en-US" sz="800" b="0" dirty="0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 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ssa_header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</a:t>
              </a:r>
              <a:r>
                <a:rPr lang="en-US" sz="800" b="0" dirty="0" smtClean="0">
                  <a:latin typeface="Menlo"/>
                </a:rPr>
                <a:t>;</a:t>
              </a:r>
            </a:p>
            <a:p>
              <a:pPr algn="l"/>
              <a:endParaRPr lang="en-US" sz="800" b="0" dirty="0" smtClean="0">
                <a:latin typeface="Menlo"/>
              </a:endParaRPr>
            </a:p>
            <a:p>
              <a:pPr algn="l"/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// Representation invariant</a:t>
              </a:r>
            </a:p>
            <a:p>
              <a:pPr algn="l"/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bool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7030A0"/>
                  </a:solidFill>
                  <a:latin typeface="Menlo"/>
                </a:rPr>
                <a:t>is_sorted</a:t>
              </a:r>
              <a:r>
                <a:rPr lang="en-US" sz="800" b="0" dirty="0" smtClean="0">
                  <a:solidFill>
                    <a:srgbClr val="7030A0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*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A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) {</a:t>
              </a: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{ </a:t>
              </a:r>
              <a:r>
                <a:rPr lang="en-US" sz="800" b="0" dirty="0" smtClean="0">
                  <a:solidFill>
                    <a:schemeClr val="accent5">
                      <a:lumMod val="90000"/>
                    </a:schemeClr>
                  </a:solidFill>
                  <a:latin typeface="Menlo"/>
                </a:rPr>
                <a:t>/* left as exercise */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}</a:t>
              </a:r>
            </a:p>
            <a:p>
              <a:pPr algn="l"/>
              <a:endParaRPr lang="en-US" sz="800" b="0" dirty="0" smtClean="0">
                <a:latin typeface="Menlo"/>
              </a:endParaRPr>
            </a:p>
            <a:p>
              <a:pPr algn="l"/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bool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7030A0"/>
                  </a:solidFill>
                  <a:latin typeface="Menlo"/>
                </a:rPr>
                <a:t>is_ssa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*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A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) {</a:t>
              </a: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 if 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(A == NULL) </a:t>
              </a:r>
              <a:r>
                <a:rPr lang="en-US" sz="800" b="0" dirty="0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return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false;</a:t>
              </a:r>
            </a:p>
            <a:p>
              <a:pPr algn="l"/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  //@assert A-&gt;length == \length(A-&gt;data);</a:t>
              </a:r>
              <a:endParaRPr lang="en-US" sz="800" b="0" dirty="0" smtClean="0">
                <a:solidFill>
                  <a:schemeClr val="tx1"/>
                </a:solidFill>
                <a:latin typeface="Menlo"/>
              </a:endParaRPr>
            </a:p>
            <a:p>
              <a:pPr algn="l"/>
              <a:r>
                <a:rPr lang="en-US" sz="800" b="0" dirty="0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  return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chemeClr val="tx1"/>
                  </a:solidFill>
                  <a:latin typeface="Menlo"/>
                </a:rPr>
                <a:t>is_sorted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(A);</a:t>
              </a: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}</a:t>
              </a:r>
            </a:p>
            <a:p>
              <a:pPr algn="l"/>
              <a:endParaRPr lang="en-US" sz="800" b="0" dirty="0" smtClean="0">
                <a:solidFill>
                  <a:schemeClr val="tx1"/>
                </a:solidFill>
                <a:latin typeface="Menlo"/>
              </a:endParaRPr>
            </a:p>
            <a:p>
              <a:pPr algn="l"/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// Implementation of interface functions</a:t>
              </a:r>
            </a:p>
            <a:p>
              <a:pPr algn="l"/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int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7030A0"/>
                  </a:solidFill>
                  <a:latin typeface="Menlo"/>
                </a:rPr>
                <a:t>ssa_len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*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A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)</a:t>
              </a:r>
            </a:p>
            <a:p>
              <a:pPr algn="l">
                <a:tabLst>
                  <a:tab pos="3943350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//@requires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is_ssa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(A);</a:t>
              </a:r>
            </a:p>
            <a:p>
              <a:pPr algn="l">
                <a:tabLst>
                  <a:tab pos="3943350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//@ensures \result &gt;= 0;</a:t>
              </a:r>
            </a:p>
            <a:p>
              <a:pPr algn="l">
                <a:tabLst>
                  <a:tab pos="3943350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//@ensures \result == \length(A-&gt;data);</a:t>
              </a:r>
              <a:endParaRPr lang="en-US" sz="8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endParaRP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{</a:t>
              </a:r>
            </a:p>
            <a:p>
              <a:pPr algn="l"/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  </a:t>
              </a:r>
              <a:r>
                <a:rPr lang="en-US" sz="800" b="0" dirty="0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return</a:t>
              </a:r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A-&gt;length;</a:t>
              </a: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}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 rot="5400000">
              <a:off x="6501138" y="3697494"/>
              <a:ext cx="2902589" cy="493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 smtClean="0">
                  <a:latin typeface="Menlo"/>
                </a:rPr>
                <a:t>SSA Implementation</a:t>
              </a:r>
              <a:endParaRPr lang="en-US" sz="1050" dirty="0">
                <a:latin typeface="Menlo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 bwMode="auto">
            <a:xfrm rot="5400000" flipH="1">
              <a:off x="1026198" y="5497392"/>
              <a:ext cx="6531216" cy="15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4292600" y="2262250"/>
              <a:ext cx="3429000" cy="65007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none" lIns="91440" tIns="91440" rIns="50800" bIns="50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* </a:t>
              </a:r>
              <a:r>
                <a:rPr lang="en-US" sz="800" b="0" dirty="0" err="1" smtClean="0">
                  <a:solidFill>
                    <a:srgbClr val="7030A0"/>
                  </a:solidFill>
                  <a:latin typeface="Menlo"/>
                </a:rPr>
                <a:t>ssa_new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int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size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)</a:t>
              </a:r>
            </a:p>
            <a:p>
              <a:pPr algn="l">
                <a:tabLst>
                  <a:tab pos="3943350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//@requires size &gt;= 0;</a:t>
              </a:r>
            </a:p>
            <a:p>
              <a:pPr algn="l">
                <a:tabLst>
                  <a:tab pos="3943350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//@ensures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is_ssa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(\result);</a:t>
              </a:r>
            </a:p>
            <a:p>
              <a:pPr algn="l">
                <a:tabLst>
                  <a:tab pos="3943350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//@ensures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ssa_len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(\result) == size;</a:t>
              </a:r>
              <a:endParaRPr lang="en-US" sz="8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endParaRP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{</a:t>
              </a: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 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*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A = </a:t>
              </a:r>
              <a:r>
                <a:rPr lang="en-US" sz="800" b="0" dirty="0" err="1" smtClean="0">
                  <a:solidFill>
                    <a:schemeClr val="tx1"/>
                  </a:solidFill>
                  <a:latin typeface="Menlo"/>
                </a:rPr>
                <a:t>alloc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);</a:t>
              </a: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 A-&gt;data = </a:t>
              </a:r>
              <a:r>
                <a:rPr lang="en-US" sz="800" b="0" dirty="0" err="1" smtClean="0">
                  <a:solidFill>
                    <a:schemeClr val="tx1"/>
                  </a:solidFill>
                  <a:latin typeface="Menlo"/>
                </a:rPr>
                <a:t>alloc_array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(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string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, size);</a:t>
              </a: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 A-&gt;length = size;</a:t>
              </a:r>
            </a:p>
            <a:p>
              <a:pPr algn="l"/>
              <a:r>
                <a:rPr lang="en-US" sz="800" b="0" dirty="0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return</a:t>
              </a:r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A;</a:t>
              </a: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}</a:t>
              </a:r>
            </a:p>
            <a:p>
              <a:pPr algn="l"/>
              <a:endParaRPr lang="en-US" sz="800" b="0" dirty="0" smtClean="0">
                <a:solidFill>
                  <a:srgbClr val="00B050"/>
                </a:solidFill>
                <a:latin typeface="Menlo"/>
              </a:endParaRPr>
            </a:p>
            <a:p>
              <a:pPr algn="l"/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string</a:t>
              </a:r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7030A0"/>
                  </a:solidFill>
                  <a:latin typeface="Menlo"/>
                </a:rPr>
                <a:t>ssa_get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*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A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, 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int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FFC000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)</a:t>
              </a:r>
            </a:p>
            <a:p>
              <a:pPr algn="l">
                <a:tabLst>
                  <a:tab pos="3943350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//@requires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is_ssa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(A);</a:t>
              </a:r>
            </a:p>
            <a:p>
              <a:pPr algn="l">
                <a:tabLst>
                  <a:tab pos="3943350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//@requires 0 &lt;=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 &amp;&amp;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 &lt;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ssa_len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(A);</a:t>
              </a:r>
              <a:endParaRPr lang="en-US" sz="8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endParaRP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{</a:t>
              </a:r>
            </a:p>
            <a:p>
              <a:pPr algn="l"/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  </a:t>
              </a:r>
              <a:r>
                <a:rPr lang="en-US" sz="800" b="0" dirty="0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return</a:t>
              </a:r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A-&gt;data[</a:t>
              </a:r>
              <a:r>
                <a:rPr lang="en-US" sz="800" b="0" dirty="0" err="1" smtClean="0">
                  <a:solidFill>
                    <a:schemeClr val="tx1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];</a:t>
              </a: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}</a:t>
              </a:r>
              <a:endParaRPr lang="en-US" sz="700" b="0" dirty="0" smtClean="0">
                <a:latin typeface="Menlo"/>
              </a:endParaRPr>
            </a:p>
            <a:p>
              <a:pPr algn="l"/>
              <a:endParaRPr lang="en-US" sz="8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endParaRPr>
            </a:p>
            <a:p>
              <a:pPr algn="l"/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void </a:t>
              </a:r>
              <a:r>
                <a:rPr lang="en-US" sz="800" b="0" dirty="0" err="1" smtClean="0">
                  <a:solidFill>
                    <a:srgbClr val="7030A0"/>
                  </a:solidFill>
                  <a:latin typeface="Menlo"/>
                </a:rPr>
                <a:t>ssa_set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*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A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, 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int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FFC000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, 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string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x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)</a:t>
              </a:r>
            </a:p>
            <a:p>
              <a:pPr algn="l">
                <a:tabLst>
                  <a:tab pos="3943350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//@requires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is_ssa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(A);</a:t>
              </a:r>
            </a:p>
            <a:p>
              <a:pPr algn="l"/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//@requires 0 &lt;=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 &amp;&amp;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 &lt;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ssa_len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(A);</a:t>
              </a:r>
              <a:endParaRPr lang="en-US" sz="800" b="0" dirty="0" smtClean="0">
                <a:solidFill>
                  <a:schemeClr val="tx1"/>
                </a:solidFill>
                <a:latin typeface="Menlo"/>
              </a:endParaRPr>
            </a:p>
            <a:p>
              <a:pPr algn="l">
                <a:tabLst>
                  <a:tab pos="3943350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//@ensures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is_ssa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(A);</a:t>
              </a:r>
              <a:endParaRPr lang="en-US" sz="8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endParaRPr>
            </a:p>
            <a:p>
              <a:pPr algn="l"/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{ </a:t>
              </a:r>
              <a:r>
                <a:rPr lang="en-US" sz="800" b="0" dirty="0" smtClean="0">
                  <a:solidFill>
                    <a:schemeClr val="accent5">
                      <a:lumMod val="90000"/>
                    </a:schemeClr>
                  </a:solidFill>
                  <a:latin typeface="Menlo"/>
                </a:rPr>
                <a:t>/* left as exercise */</a:t>
              </a:r>
              <a:r>
                <a:rPr lang="en-US" sz="800" b="0" dirty="0" smtClean="0">
                  <a:solidFill>
                    <a:schemeClr val="tx1"/>
                  </a:solidFill>
                  <a:latin typeface="Menlo"/>
                </a:rPr>
                <a:t> }</a:t>
              </a:r>
            </a:p>
            <a:p>
              <a:pPr algn="l"/>
              <a:endParaRPr lang="en-US" sz="800" b="0" dirty="0" smtClean="0">
                <a:latin typeface="Menlo"/>
              </a:endParaRPr>
            </a:p>
            <a:p>
              <a:pPr algn="l"/>
              <a:r>
                <a:rPr lang="fr-FR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</a:rPr>
                <a:t>// Client type</a:t>
              </a:r>
            </a:p>
            <a:p>
              <a:pPr algn="l"/>
              <a:r>
                <a:rPr lang="fr-FR" sz="800" b="0" dirty="0" err="1" smtClean="0">
                  <a:solidFill>
                    <a:srgbClr val="D03B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typedef</a:t>
              </a:r>
              <a:r>
                <a:rPr lang="fr-FR" sz="800" b="0" dirty="0" smtClean="0">
                  <a:latin typeface="Menlo"/>
                </a:rPr>
                <a:t> </a:t>
              </a:r>
              <a:r>
                <a:rPr lang="fr-FR" sz="800" b="0" dirty="0" err="1" smtClean="0">
                  <a:solidFill>
                    <a:srgbClr val="00B050"/>
                  </a:solidFill>
                  <a:latin typeface="Menlo"/>
                </a:rPr>
                <a:t>ssa</a:t>
              </a:r>
              <a:r>
                <a:rPr lang="fr-FR" sz="800" b="0" dirty="0" smtClean="0">
                  <a:solidFill>
                    <a:srgbClr val="00B050"/>
                  </a:solidFill>
                  <a:latin typeface="Menlo"/>
                </a:rPr>
                <a:t>* </a:t>
              </a:r>
              <a:r>
                <a:rPr lang="fr-FR" sz="800" b="0" dirty="0" err="1" smtClean="0">
                  <a:solidFill>
                    <a:srgbClr val="00B050"/>
                  </a:solidFill>
                  <a:latin typeface="Menlo"/>
                </a:rPr>
                <a:t>ssa_t</a:t>
              </a:r>
              <a:r>
                <a:rPr lang="fr-FR" sz="800" b="0" dirty="0" smtClean="0">
                  <a:latin typeface="Menlo"/>
                </a:rPr>
                <a:t>;</a:t>
              </a:r>
            </a:p>
            <a:p>
              <a:pPr algn="l"/>
              <a:endParaRPr lang="en-US" sz="800" b="0" dirty="0" smtClean="0">
                <a:solidFill>
                  <a:schemeClr val="accent5">
                    <a:lumMod val="75000"/>
                  </a:schemeClr>
                </a:solidFill>
                <a:latin typeface="Menlo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483600" y="4455225"/>
            <a:ext cx="2438400" cy="2505209"/>
            <a:chOff x="8458200" y="4643759"/>
            <a:chExt cx="2438400" cy="2505209"/>
          </a:xfrm>
        </p:grpSpPr>
        <p:sp>
          <p:nvSpPr>
            <p:cNvPr id="12" name="Vertical Scroll 11"/>
            <p:cNvSpPr/>
            <p:nvPr/>
          </p:nvSpPr>
          <p:spPr bwMode="auto">
            <a:xfrm flipH="1">
              <a:off x="8458200" y="4684335"/>
              <a:ext cx="2438400" cy="2464633"/>
            </a:xfrm>
            <a:prstGeom prst="verticalScroll">
              <a:avLst>
                <a:gd name="adj" fmla="val 5547"/>
              </a:avLst>
            </a:prstGeom>
            <a:solidFill>
              <a:schemeClr val="bg1"/>
            </a:solidFill>
            <a:ln w="9525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square" lIns="50800" tIns="50800" rIns="5080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  <a:ea typeface="Menlo" charset="0"/>
                  <a:cs typeface="Menlo" charset="0"/>
                  <a:sym typeface="Menlo" charset="0"/>
                </a:rPr>
                <a:t>// </a:t>
              </a:r>
              <a:r>
                <a:rPr lang="en-US" sz="800" b="0" dirty="0" err="1" smtClean="0">
                  <a:solidFill>
                    <a:schemeClr val="accent5">
                      <a:lumMod val="75000"/>
                    </a:schemeClr>
                  </a:solidFill>
                  <a:latin typeface="Menlo"/>
                  <a:ea typeface="Menlo" charset="0"/>
                  <a:cs typeface="Menlo" charset="0"/>
                  <a:sym typeface="Menlo" charset="0"/>
                </a:rPr>
                <a:t>typedef</a:t>
              </a:r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  <a:ea typeface="Menlo" charset="0"/>
                  <a:cs typeface="Menlo" charset="0"/>
                  <a:sym typeface="Menlo" charset="0"/>
                </a:rPr>
                <a:t> ______ *</a:t>
              </a:r>
              <a:r>
                <a:rPr lang="en-US" sz="800" b="0" dirty="0" err="1" smtClean="0">
                  <a:solidFill>
                    <a:schemeClr val="accent5">
                      <a:lumMod val="75000"/>
                    </a:schemeClr>
                  </a:solidFill>
                  <a:latin typeface="Menlo"/>
                  <a:ea typeface="Menlo" charset="0"/>
                  <a:cs typeface="Menlo" charset="0"/>
                  <a:sym typeface="Menlo" charset="0"/>
                </a:rPr>
                <a:t>ssa_t</a:t>
              </a:r>
              <a:r>
                <a:rPr lang="en-US" sz="800" b="0" dirty="0" smtClean="0">
                  <a:solidFill>
                    <a:schemeClr val="accent5">
                      <a:lumMod val="75000"/>
                    </a:schemeClr>
                  </a:solidFill>
                  <a:latin typeface="Menlo"/>
                  <a:ea typeface="Menlo" charset="0"/>
                  <a:cs typeface="Menlo" charset="0"/>
                  <a:sym typeface="Menlo" charset="0"/>
                </a:rPr>
                <a:t>;</a:t>
              </a:r>
            </a:p>
            <a:p>
              <a:pPr algn="l">
                <a:tabLst>
                  <a:tab pos="1770063" algn="l"/>
                </a:tabLst>
              </a:pPr>
              <a:endParaRPr lang="en-US" sz="800" b="0" dirty="0" smtClean="0">
                <a:latin typeface="Menlo"/>
              </a:endParaRP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int</a:t>
              </a:r>
              <a:r>
                <a:rPr lang="en-US" sz="800" b="0" dirty="0" smtClean="0"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5E34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ssa_len</a:t>
              </a:r>
              <a:r>
                <a:rPr lang="en-US" sz="800" b="0" dirty="0" smtClean="0"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ssa_t</a:t>
              </a:r>
              <a:r>
                <a:rPr lang="en-US" sz="800" b="0" dirty="0" smtClean="0"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A</a:t>
              </a:r>
              <a:r>
                <a:rPr lang="en-US" sz="800" b="0" dirty="0" smtClean="0">
                  <a:latin typeface="Menlo"/>
                </a:rPr>
                <a:t>)</a:t>
              </a: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/*@requires A != NULL;	@*/</a:t>
              </a:r>
              <a:endParaRPr lang="en-US" sz="800" b="0" dirty="0" smtClean="0">
                <a:latin typeface="Menlo"/>
              </a:endParaRP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/*@ensures \result &gt;= 0;	@*/</a:t>
              </a:r>
              <a:r>
                <a:rPr lang="en-US" sz="800" b="0" dirty="0" smtClean="0">
                  <a:latin typeface="Menlo"/>
                </a:rPr>
                <a:t> ;</a:t>
              </a:r>
            </a:p>
            <a:p>
              <a:pPr algn="l">
                <a:tabLst>
                  <a:tab pos="1770063" algn="l"/>
                </a:tabLst>
              </a:pPr>
              <a:endParaRPr lang="en-US" sz="800" b="0" dirty="0" smtClean="0">
                <a:solidFill>
                  <a:srgbClr val="00B050"/>
                </a:solidFill>
                <a:latin typeface="Menlo"/>
              </a:endParaRP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ssa_t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5E34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ssa_new</a:t>
              </a:r>
              <a:r>
                <a:rPr lang="en-US" sz="800" b="0" dirty="0" smtClean="0"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int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size</a:t>
              </a:r>
              <a:r>
                <a:rPr lang="en-US" sz="800" b="0" dirty="0" smtClean="0">
                  <a:latin typeface="Menlo"/>
                </a:rPr>
                <a:t>)</a:t>
              </a:r>
              <a:endParaRPr lang="en-US" sz="800" b="0" dirty="0" smtClean="0">
                <a:solidFill>
                  <a:srgbClr val="C00000"/>
                </a:solidFill>
                <a:latin typeface="Menlo"/>
              </a:endParaRP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/*@requires 0 &lt;= size;	@*/</a:t>
              </a: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/*@ensures \result != NULL;	@*/</a:t>
              </a: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/*@ensures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ssa_len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(\result) == size;	@*/</a:t>
              </a:r>
              <a:r>
                <a:rPr lang="en-US" sz="800" b="0" dirty="0" smtClean="0">
                  <a:latin typeface="Menlo"/>
                </a:rPr>
                <a:t> ;</a:t>
              </a:r>
            </a:p>
            <a:p>
              <a:pPr algn="l">
                <a:tabLst>
                  <a:tab pos="1770063" algn="l"/>
                </a:tabLst>
              </a:pPr>
              <a:endParaRPr lang="en-US" sz="800" b="0" dirty="0" smtClean="0">
                <a:latin typeface="Menlo"/>
              </a:endParaRP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string</a:t>
              </a:r>
              <a:r>
                <a:rPr lang="en-US" sz="800" b="0" dirty="0" smtClean="0"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5E34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ssa_get</a:t>
              </a:r>
              <a:r>
                <a:rPr lang="en-US" sz="800" b="0" dirty="0" smtClean="0"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ssa_t</a:t>
              </a:r>
              <a:r>
                <a:rPr lang="en-US" sz="800" b="0" dirty="0" smtClean="0"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A</a:t>
              </a:r>
              <a:r>
                <a:rPr lang="en-US" sz="800" b="0" dirty="0" smtClean="0">
                  <a:latin typeface="Menlo"/>
                </a:rPr>
                <a:t>, 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int</a:t>
              </a:r>
              <a:r>
                <a:rPr lang="en-US" sz="800" b="0" dirty="0" smtClean="0"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FFC000"/>
                  </a:solidFill>
                  <a:latin typeface="Menlo"/>
                </a:rPr>
                <a:t>i</a:t>
              </a:r>
              <a:r>
                <a:rPr lang="en-US" sz="800" b="0" dirty="0" smtClean="0">
                  <a:latin typeface="Menlo"/>
                </a:rPr>
                <a:t>)</a:t>
              </a: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/*@requires A != NULL;	@*/</a:t>
              </a: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/*@requires 0 &lt;=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 &amp;&amp;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 &lt;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ssa_len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(A);	@*/</a:t>
              </a:r>
              <a:r>
                <a:rPr lang="en-US" sz="800" b="0" dirty="0" smtClean="0">
                  <a:latin typeface="Menlo"/>
                </a:rPr>
                <a:t> ;</a:t>
              </a: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latin typeface="Menlo"/>
                </a:rPr>
                <a:t> </a:t>
              </a: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void</a:t>
              </a:r>
              <a:r>
                <a:rPr lang="en-US" sz="800" b="0" dirty="0" smtClean="0"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5E34FF"/>
                  </a:solidFill>
                  <a:latin typeface="Menlo" charset="0"/>
                  <a:ea typeface="Menlo" charset="0"/>
                  <a:cs typeface="Menlo" charset="0"/>
                  <a:sym typeface="Menlo" charset="0"/>
                </a:rPr>
                <a:t>ssa_set</a:t>
              </a:r>
              <a:r>
                <a:rPr lang="en-US" sz="800" b="0" dirty="0" smtClean="0">
                  <a:latin typeface="Menlo"/>
                </a:rPr>
                <a:t>(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ssa_t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A</a:t>
              </a:r>
              <a:r>
                <a:rPr lang="en-US" sz="800" b="0" dirty="0" smtClean="0">
                  <a:latin typeface="Menlo"/>
                </a:rPr>
                <a:t>, </a:t>
              </a:r>
              <a:r>
                <a:rPr lang="en-US" sz="800" b="0" dirty="0" err="1" smtClean="0">
                  <a:solidFill>
                    <a:srgbClr val="00B050"/>
                  </a:solidFill>
                  <a:latin typeface="Menlo"/>
                </a:rPr>
                <a:t>int</a:t>
              </a:r>
              <a:r>
                <a:rPr lang="en-US" sz="800" b="0" dirty="0" smtClean="0">
                  <a:latin typeface="Menlo"/>
                </a:rPr>
                <a:t> </a:t>
              </a:r>
              <a:r>
                <a:rPr lang="en-US" sz="800" b="0" dirty="0" err="1" smtClean="0">
                  <a:solidFill>
                    <a:srgbClr val="FFC000"/>
                  </a:solidFill>
                  <a:latin typeface="Menlo"/>
                </a:rPr>
                <a:t>i</a:t>
              </a:r>
              <a:r>
                <a:rPr lang="en-US" sz="800" b="0" dirty="0" smtClean="0">
                  <a:latin typeface="Menlo"/>
                </a:rPr>
                <a:t>, </a:t>
              </a:r>
              <a:r>
                <a:rPr lang="en-US" sz="800" b="0" dirty="0" smtClean="0">
                  <a:solidFill>
                    <a:srgbClr val="00B050"/>
                  </a:solidFill>
                  <a:latin typeface="Menlo"/>
                </a:rPr>
                <a:t>string</a:t>
              </a:r>
              <a:r>
                <a:rPr lang="en-US" sz="800" b="0" dirty="0" smtClean="0">
                  <a:latin typeface="Menlo"/>
                </a:rPr>
                <a:t> </a:t>
              </a:r>
              <a:r>
                <a:rPr lang="en-US" sz="800" b="0" dirty="0" smtClean="0">
                  <a:solidFill>
                    <a:srgbClr val="FFC000"/>
                  </a:solidFill>
                  <a:latin typeface="Menlo"/>
                </a:rPr>
                <a:t>x</a:t>
              </a:r>
              <a:r>
                <a:rPr lang="en-US" sz="800" b="0" dirty="0" smtClean="0">
                  <a:latin typeface="Menlo"/>
                </a:rPr>
                <a:t>)</a:t>
              </a: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/*@requires A != NULL;	@*/</a:t>
              </a:r>
            </a:p>
            <a:p>
              <a:pPr algn="l">
                <a:tabLst>
                  <a:tab pos="1770063" algn="l"/>
                </a:tabLst>
              </a:pP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/*@requires 0 &lt;=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 &amp;&amp;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i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 &lt; </a:t>
              </a:r>
              <a:r>
                <a:rPr lang="en-US" sz="800" b="0" dirty="0" err="1" smtClean="0">
                  <a:solidFill>
                    <a:srgbClr val="C00000"/>
                  </a:solidFill>
                  <a:latin typeface="Menlo"/>
                </a:rPr>
                <a:t>ssa_len</a:t>
              </a:r>
              <a:r>
                <a:rPr lang="en-US" sz="800" b="0" dirty="0" smtClean="0">
                  <a:solidFill>
                    <a:srgbClr val="C00000"/>
                  </a:solidFill>
                  <a:latin typeface="Menlo"/>
                </a:rPr>
                <a:t>(A);	@*/</a:t>
              </a:r>
              <a:r>
                <a:rPr lang="en-US" sz="800" b="0" dirty="0" smtClean="0">
                  <a:latin typeface="Menlo"/>
                </a:rPr>
                <a:t> ;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686779" y="4643759"/>
              <a:ext cx="9348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 smtClean="0">
                  <a:latin typeface="Menlo"/>
                </a:rPr>
                <a:t>SSA Interface</a:t>
              </a:r>
              <a:endParaRPr lang="en-US" sz="900" dirty="0">
                <a:latin typeface="Menlo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8407400" y="7848600"/>
            <a:ext cx="2362200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1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bool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100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100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string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1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1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1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1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1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1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</a:t>
            </a:r>
            <a:r>
              <a:rPr lang="en-US" sz="11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ssa_len</a:t>
            </a:r>
            <a:r>
              <a:rPr lang="en-US" sz="11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{ … </a:t>
            </a:r>
            <a:r>
              <a:rPr lang="en-US" sz="11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ssa_get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(A, mid) …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1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100" b="0" dirty="0" err="1" smtClean="0">
                <a:solidFill>
                  <a:srgbClr val="00B05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100" b="0" dirty="0" smtClean="0">
                <a:solidFill>
                  <a:srgbClr val="7030A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main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() { …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100" b="0" dirty="0" err="1" smtClean="0">
                <a:solidFill>
                  <a:srgbClr val="00B05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ssa_t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A =  </a:t>
            </a:r>
            <a:r>
              <a:rPr lang="en-US" sz="11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ssa_new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(42);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… </a:t>
            </a:r>
            <a:r>
              <a:rPr lang="en-US" sz="11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ssa_set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(A, 7, </a:t>
            </a:r>
            <a:r>
              <a:rPr lang="en-US" sz="1100" b="0" dirty="0" smtClean="0">
                <a:solidFill>
                  <a:srgbClr val="FF66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"hello"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) …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… </a:t>
            </a:r>
            <a:r>
              <a:rPr lang="en-US" sz="11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100" b="0" dirty="0" smtClean="0">
                <a:solidFill>
                  <a:srgbClr val="FF66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"hello"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A, 42) …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100" b="0" dirty="0" smtClean="0">
                <a:solidFill>
                  <a:srgbClr val="FF66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0;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1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</a:spPr>
      <a:bodyPr vert="horz" wrap="square" lIns="50800" tIns="50800" rIns="50800" bIns="50800" numCol="1" rtlCol="0" anchor="ctr" anchorCtr="0" compatLnSpc="1">
        <a:prstTxWarp prst="textNoShape">
          <a:avLst/>
        </a:prstTxWarp>
        <a:noAutofit/>
      </a:bodyPr>
      <a:lstStyle>
        <a:defPPr marL="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10700</TotalTime>
  <Words>4515</Words>
  <PresentationFormat>Custom</PresentationFormat>
  <Paragraphs>1281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White</vt:lpstr>
      <vt:lpstr>Libraries</vt:lpstr>
      <vt:lpstr>Reusing Code</vt:lpstr>
      <vt:lpstr>Abstraction</vt:lpstr>
      <vt:lpstr>What’s a Library Anyway?</vt:lpstr>
      <vt:lpstr>Using a Library</vt:lpstr>
      <vt:lpstr>Types of Libraries</vt:lpstr>
      <vt:lpstr>Writing a Library</vt:lpstr>
      <vt:lpstr>Abstract Data Types</vt:lpstr>
      <vt:lpstr>Self-Sorting Arrays</vt:lpstr>
      <vt:lpstr>Writing Libraries</vt:lpstr>
      <vt:lpstr>SSA Interface</vt:lpstr>
      <vt:lpstr>Interface Contents</vt:lpstr>
      <vt:lpstr>Interface Contents</vt:lpstr>
      <vt:lpstr>Interface Contents</vt:lpstr>
      <vt:lpstr>Interface Contents</vt:lpstr>
      <vt:lpstr>Interface Contents</vt:lpstr>
      <vt:lpstr>Interface Contents</vt:lpstr>
      <vt:lpstr>Interface Contents</vt:lpstr>
      <vt:lpstr>Interface Contents</vt:lpstr>
      <vt:lpstr>Client Application</vt:lpstr>
      <vt:lpstr>Using a library</vt:lpstr>
      <vt:lpstr>Searching an SSA</vt:lpstr>
      <vt:lpstr>SSA Implementation</vt:lpstr>
      <vt:lpstr>Implementing SSAs</vt:lpstr>
      <vt:lpstr>Concrete Type</vt:lpstr>
      <vt:lpstr>Implementing ssa_get</vt:lpstr>
      <vt:lpstr>Let’s also write ssa_len</vt:lpstr>
      <vt:lpstr>Let’s also write ssa_len</vt:lpstr>
      <vt:lpstr>Let’s also write ssa_len</vt:lpstr>
      <vt:lpstr>Back to ssa_get</vt:lpstr>
      <vt:lpstr>Back to ssa_get</vt:lpstr>
      <vt:lpstr>Representation Invariants</vt:lpstr>
      <vt:lpstr>Where are we?</vt:lpstr>
      <vt:lpstr>Where are we?</vt:lpstr>
      <vt:lpstr>Representation Invariants</vt:lpstr>
      <vt:lpstr>Representation Invariants</vt:lpstr>
      <vt:lpstr>Representation Invariants</vt:lpstr>
      <vt:lpstr>The representation Invariant Function</vt:lpstr>
      <vt:lpstr>The representation Invariant Function</vt:lpstr>
      <vt:lpstr>The representation Invariant Function</vt:lpstr>
      <vt:lpstr>The representation Invariant Function</vt:lpstr>
      <vt:lpstr>Things to Note</vt:lpstr>
      <vt:lpstr>Things to Note</vt:lpstr>
      <vt:lpstr>Overall Implementation</vt:lpstr>
      <vt:lpstr>Structure of a C0 Library File</vt:lpstr>
      <vt:lpstr>Compiling a Library in a C0 Application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cp:lastModifiedBy>iliano</cp:lastModifiedBy>
  <cp:revision>195</cp:revision>
  <dcterms:modified xsi:type="dcterms:W3CDTF">2019-07-12T19:20:24Z</dcterms:modified>
</cp:coreProperties>
</file>