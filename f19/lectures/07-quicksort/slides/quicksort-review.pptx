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s/slide29.xml" ContentType="application/vnd.openxmlformats-officedocument.presentationml.slide+xml"/>
  <Override PartName="/ppt/slides/slide38.xml" ContentType="application/vnd.openxmlformats-officedocument.presentationml.slide+xml"/>
  <Override PartName="/ppt/slides/slide47.xml" ContentType="application/vnd.openxmlformats-officedocument.presentationml.slide+xml"/>
  <Override PartName="/ppt/slides/slide56.xml" ContentType="application/vnd.openxmlformats-officedocument.presentationml.slide+xml"/>
  <Override PartName="/ppt/slides/slide58.xml" ContentType="application/vnd.openxmlformats-officedocument.presentationml.slide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27.xml" ContentType="application/vnd.openxmlformats-officedocument.presentationml.slide+xml"/>
  <Override PartName="/ppt/slides/slide36.xml" ContentType="application/vnd.openxmlformats-officedocument.presentationml.slide+xml"/>
  <Override PartName="/ppt/slides/slide45.xml" ContentType="application/vnd.openxmlformats-officedocument.presentationml.slide+xml"/>
  <Override PartName="/ppt/slides/slide54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slides/slide34.xml" ContentType="application/vnd.openxmlformats-officedocument.presentationml.slide+xml"/>
  <Override PartName="/ppt/slides/slide43.xml" ContentType="application/vnd.openxmlformats-officedocument.presentationml.slide+xml"/>
  <Override PartName="/ppt/slides/slide5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slides/slide32.xml" ContentType="application/vnd.openxmlformats-officedocument.presentationml.slide+xml"/>
  <Override PartName="/ppt/slides/slide41.xml" ContentType="application/vnd.openxmlformats-officedocument.presentationml.slide+xml"/>
  <Override PartName="/ppt/slides/slide50.xml" ContentType="application/vnd.openxmlformats-officedocument.presentationml.slide+xml"/>
  <Override PartName="/ppt/slides/slide61.xml" ContentType="application/vnd.openxmlformats-officedocument.presentationml.slide+xml"/>
  <Override PartName="/ppt/notesMasters/notesMaster1.xml" ContentType="application/vnd.openxmlformats-officedocument.presentationml.notesMaster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49.xml" ContentType="application/vnd.openxmlformats-officedocument.presentationml.slide+xml"/>
  <Override PartName="/ppt/slides/slide59.xml" ContentType="application/vnd.openxmlformats-officedocument.presentationml.slide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s/slide57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slides/slide55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s/slide53.xml" ContentType="application/vnd.openxmlformats-officedocument.presentationml.slide+xml"/>
  <Override PartName="/ppt/slides/slide62.xml" ContentType="application/vnd.openxmlformats-officedocument.presentationml.slide+xml"/>
  <Override PartName="/ppt/slideLayouts/slideLayout3.xml" ContentType="application/vnd.openxmlformats-officedocument.presentationml.slideLayout+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s/slide60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0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erverZoom="100000" strictFirstAndLastChars="0" saveSubsetFonts="1">
  <p:sldMasterIdLst>
    <p:sldMasterId id="2147483648" r:id="rId1"/>
  </p:sldMasterIdLst>
  <p:notesMasterIdLst>
    <p:notesMasterId r:id="rId64"/>
  </p:notesMasterIdLst>
  <p:handoutMasterIdLst>
    <p:handoutMasterId r:id="rId65"/>
  </p:handoutMasterIdLst>
  <p:sldIdLst>
    <p:sldId id="332" r:id="rId2"/>
    <p:sldId id="333" r:id="rId3"/>
    <p:sldId id="448" r:id="rId4"/>
    <p:sldId id="506" r:id="rId5"/>
    <p:sldId id="507" r:id="rId6"/>
    <p:sldId id="508" r:id="rId7"/>
    <p:sldId id="453" r:id="rId8"/>
    <p:sldId id="449" r:id="rId9"/>
    <p:sldId id="452" r:id="rId10"/>
    <p:sldId id="456" r:id="rId11"/>
    <p:sldId id="457" r:id="rId12"/>
    <p:sldId id="454" r:id="rId13"/>
    <p:sldId id="455" r:id="rId14"/>
    <p:sldId id="458" r:id="rId15"/>
    <p:sldId id="459" r:id="rId16"/>
    <p:sldId id="460" r:id="rId17"/>
    <p:sldId id="461" r:id="rId18"/>
    <p:sldId id="462" r:id="rId19"/>
    <p:sldId id="463" r:id="rId20"/>
    <p:sldId id="464" r:id="rId21"/>
    <p:sldId id="465" r:id="rId22"/>
    <p:sldId id="474" r:id="rId23"/>
    <p:sldId id="466" r:id="rId24"/>
    <p:sldId id="450" r:id="rId25"/>
    <p:sldId id="467" r:id="rId26"/>
    <p:sldId id="468" r:id="rId27"/>
    <p:sldId id="469" r:id="rId28"/>
    <p:sldId id="470" r:id="rId29"/>
    <p:sldId id="471" r:id="rId30"/>
    <p:sldId id="472" r:id="rId31"/>
    <p:sldId id="475" r:id="rId32"/>
    <p:sldId id="473" r:id="rId33"/>
    <p:sldId id="476" r:id="rId34"/>
    <p:sldId id="478" r:id="rId35"/>
    <p:sldId id="477" r:id="rId36"/>
    <p:sldId id="451" r:id="rId37"/>
    <p:sldId id="483" r:id="rId38"/>
    <p:sldId id="484" r:id="rId39"/>
    <p:sldId id="485" r:id="rId40"/>
    <p:sldId id="486" r:id="rId41"/>
    <p:sldId id="488" r:id="rId42"/>
    <p:sldId id="487" r:id="rId43"/>
    <p:sldId id="489" r:id="rId44"/>
    <p:sldId id="481" r:id="rId45"/>
    <p:sldId id="490" r:id="rId46"/>
    <p:sldId id="491" r:id="rId47"/>
    <p:sldId id="492" r:id="rId48"/>
    <p:sldId id="493" r:id="rId49"/>
    <p:sldId id="496" r:id="rId50"/>
    <p:sldId id="495" r:id="rId51"/>
    <p:sldId id="494" r:id="rId52"/>
    <p:sldId id="497" r:id="rId53"/>
    <p:sldId id="498" r:id="rId54"/>
    <p:sldId id="499" r:id="rId55"/>
    <p:sldId id="500" r:id="rId56"/>
    <p:sldId id="501" r:id="rId57"/>
    <p:sldId id="503" r:id="rId58"/>
    <p:sldId id="502" r:id="rId59"/>
    <p:sldId id="480" r:id="rId60"/>
    <p:sldId id="504" r:id="rId61"/>
    <p:sldId id="505" r:id="rId62"/>
    <p:sldId id="479" r:id="rId63"/>
  </p:sldIdLst>
  <p:sldSz cx="13004800" cy="9753600"/>
  <p:notesSz cx="7007225" cy="9296400"/>
  <p:defaultTextStyle>
    <a:defPPr>
      <a:defRPr lang="en-US"/>
    </a:defPPr>
    <a:lvl1pPr algn="ctr" defTabSz="584200" rtl="0" fontAlgn="base" hangingPunct="0">
      <a:spcBef>
        <a:spcPct val="0"/>
      </a:spcBef>
      <a:spcAft>
        <a:spcPct val="0"/>
      </a:spcAft>
      <a:defRPr sz="2400" b="1" kern="1200">
        <a:solidFill>
          <a:srgbClr val="000000"/>
        </a:solidFill>
        <a:latin typeface="Helvetica Neue" charset="0"/>
        <a:ea typeface="Helvetica Neue" charset="0"/>
        <a:cs typeface="Helvetica Neue" charset="0"/>
        <a:sym typeface="Helvetica Neue" charset="0"/>
      </a:defRPr>
    </a:lvl1pPr>
    <a:lvl2pPr marL="457200" indent="-228600" algn="ctr" defTabSz="584200" rtl="0" fontAlgn="base" hangingPunct="0">
      <a:spcBef>
        <a:spcPct val="0"/>
      </a:spcBef>
      <a:spcAft>
        <a:spcPct val="0"/>
      </a:spcAft>
      <a:defRPr sz="2400" b="1" kern="1200">
        <a:solidFill>
          <a:srgbClr val="000000"/>
        </a:solidFill>
        <a:latin typeface="Helvetica Neue" charset="0"/>
        <a:ea typeface="Helvetica Neue" charset="0"/>
        <a:cs typeface="Helvetica Neue" charset="0"/>
        <a:sym typeface="Helvetica Neue" charset="0"/>
      </a:defRPr>
    </a:lvl2pPr>
    <a:lvl3pPr marL="914400" indent="-457200" algn="ctr" defTabSz="584200" rtl="0" fontAlgn="base" hangingPunct="0">
      <a:spcBef>
        <a:spcPct val="0"/>
      </a:spcBef>
      <a:spcAft>
        <a:spcPct val="0"/>
      </a:spcAft>
      <a:defRPr sz="2400" b="1" kern="1200">
        <a:solidFill>
          <a:srgbClr val="000000"/>
        </a:solidFill>
        <a:latin typeface="Helvetica Neue" charset="0"/>
        <a:ea typeface="Helvetica Neue" charset="0"/>
        <a:cs typeface="Helvetica Neue" charset="0"/>
        <a:sym typeface="Helvetica Neue" charset="0"/>
      </a:defRPr>
    </a:lvl3pPr>
    <a:lvl4pPr marL="1371600" indent="-685800" algn="ctr" defTabSz="584200" rtl="0" fontAlgn="base" hangingPunct="0">
      <a:spcBef>
        <a:spcPct val="0"/>
      </a:spcBef>
      <a:spcAft>
        <a:spcPct val="0"/>
      </a:spcAft>
      <a:defRPr sz="2400" b="1" kern="1200">
        <a:solidFill>
          <a:srgbClr val="000000"/>
        </a:solidFill>
        <a:latin typeface="Helvetica Neue" charset="0"/>
        <a:ea typeface="Helvetica Neue" charset="0"/>
        <a:cs typeface="Helvetica Neue" charset="0"/>
        <a:sym typeface="Helvetica Neue" charset="0"/>
      </a:defRPr>
    </a:lvl4pPr>
    <a:lvl5pPr marL="1828800" indent="-914400" algn="ctr" defTabSz="584200" rtl="0" fontAlgn="base" hangingPunct="0">
      <a:spcBef>
        <a:spcPct val="0"/>
      </a:spcBef>
      <a:spcAft>
        <a:spcPct val="0"/>
      </a:spcAft>
      <a:defRPr sz="2400" b="1" kern="1200">
        <a:solidFill>
          <a:srgbClr val="000000"/>
        </a:solidFill>
        <a:latin typeface="Helvetica Neue" charset="0"/>
        <a:ea typeface="Helvetica Neue" charset="0"/>
        <a:cs typeface="Helvetica Neue" charset="0"/>
        <a:sym typeface="Helvetica Neue" charset="0"/>
      </a:defRPr>
    </a:lvl5pPr>
    <a:lvl6pPr marL="2286000" algn="l" defTabSz="914400" rtl="0" eaLnBrk="1" latinLnBrk="0" hangingPunct="1">
      <a:defRPr sz="2400" b="1" kern="1200">
        <a:solidFill>
          <a:srgbClr val="000000"/>
        </a:solidFill>
        <a:latin typeface="Helvetica Neue" charset="0"/>
        <a:ea typeface="Helvetica Neue" charset="0"/>
        <a:cs typeface="Helvetica Neue" charset="0"/>
        <a:sym typeface="Helvetica Neue" charset="0"/>
      </a:defRPr>
    </a:lvl6pPr>
    <a:lvl7pPr marL="2743200" algn="l" defTabSz="914400" rtl="0" eaLnBrk="1" latinLnBrk="0" hangingPunct="1">
      <a:defRPr sz="2400" b="1" kern="1200">
        <a:solidFill>
          <a:srgbClr val="000000"/>
        </a:solidFill>
        <a:latin typeface="Helvetica Neue" charset="0"/>
        <a:ea typeface="Helvetica Neue" charset="0"/>
        <a:cs typeface="Helvetica Neue" charset="0"/>
        <a:sym typeface="Helvetica Neue" charset="0"/>
      </a:defRPr>
    </a:lvl7pPr>
    <a:lvl8pPr marL="3200400" algn="l" defTabSz="914400" rtl="0" eaLnBrk="1" latinLnBrk="0" hangingPunct="1">
      <a:defRPr sz="2400" b="1" kern="1200">
        <a:solidFill>
          <a:srgbClr val="000000"/>
        </a:solidFill>
        <a:latin typeface="Helvetica Neue" charset="0"/>
        <a:ea typeface="Helvetica Neue" charset="0"/>
        <a:cs typeface="Helvetica Neue" charset="0"/>
        <a:sym typeface="Helvetica Neue" charset="0"/>
      </a:defRPr>
    </a:lvl8pPr>
    <a:lvl9pPr marL="3657600" algn="l" defTabSz="914400" rtl="0" eaLnBrk="1" latinLnBrk="0" hangingPunct="1">
      <a:defRPr sz="2400" b="1" kern="1200">
        <a:solidFill>
          <a:srgbClr val="000000"/>
        </a:solidFill>
        <a:latin typeface="Helvetica Neue" charset="0"/>
        <a:ea typeface="Helvetica Neue" charset="0"/>
        <a:cs typeface="Helvetica Neue" charset="0"/>
        <a:sym typeface="Helvetica Neue" charset="0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ECFF"/>
  </p:clrMru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horzBarState="maximized">
    <p:restoredLeft sz="15620"/>
    <p:restoredTop sz="94660"/>
  </p:normalViewPr>
  <p:slideViewPr>
    <p:cSldViewPr>
      <p:cViewPr varScale="1">
        <p:scale>
          <a:sx n="90" d="100"/>
          <a:sy n="90" d="100"/>
        </p:scale>
        <p:origin x="-132" y="-258"/>
      </p:cViewPr>
      <p:guideLst>
        <p:guide orient="horz" pos="3072"/>
        <p:guide pos="409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68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61" Type="http://schemas.openxmlformats.org/officeDocument/2006/relationships/slide" Target="slides/slide60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notesMaster" Target="notesMasters/notesMaster1.xml"/><Relationship Id="rId69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6888" cy="465138"/>
          </a:xfrm>
          <a:prstGeom prst="rect">
            <a:avLst/>
          </a:prstGeom>
        </p:spPr>
        <p:txBody>
          <a:bodyPr vert="horz" lIns="93159" tIns="46580" rIns="93159" bIns="46580" rtlCol="0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968750" y="0"/>
            <a:ext cx="3036888" cy="465138"/>
          </a:xfrm>
          <a:prstGeom prst="rect">
            <a:avLst/>
          </a:prstGeom>
        </p:spPr>
        <p:txBody>
          <a:bodyPr vert="horz" lIns="93159" tIns="46580" rIns="93159" bIns="46580" rtlCol="0"/>
          <a:lstStyle>
            <a:lvl1pPr algn="r">
              <a:defRPr sz="1200"/>
            </a:lvl1pPr>
          </a:lstStyle>
          <a:p>
            <a:pPr>
              <a:defRPr/>
            </a:pPr>
            <a:fld id="{231B3D12-EB5E-4DBD-B1D2-B9BE0915A721}" type="datetimeFigureOut">
              <a:rPr lang="en-US"/>
              <a:pPr>
                <a:defRPr/>
              </a:pPr>
              <a:t>2/9/2019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829675"/>
            <a:ext cx="3036888" cy="465138"/>
          </a:xfrm>
          <a:prstGeom prst="rect">
            <a:avLst/>
          </a:prstGeom>
        </p:spPr>
        <p:txBody>
          <a:bodyPr vert="horz" lIns="93159" tIns="46580" rIns="93159" bIns="4658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968750" y="8829675"/>
            <a:ext cx="3036888" cy="465138"/>
          </a:xfrm>
          <a:prstGeom prst="rect">
            <a:avLst/>
          </a:prstGeom>
        </p:spPr>
        <p:txBody>
          <a:bodyPr vert="horz" lIns="93159" tIns="46580" rIns="93159" bIns="46580" rtlCol="0" anchor="b"/>
          <a:lstStyle>
            <a:lvl1pPr algn="r">
              <a:defRPr sz="1200"/>
            </a:lvl1pPr>
          </a:lstStyle>
          <a:p>
            <a:pPr>
              <a:defRPr/>
            </a:pPr>
            <a:fld id="{9689D15F-4C94-4BB4-A061-5F06739A4601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4" name="Rectangle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1179513" y="696913"/>
            <a:ext cx="4648200" cy="348615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sp>
      <p:sp>
        <p:nvSpPr>
          <p:cNvPr id="2050" name="Rectangle 2"/>
          <p:cNvSpPr>
            <a:spLocks noGrp="1"/>
          </p:cNvSpPr>
          <p:nvPr>
            <p:ph type="body" sz="quarter" idx="1"/>
          </p:nvPr>
        </p:nvSpPr>
        <p:spPr bwMode="auto">
          <a:xfrm>
            <a:off x="935038" y="4416425"/>
            <a:ext cx="5137150" cy="4183063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3159" tIns="46580" rIns="93159" bIns="4658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>
                <a:sym typeface="Helvetica Neue" charset="0"/>
              </a:rPr>
              <a:t>Click to edit Master text styles</a:t>
            </a:r>
          </a:p>
          <a:p>
            <a:pPr lvl="1"/>
            <a:r>
              <a:rPr lang="en-US" noProof="0" smtClean="0">
                <a:sym typeface="Helvetica Neue" charset="0"/>
              </a:rPr>
              <a:t>Second level</a:t>
            </a:r>
          </a:p>
          <a:p>
            <a:pPr lvl="2"/>
            <a:r>
              <a:rPr lang="en-US" noProof="0" smtClean="0">
                <a:sym typeface="Helvetica Neue" charset="0"/>
              </a:rPr>
              <a:t>Third level</a:t>
            </a:r>
          </a:p>
          <a:p>
            <a:pPr lvl="3"/>
            <a:r>
              <a:rPr lang="en-US" noProof="0" smtClean="0">
                <a:sym typeface="Helvetica Neue" charset="0"/>
              </a:rPr>
              <a:t>Fourth level</a:t>
            </a:r>
          </a:p>
          <a:p>
            <a:pPr lvl="4"/>
            <a:r>
              <a:rPr lang="en-US" noProof="0" smtClean="0">
                <a:sym typeface="Helvetica Neue" charset="0"/>
              </a:rPr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lnSpc>
        <a:spcPct val="117000"/>
      </a:lnSpc>
      <a:spcBef>
        <a:spcPct val="0"/>
      </a:spcBef>
      <a:spcAft>
        <a:spcPct val="0"/>
      </a:spcAft>
      <a:defRPr sz="2200" kern="1200">
        <a:solidFill>
          <a:srgbClr val="000000"/>
        </a:solidFill>
        <a:latin typeface="Helvetica Neue" charset="0"/>
        <a:ea typeface="Helvetica Neue" charset="0"/>
        <a:cs typeface="Helvetica Neue" charset="0"/>
        <a:sym typeface="Helvetica Neue" charset="0"/>
      </a:defRPr>
    </a:lvl1pPr>
    <a:lvl2pPr indent="228600" algn="l" defTabSz="457200" rtl="0" eaLnBrk="0" fontAlgn="base" hangingPunct="0">
      <a:lnSpc>
        <a:spcPct val="117000"/>
      </a:lnSpc>
      <a:spcBef>
        <a:spcPct val="0"/>
      </a:spcBef>
      <a:spcAft>
        <a:spcPct val="0"/>
      </a:spcAft>
      <a:defRPr sz="2200" kern="1200">
        <a:solidFill>
          <a:srgbClr val="000000"/>
        </a:solidFill>
        <a:latin typeface="Helvetica Neue" charset="0"/>
        <a:ea typeface="Helvetica Neue" charset="0"/>
        <a:cs typeface="Helvetica Neue" charset="0"/>
        <a:sym typeface="Helvetica Neue" charset="0"/>
      </a:defRPr>
    </a:lvl2pPr>
    <a:lvl3pPr indent="457200" algn="l" defTabSz="457200" rtl="0" eaLnBrk="0" fontAlgn="base" hangingPunct="0">
      <a:lnSpc>
        <a:spcPct val="117000"/>
      </a:lnSpc>
      <a:spcBef>
        <a:spcPct val="0"/>
      </a:spcBef>
      <a:spcAft>
        <a:spcPct val="0"/>
      </a:spcAft>
      <a:defRPr sz="2200" kern="1200">
        <a:solidFill>
          <a:srgbClr val="000000"/>
        </a:solidFill>
        <a:latin typeface="Helvetica Neue" charset="0"/>
        <a:ea typeface="Helvetica Neue" charset="0"/>
        <a:cs typeface="Helvetica Neue" charset="0"/>
        <a:sym typeface="Helvetica Neue" charset="0"/>
      </a:defRPr>
    </a:lvl3pPr>
    <a:lvl4pPr indent="685800" algn="l" defTabSz="457200" rtl="0" eaLnBrk="0" fontAlgn="base" hangingPunct="0">
      <a:lnSpc>
        <a:spcPct val="117000"/>
      </a:lnSpc>
      <a:spcBef>
        <a:spcPct val="0"/>
      </a:spcBef>
      <a:spcAft>
        <a:spcPct val="0"/>
      </a:spcAft>
      <a:defRPr sz="2200" kern="1200">
        <a:solidFill>
          <a:srgbClr val="000000"/>
        </a:solidFill>
        <a:latin typeface="Helvetica Neue" charset="0"/>
        <a:ea typeface="Helvetica Neue" charset="0"/>
        <a:cs typeface="Helvetica Neue" charset="0"/>
        <a:sym typeface="Helvetica Neue" charset="0"/>
      </a:defRPr>
    </a:lvl4pPr>
    <a:lvl5pPr indent="914400" algn="l" defTabSz="457200" rtl="0" eaLnBrk="0" fontAlgn="base" hangingPunct="0">
      <a:lnSpc>
        <a:spcPct val="117000"/>
      </a:lnSpc>
      <a:spcBef>
        <a:spcPct val="0"/>
      </a:spcBef>
      <a:spcAft>
        <a:spcPct val="0"/>
      </a:spcAft>
      <a:defRPr sz="2200" kern="1200">
        <a:solidFill>
          <a:srgbClr val="000000"/>
        </a:solidFill>
        <a:latin typeface="Helvetica Neue" charset="0"/>
        <a:ea typeface="Helvetica Neue" charset="0"/>
        <a:cs typeface="Helvetica Neue" charset="0"/>
        <a:sym typeface="Helvetica Neue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4725" y="3030538"/>
            <a:ext cx="11055350" cy="209073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51038" y="5527675"/>
            <a:ext cx="9102725" cy="2492375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211BF73-A674-4D7B-B1DA-2178CF8CE3BA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2500" y="254000"/>
            <a:ext cx="11099800" cy="1498600"/>
          </a:xfrm>
        </p:spPr>
        <p:txBody>
          <a:bodyPr/>
          <a:lstStyle>
            <a:lvl1pPr>
              <a:defRPr sz="4800" b="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52500" y="1981200"/>
            <a:ext cx="11099800" cy="6896100"/>
          </a:xfrm>
        </p:spPr>
        <p:txBody>
          <a:bodyPr anchor="t"/>
          <a:lstStyle>
            <a:lvl1pPr marL="457200" indent="-457200">
              <a:spcBef>
                <a:spcPts val="800"/>
              </a:spcBef>
              <a:buSzPct val="100000"/>
              <a:buFont typeface="Wingdings" pitchFamily="2" charset="2"/>
              <a:buChar char="l"/>
              <a:defRPr/>
            </a:lvl1pPr>
            <a:lvl2pPr marL="800100" indent="-342900">
              <a:spcBef>
                <a:spcPts val="700"/>
              </a:spcBef>
              <a:buSzPct val="125000"/>
              <a:buFont typeface="Courier New" pitchFamily="49" charset="0"/>
              <a:buChar char="o"/>
              <a:defRPr sz="2800"/>
            </a:lvl2pPr>
            <a:lvl3pPr marL="1092200" indent="-292100" defTabSz="622300">
              <a:spcBef>
                <a:spcPts val="600"/>
              </a:spcBef>
              <a:buSzPct val="100000"/>
              <a:buFont typeface="Wingdings" pitchFamily="2" charset="2"/>
              <a:buChar char="Ø"/>
              <a:defRPr sz="2400"/>
            </a:lvl3pPr>
            <a:lvl4pPr marL="1435100" indent="-342900">
              <a:spcBef>
                <a:spcPts val="480"/>
              </a:spcBef>
              <a:buSzPct val="90000"/>
              <a:buFont typeface="Wingdings" pitchFamily="2" charset="2"/>
              <a:buChar char="q"/>
              <a:defRPr sz="2000"/>
            </a:lvl4pPr>
            <a:lvl5pPr marL="1663700" indent="-228600">
              <a:spcBef>
                <a:spcPts val="480"/>
              </a:spcBef>
              <a:buSzPct val="100000"/>
              <a:buFont typeface="Wingdings" pitchFamily="2" charset="2"/>
              <a:buChar char="§"/>
              <a:defRPr sz="2000"/>
            </a:lvl5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27113" y="4083050"/>
            <a:ext cx="11053762" cy="1936750"/>
          </a:xfrm>
        </p:spPr>
        <p:txBody>
          <a:bodyPr anchor="t"/>
          <a:lstStyle>
            <a:lvl1pPr algn="ctr">
              <a:defRPr sz="4400" b="1" cap="none" baseline="0"/>
            </a:lvl1pPr>
          </a:lstStyle>
          <a:p>
            <a:r>
              <a:rPr lang="en-US" dirty="0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27113" y="5943600"/>
            <a:ext cx="11053762" cy="2133600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952500" y="2590800"/>
            <a:ext cx="5473700" cy="62865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78600" y="2590800"/>
            <a:ext cx="5473700" cy="62865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14EFB8B4-07D6-4010-AB0B-CBD0D8E2D7B4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90525"/>
            <a:ext cx="11703050" cy="16256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0875" y="2182813"/>
            <a:ext cx="5745163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0875" y="3092450"/>
            <a:ext cx="5745163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605588" y="2182813"/>
            <a:ext cx="5748337" cy="909637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5588" y="3092450"/>
            <a:ext cx="5748337" cy="5619750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4B2C210-B940-4792-8C46-1EE289A7C9D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F9804A6F-6B50-4A70-90D5-CDD606E1E1D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4CE4FFF-F21E-4CEF-A104-7D137C108D3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50875" y="388938"/>
            <a:ext cx="4278313" cy="1652587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84763" y="388938"/>
            <a:ext cx="7269162" cy="8323262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50875" y="2041525"/>
            <a:ext cx="4278313" cy="667067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457C558-6DD2-4120-9354-832E35A407D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49525" y="6827838"/>
            <a:ext cx="7802563" cy="8064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549525" y="871538"/>
            <a:ext cx="7802563" cy="58515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>
              <a:sym typeface="Helvetica Neue" charset="0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49525" y="7634288"/>
            <a:ext cx="7802563" cy="114458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9BECE213-355E-4C6F-897A-F8E85C236A1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91DD4EB-4B13-4170-839C-985C8BDD1578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77350" y="254000"/>
            <a:ext cx="2774950" cy="86233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952500" y="254000"/>
            <a:ext cx="8172450" cy="86233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Rectangl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7C7B3AAA-8235-41AC-B2BA-B48EA472017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auto"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"/>
          <p:cNvSpPr>
            <a:spLocks noGrp="1"/>
          </p:cNvSpPr>
          <p:nvPr>
            <p:ph type="title"/>
          </p:nvPr>
        </p:nvSpPr>
        <p:spPr bwMode="auto">
          <a:xfrm>
            <a:off x="952500" y="254000"/>
            <a:ext cx="11099800" cy="2159000"/>
          </a:xfrm>
          <a:prstGeom prst="rect">
            <a:avLst/>
          </a:prstGeom>
          <a:noFill/>
          <a:ln w="12700">
            <a:noFill/>
            <a:miter lim="400000"/>
            <a:headEnd/>
            <a:tailEnd/>
          </a:ln>
        </p:spPr>
        <p:txBody>
          <a:bodyPr vert="horz" wrap="square" lIns="50800" tIns="50800" rIns="50800" bIns="50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>
                <a:sym typeface="Helvetica Neue Medium" charset="0"/>
              </a:rPr>
              <a:t>Click to edit Master title style</a:t>
            </a:r>
          </a:p>
        </p:txBody>
      </p:sp>
      <p:sp>
        <p:nvSpPr>
          <p:cNvPr id="1027" name="Rectangle 2"/>
          <p:cNvSpPr>
            <a:spLocks noGrp="1"/>
          </p:cNvSpPr>
          <p:nvPr>
            <p:ph type="body" idx="1"/>
          </p:nvPr>
        </p:nvSpPr>
        <p:spPr bwMode="auto">
          <a:xfrm>
            <a:off x="952500" y="2590800"/>
            <a:ext cx="11099800" cy="6286500"/>
          </a:xfrm>
          <a:prstGeom prst="rect">
            <a:avLst/>
          </a:prstGeom>
          <a:noFill/>
          <a:ln w="12700">
            <a:noFill/>
            <a:miter lim="400000"/>
            <a:headEnd/>
            <a:tailEnd/>
          </a:ln>
        </p:spPr>
        <p:txBody>
          <a:bodyPr vert="horz" wrap="square" lIns="50800" tIns="50800" rIns="50800" bIns="50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>
                <a:sym typeface="Helvetica Neue" charset="0"/>
              </a:rPr>
              <a:t>Click to edit Master text styles</a:t>
            </a:r>
          </a:p>
          <a:p>
            <a:pPr lvl="1"/>
            <a:r>
              <a:rPr lang="en-US" smtClean="0">
                <a:sym typeface="Helvetica Neue" charset="0"/>
              </a:rPr>
              <a:t>Second level</a:t>
            </a:r>
          </a:p>
          <a:p>
            <a:pPr lvl="2"/>
            <a:r>
              <a:rPr lang="en-US" smtClean="0">
                <a:sym typeface="Helvetica Neue" charset="0"/>
              </a:rPr>
              <a:t>Third level</a:t>
            </a:r>
          </a:p>
          <a:p>
            <a:pPr lvl="3"/>
            <a:r>
              <a:rPr lang="en-US" smtClean="0">
                <a:sym typeface="Helvetica Neue" charset="0"/>
              </a:rPr>
              <a:t>Fourth level</a:t>
            </a:r>
          </a:p>
          <a:p>
            <a:pPr lvl="4"/>
            <a:r>
              <a:rPr lang="en-US" smtClean="0">
                <a:sym typeface="Helvetica Neue" charset="0"/>
              </a:rPr>
              <a:t>Fifth level</a:t>
            </a:r>
          </a:p>
        </p:txBody>
      </p:sp>
      <p:sp>
        <p:nvSpPr>
          <p:cNvPr id="2" name="Rectangle 3"/>
          <p:cNvSpPr>
            <a:spLocks noGrp="1"/>
          </p:cNvSpPr>
          <p:nvPr>
            <p:ph type="sldNum" sz="quarter" idx="2"/>
          </p:nvPr>
        </p:nvSpPr>
        <p:spPr bwMode="auto">
          <a:xfrm>
            <a:off x="6327775" y="9296400"/>
            <a:ext cx="341313" cy="323850"/>
          </a:xfrm>
          <a:prstGeom prst="rect">
            <a:avLst/>
          </a:prstGeom>
          <a:noFill/>
          <a:ln w="12700" cap="flat" cmpd="sng">
            <a:noFill/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none" lIns="50800" tIns="50800" rIns="50800" bIns="50800" numCol="1" anchor="t" anchorCtr="0" compatLnSpc="1">
            <a:prstTxWarp prst="textNoShape">
              <a:avLst/>
            </a:prstTxWarp>
          </a:bodyPr>
          <a:lstStyle>
            <a:lvl1pPr>
              <a:defRPr sz="1600" b="0">
                <a:latin typeface="Helvetica Neue Light" charset="0"/>
                <a:ea typeface="Helvetica Neue Light" charset="0"/>
                <a:cs typeface="Helvetica Neue Light" charset="0"/>
                <a:sym typeface="Helvetica Neue Light" charset="0"/>
              </a:defRPr>
            </a:lvl1pPr>
          </a:lstStyle>
          <a:p>
            <a:pPr>
              <a:defRPr/>
            </a:pPr>
            <a:fld id="{25C490D4-7A1B-45D2-B551-E1B1E148D9B2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84" r:id="rId2"/>
    <p:sldLayoutId id="214748368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ctr" defTabSz="584200" rtl="0" eaLnBrk="0" fontAlgn="base" hangingPunct="0">
        <a:spcBef>
          <a:spcPct val="0"/>
        </a:spcBef>
        <a:spcAft>
          <a:spcPct val="0"/>
        </a:spcAft>
        <a:defRPr sz="8000">
          <a:solidFill>
            <a:srgbClr val="000000"/>
          </a:solidFill>
          <a:latin typeface="+mj-lt"/>
          <a:ea typeface="+mj-ea"/>
          <a:cs typeface="+mj-cs"/>
          <a:sym typeface="Helvetica Neue Medium" charset="0"/>
        </a:defRPr>
      </a:lvl1pPr>
      <a:lvl2pPr algn="ctr" defTabSz="584200" rtl="0" eaLnBrk="0" fontAlgn="base" hangingPunct="0">
        <a:spcBef>
          <a:spcPct val="0"/>
        </a:spcBef>
        <a:spcAft>
          <a:spcPct val="0"/>
        </a:spcAft>
        <a:defRPr sz="8000">
          <a:solidFill>
            <a:srgbClr val="000000"/>
          </a:solidFill>
          <a:latin typeface="Helvetica Neue Medium" charset="0"/>
          <a:ea typeface="Helvetica Neue Medium" charset="0"/>
          <a:cs typeface="Helvetica Neue Medium" charset="0"/>
          <a:sym typeface="Helvetica Neue Medium" charset="0"/>
        </a:defRPr>
      </a:lvl2pPr>
      <a:lvl3pPr algn="ctr" defTabSz="584200" rtl="0" eaLnBrk="0" fontAlgn="base" hangingPunct="0">
        <a:spcBef>
          <a:spcPct val="0"/>
        </a:spcBef>
        <a:spcAft>
          <a:spcPct val="0"/>
        </a:spcAft>
        <a:defRPr sz="8000">
          <a:solidFill>
            <a:srgbClr val="000000"/>
          </a:solidFill>
          <a:latin typeface="Helvetica Neue Medium" charset="0"/>
          <a:ea typeface="Helvetica Neue Medium" charset="0"/>
          <a:cs typeface="Helvetica Neue Medium" charset="0"/>
          <a:sym typeface="Helvetica Neue Medium" charset="0"/>
        </a:defRPr>
      </a:lvl3pPr>
      <a:lvl4pPr algn="ctr" defTabSz="584200" rtl="0" eaLnBrk="0" fontAlgn="base" hangingPunct="0">
        <a:spcBef>
          <a:spcPct val="0"/>
        </a:spcBef>
        <a:spcAft>
          <a:spcPct val="0"/>
        </a:spcAft>
        <a:defRPr sz="8000">
          <a:solidFill>
            <a:srgbClr val="000000"/>
          </a:solidFill>
          <a:latin typeface="Helvetica Neue Medium" charset="0"/>
          <a:ea typeface="Helvetica Neue Medium" charset="0"/>
          <a:cs typeface="Helvetica Neue Medium" charset="0"/>
          <a:sym typeface="Helvetica Neue Medium" charset="0"/>
        </a:defRPr>
      </a:lvl4pPr>
      <a:lvl5pPr algn="ctr" defTabSz="584200" rtl="0" eaLnBrk="0" fontAlgn="base" hangingPunct="0">
        <a:spcBef>
          <a:spcPct val="0"/>
        </a:spcBef>
        <a:spcAft>
          <a:spcPct val="0"/>
        </a:spcAft>
        <a:defRPr sz="8000">
          <a:solidFill>
            <a:srgbClr val="000000"/>
          </a:solidFill>
          <a:latin typeface="Helvetica Neue Medium" charset="0"/>
          <a:ea typeface="Helvetica Neue Medium" charset="0"/>
          <a:cs typeface="Helvetica Neue Medium" charset="0"/>
          <a:sym typeface="Helvetica Neue Medium" charset="0"/>
        </a:defRPr>
      </a:lvl5pPr>
      <a:lvl6pPr marL="457200" algn="ctr" defTabSz="584200" rtl="0" fontAlgn="base" hangingPunct="0">
        <a:spcBef>
          <a:spcPct val="0"/>
        </a:spcBef>
        <a:spcAft>
          <a:spcPct val="0"/>
        </a:spcAft>
        <a:defRPr sz="8000">
          <a:solidFill>
            <a:srgbClr val="000000"/>
          </a:solidFill>
          <a:latin typeface="Helvetica Neue Medium" charset="0"/>
          <a:ea typeface="Helvetica Neue Medium" charset="0"/>
          <a:cs typeface="Helvetica Neue Medium" charset="0"/>
          <a:sym typeface="Helvetica Neue Medium" charset="0"/>
        </a:defRPr>
      </a:lvl6pPr>
      <a:lvl7pPr marL="914400" algn="ctr" defTabSz="584200" rtl="0" fontAlgn="base" hangingPunct="0">
        <a:spcBef>
          <a:spcPct val="0"/>
        </a:spcBef>
        <a:spcAft>
          <a:spcPct val="0"/>
        </a:spcAft>
        <a:defRPr sz="8000">
          <a:solidFill>
            <a:srgbClr val="000000"/>
          </a:solidFill>
          <a:latin typeface="Helvetica Neue Medium" charset="0"/>
          <a:ea typeface="Helvetica Neue Medium" charset="0"/>
          <a:cs typeface="Helvetica Neue Medium" charset="0"/>
          <a:sym typeface="Helvetica Neue Medium" charset="0"/>
        </a:defRPr>
      </a:lvl7pPr>
      <a:lvl8pPr marL="1371600" algn="ctr" defTabSz="584200" rtl="0" fontAlgn="base" hangingPunct="0">
        <a:spcBef>
          <a:spcPct val="0"/>
        </a:spcBef>
        <a:spcAft>
          <a:spcPct val="0"/>
        </a:spcAft>
        <a:defRPr sz="8000">
          <a:solidFill>
            <a:srgbClr val="000000"/>
          </a:solidFill>
          <a:latin typeface="Helvetica Neue Medium" charset="0"/>
          <a:ea typeface="Helvetica Neue Medium" charset="0"/>
          <a:cs typeface="Helvetica Neue Medium" charset="0"/>
          <a:sym typeface="Helvetica Neue Medium" charset="0"/>
        </a:defRPr>
      </a:lvl8pPr>
      <a:lvl9pPr marL="1828800" algn="ctr" defTabSz="584200" rtl="0" fontAlgn="base" hangingPunct="0">
        <a:spcBef>
          <a:spcPct val="0"/>
        </a:spcBef>
        <a:spcAft>
          <a:spcPct val="0"/>
        </a:spcAft>
        <a:defRPr sz="8000">
          <a:solidFill>
            <a:srgbClr val="000000"/>
          </a:solidFill>
          <a:latin typeface="Helvetica Neue Medium" charset="0"/>
          <a:ea typeface="Helvetica Neue Medium" charset="0"/>
          <a:cs typeface="Helvetica Neue Medium" charset="0"/>
          <a:sym typeface="Helvetica Neue Medium" charset="0"/>
        </a:defRPr>
      </a:lvl9pPr>
    </p:titleStyle>
    <p:bodyStyle>
      <a:lvl1pPr marL="444500" indent="-444500" algn="l" defTabSz="584200" rtl="0" eaLnBrk="0" fontAlgn="base" hangingPunct="0">
        <a:spcBef>
          <a:spcPts val="4200"/>
        </a:spcBef>
        <a:spcAft>
          <a:spcPct val="0"/>
        </a:spcAft>
        <a:buSzPct val="145000"/>
        <a:buChar char="•"/>
        <a:defRPr sz="3200">
          <a:solidFill>
            <a:srgbClr val="000000"/>
          </a:solidFill>
          <a:latin typeface="+mn-lt"/>
          <a:ea typeface="+mn-ea"/>
          <a:cs typeface="+mn-cs"/>
          <a:sym typeface="Helvetica Neue" charset="0"/>
        </a:defRPr>
      </a:lvl1pPr>
      <a:lvl2pPr marL="889000" indent="-444500" algn="l" defTabSz="584200" rtl="0" eaLnBrk="0" fontAlgn="base" hangingPunct="0">
        <a:spcBef>
          <a:spcPts val="4200"/>
        </a:spcBef>
        <a:spcAft>
          <a:spcPct val="0"/>
        </a:spcAft>
        <a:buSzPct val="145000"/>
        <a:buChar char="•"/>
        <a:defRPr sz="3200">
          <a:solidFill>
            <a:srgbClr val="000000"/>
          </a:solidFill>
          <a:latin typeface="+mn-lt"/>
          <a:ea typeface="+mn-ea"/>
          <a:cs typeface="+mn-cs"/>
          <a:sym typeface="Helvetica Neue" charset="0"/>
        </a:defRPr>
      </a:lvl2pPr>
      <a:lvl3pPr marL="1333500" indent="-444500" algn="l" defTabSz="584200" rtl="0" eaLnBrk="0" fontAlgn="base" hangingPunct="0">
        <a:spcBef>
          <a:spcPts val="4200"/>
        </a:spcBef>
        <a:spcAft>
          <a:spcPct val="0"/>
        </a:spcAft>
        <a:buSzPct val="145000"/>
        <a:buChar char="•"/>
        <a:defRPr sz="3200">
          <a:solidFill>
            <a:srgbClr val="000000"/>
          </a:solidFill>
          <a:latin typeface="+mn-lt"/>
          <a:ea typeface="+mn-ea"/>
          <a:cs typeface="+mn-cs"/>
          <a:sym typeface="Helvetica Neue" charset="0"/>
        </a:defRPr>
      </a:lvl3pPr>
      <a:lvl4pPr marL="1778000" indent="-444500" algn="l" defTabSz="584200" rtl="0" eaLnBrk="0" fontAlgn="base" hangingPunct="0">
        <a:spcBef>
          <a:spcPts val="4200"/>
        </a:spcBef>
        <a:spcAft>
          <a:spcPct val="0"/>
        </a:spcAft>
        <a:buSzPct val="145000"/>
        <a:buChar char="•"/>
        <a:defRPr sz="3200">
          <a:solidFill>
            <a:srgbClr val="000000"/>
          </a:solidFill>
          <a:latin typeface="+mn-lt"/>
          <a:ea typeface="+mn-ea"/>
          <a:cs typeface="+mn-cs"/>
          <a:sym typeface="Helvetica Neue" charset="0"/>
        </a:defRPr>
      </a:lvl4pPr>
      <a:lvl5pPr marL="2222500" indent="-444500" algn="l" defTabSz="584200" rtl="0" eaLnBrk="0" fontAlgn="base" hangingPunct="0">
        <a:spcBef>
          <a:spcPts val="4200"/>
        </a:spcBef>
        <a:spcAft>
          <a:spcPct val="0"/>
        </a:spcAft>
        <a:buSzPct val="145000"/>
        <a:buChar char="•"/>
        <a:defRPr sz="3200">
          <a:solidFill>
            <a:srgbClr val="000000"/>
          </a:solidFill>
          <a:latin typeface="+mn-lt"/>
          <a:ea typeface="+mn-ea"/>
          <a:cs typeface="+mn-cs"/>
          <a:sym typeface="Helvetica Neue" charset="0"/>
        </a:defRPr>
      </a:lvl5pPr>
      <a:lvl6pPr marL="2679700" indent="-444500" algn="l" defTabSz="584200" rtl="0" fontAlgn="base" hangingPunct="0">
        <a:spcBef>
          <a:spcPts val="4200"/>
        </a:spcBef>
        <a:spcAft>
          <a:spcPct val="0"/>
        </a:spcAft>
        <a:buSzPct val="145000"/>
        <a:buChar char="•"/>
        <a:defRPr sz="3200">
          <a:solidFill>
            <a:srgbClr val="000000"/>
          </a:solidFill>
          <a:latin typeface="+mn-lt"/>
          <a:ea typeface="+mn-ea"/>
          <a:cs typeface="+mn-cs"/>
          <a:sym typeface="Helvetica Neue" charset="0"/>
        </a:defRPr>
      </a:lvl6pPr>
      <a:lvl7pPr marL="3136900" indent="-444500" algn="l" defTabSz="584200" rtl="0" fontAlgn="base" hangingPunct="0">
        <a:spcBef>
          <a:spcPts val="4200"/>
        </a:spcBef>
        <a:spcAft>
          <a:spcPct val="0"/>
        </a:spcAft>
        <a:buSzPct val="145000"/>
        <a:buChar char="•"/>
        <a:defRPr sz="3200">
          <a:solidFill>
            <a:srgbClr val="000000"/>
          </a:solidFill>
          <a:latin typeface="+mn-lt"/>
          <a:ea typeface="+mn-ea"/>
          <a:cs typeface="+mn-cs"/>
          <a:sym typeface="Helvetica Neue" charset="0"/>
        </a:defRPr>
      </a:lvl7pPr>
      <a:lvl8pPr marL="3594100" indent="-444500" algn="l" defTabSz="584200" rtl="0" fontAlgn="base" hangingPunct="0">
        <a:spcBef>
          <a:spcPts val="4200"/>
        </a:spcBef>
        <a:spcAft>
          <a:spcPct val="0"/>
        </a:spcAft>
        <a:buSzPct val="145000"/>
        <a:buChar char="•"/>
        <a:defRPr sz="3200">
          <a:solidFill>
            <a:srgbClr val="000000"/>
          </a:solidFill>
          <a:latin typeface="+mn-lt"/>
          <a:ea typeface="+mn-ea"/>
          <a:cs typeface="+mn-cs"/>
          <a:sym typeface="Helvetica Neue" charset="0"/>
        </a:defRPr>
      </a:lvl8pPr>
      <a:lvl9pPr marL="4051300" indent="-444500" algn="l" defTabSz="584200" rtl="0" fontAlgn="base" hangingPunct="0">
        <a:spcBef>
          <a:spcPts val="4200"/>
        </a:spcBef>
        <a:spcAft>
          <a:spcPct val="0"/>
        </a:spcAft>
        <a:buSzPct val="145000"/>
        <a:buChar char="•"/>
        <a:defRPr sz="3200">
          <a:solidFill>
            <a:srgbClr val="000000"/>
          </a:solidFill>
          <a:latin typeface="+mn-lt"/>
          <a:ea typeface="+mn-ea"/>
          <a:cs typeface="+mn-cs"/>
          <a:sym typeface="Helvetica Neue" charset="0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3" name="Rectangle 1"/>
          <p:cNvSpPr>
            <a:spLocks noGrp="1" noChangeArrowheads="1"/>
          </p:cNvSpPr>
          <p:nvPr>
            <p:ph type="ctrTitle"/>
          </p:nvPr>
        </p:nvSpPr>
        <p:spPr>
          <a:xfrm>
            <a:off x="1270000" y="1638300"/>
            <a:ext cx="10464800" cy="3302000"/>
          </a:xfrm>
        </p:spPr>
        <p:txBody>
          <a:bodyPr anchor="b"/>
          <a:lstStyle/>
          <a:p>
            <a:r>
              <a:rPr lang="en-US" dirty="0" smtClean="0"/>
              <a:t>Sorting</a:t>
            </a:r>
            <a:endParaRPr lang="en-US" dirty="0"/>
          </a:p>
        </p:txBody>
      </p:sp>
      <p:sp>
        <p:nvSpPr>
          <p:cNvPr id="3074" name="Rectangle 2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1270000" y="5041900"/>
            <a:ext cx="10464800" cy="1130300"/>
          </a:xfrm>
        </p:spPr>
        <p:txBody>
          <a:bodyPr anchor="t"/>
          <a:lstStyle/>
          <a:p>
            <a:pPr>
              <a:spcBef>
                <a:spcPct val="0"/>
              </a:spcBef>
              <a:buSzTx/>
            </a:pPr>
            <a:endParaRPr lang="en-US" sz="3700"/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7" name="Rectangle 1"/>
          <p:cNvSpPr>
            <a:spLocks/>
          </p:cNvSpPr>
          <p:nvPr/>
        </p:nvSpPr>
        <p:spPr bwMode="auto">
          <a:xfrm>
            <a:off x="1092200" y="2341563"/>
            <a:ext cx="2842125" cy="1579920"/>
          </a:xfrm>
          <a:prstGeom prst="rect">
            <a:avLst/>
          </a:prstGeom>
          <a:noFill/>
          <a:ln w="12700" cap="flat" cmpd="sng">
            <a:noFill/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wrap="none" lIns="50800" tIns="50800" rIns="50800" bIns="50800" anchor="t">
            <a:spAutoFit/>
          </a:bodyPr>
          <a:lstStyle/>
          <a:p>
            <a:pPr algn="l"/>
            <a:r>
              <a:rPr lang="en-US" sz="3200" dirty="0"/>
              <a:t>LAST</a:t>
            </a:r>
          </a:p>
          <a:p>
            <a:pPr algn="l"/>
            <a:endParaRPr lang="en-US" sz="3200" dirty="0"/>
          </a:p>
          <a:p>
            <a:pPr marL="231775" indent="-231775" algn="l">
              <a:buFont typeface="Arial" pitchFamily="34" charset="0"/>
              <a:buChar char="•"/>
            </a:pPr>
            <a:r>
              <a:rPr lang="en-US" sz="3200" b="0" dirty="0" smtClean="0">
                <a:latin typeface="Helvetica Neue Medium" charset="0"/>
                <a:ea typeface="Helvetica Neue Medium" charset="0"/>
                <a:cs typeface="Helvetica Neue Medium" charset="0"/>
                <a:sym typeface="Helvetica Neue Medium" charset="0"/>
              </a:rPr>
              <a:t>Binary search</a:t>
            </a:r>
          </a:p>
        </p:txBody>
      </p:sp>
      <p:sp>
        <p:nvSpPr>
          <p:cNvPr id="4098" name="Rectangle 2"/>
          <p:cNvSpPr>
            <a:spLocks/>
          </p:cNvSpPr>
          <p:nvPr/>
        </p:nvSpPr>
        <p:spPr bwMode="auto">
          <a:xfrm>
            <a:off x="5054600" y="2322513"/>
            <a:ext cx="3549048" cy="3426579"/>
          </a:xfrm>
          <a:prstGeom prst="rect">
            <a:avLst/>
          </a:prstGeom>
          <a:noFill/>
          <a:ln w="12700" cap="flat" cmpd="sng">
            <a:noFill/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wrap="none" lIns="50800" tIns="50800" rIns="50800" bIns="50800" anchor="t">
            <a:spAutoFit/>
          </a:bodyPr>
          <a:lstStyle/>
          <a:p>
            <a:pPr algn="l"/>
            <a:r>
              <a:rPr lang="en-US" sz="3200" dirty="0"/>
              <a:t>TODAY</a:t>
            </a:r>
          </a:p>
          <a:p>
            <a:pPr algn="l"/>
            <a:endParaRPr lang="en-US" sz="3200" dirty="0"/>
          </a:p>
          <a:p>
            <a:pPr marL="231775" indent="-231775" algn="l">
              <a:buFont typeface="Arial" pitchFamily="34" charset="0"/>
              <a:buChar char="•"/>
            </a:pPr>
            <a:r>
              <a:rPr lang="en-US" sz="3200" b="0" dirty="0" smtClean="0">
                <a:latin typeface="Helvetica Neue Medium" charset="0"/>
                <a:ea typeface="Helvetica Neue Medium" charset="0"/>
                <a:cs typeface="Helvetica Neue Medium" charset="0"/>
                <a:sym typeface="Helvetica Neue Medium" charset="0"/>
              </a:rPr>
              <a:t>Divide &amp; Conquer</a:t>
            </a:r>
            <a:endParaRPr lang="en-US" sz="3200" b="0" dirty="0"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  <a:p>
            <a:pPr marL="688975" lvl="1" indent="-231775" algn="l">
              <a:buFont typeface="Arial" pitchFamily="34" charset="0"/>
              <a:buChar char="•"/>
            </a:pPr>
            <a:r>
              <a:rPr lang="en-US" sz="2800" b="0" dirty="0" err="1" smtClean="0">
                <a:latin typeface="Helvetica Neue Medium" charset="0"/>
                <a:ea typeface="Helvetica Neue Medium" charset="0"/>
                <a:cs typeface="Helvetica Neue Medium" charset="0"/>
                <a:sym typeface="Helvetica Neue Medium" charset="0"/>
              </a:rPr>
              <a:t>mergesort</a:t>
            </a:r>
            <a:endParaRPr lang="en-US" sz="2800" b="0" dirty="0" smtClean="0"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  <a:p>
            <a:pPr marL="688975" lvl="1" indent="-231775" algn="l">
              <a:buFont typeface="Arial" pitchFamily="34" charset="0"/>
              <a:buChar char="•"/>
            </a:pPr>
            <a:r>
              <a:rPr lang="en-US" sz="2800" b="0" dirty="0" err="1" smtClean="0">
                <a:latin typeface="Helvetica Neue Medium" charset="0"/>
                <a:ea typeface="Helvetica Neue Medium" charset="0"/>
                <a:cs typeface="Helvetica Neue Medium" charset="0"/>
                <a:sym typeface="Helvetica Neue Medium" charset="0"/>
              </a:rPr>
              <a:t>quicksort</a:t>
            </a:r>
            <a:endParaRPr lang="en-US" sz="2800" b="0" dirty="0"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  <a:p>
            <a:pPr marL="231775" indent="-231775" algn="l">
              <a:buFont typeface="Arial" pitchFamily="34" charset="0"/>
              <a:buChar char="•"/>
            </a:pPr>
            <a:r>
              <a:rPr lang="en-US" sz="3200" b="0" dirty="0" smtClean="0">
                <a:latin typeface="Helvetica Neue Medium" charset="0"/>
                <a:ea typeface="Helvetica Neue Medium" charset="0"/>
                <a:cs typeface="Helvetica Neue Medium" charset="0"/>
                <a:sym typeface="Helvetica Neue Medium" charset="0"/>
              </a:rPr>
              <a:t>Recursion</a:t>
            </a:r>
          </a:p>
          <a:p>
            <a:pPr marL="231775" indent="-231775" algn="l">
              <a:buFont typeface="Arial" pitchFamily="34" charset="0"/>
              <a:buChar char="•"/>
            </a:pPr>
            <a:r>
              <a:rPr lang="en-US" sz="3200" b="0" dirty="0" smtClean="0">
                <a:latin typeface="Helvetica Neue Medium" charset="0"/>
                <a:ea typeface="Helvetica Neue Medium" charset="0"/>
                <a:cs typeface="Helvetica Neue Medium" charset="0"/>
                <a:sym typeface="Helvetica Neue Medium" charset="0"/>
              </a:rPr>
              <a:t>Randomness</a:t>
            </a:r>
            <a:endParaRPr lang="en-US" sz="3200" b="0" dirty="0"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  <p:sp>
        <p:nvSpPr>
          <p:cNvPr id="4099" name="Rectangle 3"/>
          <p:cNvSpPr>
            <a:spLocks/>
          </p:cNvSpPr>
          <p:nvPr/>
        </p:nvSpPr>
        <p:spPr bwMode="auto">
          <a:xfrm>
            <a:off x="9482791" y="2341563"/>
            <a:ext cx="2834109" cy="2349361"/>
          </a:xfrm>
          <a:prstGeom prst="rect">
            <a:avLst/>
          </a:prstGeom>
          <a:noFill/>
          <a:ln w="12700" cap="flat" cmpd="sng">
            <a:noFill/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wrap="none" lIns="50800" tIns="50800" rIns="50800" bIns="50800" anchor="t">
            <a:spAutoFit/>
          </a:bodyPr>
          <a:lstStyle/>
          <a:p>
            <a:pPr algn="l"/>
            <a:r>
              <a:rPr lang="en-US" sz="3200" dirty="0"/>
              <a:t>NEXT</a:t>
            </a:r>
          </a:p>
          <a:p>
            <a:pPr algn="l"/>
            <a:endParaRPr lang="en-US" sz="3200" dirty="0"/>
          </a:p>
          <a:p>
            <a:pPr marL="231775" indent="-231775" algn="l">
              <a:buFont typeface="Arial" pitchFamily="34" charset="0"/>
              <a:buChar char="•"/>
            </a:pPr>
            <a:r>
              <a:rPr lang="en-US" sz="3200" b="0" dirty="0" smtClean="0">
                <a:latin typeface="Helvetica Neue Medium" charset="0"/>
                <a:ea typeface="Helvetica Neue Medium" charset="0"/>
                <a:cs typeface="Helvetica Neue Medium" charset="0"/>
                <a:sym typeface="Helvetica Neue Medium" charset="0"/>
              </a:rPr>
              <a:t>PART II</a:t>
            </a:r>
            <a:endParaRPr lang="en-US" sz="3200" b="0" dirty="0"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  <a:p>
            <a:pPr marL="231775" indent="-231775" algn="l"/>
            <a:endParaRPr lang="en-US" sz="1800" b="0" dirty="0" smtClean="0"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  <a:p>
            <a:pPr marL="231775" indent="-231775" algn="l"/>
            <a:r>
              <a:rPr lang="en-US" sz="3200" b="0" dirty="0" smtClean="0">
                <a:latin typeface="Helvetica Neue Medium" charset="0"/>
                <a:ea typeface="Helvetica Neue Medium" charset="0"/>
                <a:cs typeface="Helvetica Neue Medium" charset="0"/>
                <a:sym typeface="Helvetica Neue Medium" charset="0"/>
              </a:rPr>
              <a:t>	</a:t>
            </a:r>
            <a:r>
              <a:rPr lang="en-US" sz="2800" b="0" dirty="0" smtClean="0">
                <a:latin typeface="Helvetica Neue Medium" charset="0"/>
                <a:ea typeface="Helvetica Neue Medium" charset="0"/>
                <a:cs typeface="Helvetica Neue Medium" charset="0"/>
                <a:sym typeface="Helvetica Neue Medium" charset="0"/>
              </a:rPr>
              <a:t>Data Structures</a:t>
            </a:r>
            <a:endParaRPr lang="en-US" sz="2800" b="0" dirty="0">
              <a:latin typeface="Helvetica Neue Medium" charset="0"/>
              <a:ea typeface="Helvetica Neue Medium" charset="0"/>
              <a:cs typeface="Helvetica Neue Medium" charset="0"/>
              <a:sym typeface="Helvetica Neue Medium" charset="0"/>
            </a:endParaRPr>
          </a:p>
        </p:txBody>
      </p:sp>
    </p:spTree>
  </p:cSld>
  <p:clrMapOvr>
    <a:masterClrMapping/>
  </p:clrMapOvr>
  <p:transition spd="med"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Divide and Conquer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39799" y="228601"/>
            <a:ext cx="11125201" cy="1524000"/>
          </a:xfrm>
        </p:spPr>
        <p:txBody>
          <a:bodyPr/>
          <a:lstStyle/>
          <a:p>
            <a:r>
              <a:rPr lang="en-US" sz="4800" dirty="0" smtClean="0"/>
              <a:t>Searching an </a:t>
            </a:r>
            <a:r>
              <a:rPr lang="en-US" sz="4800" i="1" dirty="0" smtClean="0"/>
              <a:t>n</a:t>
            </a:r>
            <a:r>
              <a:rPr lang="en-US" sz="4800" dirty="0" smtClean="0"/>
              <a:t>-element Array</a:t>
            </a:r>
            <a:endParaRPr lang="en-US" dirty="0"/>
          </a:p>
        </p:txBody>
      </p:sp>
      <p:sp>
        <p:nvSpPr>
          <p:cNvPr id="6" name="Text Placeholder 5"/>
          <p:cNvSpPr>
            <a:spLocks noGrp="1"/>
          </p:cNvSpPr>
          <p:nvPr>
            <p:ph type="body" idx="1"/>
          </p:nvPr>
        </p:nvSpPr>
        <p:spPr>
          <a:xfrm>
            <a:off x="558800" y="2057400"/>
            <a:ext cx="5745163" cy="909637"/>
          </a:xfrm>
        </p:spPr>
        <p:txBody>
          <a:bodyPr anchor="ctr"/>
          <a:lstStyle/>
          <a:p>
            <a:pPr algn="ctr"/>
            <a:r>
              <a:rPr lang="en-US" sz="3600" b="0" dirty="0" smtClean="0"/>
              <a:t>Linear Search</a:t>
            </a:r>
            <a:endParaRPr lang="en-US" sz="3600" b="0" dirty="0"/>
          </a:p>
        </p:txBody>
      </p:sp>
      <p:sp>
        <p:nvSpPr>
          <p:cNvPr id="7" name="Content Placeholder 6"/>
          <p:cNvSpPr>
            <a:spLocks noGrp="1"/>
          </p:cNvSpPr>
          <p:nvPr>
            <p:ph sz="half" idx="2"/>
          </p:nvPr>
        </p:nvSpPr>
        <p:spPr>
          <a:xfrm>
            <a:off x="558800" y="2967037"/>
            <a:ext cx="5927725" cy="5619750"/>
          </a:xfrm>
        </p:spPr>
        <p:txBody>
          <a:bodyPr anchor="t"/>
          <a:lstStyle/>
          <a:p>
            <a:pPr marL="339725" indent="-339725">
              <a:spcBef>
                <a:spcPts val="800"/>
              </a:spcBef>
              <a:buSzPct val="100000"/>
              <a:buFont typeface="Wingdings" pitchFamily="2" charset="2"/>
              <a:buChar char="l"/>
            </a:pPr>
            <a:r>
              <a:rPr lang="en-US" dirty="0" smtClean="0"/>
              <a:t>Check an element</a:t>
            </a:r>
          </a:p>
          <a:p>
            <a:pPr marL="339725" indent="-339725">
              <a:spcBef>
                <a:spcPts val="800"/>
              </a:spcBef>
              <a:buSzPct val="100000"/>
              <a:buFont typeface="Wingdings" pitchFamily="2" charset="2"/>
              <a:buChar char="l"/>
            </a:pPr>
            <a:r>
              <a:rPr lang="en-US" dirty="0" smtClean="0"/>
              <a:t>If not found,</a:t>
            </a:r>
            <a:br>
              <a:rPr lang="en-US" dirty="0" smtClean="0"/>
            </a:br>
            <a:r>
              <a:rPr lang="en-US" dirty="0" smtClean="0"/>
              <a:t>search (n-1) -element array</a:t>
            </a:r>
          </a:p>
          <a:p>
            <a:pPr marL="339725" indent="-339725">
              <a:spcBef>
                <a:spcPts val="800"/>
              </a:spcBef>
              <a:buSzPct val="100000"/>
              <a:buFont typeface="Wingdings" pitchFamily="2" charset="2"/>
              <a:buChar char="l"/>
            </a:pPr>
            <a:endParaRPr lang="en-US" dirty="0" smtClean="0"/>
          </a:p>
        </p:txBody>
      </p:sp>
      <p:sp>
        <p:nvSpPr>
          <p:cNvPr id="8" name="Text Placeholder 7"/>
          <p:cNvSpPr>
            <a:spLocks noGrp="1"/>
          </p:cNvSpPr>
          <p:nvPr>
            <p:ph type="body" sz="quarter" idx="3"/>
          </p:nvPr>
        </p:nvSpPr>
        <p:spPr>
          <a:xfrm>
            <a:off x="6681788" y="2057400"/>
            <a:ext cx="5748337" cy="909637"/>
          </a:xfrm>
        </p:spPr>
        <p:txBody>
          <a:bodyPr anchor="ctr"/>
          <a:lstStyle/>
          <a:p>
            <a:pPr algn="ctr"/>
            <a:r>
              <a:rPr lang="en-US" sz="3600" b="0" dirty="0" smtClean="0"/>
              <a:t>Binary Search</a:t>
            </a:r>
          </a:p>
        </p:txBody>
      </p:sp>
      <p:sp>
        <p:nvSpPr>
          <p:cNvPr id="9" name="Content Placeholder 8"/>
          <p:cNvSpPr>
            <a:spLocks noGrp="1"/>
          </p:cNvSpPr>
          <p:nvPr>
            <p:ph sz="quarter" idx="4"/>
          </p:nvPr>
        </p:nvSpPr>
        <p:spPr>
          <a:xfrm>
            <a:off x="6681788" y="2967037"/>
            <a:ext cx="5840412" cy="5619750"/>
          </a:xfrm>
        </p:spPr>
        <p:txBody>
          <a:bodyPr anchor="t"/>
          <a:lstStyle/>
          <a:p>
            <a:pPr marL="339725" indent="-339725">
              <a:spcBef>
                <a:spcPts val="800"/>
              </a:spcBef>
              <a:buSzPct val="100000"/>
              <a:buFont typeface="Wingdings" pitchFamily="2" charset="2"/>
              <a:buChar char="l"/>
            </a:pPr>
            <a:r>
              <a:rPr lang="en-US" dirty="0" smtClean="0"/>
              <a:t>Check an element</a:t>
            </a:r>
          </a:p>
          <a:p>
            <a:pPr marL="339725" indent="-339725">
              <a:spcBef>
                <a:spcPts val="800"/>
              </a:spcBef>
              <a:buSzPct val="100000"/>
              <a:buFont typeface="Wingdings" pitchFamily="2" charset="2"/>
              <a:buChar char="l"/>
            </a:pPr>
            <a:r>
              <a:rPr lang="en-US" dirty="0" smtClean="0"/>
              <a:t>If not found, </a:t>
            </a:r>
            <a:br>
              <a:rPr lang="en-US" dirty="0" smtClean="0"/>
            </a:br>
            <a:r>
              <a:rPr lang="en-US" dirty="0" smtClean="0"/>
              <a:t>search (n/2) -element array</a:t>
            </a:r>
          </a:p>
          <a:p>
            <a:pPr marL="339725" indent="-339725">
              <a:spcBef>
                <a:spcPts val="800"/>
              </a:spcBef>
              <a:buSzPct val="100000"/>
              <a:buFont typeface="Wingdings" pitchFamily="2" charset="2"/>
              <a:buChar char="l"/>
            </a:pPr>
            <a:endParaRPr lang="en-US" dirty="0" smtClean="0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1244600" y="4659947"/>
          <a:ext cx="2926080" cy="4206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5760"/>
                <a:gridCol w="365760"/>
                <a:gridCol w="365760"/>
                <a:gridCol w="365760"/>
                <a:gridCol w="365760"/>
                <a:gridCol w="365760"/>
                <a:gridCol w="365760"/>
                <a:gridCol w="365760"/>
              </a:tblGrid>
              <a:tr h="365760"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2880"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5760"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2880"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5760"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2880"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5760"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2880"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5760"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2880"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5760"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2880"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5760"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2880"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5760"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416800" y="4659947"/>
          <a:ext cx="2926080" cy="2011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5760"/>
                <a:gridCol w="365760"/>
                <a:gridCol w="365760"/>
                <a:gridCol w="365760"/>
                <a:gridCol w="365760"/>
                <a:gridCol w="365760"/>
                <a:gridCol w="365760"/>
                <a:gridCol w="365760"/>
              </a:tblGrid>
              <a:tr h="365760"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2880"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576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2880"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5760"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2880"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5760"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id="14" name="Straight Arrow Connector 13"/>
          <p:cNvCxnSpPr/>
          <p:nvPr/>
        </p:nvCxnSpPr>
        <p:spPr bwMode="auto">
          <a:xfrm rot="5400000">
            <a:off x="2426494" y="6770687"/>
            <a:ext cx="4191000" cy="1588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000000"/>
            </a:solidFill>
            <a:prstDash val="solid"/>
            <a:miter lim="400000"/>
            <a:headEnd type="arrow"/>
            <a:tailEnd type="arrow"/>
          </a:ln>
          <a:effectLst/>
        </p:spPr>
      </p:cxnSp>
      <p:sp>
        <p:nvSpPr>
          <p:cNvPr id="15" name="TextBox 14"/>
          <p:cNvSpPr txBox="1"/>
          <p:nvPr/>
        </p:nvSpPr>
        <p:spPr>
          <a:xfrm>
            <a:off x="4673600" y="6499522"/>
            <a:ext cx="3561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i="1" dirty="0" smtClean="0">
                <a:solidFill>
                  <a:schemeClr val="tx1"/>
                </a:solidFill>
              </a:rPr>
              <a:t>n</a:t>
            </a:r>
          </a:p>
        </p:txBody>
      </p:sp>
      <p:cxnSp>
        <p:nvCxnSpPr>
          <p:cNvPr id="16" name="Straight Arrow Connector 15"/>
          <p:cNvCxnSpPr/>
          <p:nvPr/>
        </p:nvCxnSpPr>
        <p:spPr bwMode="auto">
          <a:xfrm rot="5400000">
            <a:off x="9664700" y="5703887"/>
            <a:ext cx="2057400" cy="1588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000000"/>
            </a:solidFill>
            <a:prstDash val="solid"/>
            <a:miter lim="400000"/>
            <a:headEnd type="arrow"/>
            <a:tailEnd type="arrow"/>
          </a:ln>
          <a:effectLst/>
        </p:spPr>
      </p:cxnSp>
      <p:sp>
        <p:nvSpPr>
          <p:cNvPr id="17" name="TextBox 16"/>
          <p:cNvSpPr txBox="1"/>
          <p:nvPr/>
        </p:nvSpPr>
        <p:spPr>
          <a:xfrm>
            <a:off x="10794412" y="5437187"/>
            <a:ext cx="8531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i="1" dirty="0" smtClean="0">
                <a:solidFill>
                  <a:schemeClr val="tx1"/>
                </a:solidFill>
              </a:rPr>
              <a:t>log 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73800" y="7189787"/>
            <a:ext cx="276229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dirty="0" smtClean="0">
                <a:solidFill>
                  <a:schemeClr val="tx1"/>
                </a:solidFill>
              </a:rPr>
              <a:t>Huge benefit by</a:t>
            </a:r>
            <a:br>
              <a:rPr lang="en-US" b="0" dirty="0" smtClean="0">
                <a:solidFill>
                  <a:schemeClr val="tx1"/>
                </a:solidFill>
              </a:rPr>
            </a:br>
            <a:r>
              <a:rPr lang="en-US" dirty="0" smtClean="0">
                <a:solidFill>
                  <a:schemeClr val="tx1"/>
                </a:solidFill>
              </a:rPr>
              <a:t>dividing</a:t>
            </a:r>
            <a:r>
              <a:rPr lang="en-US" b="0" dirty="0" smtClean="0">
                <a:solidFill>
                  <a:schemeClr val="tx1"/>
                </a:solidFill>
              </a:rPr>
              <a:t> problem</a:t>
            </a:r>
          </a:p>
          <a:p>
            <a:r>
              <a:rPr lang="en-US" b="0" dirty="0" smtClean="0">
                <a:solidFill>
                  <a:schemeClr val="tx1"/>
                </a:solidFill>
              </a:rPr>
              <a:t>(in </a:t>
            </a:r>
            <a:r>
              <a:rPr lang="en-US" dirty="0" smtClean="0">
                <a:solidFill>
                  <a:schemeClr val="tx1"/>
                </a:solidFill>
              </a:rPr>
              <a:t>half</a:t>
            </a:r>
            <a:r>
              <a:rPr lang="en-US" b="0" dirty="0" smtClean="0">
                <a:solidFill>
                  <a:schemeClr val="tx1"/>
                </a:solidFill>
              </a:rPr>
              <a:t>)</a:t>
            </a:r>
          </a:p>
          <a:p>
            <a:endParaRPr lang="en-US" b="0" dirty="0" smtClean="0">
              <a:solidFill>
                <a:schemeClr val="tx1"/>
              </a:solidFill>
            </a:endParaRPr>
          </a:p>
          <a:p>
            <a:r>
              <a:rPr lang="en-US" b="0" i="1" dirty="0" smtClean="0">
                <a:solidFill>
                  <a:schemeClr val="tx1"/>
                </a:solidFill>
              </a:rPr>
              <a:t>O(n)</a:t>
            </a:r>
            <a:r>
              <a:rPr lang="en-US" b="0" dirty="0" smtClean="0">
                <a:solidFill>
                  <a:schemeClr val="tx1"/>
                </a:solidFill>
              </a:rPr>
              <a:t>          </a:t>
            </a:r>
            <a:r>
              <a:rPr lang="en-US" b="0" i="1" dirty="0" smtClean="0">
                <a:solidFill>
                  <a:schemeClr val="tx1"/>
                </a:solidFill>
              </a:rPr>
              <a:t>O(log n)</a:t>
            </a:r>
          </a:p>
        </p:txBody>
      </p:sp>
      <p:sp>
        <p:nvSpPr>
          <p:cNvPr id="22" name="Right Arrow 21"/>
          <p:cNvSpPr/>
          <p:nvPr/>
        </p:nvSpPr>
        <p:spPr bwMode="auto">
          <a:xfrm>
            <a:off x="7166934" y="8768721"/>
            <a:ext cx="533400" cy="228600"/>
          </a:xfrm>
          <a:prstGeom prst="rightArrow">
            <a:avLst/>
          </a:prstGeom>
          <a:noFill/>
          <a:ln w="254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Sorting an </a:t>
            </a:r>
            <a:r>
              <a:rPr lang="en-US" i="1" dirty="0" smtClean="0"/>
              <a:t>n</a:t>
            </a:r>
            <a:r>
              <a:rPr lang="en-US" dirty="0" smtClean="0"/>
              <a:t>-element Array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Can we do the same for sorting an array?</a:t>
            </a:r>
          </a:p>
          <a:p>
            <a:r>
              <a:rPr lang="en-US" dirty="0" smtClean="0"/>
              <a:t>This time, we need to work on two </a:t>
            </a:r>
            <a:r>
              <a:rPr lang="en-US" b="1" dirty="0" smtClean="0"/>
              <a:t>half-problems</a:t>
            </a:r>
          </a:p>
          <a:p>
            <a:pPr lvl="1"/>
            <a:r>
              <a:rPr lang="en-US" dirty="0" smtClean="0"/>
              <a:t>and combine their results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1244600" y="3962400"/>
          <a:ext cx="2926080" cy="42062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5760"/>
                <a:gridCol w="365760"/>
                <a:gridCol w="365760"/>
                <a:gridCol w="365760"/>
                <a:gridCol w="365760"/>
                <a:gridCol w="365760"/>
                <a:gridCol w="365760"/>
                <a:gridCol w="365760"/>
              </a:tblGrid>
              <a:tr h="365760"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2880"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5760"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2880"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5760"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2880"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5760"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2880"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5760"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2880"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5760"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2880"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5760"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2880"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5760"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14" name="Table 13"/>
          <p:cNvGraphicFramePr>
            <a:graphicFrameLocks noGrp="1"/>
          </p:cNvGraphicFramePr>
          <p:nvPr/>
        </p:nvGraphicFramePr>
        <p:xfrm>
          <a:off x="7416800" y="3962400"/>
          <a:ext cx="2926080" cy="20116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65760"/>
                <a:gridCol w="365760"/>
                <a:gridCol w="365760"/>
                <a:gridCol w="365760"/>
                <a:gridCol w="365760"/>
                <a:gridCol w="365760"/>
                <a:gridCol w="365760"/>
                <a:gridCol w="365760"/>
              </a:tblGrid>
              <a:tr h="365760"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2880"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5760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2880"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5760"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82880"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 marL="0" marR="0" marT="0" marB="0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65760"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5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cxnSp>
        <p:nvCxnSpPr>
          <p:cNvPr id="15" name="Straight Arrow Connector 14"/>
          <p:cNvCxnSpPr/>
          <p:nvPr/>
        </p:nvCxnSpPr>
        <p:spPr bwMode="auto">
          <a:xfrm rot="5400000">
            <a:off x="2426494" y="6073140"/>
            <a:ext cx="4191000" cy="1588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000000"/>
            </a:solidFill>
            <a:prstDash val="solid"/>
            <a:miter lim="400000"/>
            <a:headEnd type="arrow"/>
            <a:tailEnd type="arrow"/>
          </a:ln>
          <a:effectLst/>
        </p:spPr>
      </p:cxnSp>
      <p:sp>
        <p:nvSpPr>
          <p:cNvPr id="16" name="TextBox 15"/>
          <p:cNvSpPr txBox="1"/>
          <p:nvPr/>
        </p:nvSpPr>
        <p:spPr>
          <a:xfrm>
            <a:off x="4673600" y="5801975"/>
            <a:ext cx="35618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i="1" dirty="0" smtClean="0">
                <a:solidFill>
                  <a:schemeClr val="tx1"/>
                </a:solidFill>
              </a:rPr>
              <a:t>n</a:t>
            </a:r>
          </a:p>
        </p:txBody>
      </p:sp>
      <p:cxnSp>
        <p:nvCxnSpPr>
          <p:cNvPr id="17" name="Straight Arrow Connector 16"/>
          <p:cNvCxnSpPr/>
          <p:nvPr/>
        </p:nvCxnSpPr>
        <p:spPr bwMode="auto">
          <a:xfrm rot="5400000">
            <a:off x="9664700" y="5006340"/>
            <a:ext cx="2057400" cy="1588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000000"/>
            </a:solidFill>
            <a:prstDash val="solid"/>
            <a:miter lim="400000"/>
            <a:headEnd type="arrow"/>
            <a:tailEnd type="arrow"/>
          </a:ln>
          <a:effectLst/>
        </p:spPr>
      </p:cxnSp>
      <p:sp>
        <p:nvSpPr>
          <p:cNvPr id="18" name="TextBox 17"/>
          <p:cNvSpPr txBox="1"/>
          <p:nvPr/>
        </p:nvSpPr>
        <p:spPr>
          <a:xfrm>
            <a:off x="10794412" y="4739640"/>
            <a:ext cx="8531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i="1" dirty="0" smtClean="0">
                <a:solidFill>
                  <a:schemeClr val="tx1"/>
                </a:solidFill>
              </a:rPr>
              <a:t>log 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13498" y="6659940"/>
            <a:ext cx="5541902" cy="1672253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457200" lvl="0" indent="-457200" algn="l" eaLnBrk="0">
              <a:spcBef>
                <a:spcPts val="800"/>
              </a:spcBef>
              <a:buSzPct val="100000"/>
              <a:buFont typeface="Wingdings" pitchFamily="2" charset="2"/>
              <a:buChar char="l"/>
            </a:pPr>
            <a:r>
              <a:rPr lang="en-US" sz="3200" b="0" kern="0" dirty="0" smtClean="0">
                <a:latin typeface="Helvetica Neue"/>
              </a:rPr>
              <a:t>This is a general technique</a:t>
            </a:r>
            <a:br>
              <a:rPr lang="en-US" sz="3200" b="0" kern="0" dirty="0" smtClean="0">
                <a:latin typeface="Helvetica Neue"/>
              </a:rPr>
            </a:br>
            <a:r>
              <a:rPr lang="en-US" sz="3200" b="0" kern="0" dirty="0" smtClean="0">
                <a:latin typeface="Helvetica Neue"/>
              </a:rPr>
              <a:t>called</a:t>
            </a:r>
          </a:p>
          <a:p>
            <a:pPr marL="457200" lvl="0" indent="-457200" eaLnBrk="0">
              <a:spcBef>
                <a:spcPts val="800"/>
              </a:spcBef>
              <a:buSzPct val="100000"/>
            </a:pPr>
            <a:r>
              <a:rPr lang="en-US" sz="3200" kern="0" dirty="0" smtClean="0">
                <a:latin typeface="Helvetica Neue"/>
              </a:rPr>
              <a:t>divide and conquer</a:t>
            </a:r>
          </a:p>
        </p:txBody>
      </p:sp>
      <p:sp>
        <p:nvSpPr>
          <p:cNvPr id="22" name="Rectangular Callout 21"/>
          <p:cNvSpPr/>
          <p:nvPr/>
        </p:nvSpPr>
        <p:spPr bwMode="auto">
          <a:xfrm>
            <a:off x="3225800" y="8477071"/>
            <a:ext cx="2862257" cy="1200329"/>
          </a:xfrm>
          <a:prstGeom prst="wedgeRectCallout">
            <a:avLst>
              <a:gd name="adj1" fmla="val 75144"/>
              <a:gd name="adj2" fmla="val -72732"/>
            </a:avLst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wrap="none" lIns="45720" rIns="45720" anchor="ctr">
            <a:spAutoFit/>
          </a:bodyPr>
          <a:lstStyle/>
          <a:p>
            <a:pPr>
              <a:defRPr/>
            </a:pPr>
            <a:r>
              <a:rPr lang="en-US" sz="1800" b="0" dirty="0" smtClean="0"/>
              <a:t>Term variously attributed to</a:t>
            </a:r>
            <a:br>
              <a:rPr lang="en-US" sz="1800" b="0" dirty="0" smtClean="0"/>
            </a:br>
            <a:r>
              <a:rPr lang="en-US" sz="1800" b="0" dirty="0" err="1" smtClean="0"/>
              <a:t>Ceasar</a:t>
            </a:r>
            <a:r>
              <a:rPr lang="en-US" sz="1800" b="0" dirty="0" smtClean="0"/>
              <a:t>, </a:t>
            </a:r>
            <a:r>
              <a:rPr lang="en-US" sz="1800" b="0" dirty="0" err="1" smtClean="0"/>
              <a:t>Macchiavelli</a:t>
            </a:r>
            <a:r>
              <a:rPr lang="en-US" sz="1800" b="0" dirty="0" smtClean="0"/>
              <a:t>,</a:t>
            </a:r>
            <a:br>
              <a:rPr lang="en-US" sz="1800" b="0" dirty="0" smtClean="0"/>
            </a:br>
            <a:r>
              <a:rPr lang="en-US" sz="1800" b="0" dirty="0" smtClean="0"/>
              <a:t>Napoleon, Sun Tzu,</a:t>
            </a:r>
          </a:p>
          <a:p>
            <a:pPr>
              <a:defRPr/>
            </a:pPr>
            <a:r>
              <a:rPr lang="en-US" sz="1800" b="0" i="1" dirty="0" smtClean="0"/>
              <a:t>and many others</a:t>
            </a:r>
            <a:endParaRPr lang="en-US" sz="1800" b="0" i="1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Sorting an </a:t>
            </a:r>
            <a:r>
              <a:rPr lang="en-US" i="1" dirty="0" smtClean="0"/>
              <a:t>n</a:t>
            </a:r>
            <a:r>
              <a:rPr lang="en-US" dirty="0" smtClean="0"/>
              <a:t>-element Array</a:t>
            </a: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1854200" y="3733800"/>
          <a:ext cx="9362440" cy="3291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71600"/>
                <a:gridCol w="3474720"/>
                <a:gridCol w="1041400"/>
                <a:gridCol w="3474720"/>
              </a:tblGrid>
              <a:tr h="914400">
                <a:tc>
                  <a:txBody>
                    <a:bodyPr/>
                    <a:lstStyle/>
                    <a:p>
                      <a:pPr algn="r"/>
                      <a:endParaRPr 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Naïve</a:t>
                      </a:r>
                      <a:br>
                        <a:rPr lang="en-US" b="1" dirty="0" smtClean="0"/>
                      </a:br>
                      <a:r>
                        <a:rPr lang="en-US" b="1" dirty="0" smtClean="0"/>
                        <a:t>algorithm</a:t>
                      </a:r>
                      <a:endParaRPr 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b="1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/>
                        <a:t>Divide and Conquer</a:t>
                      </a:r>
                      <a:br>
                        <a:rPr lang="en-US" b="1" dirty="0" smtClean="0"/>
                      </a:br>
                      <a:r>
                        <a:rPr lang="en-US" b="1" dirty="0" smtClean="0"/>
                        <a:t>algorithm</a:t>
                      </a:r>
                      <a:endParaRPr lang="en-US" b="1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88720">
                <a:tc>
                  <a:txBody>
                    <a:bodyPr/>
                    <a:lstStyle/>
                    <a:p>
                      <a:pPr algn="r"/>
                      <a:r>
                        <a:rPr lang="en-US" b="1" dirty="0" smtClean="0"/>
                        <a:t>Searching</a:t>
                      </a:r>
                      <a:endParaRPr 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 smtClean="0"/>
                        <a:t>Linear search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i="1" dirty="0" smtClean="0"/>
                        <a:t>O(n)</a:t>
                      </a:r>
                      <a:endParaRPr lang="en-US" i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en-US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 smtClean="0"/>
                        <a:t>Binary search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i="1" dirty="0" smtClean="0"/>
                        <a:t>O(n log n)</a:t>
                      </a:r>
                      <a:endParaRPr lang="en-US" i="1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1188720">
                <a:tc>
                  <a:txBody>
                    <a:bodyPr/>
                    <a:lstStyle/>
                    <a:p>
                      <a:pPr algn="r"/>
                      <a:r>
                        <a:rPr lang="en-US" b="1" dirty="0" smtClean="0"/>
                        <a:t>Sorting</a:t>
                      </a:r>
                      <a:endParaRPr lang="en-US" b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 smtClean="0"/>
                        <a:t>Selection Sort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i="1" dirty="0" smtClean="0"/>
                        <a:t>O(n</a:t>
                      </a:r>
                      <a:r>
                        <a:rPr lang="en-US" i="1" baseline="30000" dirty="0" smtClean="0"/>
                        <a:t>2</a:t>
                      </a:r>
                      <a:r>
                        <a:rPr lang="en-US" i="1" dirty="0" smtClean="0"/>
                        <a:t>)</a:t>
                      </a:r>
                      <a:endParaRPr lang="en-US" i="1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endParaRPr lang="en-US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dirty="0" smtClean="0"/>
                        <a:t>??? sort</a:t>
                      </a:r>
                    </a:p>
                    <a:p>
                      <a:pPr algn="ctr">
                        <a:lnSpc>
                          <a:spcPct val="150000"/>
                        </a:lnSpc>
                      </a:pPr>
                      <a:r>
                        <a:rPr lang="en-US" i="1" dirty="0" smtClean="0"/>
                        <a:t>O(??)</a:t>
                      </a:r>
                      <a:endParaRPr lang="en-US" i="1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Right Arrow 4"/>
          <p:cNvSpPr/>
          <p:nvPr/>
        </p:nvSpPr>
        <p:spPr bwMode="auto">
          <a:xfrm>
            <a:off x="6959600" y="5181600"/>
            <a:ext cx="533400" cy="381000"/>
          </a:xfrm>
          <a:prstGeom prst="rightArrow">
            <a:avLst/>
          </a:prstGeom>
          <a:solidFill>
            <a:schemeClr val="bg1">
              <a:lumMod val="75000"/>
            </a:schemeClr>
          </a:solidFill>
          <a:ln w="254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  <p:sp>
        <p:nvSpPr>
          <p:cNvPr id="6" name="Right Arrow 5"/>
          <p:cNvSpPr/>
          <p:nvPr/>
        </p:nvSpPr>
        <p:spPr bwMode="auto">
          <a:xfrm>
            <a:off x="6959600" y="6248400"/>
            <a:ext cx="533400" cy="381000"/>
          </a:xfrm>
          <a:prstGeom prst="rightArrow">
            <a:avLst/>
          </a:prstGeom>
          <a:solidFill>
            <a:schemeClr val="bg1">
              <a:lumMod val="75000"/>
            </a:schemeClr>
          </a:solidFill>
          <a:ln w="254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  <p:sp>
        <p:nvSpPr>
          <p:cNvPr id="7" name="Right Arrow 6"/>
          <p:cNvSpPr/>
          <p:nvPr/>
        </p:nvSpPr>
        <p:spPr bwMode="auto">
          <a:xfrm>
            <a:off x="6959600" y="4038600"/>
            <a:ext cx="533400" cy="381000"/>
          </a:xfrm>
          <a:prstGeom prst="rightArrow">
            <a:avLst/>
          </a:prstGeom>
          <a:solidFill>
            <a:schemeClr val="bg1">
              <a:lumMod val="75000"/>
            </a:schemeClr>
          </a:solidFill>
          <a:ln w="254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  <p:sp>
        <p:nvSpPr>
          <p:cNvPr id="8" name="Oval 7"/>
          <p:cNvSpPr>
            <a:spLocks noChangeArrowheads="1"/>
          </p:cNvSpPr>
          <p:nvPr/>
        </p:nvSpPr>
        <p:spPr bwMode="auto">
          <a:xfrm>
            <a:off x="8559800" y="5943600"/>
            <a:ext cx="1905000" cy="990600"/>
          </a:xfrm>
          <a:prstGeom prst="ellipse">
            <a:avLst/>
          </a:prstGeom>
          <a:noFill/>
          <a:ln w="38100" algn="ctr">
            <a:solidFill>
              <a:srgbClr val="FF0000"/>
            </a:solidFill>
            <a:miter lim="400000"/>
            <a:headEnd/>
            <a:tailEnd/>
          </a:ln>
        </p:spPr>
        <p:txBody>
          <a:bodyPr lIns="45720" rIns="45720" anchor="ctr"/>
          <a:lstStyle/>
          <a:p>
            <a:endParaRPr lang="en-US" sz="2000" b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Recall Selection Sort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52500" y="7696200"/>
            <a:ext cx="11099800" cy="1181100"/>
          </a:xfrm>
        </p:spPr>
        <p:txBody>
          <a:bodyPr/>
          <a:lstStyle/>
          <a:p>
            <a:pPr algn="ctr">
              <a:buNone/>
            </a:pPr>
            <a:r>
              <a:rPr lang="en-US" b="1" i="1" dirty="0" smtClean="0"/>
              <a:t>O(n</a:t>
            </a:r>
            <a:r>
              <a:rPr lang="en-US" b="1" i="1" baseline="30000" dirty="0" smtClean="0"/>
              <a:t>2</a:t>
            </a:r>
            <a:r>
              <a:rPr lang="en-US" b="1" i="1" dirty="0" smtClean="0"/>
              <a:t>)</a:t>
            </a:r>
          </a:p>
        </p:txBody>
      </p:sp>
      <p:sp>
        <p:nvSpPr>
          <p:cNvPr id="4" name="Rectangle 3"/>
          <p:cNvSpPr>
            <a:spLocks/>
          </p:cNvSpPr>
          <p:nvPr/>
        </p:nvSpPr>
        <p:spPr bwMode="auto">
          <a:xfrm>
            <a:off x="2876247" y="2024420"/>
            <a:ext cx="7252306" cy="4985980"/>
          </a:xfrm>
          <a:prstGeom prst="rect">
            <a:avLst/>
          </a:prstGeom>
          <a:noFill/>
          <a:ln w="12700">
            <a:solidFill>
              <a:schemeClr val="tx2"/>
            </a:solidFill>
            <a:miter lim="400000"/>
            <a:headEnd/>
            <a:tailEnd/>
          </a:ln>
        </p:spPr>
        <p:txBody>
          <a:bodyPr wrap="none" tIns="91440" bIns="91440" anchor="ctr">
            <a:spAutoFit/>
          </a:bodyPr>
          <a:lstStyle/>
          <a:p>
            <a:pPr marL="347663" indent="-347663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void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b="0" dirty="0" err="1" smtClean="0">
                <a:solidFill>
                  <a:srgbClr val="5E34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selection_sort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(</a:t>
            </a:r>
            <a:r>
              <a:rPr lang="en-US" b="0" dirty="0" err="1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b="0" dirty="0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[]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b="0" dirty="0" smtClean="0">
                <a:solidFill>
                  <a:srgbClr val="CD7923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A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, </a:t>
            </a:r>
            <a:r>
              <a:rPr lang="en-US" b="0" dirty="0" err="1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b="0" dirty="0" smtClean="0">
                <a:solidFill>
                  <a:srgbClr val="CD7923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lo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, </a:t>
            </a:r>
            <a:r>
              <a:rPr lang="en-US" b="0" dirty="0" err="1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b="0" dirty="0" smtClean="0">
                <a:solidFill>
                  <a:srgbClr val="CD7923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hi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)</a:t>
            </a:r>
          </a:p>
          <a:p>
            <a:pPr marL="347663" indent="-347663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//@requires 0 &lt;= lo &amp;&amp; lo &lt;= hi  &amp;&amp; hi &lt;= \length(A);</a:t>
            </a:r>
          </a:p>
          <a:p>
            <a:pPr marL="347663" indent="-347663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//@ensures </a:t>
            </a:r>
            <a:r>
              <a:rPr lang="en-US" b="0" dirty="0" err="1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is_sorted</a:t>
            </a:r>
            <a:r>
              <a:rPr lang="en-US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(A, lo, hi);</a:t>
            </a:r>
            <a:endParaRPr lang="en-US" b="0" dirty="0" smtClean="0">
              <a:solidFill>
                <a:schemeClr val="tx1"/>
              </a:solidFill>
              <a:latin typeface="Menlo" charset="0"/>
              <a:ea typeface="Menlo" charset="0"/>
              <a:cs typeface="Menlo" charset="0"/>
              <a:sym typeface="Menlo" charset="0"/>
            </a:endParaRPr>
          </a:p>
          <a:p>
            <a:pPr marL="347663" indent="-347663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solidFill>
                  <a:schemeClr val="tx1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{</a:t>
            </a:r>
          </a:p>
          <a:p>
            <a:pPr marL="347663" indent="-347663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 </a:t>
            </a:r>
            <a:r>
              <a:rPr lang="en-US" b="0" dirty="0" smtClean="0">
                <a:solidFill>
                  <a:srgbClr val="D03B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for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(</a:t>
            </a:r>
            <a:r>
              <a:rPr lang="en-US" b="0" dirty="0" err="1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b="0" dirty="0" err="1" smtClean="0">
                <a:solidFill>
                  <a:srgbClr val="CD7923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= lo; </a:t>
            </a:r>
            <a:r>
              <a:rPr lang="en-US" b="0" dirty="0" err="1" smtClean="0">
                <a:latin typeface="Menlo" charset="0"/>
                <a:ea typeface="Menlo" charset="0"/>
                <a:cs typeface="Menlo" charset="0"/>
                <a:sym typeface="Menlo" charset="0"/>
              </a:rPr>
              <a:t>i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&lt; hi; </a:t>
            </a:r>
            <a:r>
              <a:rPr lang="en-US" b="0" dirty="0" err="1" smtClean="0">
                <a:latin typeface="Menlo" charset="0"/>
                <a:ea typeface="Menlo" charset="0"/>
                <a:cs typeface="Menlo" charset="0"/>
                <a:sym typeface="Menlo" charset="0"/>
              </a:rPr>
              <a:t>i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++)</a:t>
            </a:r>
            <a:endParaRPr lang="en-US" b="0" dirty="0" smtClean="0">
              <a:solidFill>
                <a:schemeClr val="tx1"/>
              </a:solidFill>
              <a:latin typeface="Menlo" charset="0"/>
              <a:ea typeface="Menlo" charset="0"/>
              <a:cs typeface="Menlo" charset="0"/>
              <a:sym typeface="Menlo" charset="0"/>
            </a:endParaRPr>
          </a:p>
          <a:p>
            <a:pPr marL="347663" indent="-347663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 //@</a:t>
            </a:r>
            <a:r>
              <a:rPr lang="en-US" b="0" dirty="0" err="1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loop_invariant</a:t>
            </a:r>
            <a:r>
              <a:rPr lang="en-US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 lo &lt;= </a:t>
            </a:r>
            <a:r>
              <a:rPr lang="en-US" b="0" dirty="0" err="1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</a:t>
            </a:r>
            <a:r>
              <a:rPr lang="en-US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 &amp;&amp; </a:t>
            </a:r>
            <a:r>
              <a:rPr lang="en-US" b="0" dirty="0" err="1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</a:t>
            </a:r>
            <a:r>
              <a:rPr lang="en-US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 &lt;= hi;</a:t>
            </a:r>
            <a:endParaRPr lang="en-US" b="0" dirty="0" smtClean="0">
              <a:solidFill>
                <a:schemeClr val="tx1"/>
              </a:solidFill>
              <a:latin typeface="Menlo" charset="0"/>
              <a:ea typeface="Menlo" charset="0"/>
              <a:cs typeface="Menlo" charset="0"/>
              <a:sym typeface="Menlo" charset="0"/>
            </a:endParaRPr>
          </a:p>
          <a:p>
            <a:pPr marL="347663" indent="-347663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 //@</a:t>
            </a:r>
            <a:r>
              <a:rPr lang="en-US" b="0" dirty="0" err="1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loop_invariant</a:t>
            </a:r>
            <a:r>
              <a:rPr lang="en-US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it-IT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is_sorted(A, lo, i);</a:t>
            </a:r>
            <a:endParaRPr lang="en-US" b="0" dirty="0" smtClean="0">
              <a:solidFill>
                <a:schemeClr val="tx1"/>
              </a:solidFill>
              <a:latin typeface="Menlo" charset="0"/>
              <a:ea typeface="Menlo" charset="0"/>
              <a:cs typeface="Menlo" charset="0"/>
              <a:sym typeface="Menlo" charset="0"/>
            </a:endParaRPr>
          </a:p>
          <a:p>
            <a:pPr marL="347663" indent="-347663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  //@</a:t>
            </a:r>
            <a:r>
              <a:rPr lang="en-US" b="0" dirty="0" err="1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loop_invariant</a:t>
            </a:r>
            <a:r>
              <a:rPr lang="en-US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it-IT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le_segs(A, lo, i, A, i, hi);</a:t>
            </a:r>
            <a:endParaRPr lang="en-US" b="0" dirty="0" smtClean="0">
              <a:solidFill>
                <a:schemeClr val="tx1"/>
              </a:solidFill>
              <a:latin typeface="Menlo" charset="0"/>
              <a:ea typeface="Menlo" charset="0"/>
              <a:cs typeface="Menlo" charset="0"/>
              <a:sym typeface="Menlo" charset="0"/>
            </a:endParaRPr>
          </a:p>
          <a:p>
            <a:pPr marL="347663" indent="-347663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 {</a:t>
            </a:r>
            <a:endParaRPr lang="en-US" b="0" dirty="0" smtClean="0">
              <a:solidFill>
                <a:schemeClr val="tx1"/>
              </a:solidFill>
              <a:latin typeface="Menlo" charset="0"/>
              <a:ea typeface="Menlo" charset="0"/>
              <a:cs typeface="Menlo" charset="0"/>
              <a:sym typeface="Menlo" charset="0"/>
            </a:endParaRPr>
          </a:p>
          <a:p>
            <a:pPr marL="347663" indent="-347663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   </a:t>
            </a:r>
            <a:r>
              <a:rPr lang="en-US" b="0" dirty="0" err="1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b="0" dirty="0" smtClean="0">
                <a:solidFill>
                  <a:srgbClr val="CD7923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min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= </a:t>
            </a:r>
            <a:r>
              <a:rPr lang="en-US" b="0" dirty="0" err="1" smtClean="0">
                <a:latin typeface="Menlo" charset="0"/>
                <a:ea typeface="Menlo" charset="0"/>
                <a:cs typeface="Menlo" charset="0"/>
                <a:sym typeface="Menlo" charset="0"/>
              </a:rPr>
              <a:t>find_min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(A, </a:t>
            </a:r>
            <a:r>
              <a:rPr lang="en-US" b="0" dirty="0" err="1" smtClean="0">
                <a:latin typeface="Menlo" charset="0"/>
                <a:ea typeface="Menlo" charset="0"/>
                <a:cs typeface="Menlo" charset="0"/>
                <a:sym typeface="Menlo" charset="0"/>
              </a:rPr>
              <a:t>i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, hi);</a:t>
            </a:r>
            <a:endParaRPr lang="en-US" b="0" dirty="0" smtClean="0">
              <a:solidFill>
                <a:schemeClr val="tx1"/>
              </a:solidFill>
              <a:latin typeface="Menlo" charset="0"/>
              <a:ea typeface="Menlo" charset="0"/>
              <a:cs typeface="Menlo" charset="0"/>
              <a:sym typeface="Menlo" charset="0"/>
            </a:endParaRPr>
          </a:p>
          <a:p>
            <a:pPr marL="347663" indent="-347663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   swap(A, </a:t>
            </a:r>
            <a:r>
              <a:rPr lang="en-US" b="0" dirty="0" err="1" smtClean="0">
                <a:latin typeface="Menlo" charset="0"/>
                <a:ea typeface="Menlo" charset="0"/>
                <a:cs typeface="Menlo" charset="0"/>
                <a:sym typeface="Menlo" charset="0"/>
              </a:rPr>
              <a:t>i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, min);</a:t>
            </a:r>
            <a:endParaRPr lang="en-US" b="0" dirty="0" smtClean="0">
              <a:solidFill>
                <a:schemeClr val="tx1"/>
              </a:solidFill>
              <a:latin typeface="Menlo" charset="0"/>
              <a:ea typeface="Menlo" charset="0"/>
              <a:cs typeface="Menlo" charset="0"/>
              <a:sym typeface="Menlo" charset="0"/>
            </a:endParaRPr>
          </a:p>
          <a:p>
            <a:pPr marL="347663" indent="-347663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 }</a:t>
            </a:r>
            <a:endParaRPr lang="en-US" b="0" dirty="0" smtClean="0">
              <a:solidFill>
                <a:schemeClr val="tx1"/>
              </a:solidFill>
              <a:latin typeface="Menlo" charset="0"/>
              <a:ea typeface="Menlo" charset="0"/>
              <a:cs typeface="Menlo" charset="0"/>
              <a:sym typeface="Menlo" charset="0"/>
            </a:endParaRPr>
          </a:p>
          <a:p>
            <a:pPr marL="347663" indent="-347663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solidFill>
                  <a:schemeClr val="tx1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}</a:t>
            </a:r>
            <a:endParaRPr lang="en-US" dirty="0" smtClean="0">
              <a:solidFill>
                <a:schemeClr val="tx1"/>
              </a:solidFill>
              <a:latin typeface="Menlo" charset="0"/>
              <a:ea typeface="Menlo" charset="0"/>
              <a:cs typeface="Menlo" charset="0"/>
              <a:sym typeface="Menlo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Towards </a:t>
            </a:r>
            <a:r>
              <a:rPr lang="en-US" dirty="0" err="1" smtClean="0"/>
              <a:t>Mergesort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Using Selection Sort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952500" y="5334000"/>
            <a:ext cx="11099800" cy="3543300"/>
          </a:xfrm>
        </p:spPr>
        <p:txBody>
          <a:bodyPr/>
          <a:lstStyle/>
          <a:p>
            <a:r>
              <a:rPr lang="en-US" dirty="0" smtClean="0"/>
              <a:t>If </a:t>
            </a:r>
            <a:r>
              <a:rPr lang="en-US" i="1" dirty="0" smtClean="0"/>
              <a:t>hi - lo = n</a:t>
            </a:r>
          </a:p>
          <a:p>
            <a:pPr lvl="2"/>
            <a:r>
              <a:rPr lang="en-US" dirty="0" smtClean="0"/>
              <a:t>the length of array segment </a:t>
            </a:r>
            <a:r>
              <a:rPr lang="en-US" i="1" dirty="0" smtClean="0"/>
              <a:t>A[lo, hi)</a:t>
            </a:r>
          </a:p>
          <a:p>
            <a:pPr lvl="1"/>
            <a:r>
              <a:rPr lang="en-US" dirty="0" smtClean="0"/>
              <a:t>cost is </a:t>
            </a:r>
            <a:r>
              <a:rPr lang="en-US" i="1" dirty="0" smtClean="0"/>
              <a:t>O(n</a:t>
            </a:r>
            <a:r>
              <a:rPr lang="en-US" i="1" baseline="30000" dirty="0" smtClean="0"/>
              <a:t>2</a:t>
            </a:r>
            <a:r>
              <a:rPr lang="en-US" i="1" dirty="0" smtClean="0"/>
              <a:t>)</a:t>
            </a:r>
            <a:endParaRPr lang="en-US" dirty="0" smtClean="0"/>
          </a:p>
          <a:p>
            <a:pPr lvl="1"/>
            <a:r>
              <a:rPr lang="en-US" dirty="0" smtClean="0"/>
              <a:t>let’s say </a:t>
            </a:r>
            <a:r>
              <a:rPr lang="en-US" i="1" dirty="0" smtClean="0"/>
              <a:t>n</a:t>
            </a:r>
            <a:r>
              <a:rPr lang="en-US" i="1" baseline="30000" dirty="0" smtClean="0"/>
              <a:t>2</a:t>
            </a:r>
            <a:endParaRPr lang="en-US" dirty="0" smtClean="0"/>
          </a:p>
          <a:p>
            <a:pPr lvl="4"/>
            <a:endParaRPr lang="en-US" dirty="0" smtClean="0"/>
          </a:p>
          <a:p>
            <a:r>
              <a:rPr lang="en-US" dirty="0" smtClean="0"/>
              <a:t>But </a:t>
            </a:r>
            <a:r>
              <a:rPr lang="en-US" i="1" dirty="0" smtClean="0"/>
              <a:t>(n/2)</a:t>
            </a:r>
            <a:r>
              <a:rPr lang="en-US" i="1" baseline="30000" dirty="0" smtClean="0"/>
              <a:t>2</a:t>
            </a:r>
            <a:r>
              <a:rPr lang="en-US" i="1" dirty="0" smtClean="0"/>
              <a:t> = n</a:t>
            </a:r>
            <a:r>
              <a:rPr lang="en-US" i="1" baseline="30000" dirty="0" smtClean="0"/>
              <a:t>2</a:t>
            </a:r>
            <a:r>
              <a:rPr lang="en-US" i="1" dirty="0" smtClean="0"/>
              <a:t>/4</a:t>
            </a:r>
          </a:p>
          <a:p>
            <a:pPr lvl="1"/>
            <a:r>
              <a:rPr lang="en-US" dirty="0" smtClean="0"/>
              <a:t>What if we sort the two halves of the array?</a:t>
            </a:r>
            <a:endParaRPr lang="en-US" dirty="0"/>
          </a:p>
        </p:txBody>
      </p:sp>
      <p:sp>
        <p:nvSpPr>
          <p:cNvPr id="6" name="Rectangle 7"/>
          <p:cNvSpPr>
            <a:spLocks/>
          </p:cNvSpPr>
          <p:nvPr/>
        </p:nvSpPr>
        <p:spPr bwMode="auto">
          <a:xfrm>
            <a:off x="939800" y="2268734"/>
            <a:ext cx="625468" cy="595035"/>
          </a:xfrm>
          <a:prstGeom prst="rect">
            <a:avLst/>
          </a:prstGeom>
          <a:noFill/>
          <a:ln w="12700">
            <a:noFill/>
            <a:miter lim="400000"/>
            <a:headEnd/>
            <a:tailEnd/>
          </a:ln>
        </p:spPr>
        <p:txBody>
          <a:bodyPr wrap="square" lIns="50800" tIns="50800" rIns="50800" bIns="50800" anchor="ctr">
            <a:spAutoFit/>
          </a:bodyPr>
          <a:lstStyle/>
          <a:p>
            <a:r>
              <a:rPr lang="en-US" sz="3200" b="0" dirty="0" smtClean="0"/>
              <a:t>A:</a:t>
            </a:r>
            <a:endParaRPr lang="en-US" sz="3200" b="0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625600" y="1825822"/>
          <a:ext cx="5105400" cy="1069778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2355913"/>
                <a:gridCol w="2341177"/>
                <a:gridCol w="408310"/>
              </a:tblGrid>
              <a:tr h="458689">
                <a:tc>
                  <a:txBody>
                    <a:bodyPr/>
                    <a:lstStyle/>
                    <a:p>
                      <a:r>
                        <a:rPr lang="en-US" sz="1800" b="0" dirty="0" smtClean="0">
                          <a:solidFill>
                            <a:schemeClr val="tx1"/>
                          </a:solidFill>
                        </a:rPr>
                        <a:t>lo</a:t>
                      </a:r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i="1" dirty="0" smtClean="0">
                          <a:solidFill>
                            <a:schemeClr val="tx1"/>
                          </a:solidFill>
                        </a:rPr>
                        <a:t>hi</a:t>
                      </a:r>
                      <a:endParaRPr lang="en-US" sz="18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611089">
                <a:tc gridSpan="2"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6" name="Rectangle 7"/>
          <p:cNvSpPr>
            <a:spLocks/>
          </p:cNvSpPr>
          <p:nvPr/>
        </p:nvSpPr>
        <p:spPr bwMode="auto">
          <a:xfrm>
            <a:off x="939800" y="4173734"/>
            <a:ext cx="625468" cy="595035"/>
          </a:xfrm>
          <a:prstGeom prst="rect">
            <a:avLst/>
          </a:prstGeom>
          <a:noFill/>
          <a:ln w="12700">
            <a:noFill/>
            <a:miter lim="400000"/>
            <a:headEnd/>
            <a:tailEnd/>
          </a:ln>
        </p:spPr>
        <p:txBody>
          <a:bodyPr wrap="square" lIns="50800" tIns="50800" rIns="50800" bIns="50800" anchor="ctr">
            <a:spAutoFit/>
          </a:bodyPr>
          <a:lstStyle/>
          <a:p>
            <a:r>
              <a:rPr lang="en-US" sz="3200" b="0" dirty="0" smtClean="0"/>
              <a:t>A:</a:t>
            </a:r>
            <a:endParaRPr lang="en-US" sz="3200" b="0" dirty="0"/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1625600" y="3730822"/>
          <a:ext cx="5105400" cy="1069778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2355913"/>
                <a:gridCol w="2341177"/>
                <a:gridCol w="408310"/>
              </a:tblGrid>
              <a:tr h="458689">
                <a:tc>
                  <a:txBody>
                    <a:bodyPr/>
                    <a:lstStyle/>
                    <a:p>
                      <a:r>
                        <a:rPr lang="en-US" sz="1800" b="0" dirty="0" smtClean="0">
                          <a:solidFill>
                            <a:schemeClr val="tx1"/>
                          </a:solidFill>
                        </a:rPr>
                        <a:t>lo</a:t>
                      </a:r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i="1" dirty="0" smtClean="0">
                          <a:solidFill>
                            <a:schemeClr val="tx1"/>
                          </a:solidFill>
                        </a:rPr>
                        <a:t>hi</a:t>
                      </a:r>
                      <a:endParaRPr lang="en-US" sz="18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611089">
                <a:tc gridSpan="2"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rgbClr val="C00000"/>
                          </a:solidFill>
                        </a:rPr>
                        <a:t>SORTED</a:t>
                      </a:r>
                      <a:endParaRPr lang="en-US" sz="1800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1" name="Curved Left Arrow 20"/>
          <p:cNvSpPr/>
          <p:nvPr/>
        </p:nvSpPr>
        <p:spPr bwMode="auto">
          <a:xfrm>
            <a:off x="6502400" y="2664022"/>
            <a:ext cx="609600" cy="1828800"/>
          </a:xfrm>
          <a:prstGeom prst="curvedLeftArrow">
            <a:avLst/>
          </a:prstGeom>
          <a:solidFill>
            <a:schemeClr val="accent1">
              <a:lumMod val="40000"/>
              <a:lumOff val="60000"/>
            </a:schemeClr>
          </a:solidFill>
          <a:ln w="127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493000" y="3345357"/>
            <a:ext cx="205056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b="0" dirty="0" smtClean="0">
                <a:solidFill>
                  <a:schemeClr val="tx1"/>
                </a:solidFill>
              </a:rPr>
              <a:t>Selection sort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Using Selection Sort Cleverly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952500" y="5524500"/>
            <a:ext cx="11099800" cy="3695700"/>
          </a:xfrm>
        </p:spPr>
        <p:txBody>
          <a:bodyPr/>
          <a:lstStyle/>
          <a:p>
            <a:pPr lvl="1"/>
            <a:r>
              <a:rPr lang="en-US" dirty="0" smtClean="0"/>
              <a:t>Sorting each half costs </a:t>
            </a:r>
            <a:r>
              <a:rPr lang="en-US" i="1" dirty="0" smtClean="0"/>
              <a:t>n</a:t>
            </a:r>
            <a:r>
              <a:rPr lang="en-US" i="1" baseline="30000" dirty="0" smtClean="0"/>
              <a:t>2</a:t>
            </a:r>
            <a:r>
              <a:rPr lang="en-US" i="1" dirty="0" smtClean="0"/>
              <a:t>/4</a:t>
            </a:r>
            <a:endParaRPr lang="en-US" dirty="0" smtClean="0"/>
          </a:p>
          <a:p>
            <a:pPr lvl="1"/>
            <a:r>
              <a:rPr lang="en-US" dirty="0" smtClean="0"/>
              <a:t>altogether that’s </a:t>
            </a:r>
            <a:r>
              <a:rPr lang="en-US" i="1" dirty="0" smtClean="0"/>
              <a:t>n</a:t>
            </a:r>
            <a:r>
              <a:rPr lang="en-US" i="1" baseline="30000" dirty="0" smtClean="0"/>
              <a:t>2</a:t>
            </a:r>
            <a:r>
              <a:rPr lang="en-US" i="1" dirty="0" smtClean="0"/>
              <a:t>/2</a:t>
            </a:r>
          </a:p>
          <a:p>
            <a:pPr lvl="1"/>
            <a:r>
              <a:rPr lang="en-US" dirty="0" smtClean="0"/>
              <a:t>that’s a saving of </a:t>
            </a:r>
            <a:r>
              <a:rPr lang="en-US" b="1" dirty="0" smtClean="0"/>
              <a:t>half</a:t>
            </a:r>
            <a:r>
              <a:rPr lang="en-US" dirty="0" smtClean="0"/>
              <a:t> over using selection sort over whole array!</a:t>
            </a:r>
          </a:p>
          <a:p>
            <a:pPr lvl="4"/>
            <a:endParaRPr lang="en-US" dirty="0" smtClean="0"/>
          </a:p>
          <a:p>
            <a:r>
              <a:rPr lang="en-US" dirty="0" smtClean="0"/>
              <a:t>But the overall array is not sorted</a:t>
            </a:r>
            <a:endParaRPr lang="en-US" i="1" dirty="0" smtClean="0"/>
          </a:p>
          <a:p>
            <a:pPr lvl="1"/>
            <a:r>
              <a:rPr lang="en-US" dirty="0" smtClean="0"/>
              <a:t>If we can turn two sorted halves into a sorted whole for less than </a:t>
            </a:r>
            <a:r>
              <a:rPr lang="en-US" i="1" dirty="0" smtClean="0"/>
              <a:t>n</a:t>
            </a:r>
            <a:r>
              <a:rPr lang="en-US" i="1" baseline="30000" dirty="0" smtClean="0"/>
              <a:t>2</a:t>
            </a:r>
            <a:r>
              <a:rPr lang="en-US" i="1" dirty="0" smtClean="0"/>
              <a:t>/2</a:t>
            </a:r>
            <a:r>
              <a:rPr lang="en-US" dirty="0" smtClean="0"/>
              <a:t>, we are doing better than plain selection sort</a:t>
            </a:r>
          </a:p>
        </p:txBody>
      </p:sp>
      <p:sp>
        <p:nvSpPr>
          <p:cNvPr id="6" name="Rectangle 7"/>
          <p:cNvSpPr>
            <a:spLocks/>
          </p:cNvSpPr>
          <p:nvPr/>
        </p:nvSpPr>
        <p:spPr bwMode="auto">
          <a:xfrm>
            <a:off x="939800" y="2271712"/>
            <a:ext cx="625468" cy="595035"/>
          </a:xfrm>
          <a:prstGeom prst="rect">
            <a:avLst/>
          </a:prstGeom>
          <a:noFill/>
          <a:ln w="12700">
            <a:noFill/>
            <a:miter lim="400000"/>
            <a:headEnd/>
            <a:tailEnd/>
          </a:ln>
        </p:spPr>
        <p:txBody>
          <a:bodyPr wrap="square" lIns="50800" tIns="50800" rIns="50800" bIns="50800" anchor="ctr">
            <a:spAutoFit/>
          </a:bodyPr>
          <a:lstStyle/>
          <a:p>
            <a:r>
              <a:rPr lang="en-US" sz="3200" b="0" dirty="0" smtClean="0"/>
              <a:t>A:</a:t>
            </a:r>
            <a:endParaRPr lang="en-US" sz="3200" b="0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625600" y="1828800"/>
          <a:ext cx="5105400" cy="1069778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2355913"/>
                <a:gridCol w="2341177"/>
                <a:gridCol w="408310"/>
              </a:tblGrid>
              <a:tr h="458689">
                <a:tc>
                  <a:txBody>
                    <a:bodyPr/>
                    <a:lstStyle/>
                    <a:p>
                      <a:r>
                        <a:rPr lang="en-US" sz="1800" b="0" dirty="0" smtClean="0">
                          <a:solidFill>
                            <a:schemeClr val="tx1"/>
                          </a:solidFill>
                        </a:rPr>
                        <a:t>lo</a:t>
                      </a:r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dirty="0" smtClean="0">
                          <a:solidFill>
                            <a:schemeClr val="tx1"/>
                          </a:solidFill>
                        </a:rPr>
                        <a:t>mid</a:t>
                      </a:r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i="1" dirty="0" smtClean="0">
                          <a:solidFill>
                            <a:schemeClr val="tx1"/>
                          </a:solidFill>
                        </a:rPr>
                        <a:t>hi</a:t>
                      </a:r>
                      <a:endParaRPr lang="en-US" sz="18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611089"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6" name="Rectangle 7"/>
          <p:cNvSpPr>
            <a:spLocks/>
          </p:cNvSpPr>
          <p:nvPr/>
        </p:nvSpPr>
        <p:spPr bwMode="auto">
          <a:xfrm>
            <a:off x="939800" y="4176712"/>
            <a:ext cx="625468" cy="595035"/>
          </a:xfrm>
          <a:prstGeom prst="rect">
            <a:avLst/>
          </a:prstGeom>
          <a:noFill/>
          <a:ln w="12700">
            <a:noFill/>
            <a:miter lim="400000"/>
            <a:headEnd/>
            <a:tailEnd/>
          </a:ln>
        </p:spPr>
        <p:txBody>
          <a:bodyPr wrap="square" lIns="50800" tIns="50800" rIns="50800" bIns="50800" anchor="ctr">
            <a:spAutoFit/>
          </a:bodyPr>
          <a:lstStyle/>
          <a:p>
            <a:r>
              <a:rPr lang="en-US" sz="3200" b="0" dirty="0" smtClean="0"/>
              <a:t>A:</a:t>
            </a:r>
            <a:endParaRPr lang="en-US" sz="3200" b="0" dirty="0"/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625600" y="3733800"/>
          <a:ext cx="5105400" cy="1069778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2355913"/>
                <a:gridCol w="2341177"/>
                <a:gridCol w="408310"/>
              </a:tblGrid>
              <a:tr h="458689">
                <a:tc>
                  <a:txBody>
                    <a:bodyPr/>
                    <a:lstStyle/>
                    <a:p>
                      <a:r>
                        <a:rPr lang="en-US" sz="1800" b="0" dirty="0" smtClean="0">
                          <a:solidFill>
                            <a:schemeClr val="tx1"/>
                          </a:solidFill>
                        </a:rPr>
                        <a:t>lo</a:t>
                      </a:r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dirty="0" smtClean="0">
                          <a:solidFill>
                            <a:schemeClr val="tx1"/>
                          </a:solidFill>
                        </a:rPr>
                        <a:t>mid</a:t>
                      </a:r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i="1" dirty="0" smtClean="0">
                          <a:solidFill>
                            <a:schemeClr val="tx1"/>
                          </a:solidFill>
                        </a:rPr>
                        <a:t>hi</a:t>
                      </a:r>
                      <a:endParaRPr lang="en-US" sz="18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611089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rgbClr val="C00000"/>
                          </a:solidFill>
                        </a:rPr>
                        <a:t>SORTED</a:t>
                      </a:r>
                      <a:endParaRPr lang="en-US" sz="1800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rgbClr val="C00000"/>
                          </a:solidFill>
                        </a:rPr>
                        <a:t>SORTED</a:t>
                      </a:r>
                      <a:endParaRPr lang="en-US" sz="1800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1" name="Curved Left Arrow 20"/>
          <p:cNvSpPr/>
          <p:nvPr/>
        </p:nvSpPr>
        <p:spPr bwMode="auto">
          <a:xfrm>
            <a:off x="6502400" y="2667000"/>
            <a:ext cx="609600" cy="1828800"/>
          </a:xfrm>
          <a:prstGeom prst="curvedLeftArrow">
            <a:avLst/>
          </a:prstGeom>
          <a:solidFill>
            <a:schemeClr val="accent1">
              <a:lumMod val="40000"/>
              <a:lumOff val="60000"/>
            </a:schemeClr>
          </a:solidFill>
          <a:ln w="127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493000" y="3124200"/>
            <a:ext cx="205056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b="0" dirty="0" smtClean="0">
                <a:solidFill>
                  <a:schemeClr val="tx1"/>
                </a:solidFill>
              </a:rPr>
              <a:t>Selection sort</a:t>
            </a:r>
            <a:br>
              <a:rPr lang="en-US" b="0" dirty="0" smtClean="0">
                <a:solidFill>
                  <a:schemeClr val="tx1"/>
                </a:solidFill>
              </a:rPr>
            </a:br>
            <a:r>
              <a:rPr lang="en-US" b="0" dirty="0" smtClean="0">
                <a:solidFill>
                  <a:schemeClr val="tx1"/>
                </a:solidFill>
              </a:rPr>
              <a:t>on each half</a:t>
            </a:r>
          </a:p>
        </p:txBody>
      </p:sp>
      <p:sp>
        <p:nvSpPr>
          <p:cNvPr id="15" name="Rectangular Callout 14"/>
          <p:cNvSpPr/>
          <p:nvPr/>
        </p:nvSpPr>
        <p:spPr bwMode="auto">
          <a:xfrm>
            <a:off x="9931400" y="1752600"/>
            <a:ext cx="1975862" cy="1015663"/>
          </a:xfrm>
          <a:prstGeom prst="wedgeRectCallout">
            <a:avLst>
              <a:gd name="adj1" fmla="val -122843"/>
              <a:gd name="adj2" fmla="val 81624"/>
            </a:avLst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wrap="none" lIns="45720" rIns="45720" anchor="ctr">
            <a:spAutoFit/>
          </a:bodyPr>
          <a:lstStyle/>
          <a:p>
            <a:pPr algn="l">
              <a:defRPr/>
            </a:pPr>
            <a:r>
              <a:rPr lang="en-US" sz="2000" b="0" i="1" dirty="0" smtClean="0"/>
              <a:t>    (n/2)</a:t>
            </a:r>
            <a:r>
              <a:rPr lang="en-US" sz="2000" b="0" i="1" baseline="30000" dirty="0" smtClean="0"/>
              <a:t>2</a:t>
            </a:r>
            <a:r>
              <a:rPr lang="en-US" sz="2000" b="0" i="1" dirty="0" smtClean="0"/>
              <a:t> + (n/2)</a:t>
            </a:r>
            <a:r>
              <a:rPr lang="en-US" sz="2000" b="0" i="1" baseline="30000" dirty="0" smtClean="0"/>
              <a:t>2</a:t>
            </a:r>
            <a:r>
              <a:rPr lang="en-US" sz="2000" b="0" i="1" dirty="0" smtClean="0"/>
              <a:t> </a:t>
            </a:r>
          </a:p>
          <a:p>
            <a:pPr algn="l">
              <a:defRPr/>
            </a:pPr>
            <a:r>
              <a:rPr lang="en-US" sz="2000" b="0" i="1" dirty="0" smtClean="0"/>
              <a:t>=  n</a:t>
            </a:r>
            <a:r>
              <a:rPr lang="en-US" sz="2000" b="0" i="1" baseline="30000" dirty="0" smtClean="0"/>
              <a:t>2</a:t>
            </a:r>
            <a:r>
              <a:rPr lang="en-US" sz="2000" b="0" i="1" dirty="0" smtClean="0"/>
              <a:t>/4 + n</a:t>
            </a:r>
            <a:r>
              <a:rPr lang="en-US" sz="2000" b="0" i="1" baseline="30000" dirty="0" smtClean="0"/>
              <a:t>2</a:t>
            </a:r>
            <a:r>
              <a:rPr lang="en-US" sz="2000" b="0" i="1" dirty="0" smtClean="0"/>
              <a:t>/4</a:t>
            </a:r>
            <a:br>
              <a:rPr lang="en-US" sz="2000" b="0" i="1" dirty="0" smtClean="0"/>
            </a:br>
            <a:r>
              <a:rPr lang="en-US" sz="2000" b="0" i="1" dirty="0" smtClean="0"/>
              <a:t>=  n</a:t>
            </a:r>
            <a:r>
              <a:rPr lang="en-US" sz="2000" b="0" i="1" baseline="30000" dirty="0" smtClean="0"/>
              <a:t>2</a:t>
            </a:r>
            <a:r>
              <a:rPr lang="en-US" sz="2000" b="0" i="1" dirty="0" smtClean="0"/>
              <a:t>/2</a:t>
            </a:r>
            <a:endParaRPr lang="en-US" sz="2000" b="0" i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Using Selection Sort Cleverly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952500" y="7467600"/>
            <a:ext cx="11099800" cy="1409700"/>
          </a:xfrm>
        </p:spPr>
        <p:txBody>
          <a:bodyPr/>
          <a:lstStyle/>
          <a:p>
            <a:r>
              <a:rPr lang="en-US" dirty="0" smtClean="0"/>
              <a:t>merge: turns two sorted half arrays into a sorted array</a:t>
            </a:r>
          </a:p>
          <a:p>
            <a:pPr lvl="1"/>
            <a:r>
              <a:rPr lang="en-US" dirty="0" smtClean="0"/>
              <a:t>(cheaply)</a:t>
            </a:r>
            <a:endParaRPr lang="en-US" dirty="0"/>
          </a:p>
        </p:txBody>
      </p:sp>
      <p:sp>
        <p:nvSpPr>
          <p:cNvPr id="6" name="Rectangle 7"/>
          <p:cNvSpPr>
            <a:spLocks/>
          </p:cNvSpPr>
          <p:nvPr/>
        </p:nvSpPr>
        <p:spPr bwMode="auto">
          <a:xfrm>
            <a:off x="939800" y="2271712"/>
            <a:ext cx="625468" cy="595035"/>
          </a:xfrm>
          <a:prstGeom prst="rect">
            <a:avLst/>
          </a:prstGeom>
          <a:noFill/>
          <a:ln w="12700">
            <a:noFill/>
            <a:miter lim="400000"/>
            <a:headEnd/>
            <a:tailEnd/>
          </a:ln>
        </p:spPr>
        <p:txBody>
          <a:bodyPr wrap="square" lIns="50800" tIns="50800" rIns="50800" bIns="50800" anchor="ctr">
            <a:spAutoFit/>
          </a:bodyPr>
          <a:lstStyle/>
          <a:p>
            <a:r>
              <a:rPr lang="en-US" sz="3200" b="0" dirty="0" smtClean="0"/>
              <a:t>A:</a:t>
            </a:r>
            <a:endParaRPr lang="en-US" sz="3200" b="0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625600" y="1828800"/>
          <a:ext cx="5105400" cy="1069778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2355913"/>
                <a:gridCol w="2341177"/>
                <a:gridCol w="408310"/>
              </a:tblGrid>
              <a:tr h="458689">
                <a:tc>
                  <a:txBody>
                    <a:bodyPr/>
                    <a:lstStyle/>
                    <a:p>
                      <a:r>
                        <a:rPr lang="en-US" sz="1800" b="0" dirty="0" smtClean="0">
                          <a:solidFill>
                            <a:schemeClr val="tx1"/>
                          </a:solidFill>
                        </a:rPr>
                        <a:t>lo</a:t>
                      </a:r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dirty="0" smtClean="0">
                          <a:solidFill>
                            <a:schemeClr val="tx1"/>
                          </a:solidFill>
                        </a:rPr>
                        <a:t>mid</a:t>
                      </a:r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i="1" dirty="0" smtClean="0">
                          <a:solidFill>
                            <a:schemeClr val="tx1"/>
                          </a:solidFill>
                        </a:rPr>
                        <a:t>hi</a:t>
                      </a:r>
                      <a:endParaRPr lang="en-US" sz="18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611089"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6" name="Rectangle 7"/>
          <p:cNvSpPr>
            <a:spLocks/>
          </p:cNvSpPr>
          <p:nvPr/>
        </p:nvSpPr>
        <p:spPr bwMode="auto">
          <a:xfrm>
            <a:off x="939800" y="4176712"/>
            <a:ext cx="625468" cy="595035"/>
          </a:xfrm>
          <a:prstGeom prst="rect">
            <a:avLst/>
          </a:prstGeom>
          <a:noFill/>
          <a:ln w="12700">
            <a:noFill/>
            <a:miter lim="400000"/>
            <a:headEnd/>
            <a:tailEnd/>
          </a:ln>
        </p:spPr>
        <p:txBody>
          <a:bodyPr wrap="square" lIns="50800" tIns="50800" rIns="50800" bIns="50800" anchor="ctr">
            <a:spAutoFit/>
          </a:bodyPr>
          <a:lstStyle/>
          <a:p>
            <a:r>
              <a:rPr lang="en-US" sz="3200" b="0" dirty="0" smtClean="0"/>
              <a:t>A:</a:t>
            </a:r>
            <a:endParaRPr lang="en-US" sz="3200" b="0" dirty="0"/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625600" y="3733800"/>
          <a:ext cx="5105400" cy="1069778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2355913"/>
                <a:gridCol w="2341177"/>
                <a:gridCol w="408310"/>
              </a:tblGrid>
              <a:tr h="458689">
                <a:tc>
                  <a:txBody>
                    <a:bodyPr/>
                    <a:lstStyle/>
                    <a:p>
                      <a:r>
                        <a:rPr lang="en-US" sz="1800" b="0" dirty="0" smtClean="0">
                          <a:solidFill>
                            <a:schemeClr val="tx1"/>
                          </a:solidFill>
                        </a:rPr>
                        <a:t>lo</a:t>
                      </a:r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dirty="0" smtClean="0">
                          <a:solidFill>
                            <a:schemeClr val="tx1"/>
                          </a:solidFill>
                        </a:rPr>
                        <a:t>mid</a:t>
                      </a:r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i="1" dirty="0" smtClean="0">
                          <a:solidFill>
                            <a:schemeClr val="tx1"/>
                          </a:solidFill>
                        </a:rPr>
                        <a:t>hi</a:t>
                      </a:r>
                      <a:endParaRPr lang="en-US" sz="18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611089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rgbClr val="C00000"/>
                          </a:solidFill>
                        </a:rPr>
                        <a:t>SORTED</a:t>
                      </a:r>
                      <a:endParaRPr lang="en-US" sz="1800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rgbClr val="C00000"/>
                          </a:solidFill>
                        </a:rPr>
                        <a:t>SORTED</a:t>
                      </a:r>
                      <a:endParaRPr lang="en-US" sz="1800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8" name="Rectangle 7"/>
          <p:cNvSpPr>
            <a:spLocks/>
          </p:cNvSpPr>
          <p:nvPr/>
        </p:nvSpPr>
        <p:spPr bwMode="auto">
          <a:xfrm>
            <a:off x="939800" y="6078734"/>
            <a:ext cx="625468" cy="595035"/>
          </a:xfrm>
          <a:prstGeom prst="rect">
            <a:avLst/>
          </a:prstGeom>
          <a:noFill/>
          <a:ln w="12700">
            <a:noFill/>
            <a:miter lim="400000"/>
            <a:headEnd/>
            <a:tailEnd/>
          </a:ln>
        </p:spPr>
        <p:txBody>
          <a:bodyPr wrap="square" lIns="50800" tIns="50800" rIns="50800" bIns="50800" anchor="ctr">
            <a:spAutoFit/>
          </a:bodyPr>
          <a:lstStyle/>
          <a:p>
            <a:r>
              <a:rPr lang="en-US" sz="3200" b="0" dirty="0" smtClean="0"/>
              <a:t>A:</a:t>
            </a:r>
            <a:endParaRPr lang="en-US" sz="3200" b="0" dirty="0"/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1625600" y="5635822"/>
          <a:ext cx="5105400" cy="1069778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2355913"/>
                <a:gridCol w="2341177"/>
                <a:gridCol w="408310"/>
              </a:tblGrid>
              <a:tr h="458689">
                <a:tc>
                  <a:txBody>
                    <a:bodyPr/>
                    <a:lstStyle/>
                    <a:p>
                      <a:r>
                        <a:rPr lang="en-US" sz="1800" b="0" dirty="0" smtClean="0">
                          <a:solidFill>
                            <a:schemeClr val="tx1"/>
                          </a:solidFill>
                        </a:rPr>
                        <a:t>lo</a:t>
                      </a:r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i="1" dirty="0" smtClean="0">
                          <a:solidFill>
                            <a:schemeClr val="tx1"/>
                          </a:solidFill>
                        </a:rPr>
                        <a:t>hi</a:t>
                      </a:r>
                      <a:endParaRPr lang="en-US" sz="18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611089">
                <a:tc gridSpan="2"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rgbClr val="C00000"/>
                          </a:solidFill>
                        </a:rPr>
                        <a:t>SORTED</a:t>
                      </a:r>
                      <a:endParaRPr lang="en-US" sz="1800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1" name="Curved Left Arrow 20"/>
          <p:cNvSpPr/>
          <p:nvPr/>
        </p:nvSpPr>
        <p:spPr bwMode="auto">
          <a:xfrm>
            <a:off x="6502400" y="2667000"/>
            <a:ext cx="609600" cy="1828800"/>
          </a:xfrm>
          <a:prstGeom prst="curvedLeftArrow">
            <a:avLst/>
          </a:prstGeom>
          <a:solidFill>
            <a:schemeClr val="accent1">
              <a:lumMod val="40000"/>
              <a:lumOff val="60000"/>
            </a:schemeClr>
          </a:solidFill>
          <a:ln w="127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  <p:sp>
        <p:nvSpPr>
          <p:cNvPr id="22" name="Curved Left Arrow 21"/>
          <p:cNvSpPr/>
          <p:nvPr/>
        </p:nvSpPr>
        <p:spPr bwMode="auto">
          <a:xfrm>
            <a:off x="6502400" y="4572000"/>
            <a:ext cx="609600" cy="1828800"/>
          </a:xfrm>
          <a:prstGeom prst="curvedLeftArrow">
            <a:avLst/>
          </a:prstGeom>
          <a:solidFill>
            <a:schemeClr val="accent1">
              <a:lumMod val="40000"/>
              <a:lumOff val="60000"/>
            </a:schemeClr>
          </a:solidFill>
          <a:ln w="127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493000" y="3124200"/>
            <a:ext cx="205056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b="0" dirty="0" smtClean="0">
                <a:solidFill>
                  <a:schemeClr val="tx1"/>
                </a:solidFill>
              </a:rPr>
              <a:t>Selection sort</a:t>
            </a:r>
            <a:br>
              <a:rPr lang="en-US" b="0" dirty="0" smtClean="0">
                <a:solidFill>
                  <a:schemeClr val="tx1"/>
                </a:solidFill>
              </a:rPr>
            </a:br>
            <a:r>
              <a:rPr lang="en-US" b="0" dirty="0" smtClean="0">
                <a:solidFill>
                  <a:schemeClr val="tx1"/>
                </a:solidFill>
              </a:rPr>
              <a:t>on each half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3000" y="5329535"/>
            <a:ext cx="1058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b="0" dirty="0" smtClean="0">
                <a:solidFill>
                  <a:schemeClr val="tx1"/>
                </a:solidFill>
              </a:rPr>
              <a:t>Merge</a:t>
            </a:r>
          </a:p>
        </p:txBody>
      </p:sp>
      <p:sp>
        <p:nvSpPr>
          <p:cNvPr id="15" name="Rectangular Callout 14"/>
          <p:cNvSpPr/>
          <p:nvPr/>
        </p:nvSpPr>
        <p:spPr bwMode="auto">
          <a:xfrm>
            <a:off x="10236200" y="2209800"/>
            <a:ext cx="1459695" cy="707886"/>
          </a:xfrm>
          <a:prstGeom prst="wedgeRectCallout">
            <a:avLst>
              <a:gd name="adj1" fmla="val -122843"/>
              <a:gd name="adj2" fmla="val 81624"/>
            </a:avLst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wrap="none" lIns="45720" rIns="45720" anchor="ctr">
            <a:spAutoFit/>
          </a:bodyPr>
          <a:lstStyle/>
          <a:p>
            <a:pPr>
              <a:defRPr/>
            </a:pPr>
            <a:r>
              <a:rPr lang="en-US" sz="2000" b="0" dirty="0" smtClean="0"/>
              <a:t>Costs about</a:t>
            </a:r>
            <a:r>
              <a:rPr lang="en-US" sz="2000" b="0" i="1" dirty="0" smtClean="0"/>
              <a:t/>
            </a:r>
            <a:br>
              <a:rPr lang="en-US" sz="2000" b="0" i="1" dirty="0" smtClean="0"/>
            </a:br>
            <a:r>
              <a:rPr lang="en-US" sz="2000" b="0" i="1" dirty="0" smtClean="0"/>
              <a:t>n</a:t>
            </a:r>
            <a:r>
              <a:rPr lang="en-US" sz="2000" b="0" i="1" baseline="30000" dirty="0" smtClean="0"/>
              <a:t>2</a:t>
            </a:r>
            <a:r>
              <a:rPr lang="en-US" sz="2000" b="0" i="1" dirty="0" smtClean="0"/>
              <a:t>/2</a:t>
            </a:r>
            <a:endParaRPr lang="en-US" sz="2000" b="0" i="1" dirty="0"/>
          </a:p>
        </p:txBody>
      </p:sp>
      <p:sp>
        <p:nvSpPr>
          <p:cNvPr id="20" name="Rectangular Callout 19"/>
          <p:cNvSpPr/>
          <p:nvPr/>
        </p:nvSpPr>
        <p:spPr bwMode="auto">
          <a:xfrm>
            <a:off x="10236200" y="4191000"/>
            <a:ext cx="1846018" cy="707886"/>
          </a:xfrm>
          <a:prstGeom prst="wedgeRectCallout">
            <a:avLst>
              <a:gd name="adj1" fmla="val -137242"/>
              <a:gd name="adj2" fmla="val 125182"/>
            </a:avLst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wrap="none" lIns="45720" rIns="45720" anchor="ctr">
            <a:spAutoFit/>
          </a:bodyPr>
          <a:lstStyle/>
          <a:p>
            <a:pPr>
              <a:defRPr/>
            </a:pPr>
            <a:r>
              <a:rPr lang="en-US" sz="2000" b="0" dirty="0" smtClean="0"/>
              <a:t>Costs hopefully</a:t>
            </a:r>
            <a:br>
              <a:rPr lang="en-US" sz="2000" b="0" dirty="0" smtClean="0"/>
            </a:br>
            <a:r>
              <a:rPr lang="en-US" sz="2000" b="0" dirty="0" smtClean="0"/>
              <a:t>less than</a:t>
            </a:r>
            <a:r>
              <a:rPr lang="en-US" sz="2000" b="0" i="1" dirty="0" smtClean="0"/>
              <a:t> n</a:t>
            </a:r>
            <a:r>
              <a:rPr lang="en-US" sz="2000" b="0" i="1" baseline="30000" dirty="0" smtClean="0"/>
              <a:t>2</a:t>
            </a:r>
            <a:r>
              <a:rPr lang="en-US" sz="2000" b="0" i="1" dirty="0" smtClean="0"/>
              <a:t>/2</a:t>
            </a:r>
            <a:endParaRPr lang="en-US" sz="2000" b="0" i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Implementation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Computing mid</a:t>
            </a:r>
            <a:endParaRPr lang="en-US" dirty="0"/>
          </a:p>
        </p:txBody>
      </p:sp>
      <p:sp>
        <p:nvSpPr>
          <p:cNvPr id="6" name="Rectangle 5"/>
          <p:cNvSpPr>
            <a:spLocks/>
          </p:cNvSpPr>
          <p:nvPr/>
        </p:nvSpPr>
        <p:spPr bwMode="auto">
          <a:xfrm>
            <a:off x="1549400" y="2819400"/>
            <a:ext cx="7252306" cy="3508653"/>
          </a:xfrm>
          <a:prstGeom prst="rect">
            <a:avLst/>
          </a:prstGeom>
          <a:noFill/>
          <a:ln w="12700">
            <a:solidFill>
              <a:schemeClr val="tx2"/>
            </a:solidFill>
            <a:miter lim="400000"/>
            <a:headEnd/>
            <a:tailEnd/>
          </a:ln>
        </p:spPr>
        <p:txBody>
          <a:bodyPr wrap="none" tIns="91440" bIns="91440" anchor="ctr">
            <a:spAutoFit/>
          </a:bodyPr>
          <a:lstStyle/>
          <a:p>
            <a:pPr marL="347663" indent="-347663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void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b="0" dirty="0" smtClean="0">
                <a:solidFill>
                  <a:srgbClr val="5E34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sort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(</a:t>
            </a:r>
            <a:r>
              <a:rPr lang="en-US" b="0" dirty="0" err="1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b="0" dirty="0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[]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b="0" dirty="0" smtClean="0">
                <a:solidFill>
                  <a:srgbClr val="CD7923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A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, </a:t>
            </a:r>
            <a:r>
              <a:rPr lang="en-US" b="0" dirty="0" err="1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b="0" dirty="0" smtClean="0">
                <a:solidFill>
                  <a:srgbClr val="CD7923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lo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, </a:t>
            </a:r>
            <a:r>
              <a:rPr lang="en-US" b="0" dirty="0" err="1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b="0" dirty="0" smtClean="0">
                <a:solidFill>
                  <a:srgbClr val="CD7923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hi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)</a:t>
            </a:r>
          </a:p>
          <a:p>
            <a:pPr marL="347663" indent="-347663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//@requires 0 &lt;= lo &amp;&amp; lo &lt;= hi  &amp;&amp; hi &lt;= \length(A);</a:t>
            </a:r>
          </a:p>
          <a:p>
            <a:pPr marL="347663" indent="-347663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//@ensures </a:t>
            </a:r>
            <a:r>
              <a:rPr lang="en-US" b="0" dirty="0" err="1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is_sorted</a:t>
            </a:r>
            <a:r>
              <a:rPr lang="en-US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(A, lo, hi);</a:t>
            </a:r>
            <a:endParaRPr lang="en-US" b="0" dirty="0" smtClean="0">
              <a:solidFill>
                <a:schemeClr val="tx1"/>
              </a:solidFill>
              <a:latin typeface="Menlo" charset="0"/>
              <a:ea typeface="Menlo" charset="0"/>
              <a:cs typeface="Menlo" charset="0"/>
              <a:sym typeface="Menlo" charset="0"/>
            </a:endParaRPr>
          </a:p>
          <a:p>
            <a:pPr marL="347663" indent="-347663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solidFill>
                  <a:schemeClr val="tx1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{</a:t>
            </a:r>
          </a:p>
          <a:p>
            <a:pPr marL="347663" indent="-347663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 </a:t>
            </a:r>
            <a:r>
              <a:rPr lang="en-US" b="0" dirty="0" err="1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b="0" dirty="0" smtClean="0">
                <a:solidFill>
                  <a:srgbClr val="CD7923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mid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= lo + (hi - lo) / 2;</a:t>
            </a:r>
          </a:p>
          <a:p>
            <a:pPr marL="347663" indent="-347663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  //@assert  lo &lt;= mid &amp;&amp; mid &lt;= hi;</a:t>
            </a:r>
          </a:p>
          <a:p>
            <a:pPr marL="347663" indent="-347663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solidFill>
                  <a:srgbClr val="0070C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  // … call selection sort on each half …</a:t>
            </a:r>
          </a:p>
          <a:p>
            <a:pPr marL="347663" indent="-347663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solidFill>
                  <a:srgbClr val="0070C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  // … merge the two halves …</a:t>
            </a:r>
          </a:p>
          <a:p>
            <a:pPr marL="347663" indent="-347663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solidFill>
                  <a:schemeClr val="tx1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}</a:t>
            </a:r>
            <a:endParaRPr lang="en-US" dirty="0" smtClean="0">
              <a:solidFill>
                <a:schemeClr val="tx1"/>
              </a:solidFill>
              <a:latin typeface="Menlo" charset="0"/>
              <a:ea typeface="Menlo" charset="0"/>
              <a:cs typeface="Menlo" charset="0"/>
              <a:sym typeface="Menlo" charset="0"/>
            </a:endParaRPr>
          </a:p>
        </p:txBody>
      </p:sp>
      <p:sp>
        <p:nvSpPr>
          <p:cNvPr id="8" name="Rectangular Callout 7"/>
          <p:cNvSpPr/>
          <p:nvPr/>
        </p:nvSpPr>
        <p:spPr bwMode="auto">
          <a:xfrm>
            <a:off x="9398000" y="2667000"/>
            <a:ext cx="1868524" cy="1015663"/>
          </a:xfrm>
          <a:prstGeom prst="wedgeRectCallout">
            <a:avLst>
              <a:gd name="adj1" fmla="val -274206"/>
              <a:gd name="adj2" fmla="val 142342"/>
            </a:avLst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wrap="none" lIns="45720" rIns="45720" anchor="ctr">
            <a:spAutoFit/>
          </a:bodyPr>
          <a:lstStyle/>
          <a:p>
            <a:pPr>
              <a:defRPr/>
            </a:pPr>
            <a:r>
              <a:rPr lang="en-US" sz="2000" b="0" i="1" dirty="0" smtClean="0"/>
              <a:t>We learned this</a:t>
            </a:r>
            <a:br>
              <a:rPr lang="en-US" sz="2000" b="0" i="1" dirty="0" smtClean="0"/>
            </a:br>
            <a:r>
              <a:rPr lang="en-US" sz="2000" b="0" i="1" dirty="0" smtClean="0"/>
              <a:t>from</a:t>
            </a:r>
            <a:br>
              <a:rPr lang="en-US" sz="2000" b="0" i="1" dirty="0" smtClean="0"/>
            </a:br>
            <a:r>
              <a:rPr lang="en-US" sz="2000" b="0" i="1" dirty="0" smtClean="0"/>
              <a:t>binary search</a:t>
            </a:r>
            <a:endParaRPr lang="en-US" sz="2000" b="0" i="1" dirty="0"/>
          </a:p>
        </p:txBody>
      </p:sp>
      <p:sp>
        <p:nvSpPr>
          <p:cNvPr id="9" name="Oval 8"/>
          <p:cNvSpPr>
            <a:spLocks noChangeArrowheads="1"/>
          </p:cNvSpPr>
          <p:nvPr/>
        </p:nvSpPr>
        <p:spPr bwMode="auto">
          <a:xfrm>
            <a:off x="5588000" y="4648200"/>
            <a:ext cx="533400" cy="533400"/>
          </a:xfrm>
          <a:prstGeom prst="ellipse">
            <a:avLst/>
          </a:prstGeom>
          <a:noFill/>
          <a:ln w="38100" algn="ctr">
            <a:solidFill>
              <a:srgbClr val="FF0000"/>
            </a:solidFill>
            <a:miter lim="400000"/>
            <a:headEnd/>
            <a:tailEnd/>
          </a:ln>
        </p:spPr>
        <p:txBody>
          <a:bodyPr lIns="45720" rIns="45720" anchor="ctr"/>
          <a:lstStyle/>
          <a:p>
            <a:endParaRPr lang="en-US" sz="2000" b="0"/>
          </a:p>
        </p:txBody>
      </p:sp>
      <p:sp>
        <p:nvSpPr>
          <p:cNvPr id="10" name="Rectangular Callout 9"/>
          <p:cNvSpPr/>
          <p:nvPr/>
        </p:nvSpPr>
        <p:spPr bwMode="auto">
          <a:xfrm>
            <a:off x="9245600" y="5867400"/>
            <a:ext cx="1714572" cy="707886"/>
          </a:xfrm>
          <a:prstGeom prst="wedgeRectCallout">
            <a:avLst>
              <a:gd name="adj1" fmla="val -220148"/>
              <a:gd name="adj2" fmla="val -125654"/>
            </a:avLst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wrap="none" lIns="45720" rIns="45720" anchor="ctr">
            <a:spAutoFit/>
          </a:bodyPr>
          <a:lstStyle/>
          <a:p>
            <a:pPr>
              <a:defRPr/>
            </a:pPr>
            <a:r>
              <a:rPr lang="en-US" sz="2000" b="0" dirty="0" smtClean="0"/>
              <a:t>if </a:t>
            </a:r>
            <a:r>
              <a:rPr lang="en-US" sz="2000" b="0" dirty="0" smtClean="0">
                <a:solidFill>
                  <a:srgbClr val="C00000"/>
                </a:solidFill>
              </a:rPr>
              <a:t>hi == lo</a:t>
            </a:r>
            <a:r>
              <a:rPr lang="en-US" sz="2000" b="0" dirty="0" smtClean="0"/>
              <a:t>,</a:t>
            </a:r>
            <a:br>
              <a:rPr lang="en-US" sz="2000" b="0" dirty="0" smtClean="0"/>
            </a:br>
            <a:r>
              <a:rPr lang="en-US" sz="2000" b="0" dirty="0" smtClean="0"/>
              <a:t>then </a:t>
            </a:r>
            <a:r>
              <a:rPr lang="en-US" sz="2000" b="0" dirty="0" smtClean="0">
                <a:solidFill>
                  <a:srgbClr val="C00000"/>
                </a:solidFill>
              </a:rPr>
              <a:t>mid == hi</a:t>
            </a:r>
          </a:p>
        </p:txBody>
      </p:sp>
      <p:sp>
        <p:nvSpPr>
          <p:cNvPr id="11" name="Rectangular Callout 10"/>
          <p:cNvSpPr/>
          <p:nvPr/>
        </p:nvSpPr>
        <p:spPr bwMode="auto">
          <a:xfrm>
            <a:off x="8425793" y="7391400"/>
            <a:ext cx="2267607" cy="584775"/>
          </a:xfrm>
          <a:prstGeom prst="wedgeRectCallout">
            <a:avLst>
              <a:gd name="adj1" fmla="val 38446"/>
              <a:gd name="adj2" fmla="val -197751"/>
            </a:avLst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wrap="none" lIns="45720" rIns="45720" anchor="ctr">
            <a:spAutoFit/>
          </a:bodyPr>
          <a:lstStyle/>
          <a:p>
            <a:pPr>
              <a:defRPr/>
            </a:pPr>
            <a:r>
              <a:rPr lang="en-US" sz="1600" b="0" dirty="0" smtClean="0"/>
              <a:t>This was not possible in</a:t>
            </a:r>
            <a:br>
              <a:rPr lang="en-US" sz="1600" b="0" dirty="0" smtClean="0"/>
            </a:br>
            <a:r>
              <a:rPr lang="en-US" sz="1600" b="0" dirty="0" smtClean="0"/>
              <a:t>code for binary search</a:t>
            </a:r>
            <a:endParaRPr lang="en-US" sz="1600" b="0" dirty="0" smtClean="0">
              <a:solidFill>
                <a:srgbClr val="C00000"/>
              </a:solidFill>
            </a:endParaRPr>
          </a:p>
        </p:txBody>
      </p:sp>
      <p:sp>
        <p:nvSpPr>
          <p:cNvPr id="12" name="Rectangle 7"/>
          <p:cNvSpPr>
            <a:spLocks/>
          </p:cNvSpPr>
          <p:nvPr/>
        </p:nvSpPr>
        <p:spPr bwMode="auto">
          <a:xfrm>
            <a:off x="7035800" y="8898134"/>
            <a:ext cx="625468" cy="595035"/>
          </a:xfrm>
          <a:prstGeom prst="rect">
            <a:avLst/>
          </a:prstGeom>
          <a:noFill/>
          <a:ln w="12700">
            <a:noFill/>
            <a:miter lim="400000"/>
            <a:headEnd/>
            <a:tailEnd/>
          </a:ln>
        </p:spPr>
        <p:txBody>
          <a:bodyPr wrap="square" lIns="50800" tIns="50800" rIns="50800" bIns="50800" anchor="ctr">
            <a:spAutoFit/>
          </a:bodyPr>
          <a:lstStyle/>
          <a:p>
            <a:r>
              <a:rPr lang="en-US" sz="3200" b="0" dirty="0" smtClean="0"/>
              <a:t>A:</a:t>
            </a:r>
            <a:endParaRPr lang="en-US" sz="3200" b="0" dirty="0"/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7721600" y="8455222"/>
          <a:ext cx="5105400" cy="1069778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2355913"/>
                <a:gridCol w="2341177"/>
                <a:gridCol w="408310"/>
              </a:tblGrid>
              <a:tr h="458689">
                <a:tc>
                  <a:txBody>
                    <a:bodyPr/>
                    <a:lstStyle/>
                    <a:p>
                      <a:r>
                        <a:rPr lang="en-US" sz="1800" b="0" dirty="0" smtClean="0">
                          <a:solidFill>
                            <a:schemeClr val="tx1"/>
                          </a:solidFill>
                        </a:rPr>
                        <a:t>lo</a:t>
                      </a:r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dirty="0" smtClean="0">
                          <a:solidFill>
                            <a:schemeClr val="tx1"/>
                          </a:solidFill>
                        </a:rPr>
                        <a:t>mid</a:t>
                      </a:r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i="1" dirty="0" smtClean="0">
                          <a:solidFill>
                            <a:schemeClr val="tx1"/>
                          </a:solidFill>
                        </a:rPr>
                        <a:t>hi</a:t>
                      </a:r>
                      <a:endParaRPr lang="en-US" sz="18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611089"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52500" y="254000"/>
            <a:ext cx="6464300" cy="1498600"/>
          </a:xfrm>
        </p:spPr>
        <p:txBody>
          <a:bodyPr/>
          <a:lstStyle/>
          <a:p>
            <a:r>
              <a:rPr lang="en-US" dirty="0" smtClean="0"/>
              <a:t>Implementation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Calling </a:t>
            </a:r>
            <a:r>
              <a:rPr lang="en-US" dirty="0" err="1" smtClean="0">
                <a:solidFill>
                  <a:srgbClr val="7030A0"/>
                </a:solidFill>
              </a:rPr>
              <a:t>selection_sort</a:t>
            </a:r>
            <a:r>
              <a:rPr lang="en-US" dirty="0" smtClean="0"/>
              <a:t> on each half</a:t>
            </a:r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pPr lvl="4"/>
            <a:endParaRPr lang="en-US" dirty="0" smtClean="0"/>
          </a:p>
          <a:p>
            <a:r>
              <a:rPr lang="en-US" dirty="0" smtClean="0"/>
              <a:t>Is this code safe so far?</a:t>
            </a:r>
          </a:p>
          <a:p>
            <a:r>
              <a:rPr lang="en-US" dirty="0" smtClean="0"/>
              <a:t>Since </a:t>
            </a:r>
            <a:r>
              <a:rPr lang="en-US" dirty="0" err="1" smtClean="0">
                <a:solidFill>
                  <a:srgbClr val="7030A0"/>
                </a:solidFill>
              </a:rPr>
              <a:t>selection_sort</a:t>
            </a:r>
            <a:r>
              <a:rPr lang="en-US" dirty="0" smtClean="0"/>
              <a:t> is correct, its </a:t>
            </a:r>
            <a:r>
              <a:rPr lang="en-US" dirty="0" err="1" smtClean="0"/>
              <a:t>postcondition</a:t>
            </a:r>
            <a:r>
              <a:rPr lang="en-US" dirty="0" smtClean="0"/>
              <a:t> holds</a:t>
            </a:r>
          </a:p>
          <a:p>
            <a:pPr lvl="2">
              <a:buClr>
                <a:schemeClr val="tx1"/>
              </a:buClr>
            </a:pPr>
            <a:r>
              <a:rPr lang="en-US" dirty="0" smtClean="0">
                <a:solidFill>
                  <a:srgbClr val="C00000"/>
                </a:solidFill>
              </a:rPr>
              <a:t>A[lo, mid) sorted</a:t>
            </a:r>
          </a:p>
          <a:p>
            <a:pPr lvl="2">
              <a:buClr>
                <a:schemeClr val="tx1"/>
              </a:buClr>
            </a:pPr>
            <a:r>
              <a:rPr lang="en-US" dirty="0" smtClean="0">
                <a:solidFill>
                  <a:srgbClr val="C00000"/>
                </a:solidFill>
              </a:rPr>
              <a:t>A[mid, hi) sorted</a:t>
            </a:r>
          </a:p>
        </p:txBody>
      </p:sp>
      <p:sp>
        <p:nvSpPr>
          <p:cNvPr id="6" name="Rectangle 5"/>
          <p:cNvSpPr>
            <a:spLocks/>
          </p:cNvSpPr>
          <p:nvPr/>
        </p:nvSpPr>
        <p:spPr bwMode="auto">
          <a:xfrm>
            <a:off x="1549400" y="2819400"/>
            <a:ext cx="7713971" cy="3877985"/>
          </a:xfrm>
          <a:prstGeom prst="rect">
            <a:avLst/>
          </a:prstGeom>
          <a:noFill/>
          <a:ln w="12700">
            <a:solidFill>
              <a:schemeClr val="tx2"/>
            </a:solidFill>
            <a:miter lim="400000"/>
            <a:headEnd/>
            <a:tailEnd/>
          </a:ln>
        </p:spPr>
        <p:txBody>
          <a:bodyPr wrap="none" tIns="91440" bIns="91440" anchor="ctr">
            <a:spAutoFit/>
          </a:bodyPr>
          <a:lstStyle/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buFont typeface="+mj-lt"/>
              <a:buAutoNum type="arabicPeriod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void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b="0" dirty="0" smtClean="0">
                <a:solidFill>
                  <a:srgbClr val="5E34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sort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(</a:t>
            </a:r>
            <a:r>
              <a:rPr lang="en-US" b="0" dirty="0" err="1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b="0" dirty="0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[]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b="0" dirty="0" smtClean="0">
                <a:solidFill>
                  <a:srgbClr val="CD7923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A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, </a:t>
            </a:r>
            <a:r>
              <a:rPr lang="en-US" b="0" dirty="0" err="1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b="0" dirty="0" smtClean="0">
                <a:solidFill>
                  <a:srgbClr val="CD7923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lo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, </a:t>
            </a:r>
            <a:r>
              <a:rPr lang="en-US" b="0" dirty="0" err="1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b="0" dirty="0" smtClean="0">
                <a:solidFill>
                  <a:srgbClr val="CD7923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hi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)</a:t>
            </a:r>
          </a:p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buFont typeface="+mj-lt"/>
              <a:buAutoNum type="arabicPeriod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//@requires 0 &lt;= lo &amp;&amp; lo &lt;= hi  &amp;&amp; hi &lt;= \length(A);</a:t>
            </a:r>
          </a:p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buFont typeface="+mj-lt"/>
              <a:buAutoNum type="arabicPeriod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//@ensures </a:t>
            </a:r>
            <a:r>
              <a:rPr lang="en-US" b="0" dirty="0" err="1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is_sorted</a:t>
            </a:r>
            <a:r>
              <a:rPr lang="en-US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(A, lo, hi);</a:t>
            </a:r>
            <a:endParaRPr lang="en-US" b="0" dirty="0" smtClean="0">
              <a:solidFill>
                <a:schemeClr val="tx1"/>
              </a:solidFill>
              <a:latin typeface="Menlo" charset="0"/>
              <a:ea typeface="Menlo" charset="0"/>
              <a:cs typeface="Menlo" charset="0"/>
              <a:sym typeface="Menlo" charset="0"/>
            </a:endParaRPr>
          </a:p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buFont typeface="+mj-lt"/>
              <a:buAutoNum type="arabicPeriod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solidFill>
                  <a:schemeClr val="tx1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{</a:t>
            </a:r>
          </a:p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buFont typeface="+mj-lt"/>
              <a:buAutoNum type="arabicPeriod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 </a:t>
            </a:r>
            <a:r>
              <a:rPr lang="en-US" b="0" dirty="0" err="1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b="0" dirty="0" smtClean="0">
                <a:solidFill>
                  <a:srgbClr val="CD7923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mid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= lo + (hi - lo) / 2;</a:t>
            </a:r>
          </a:p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buFont typeface="+mj-lt"/>
              <a:buAutoNum type="arabicPeriod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  //@assert  lo &lt;= mid &amp;&amp; mid &lt;= hi;</a:t>
            </a:r>
          </a:p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buFont typeface="+mj-lt"/>
              <a:buAutoNum type="arabicPeriod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 </a:t>
            </a:r>
            <a:r>
              <a:rPr lang="en-US" b="0" dirty="0" err="1" smtClean="0">
                <a:latin typeface="Menlo" charset="0"/>
                <a:ea typeface="Menlo" charset="0"/>
                <a:cs typeface="Menlo" charset="0"/>
                <a:sym typeface="Menlo" charset="0"/>
              </a:rPr>
              <a:t>selection_sort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(A, lo, mid);</a:t>
            </a:r>
            <a:endParaRPr lang="en-US" b="0" dirty="0" smtClean="0">
              <a:solidFill>
                <a:schemeClr val="tx1"/>
              </a:solidFill>
              <a:latin typeface="Menlo" charset="0"/>
              <a:ea typeface="Menlo" charset="0"/>
              <a:cs typeface="Menlo" charset="0"/>
              <a:sym typeface="Menlo" charset="0"/>
            </a:endParaRPr>
          </a:p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buFont typeface="+mj-lt"/>
              <a:buAutoNum type="arabicPeriod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 </a:t>
            </a:r>
            <a:r>
              <a:rPr lang="en-US" b="0" dirty="0" err="1" smtClean="0">
                <a:latin typeface="Menlo" charset="0"/>
                <a:ea typeface="Menlo" charset="0"/>
                <a:cs typeface="Menlo" charset="0"/>
                <a:sym typeface="Menlo" charset="0"/>
              </a:rPr>
              <a:t>selection_sort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(A, mid, hi);</a:t>
            </a:r>
          </a:p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buFont typeface="+mj-lt"/>
              <a:buAutoNum type="arabicPeriod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solidFill>
                  <a:schemeClr val="tx1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  </a:t>
            </a:r>
            <a:r>
              <a:rPr lang="en-US" b="0" dirty="0" smtClean="0">
                <a:solidFill>
                  <a:srgbClr val="0070C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// … merge the two halves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</a:p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buFont typeface="+mj-lt"/>
              <a:buAutoNum type="arabicPeriod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solidFill>
                  <a:schemeClr val="tx1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}</a:t>
            </a:r>
            <a:endParaRPr lang="en-US" dirty="0" smtClean="0">
              <a:solidFill>
                <a:schemeClr val="tx1"/>
              </a:solidFill>
              <a:latin typeface="Menlo" charset="0"/>
              <a:ea typeface="Menlo" charset="0"/>
              <a:cs typeface="Menlo" charset="0"/>
              <a:sym typeface="Menlo" charset="0"/>
            </a:endParaRPr>
          </a:p>
        </p:txBody>
      </p:sp>
      <p:sp>
        <p:nvSpPr>
          <p:cNvPr id="7" name="Rectangle 6"/>
          <p:cNvSpPr>
            <a:spLocks/>
          </p:cNvSpPr>
          <p:nvPr/>
        </p:nvSpPr>
        <p:spPr bwMode="auto">
          <a:xfrm>
            <a:off x="7419006" y="100548"/>
            <a:ext cx="5484194" cy="1015663"/>
          </a:xfrm>
          <a:prstGeom prst="rect">
            <a:avLst/>
          </a:prstGeom>
          <a:noFill/>
          <a:ln w="12700">
            <a:solidFill>
              <a:schemeClr val="tx2"/>
            </a:solidFill>
            <a:miter lim="400000"/>
            <a:headEnd/>
            <a:tailEnd/>
          </a:ln>
        </p:spPr>
        <p:txBody>
          <a:bodyPr wrap="none" tIns="91440" bIns="91440" anchor="ctr">
            <a:spAutoFit/>
          </a:bodyPr>
          <a:lstStyle/>
          <a:p>
            <a:pPr marL="347663" indent="-347663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void</a:t>
            </a:r>
            <a:r>
              <a:rPr lang="en-US" sz="1800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sz="1800" b="0" dirty="0" err="1" smtClean="0">
                <a:solidFill>
                  <a:srgbClr val="5E34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selection_sort</a:t>
            </a:r>
            <a:r>
              <a:rPr lang="en-US" sz="1800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(</a:t>
            </a:r>
            <a:r>
              <a:rPr lang="en-US" sz="1800" b="0" dirty="0" err="1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sz="1800" b="0" dirty="0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[]</a:t>
            </a:r>
            <a:r>
              <a:rPr lang="en-US" sz="1800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sz="1800" b="0" dirty="0" smtClean="0">
                <a:solidFill>
                  <a:srgbClr val="CD7923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A</a:t>
            </a:r>
            <a:r>
              <a:rPr lang="en-US" sz="1800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, </a:t>
            </a:r>
            <a:r>
              <a:rPr lang="en-US" sz="1800" b="0" dirty="0" err="1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sz="1800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sz="1800" b="0" dirty="0" smtClean="0">
                <a:solidFill>
                  <a:srgbClr val="CD7923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lo</a:t>
            </a:r>
            <a:r>
              <a:rPr lang="en-US" sz="1800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, </a:t>
            </a:r>
            <a:r>
              <a:rPr lang="en-US" sz="1800" b="0" dirty="0" err="1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sz="1800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sz="1800" b="0" dirty="0" smtClean="0">
                <a:solidFill>
                  <a:srgbClr val="CD7923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hi</a:t>
            </a:r>
            <a:r>
              <a:rPr lang="en-US" sz="1800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)</a:t>
            </a:r>
          </a:p>
          <a:p>
            <a:pPr marL="347663" indent="-347663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//@requires 0 &lt;= lo &amp;&amp; lo &lt;= hi  &amp;&amp; hi &lt;= \length(A);</a:t>
            </a:r>
          </a:p>
          <a:p>
            <a:pPr marL="347663" indent="-347663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//@ensures </a:t>
            </a:r>
            <a:r>
              <a:rPr lang="en-US" sz="1800" b="0" dirty="0" err="1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is_sorted</a:t>
            </a:r>
            <a:r>
              <a:rPr lang="en-US" sz="1800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(A, lo, hi);</a:t>
            </a:r>
            <a:endParaRPr lang="en-US" sz="1800" b="0" dirty="0" smtClean="0">
              <a:solidFill>
                <a:schemeClr val="tx1"/>
              </a:solidFill>
              <a:latin typeface="Menlo" charset="0"/>
              <a:ea typeface="Menlo" charset="0"/>
              <a:cs typeface="Menlo" charset="0"/>
              <a:sym typeface="Menlo" charset="0"/>
            </a:endParaRPr>
          </a:p>
        </p:txBody>
      </p:sp>
      <p:sp>
        <p:nvSpPr>
          <p:cNvPr id="12" name="Rectangular Callout 11"/>
          <p:cNvSpPr/>
          <p:nvPr/>
        </p:nvSpPr>
        <p:spPr bwMode="auto">
          <a:xfrm>
            <a:off x="8636000" y="3733800"/>
            <a:ext cx="3968459" cy="1938992"/>
          </a:xfrm>
          <a:prstGeom prst="wedgeRectCallout">
            <a:avLst>
              <a:gd name="adj1" fmla="val -126886"/>
              <a:gd name="adj2" fmla="val 29465"/>
            </a:avLst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wrap="none" lIns="45720" rIns="45720" anchor="ctr">
            <a:spAutoFit/>
          </a:bodyPr>
          <a:lstStyle/>
          <a:p>
            <a:pPr algn="l">
              <a:defRPr/>
            </a:pPr>
            <a:r>
              <a:rPr lang="en-US" sz="2000" dirty="0" smtClean="0"/>
              <a:t>To show</a:t>
            </a:r>
            <a:r>
              <a:rPr lang="en-US" sz="2000" b="0" dirty="0" smtClean="0">
                <a:solidFill>
                  <a:schemeClr val="tx1"/>
                </a:solidFill>
              </a:rPr>
              <a:t>:</a:t>
            </a:r>
            <a:r>
              <a:rPr lang="en-US" sz="2000" b="0" dirty="0" smtClean="0">
                <a:solidFill>
                  <a:srgbClr val="C00000"/>
                </a:solidFill>
              </a:rPr>
              <a:t> 0 ≤ lo ≤ mid ≤ \length(A)</a:t>
            </a:r>
          </a:p>
          <a:p>
            <a:pPr marL="169863" indent="-169863" algn="l">
              <a:buClr>
                <a:schemeClr val="tx1"/>
              </a:buClr>
              <a:buSzPct val="125000"/>
              <a:buFont typeface="Arial" pitchFamily="34" charset="0"/>
              <a:buChar char="•"/>
              <a:tabLst>
                <a:tab pos="2168525" algn="l"/>
              </a:tabLst>
              <a:defRPr/>
            </a:pPr>
            <a:r>
              <a:rPr lang="en-US" sz="2000" b="0" dirty="0" smtClean="0">
                <a:solidFill>
                  <a:srgbClr val="C00000"/>
                </a:solidFill>
              </a:rPr>
              <a:t>0 ≤ lo</a:t>
            </a:r>
            <a:r>
              <a:rPr lang="en-US" sz="2000" b="0" dirty="0" smtClean="0"/>
              <a:t>	by line 2</a:t>
            </a:r>
          </a:p>
          <a:p>
            <a:pPr marL="169863" indent="-169863" algn="l">
              <a:buClr>
                <a:schemeClr val="tx1"/>
              </a:buClr>
              <a:buSzPct val="125000"/>
              <a:buFont typeface="Arial" pitchFamily="34" charset="0"/>
              <a:buChar char="•"/>
              <a:tabLst>
                <a:tab pos="2168525" algn="l"/>
              </a:tabLst>
              <a:defRPr/>
            </a:pPr>
            <a:r>
              <a:rPr lang="en-US" sz="2000" b="0" dirty="0" smtClean="0">
                <a:solidFill>
                  <a:srgbClr val="C00000"/>
                </a:solidFill>
              </a:rPr>
              <a:t>lo ≤ mid</a:t>
            </a:r>
            <a:r>
              <a:rPr lang="en-US" sz="2000" b="0" dirty="0" smtClean="0"/>
              <a:t>	by line 5</a:t>
            </a:r>
          </a:p>
          <a:p>
            <a:pPr marL="169863" indent="-169863" algn="l">
              <a:buClr>
                <a:schemeClr val="tx1"/>
              </a:buClr>
              <a:buSzPct val="125000"/>
              <a:buFont typeface="Arial" pitchFamily="34" charset="0"/>
              <a:buChar char="•"/>
              <a:tabLst>
                <a:tab pos="2168525" algn="l"/>
              </a:tabLst>
              <a:defRPr/>
            </a:pPr>
            <a:r>
              <a:rPr lang="en-US" sz="2000" b="0" dirty="0" smtClean="0">
                <a:solidFill>
                  <a:srgbClr val="C00000"/>
                </a:solidFill>
              </a:rPr>
              <a:t>mid ≤ hi</a:t>
            </a:r>
            <a:r>
              <a:rPr lang="en-US" sz="2000" b="0" dirty="0" smtClean="0"/>
              <a:t>	by line 5</a:t>
            </a:r>
            <a:br>
              <a:rPr lang="en-US" sz="2000" b="0" dirty="0" smtClean="0"/>
            </a:br>
            <a:r>
              <a:rPr lang="en-US" sz="2000" b="0" dirty="0" smtClean="0">
                <a:solidFill>
                  <a:srgbClr val="C00000"/>
                </a:solidFill>
              </a:rPr>
              <a:t>hi ≤ \length(A)</a:t>
            </a:r>
            <a:r>
              <a:rPr lang="en-US" sz="2000" b="0" dirty="0" smtClean="0"/>
              <a:t>	by line 2</a:t>
            </a:r>
            <a:br>
              <a:rPr lang="en-US" sz="2000" b="0" dirty="0" smtClean="0"/>
            </a:br>
            <a:r>
              <a:rPr lang="en-US" sz="2000" b="0" dirty="0" smtClean="0">
                <a:solidFill>
                  <a:srgbClr val="C00000"/>
                </a:solidFill>
              </a:rPr>
              <a:t>mid ≤ \length(A)</a:t>
            </a:r>
            <a:r>
              <a:rPr lang="en-US" sz="2000" b="0" dirty="0" smtClean="0"/>
              <a:t>	by math</a:t>
            </a:r>
            <a:endParaRPr lang="en-US" sz="2000" b="0" dirty="0"/>
          </a:p>
        </p:txBody>
      </p:sp>
      <p:sp>
        <p:nvSpPr>
          <p:cNvPr id="13" name="Rectangular Callout 12"/>
          <p:cNvSpPr/>
          <p:nvPr/>
        </p:nvSpPr>
        <p:spPr bwMode="auto">
          <a:xfrm>
            <a:off x="8636000" y="6378714"/>
            <a:ext cx="3968459" cy="707886"/>
          </a:xfrm>
          <a:prstGeom prst="wedgeRectCallout">
            <a:avLst>
              <a:gd name="adj1" fmla="val -126083"/>
              <a:gd name="adj2" fmla="val -145436"/>
            </a:avLst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wrap="none" lIns="45720" rIns="45720" anchor="ctr">
            <a:spAutoFit/>
          </a:bodyPr>
          <a:lstStyle/>
          <a:p>
            <a:pPr algn="l">
              <a:defRPr/>
            </a:pPr>
            <a:r>
              <a:rPr lang="en-US" sz="2000" dirty="0" smtClean="0"/>
              <a:t>To show</a:t>
            </a:r>
            <a:r>
              <a:rPr lang="en-US" sz="2000" b="0" dirty="0" smtClean="0">
                <a:solidFill>
                  <a:schemeClr val="tx1"/>
                </a:solidFill>
              </a:rPr>
              <a:t>:</a:t>
            </a:r>
            <a:r>
              <a:rPr lang="en-US" sz="2000" b="0" dirty="0" smtClean="0">
                <a:solidFill>
                  <a:srgbClr val="C00000"/>
                </a:solidFill>
              </a:rPr>
              <a:t> 0 ≤ mid ≤ hi ≤ \length(A)</a:t>
            </a:r>
            <a:br>
              <a:rPr lang="en-US" sz="2000" b="0" dirty="0" smtClean="0">
                <a:solidFill>
                  <a:srgbClr val="C00000"/>
                </a:solidFill>
              </a:rPr>
            </a:br>
            <a:r>
              <a:rPr lang="en-US" sz="2000" b="0" i="1" dirty="0" smtClean="0">
                <a:solidFill>
                  <a:schemeClr val="tx1"/>
                </a:solidFill>
              </a:rPr>
              <a:t>Left as exercise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68140" y="6858000"/>
            <a:ext cx="71526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dirty="0" smtClean="0">
                <a:solidFill>
                  <a:srgbClr val="00B050"/>
                </a:solidFill>
                <a:sym typeface="Wingdings 2"/>
              </a:rPr>
              <a:t></a:t>
            </a:r>
            <a:endParaRPr lang="en-US" sz="5400" dirty="0">
              <a:solidFill>
                <a:srgbClr val="00B050"/>
              </a:solidFill>
            </a:endParaRPr>
          </a:p>
        </p:txBody>
      </p:sp>
      <p:sp>
        <p:nvSpPr>
          <p:cNvPr id="15" name="Rectangle 7"/>
          <p:cNvSpPr>
            <a:spLocks/>
          </p:cNvSpPr>
          <p:nvPr/>
        </p:nvSpPr>
        <p:spPr bwMode="auto">
          <a:xfrm>
            <a:off x="7035800" y="8898134"/>
            <a:ext cx="625468" cy="595035"/>
          </a:xfrm>
          <a:prstGeom prst="rect">
            <a:avLst/>
          </a:prstGeom>
          <a:noFill/>
          <a:ln w="12700">
            <a:noFill/>
            <a:miter lim="400000"/>
            <a:headEnd/>
            <a:tailEnd/>
          </a:ln>
        </p:spPr>
        <p:txBody>
          <a:bodyPr wrap="square" lIns="50800" tIns="50800" rIns="50800" bIns="50800" anchor="ctr">
            <a:spAutoFit/>
          </a:bodyPr>
          <a:lstStyle/>
          <a:p>
            <a:r>
              <a:rPr lang="en-US" sz="3200" b="0" dirty="0" smtClean="0"/>
              <a:t>A:</a:t>
            </a:r>
            <a:endParaRPr lang="en-US" sz="3200" b="0" dirty="0"/>
          </a:p>
        </p:txBody>
      </p: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7721600" y="8455222"/>
          <a:ext cx="5105400" cy="1069778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2355913"/>
                <a:gridCol w="2341177"/>
                <a:gridCol w="408310"/>
              </a:tblGrid>
              <a:tr h="458689">
                <a:tc>
                  <a:txBody>
                    <a:bodyPr/>
                    <a:lstStyle/>
                    <a:p>
                      <a:r>
                        <a:rPr lang="en-US" sz="1800" b="0" dirty="0" smtClean="0">
                          <a:solidFill>
                            <a:schemeClr val="tx1"/>
                          </a:solidFill>
                        </a:rPr>
                        <a:t>lo</a:t>
                      </a:r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dirty="0" smtClean="0">
                          <a:solidFill>
                            <a:schemeClr val="tx1"/>
                          </a:solidFill>
                        </a:rPr>
                        <a:t>mid</a:t>
                      </a:r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i="1" dirty="0" smtClean="0">
                          <a:solidFill>
                            <a:schemeClr val="tx1"/>
                          </a:solidFill>
                        </a:rPr>
                        <a:t>hi</a:t>
                      </a:r>
                      <a:endParaRPr lang="en-US" sz="18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611089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rgbClr val="C00000"/>
                          </a:solidFill>
                        </a:rPr>
                        <a:t>SORTED</a:t>
                      </a:r>
                      <a:endParaRPr lang="en-US" sz="1800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rgbClr val="C00000"/>
                          </a:solidFill>
                        </a:rPr>
                        <a:t>SORTED</a:t>
                      </a:r>
                      <a:endParaRPr lang="en-US" sz="1800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52500" y="254000"/>
            <a:ext cx="6464300" cy="1498600"/>
          </a:xfrm>
        </p:spPr>
        <p:txBody>
          <a:bodyPr/>
          <a:lstStyle/>
          <a:p>
            <a:r>
              <a:rPr lang="en-US" dirty="0" smtClean="0"/>
              <a:t>Implementation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We are left with implementing merge</a:t>
            </a:r>
          </a:p>
        </p:txBody>
      </p:sp>
      <p:sp>
        <p:nvSpPr>
          <p:cNvPr id="6" name="Rectangle 5"/>
          <p:cNvSpPr>
            <a:spLocks/>
          </p:cNvSpPr>
          <p:nvPr/>
        </p:nvSpPr>
        <p:spPr bwMode="auto">
          <a:xfrm>
            <a:off x="1549401" y="2819400"/>
            <a:ext cx="8153399" cy="3877985"/>
          </a:xfrm>
          <a:prstGeom prst="rect">
            <a:avLst/>
          </a:prstGeom>
          <a:noFill/>
          <a:ln w="12700">
            <a:solidFill>
              <a:schemeClr val="tx2"/>
            </a:solidFill>
            <a:miter lim="400000"/>
            <a:headEnd/>
            <a:tailEnd/>
          </a:ln>
        </p:spPr>
        <p:txBody>
          <a:bodyPr wrap="square" tIns="91440" bIns="91440" anchor="ctr">
            <a:spAutoFit/>
          </a:bodyPr>
          <a:lstStyle/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void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b="0" dirty="0" smtClean="0">
                <a:solidFill>
                  <a:srgbClr val="5E34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sort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(</a:t>
            </a:r>
            <a:r>
              <a:rPr lang="en-US" b="0" dirty="0" err="1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b="0" dirty="0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[]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b="0" dirty="0" smtClean="0">
                <a:solidFill>
                  <a:srgbClr val="CD7923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A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, </a:t>
            </a:r>
            <a:r>
              <a:rPr lang="en-US" b="0" dirty="0" err="1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b="0" dirty="0" smtClean="0">
                <a:solidFill>
                  <a:srgbClr val="CD7923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lo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, </a:t>
            </a:r>
            <a:r>
              <a:rPr lang="en-US" b="0" dirty="0" err="1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b="0" dirty="0" smtClean="0">
                <a:solidFill>
                  <a:srgbClr val="CD7923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hi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)</a:t>
            </a:r>
          </a:p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//@requires 0 &lt;= lo &amp;&amp; lo &lt;= hi  &amp;&amp; hi &lt;= \length(A);</a:t>
            </a:r>
          </a:p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//@ensures </a:t>
            </a:r>
            <a:r>
              <a:rPr lang="en-US" b="0" dirty="0" err="1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is_sorted</a:t>
            </a:r>
            <a:r>
              <a:rPr lang="en-US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(A, lo, hi);</a:t>
            </a:r>
            <a:endParaRPr lang="en-US" b="0" dirty="0" smtClean="0">
              <a:solidFill>
                <a:schemeClr val="tx1"/>
              </a:solidFill>
              <a:latin typeface="Menlo" charset="0"/>
              <a:ea typeface="Menlo" charset="0"/>
              <a:cs typeface="Menlo" charset="0"/>
              <a:sym typeface="Menlo" charset="0"/>
            </a:endParaRPr>
          </a:p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solidFill>
                  <a:schemeClr val="tx1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{</a:t>
            </a:r>
          </a:p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 </a:t>
            </a:r>
            <a:r>
              <a:rPr lang="en-US" b="0" dirty="0" err="1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b="0" dirty="0" smtClean="0">
                <a:solidFill>
                  <a:srgbClr val="CD7923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mid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= lo + (hi - lo) / 2;</a:t>
            </a:r>
          </a:p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  //@assert  lo &lt;= mid &amp;&amp; mid &lt;= hi;</a:t>
            </a:r>
          </a:p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 </a:t>
            </a:r>
            <a:r>
              <a:rPr lang="en-US" b="0" dirty="0" err="1" smtClean="0">
                <a:latin typeface="Menlo" charset="0"/>
                <a:ea typeface="Menlo" charset="0"/>
                <a:cs typeface="Menlo" charset="0"/>
                <a:sym typeface="Menlo" charset="0"/>
              </a:rPr>
              <a:t>selection_sort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(A, lo, mid);  </a:t>
            </a:r>
            <a:r>
              <a:rPr lang="en-US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//@assert </a:t>
            </a:r>
            <a:r>
              <a:rPr lang="en-US" b="0" dirty="0" err="1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is_sorted</a:t>
            </a:r>
            <a:r>
              <a:rPr lang="en-US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(A, lo, mid);</a:t>
            </a:r>
          </a:p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 </a:t>
            </a:r>
            <a:r>
              <a:rPr lang="en-US" b="0" dirty="0" err="1" smtClean="0">
                <a:latin typeface="Menlo" charset="0"/>
                <a:ea typeface="Menlo" charset="0"/>
                <a:cs typeface="Menlo" charset="0"/>
                <a:sym typeface="Menlo" charset="0"/>
              </a:rPr>
              <a:t>selection_sort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(A, mid, hi);  </a:t>
            </a:r>
            <a:r>
              <a:rPr lang="en-US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//@assert </a:t>
            </a:r>
            <a:r>
              <a:rPr lang="en-US" b="0" dirty="0" err="1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is_sorted</a:t>
            </a:r>
            <a:r>
              <a:rPr lang="en-US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(A, mid, hi);</a:t>
            </a:r>
          </a:p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solidFill>
                  <a:schemeClr val="tx1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  </a:t>
            </a:r>
            <a:r>
              <a:rPr lang="en-US" b="0" dirty="0" smtClean="0">
                <a:solidFill>
                  <a:srgbClr val="0070C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// … merge the two halves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</a:p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solidFill>
                  <a:schemeClr val="tx1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}</a:t>
            </a:r>
            <a:endParaRPr lang="en-US" dirty="0" smtClean="0">
              <a:solidFill>
                <a:schemeClr val="tx1"/>
              </a:solidFill>
              <a:latin typeface="Menlo" charset="0"/>
              <a:ea typeface="Menlo" charset="0"/>
              <a:cs typeface="Menlo" charset="0"/>
              <a:sym typeface="Menlo" charset="0"/>
            </a:endParaRPr>
          </a:p>
        </p:txBody>
      </p:sp>
      <p:sp>
        <p:nvSpPr>
          <p:cNvPr id="7" name="Rectangle 6"/>
          <p:cNvSpPr>
            <a:spLocks/>
          </p:cNvSpPr>
          <p:nvPr/>
        </p:nvSpPr>
        <p:spPr bwMode="auto">
          <a:xfrm>
            <a:off x="7419006" y="100548"/>
            <a:ext cx="5484194" cy="1015663"/>
          </a:xfrm>
          <a:prstGeom prst="rect">
            <a:avLst/>
          </a:prstGeom>
          <a:noFill/>
          <a:ln w="12700">
            <a:solidFill>
              <a:schemeClr val="tx2"/>
            </a:solidFill>
            <a:miter lim="400000"/>
            <a:headEnd/>
            <a:tailEnd/>
          </a:ln>
        </p:spPr>
        <p:txBody>
          <a:bodyPr wrap="none" tIns="91440" bIns="91440" anchor="ctr">
            <a:spAutoFit/>
          </a:bodyPr>
          <a:lstStyle/>
          <a:p>
            <a:pPr marL="347663" indent="-347663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void</a:t>
            </a:r>
            <a:r>
              <a:rPr lang="en-US" sz="1800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sz="1800" b="0" dirty="0" err="1" smtClean="0">
                <a:solidFill>
                  <a:srgbClr val="5E34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selection_sort</a:t>
            </a:r>
            <a:r>
              <a:rPr lang="en-US" sz="1800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(</a:t>
            </a:r>
            <a:r>
              <a:rPr lang="en-US" sz="1800" b="0" dirty="0" err="1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sz="1800" b="0" dirty="0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[]</a:t>
            </a:r>
            <a:r>
              <a:rPr lang="en-US" sz="1800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sz="1800" b="0" dirty="0" smtClean="0">
                <a:solidFill>
                  <a:srgbClr val="CD7923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A</a:t>
            </a:r>
            <a:r>
              <a:rPr lang="en-US" sz="1800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, </a:t>
            </a:r>
            <a:r>
              <a:rPr lang="en-US" sz="1800" b="0" dirty="0" err="1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sz="1800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sz="1800" b="0" dirty="0" smtClean="0">
                <a:solidFill>
                  <a:srgbClr val="CD7923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lo</a:t>
            </a:r>
            <a:r>
              <a:rPr lang="en-US" sz="1800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, </a:t>
            </a:r>
            <a:r>
              <a:rPr lang="en-US" sz="1800" b="0" dirty="0" err="1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sz="1800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sz="1800" b="0" dirty="0" smtClean="0">
                <a:solidFill>
                  <a:srgbClr val="CD7923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hi</a:t>
            </a:r>
            <a:r>
              <a:rPr lang="en-US" sz="1800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)</a:t>
            </a:r>
          </a:p>
          <a:p>
            <a:pPr marL="347663" indent="-347663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//@requires 0 &lt;= lo &amp;&amp; lo &lt;= hi  &amp;&amp; hi &lt;= \length(A);</a:t>
            </a:r>
          </a:p>
          <a:p>
            <a:pPr marL="347663" indent="-347663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//@ensures </a:t>
            </a:r>
            <a:r>
              <a:rPr lang="en-US" sz="1800" b="0" dirty="0" err="1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is_sorted</a:t>
            </a:r>
            <a:r>
              <a:rPr lang="en-US" sz="1800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(A, lo, hi);</a:t>
            </a:r>
            <a:endParaRPr lang="en-US" sz="1800" b="0" dirty="0" smtClean="0">
              <a:solidFill>
                <a:schemeClr val="tx1"/>
              </a:solidFill>
              <a:latin typeface="Menlo" charset="0"/>
              <a:ea typeface="Menlo" charset="0"/>
              <a:cs typeface="Menlo" charset="0"/>
              <a:sym typeface="Menlo" charset="0"/>
            </a:endParaRPr>
          </a:p>
        </p:txBody>
      </p:sp>
      <p:sp>
        <p:nvSpPr>
          <p:cNvPr id="21" name="Oval 20"/>
          <p:cNvSpPr>
            <a:spLocks noChangeArrowheads="1"/>
          </p:cNvSpPr>
          <p:nvPr/>
        </p:nvSpPr>
        <p:spPr bwMode="auto">
          <a:xfrm>
            <a:off x="4978400" y="4953000"/>
            <a:ext cx="4953000" cy="1143000"/>
          </a:xfrm>
          <a:prstGeom prst="ellipse">
            <a:avLst/>
          </a:prstGeom>
          <a:noFill/>
          <a:ln w="38100" algn="ctr">
            <a:solidFill>
              <a:srgbClr val="FF0000"/>
            </a:solidFill>
            <a:miter lim="400000"/>
            <a:headEnd/>
            <a:tailEnd/>
          </a:ln>
        </p:spPr>
        <p:txBody>
          <a:bodyPr lIns="45720" rIns="45720" anchor="ctr"/>
          <a:lstStyle/>
          <a:p>
            <a:endParaRPr lang="en-US" sz="2000" b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Implementation</a:t>
            </a:r>
            <a:endParaRPr lang="en-US" dirty="0"/>
          </a:p>
        </p:txBody>
      </p:sp>
      <p:sp>
        <p:nvSpPr>
          <p:cNvPr id="6" name="Rectangle 7"/>
          <p:cNvSpPr>
            <a:spLocks/>
          </p:cNvSpPr>
          <p:nvPr/>
        </p:nvSpPr>
        <p:spPr bwMode="auto">
          <a:xfrm>
            <a:off x="939800" y="2271712"/>
            <a:ext cx="625468" cy="595035"/>
          </a:xfrm>
          <a:prstGeom prst="rect">
            <a:avLst/>
          </a:prstGeom>
          <a:noFill/>
          <a:ln w="12700">
            <a:noFill/>
            <a:miter lim="400000"/>
            <a:headEnd/>
            <a:tailEnd/>
          </a:ln>
        </p:spPr>
        <p:txBody>
          <a:bodyPr wrap="square" lIns="50800" tIns="50800" rIns="50800" bIns="50800" anchor="ctr">
            <a:spAutoFit/>
          </a:bodyPr>
          <a:lstStyle/>
          <a:p>
            <a:r>
              <a:rPr lang="en-US" sz="3200" b="0" dirty="0" smtClean="0"/>
              <a:t>A:</a:t>
            </a:r>
            <a:endParaRPr lang="en-US" sz="3200" b="0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625600" y="1828800"/>
          <a:ext cx="5105400" cy="1069778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2355913"/>
                <a:gridCol w="2341177"/>
                <a:gridCol w="408310"/>
              </a:tblGrid>
              <a:tr h="458689">
                <a:tc>
                  <a:txBody>
                    <a:bodyPr/>
                    <a:lstStyle/>
                    <a:p>
                      <a:r>
                        <a:rPr lang="en-US" sz="1800" b="0" dirty="0" smtClean="0">
                          <a:solidFill>
                            <a:schemeClr val="tx1"/>
                          </a:solidFill>
                        </a:rPr>
                        <a:t>lo</a:t>
                      </a:r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dirty="0" smtClean="0">
                          <a:solidFill>
                            <a:schemeClr val="tx1"/>
                          </a:solidFill>
                        </a:rPr>
                        <a:t>mid</a:t>
                      </a:r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i="1" dirty="0" smtClean="0">
                          <a:solidFill>
                            <a:schemeClr val="tx1"/>
                          </a:solidFill>
                        </a:rPr>
                        <a:t>hi</a:t>
                      </a:r>
                      <a:endParaRPr lang="en-US" sz="18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611089"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6" name="Rectangle 7"/>
          <p:cNvSpPr>
            <a:spLocks/>
          </p:cNvSpPr>
          <p:nvPr/>
        </p:nvSpPr>
        <p:spPr bwMode="auto">
          <a:xfrm>
            <a:off x="939800" y="4176712"/>
            <a:ext cx="625468" cy="595035"/>
          </a:xfrm>
          <a:prstGeom prst="rect">
            <a:avLst/>
          </a:prstGeom>
          <a:noFill/>
          <a:ln w="12700">
            <a:noFill/>
            <a:miter lim="400000"/>
            <a:headEnd/>
            <a:tailEnd/>
          </a:ln>
        </p:spPr>
        <p:txBody>
          <a:bodyPr wrap="square" lIns="50800" tIns="50800" rIns="50800" bIns="50800" anchor="ctr">
            <a:spAutoFit/>
          </a:bodyPr>
          <a:lstStyle/>
          <a:p>
            <a:r>
              <a:rPr lang="en-US" sz="3200" b="0" dirty="0" smtClean="0"/>
              <a:t>A:</a:t>
            </a:r>
            <a:endParaRPr lang="en-US" sz="3200" b="0" dirty="0"/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625600" y="3733800"/>
          <a:ext cx="5105400" cy="1069778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2355913"/>
                <a:gridCol w="2341177"/>
                <a:gridCol w="408310"/>
              </a:tblGrid>
              <a:tr h="458689">
                <a:tc>
                  <a:txBody>
                    <a:bodyPr/>
                    <a:lstStyle/>
                    <a:p>
                      <a:r>
                        <a:rPr lang="en-US" sz="1800" b="0" dirty="0" smtClean="0">
                          <a:solidFill>
                            <a:schemeClr val="tx1"/>
                          </a:solidFill>
                        </a:rPr>
                        <a:t>lo</a:t>
                      </a:r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dirty="0" smtClean="0">
                          <a:solidFill>
                            <a:schemeClr val="tx1"/>
                          </a:solidFill>
                        </a:rPr>
                        <a:t>mid</a:t>
                      </a:r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i="1" dirty="0" smtClean="0">
                          <a:solidFill>
                            <a:schemeClr val="tx1"/>
                          </a:solidFill>
                        </a:rPr>
                        <a:t>hi</a:t>
                      </a:r>
                      <a:endParaRPr lang="en-US" sz="18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611089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rgbClr val="C00000"/>
                          </a:solidFill>
                        </a:rPr>
                        <a:t>SORTED</a:t>
                      </a:r>
                      <a:endParaRPr lang="en-US" sz="1800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rgbClr val="C00000"/>
                          </a:solidFill>
                        </a:rPr>
                        <a:t>SORTED</a:t>
                      </a:r>
                      <a:endParaRPr lang="en-US" sz="1800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8" name="Rectangle 7"/>
          <p:cNvSpPr>
            <a:spLocks/>
          </p:cNvSpPr>
          <p:nvPr/>
        </p:nvSpPr>
        <p:spPr bwMode="auto">
          <a:xfrm>
            <a:off x="939800" y="6078734"/>
            <a:ext cx="625468" cy="595035"/>
          </a:xfrm>
          <a:prstGeom prst="rect">
            <a:avLst/>
          </a:prstGeom>
          <a:noFill/>
          <a:ln w="12700">
            <a:noFill/>
            <a:miter lim="400000"/>
            <a:headEnd/>
            <a:tailEnd/>
          </a:ln>
        </p:spPr>
        <p:txBody>
          <a:bodyPr wrap="square" lIns="50800" tIns="50800" rIns="50800" bIns="50800" anchor="ctr">
            <a:spAutoFit/>
          </a:bodyPr>
          <a:lstStyle/>
          <a:p>
            <a:r>
              <a:rPr lang="en-US" sz="3200" b="0" dirty="0" smtClean="0"/>
              <a:t>A:</a:t>
            </a:r>
            <a:endParaRPr lang="en-US" sz="3200" b="0" dirty="0"/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1625600" y="5635822"/>
          <a:ext cx="5105400" cy="1069778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2355913"/>
                <a:gridCol w="2341177"/>
                <a:gridCol w="408310"/>
              </a:tblGrid>
              <a:tr h="458689">
                <a:tc>
                  <a:txBody>
                    <a:bodyPr/>
                    <a:lstStyle/>
                    <a:p>
                      <a:r>
                        <a:rPr lang="en-US" sz="1800" b="0" dirty="0" smtClean="0">
                          <a:solidFill>
                            <a:schemeClr val="tx1"/>
                          </a:solidFill>
                        </a:rPr>
                        <a:t>lo</a:t>
                      </a:r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i="1" dirty="0" smtClean="0">
                          <a:solidFill>
                            <a:schemeClr val="tx1"/>
                          </a:solidFill>
                        </a:rPr>
                        <a:t>hi</a:t>
                      </a:r>
                      <a:endParaRPr lang="en-US" sz="18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611089">
                <a:tc gridSpan="2"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rgbClr val="C00000"/>
                          </a:solidFill>
                        </a:rPr>
                        <a:t>SORTED</a:t>
                      </a:r>
                      <a:endParaRPr lang="en-US" sz="1800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1" name="Curved Left Arrow 20"/>
          <p:cNvSpPr/>
          <p:nvPr/>
        </p:nvSpPr>
        <p:spPr bwMode="auto">
          <a:xfrm>
            <a:off x="6502400" y="2667000"/>
            <a:ext cx="609600" cy="1828800"/>
          </a:xfrm>
          <a:prstGeom prst="curvedLeftArrow">
            <a:avLst/>
          </a:prstGeom>
          <a:solidFill>
            <a:schemeClr val="accent1">
              <a:lumMod val="40000"/>
              <a:lumOff val="60000"/>
            </a:schemeClr>
          </a:solidFill>
          <a:ln w="127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  <p:sp>
        <p:nvSpPr>
          <p:cNvPr id="22" name="Curved Left Arrow 21"/>
          <p:cNvSpPr/>
          <p:nvPr/>
        </p:nvSpPr>
        <p:spPr bwMode="auto">
          <a:xfrm>
            <a:off x="6502400" y="4572000"/>
            <a:ext cx="609600" cy="1828800"/>
          </a:xfrm>
          <a:prstGeom prst="curvedLeftArrow">
            <a:avLst/>
          </a:prstGeom>
          <a:solidFill>
            <a:schemeClr val="accent1">
              <a:lumMod val="40000"/>
              <a:lumOff val="60000"/>
            </a:schemeClr>
          </a:solidFill>
          <a:ln w="127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493000" y="3124200"/>
            <a:ext cx="205056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b="0" dirty="0" smtClean="0">
                <a:solidFill>
                  <a:schemeClr val="tx1"/>
                </a:solidFill>
              </a:rPr>
              <a:t>Selection sort</a:t>
            </a:r>
            <a:br>
              <a:rPr lang="en-US" b="0" dirty="0" smtClean="0">
                <a:solidFill>
                  <a:schemeClr val="tx1"/>
                </a:solidFill>
              </a:rPr>
            </a:br>
            <a:r>
              <a:rPr lang="en-US" b="0" dirty="0" smtClean="0">
                <a:solidFill>
                  <a:schemeClr val="tx1"/>
                </a:solidFill>
              </a:rPr>
              <a:t>on each half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3000" y="5329535"/>
            <a:ext cx="1058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b="0" dirty="0" smtClean="0">
                <a:solidFill>
                  <a:schemeClr val="tx1"/>
                </a:solidFill>
              </a:rPr>
              <a:t>Merge</a:t>
            </a:r>
          </a:p>
        </p:txBody>
      </p:sp>
      <p:sp>
        <p:nvSpPr>
          <p:cNvPr id="25" name="Rectangle 24"/>
          <p:cNvSpPr>
            <a:spLocks/>
          </p:cNvSpPr>
          <p:nvPr/>
        </p:nvSpPr>
        <p:spPr bwMode="auto">
          <a:xfrm>
            <a:off x="1549401" y="7482007"/>
            <a:ext cx="9270487" cy="1661993"/>
          </a:xfrm>
          <a:prstGeom prst="rect">
            <a:avLst/>
          </a:prstGeom>
          <a:noFill/>
          <a:ln w="12700">
            <a:solidFill>
              <a:schemeClr val="tx2"/>
            </a:solidFill>
            <a:miter lim="400000"/>
            <a:headEnd/>
            <a:tailEnd/>
          </a:ln>
        </p:spPr>
        <p:txBody>
          <a:bodyPr wrap="none" tIns="91440" bIns="91440" anchor="ctr">
            <a:spAutoFit/>
          </a:bodyPr>
          <a:lstStyle/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void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b="0" dirty="0" smtClean="0">
                <a:solidFill>
                  <a:srgbClr val="5E34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merge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(</a:t>
            </a:r>
            <a:r>
              <a:rPr lang="en-US" b="0" dirty="0" err="1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b="0" dirty="0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[]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b="0" dirty="0" smtClean="0">
                <a:solidFill>
                  <a:srgbClr val="CD7923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A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, </a:t>
            </a:r>
            <a:r>
              <a:rPr lang="en-US" b="0" dirty="0" err="1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b="0" dirty="0" smtClean="0">
                <a:solidFill>
                  <a:srgbClr val="CD7923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lo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, </a:t>
            </a:r>
            <a:r>
              <a:rPr lang="en-US" b="0" dirty="0" err="1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b="0" dirty="0" smtClean="0">
                <a:solidFill>
                  <a:srgbClr val="CD7923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mid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, </a:t>
            </a:r>
            <a:r>
              <a:rPr lang="en-US" b="0" dirty="0" err="1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b="0" dirty="0" smtClean="0">
                <a:solidFill>
                  <a:srgbClr val="CD7923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hi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)</a:t>
            </a:r>
          </a:p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//@requires 0 &lt;= lo &amp;&amp; lo &lt;= mid &amp;&amp; mid &lt;= hi  &amp;&amp; hi &lt;= \length(A);</a:t>
            </a:r>
          </a:p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//@requires </a:t>
            </a:r>
            <a:r>
              <a:rPr lang="en-US" b="0" dirty="0" err="1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is_sorted</a:t>
            </a:r>
            <a:r>
              <a:rPr lang="en-US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(A, lo, mid) &amp;&amp; </a:t>
            </a:r>
            <a:r>
              <a:rPr lang="en-US" b="0" dirty="0" err="1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is_sorted</a:t>
            </a:r>
            <a:r>
              <a:rPr lang="en-US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(A, mid, hi);</a:t>
            </a:r>
          </a:p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//@ensures </a:t>
            </a:r>
            <a:r>
              <a:rPr lang="en-US" b="0" dirty="0" err="1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is_sorted</a:t>
            </a:r>
            <a:r>
              <a:rPr lang="en-US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(A, lo, hi);</a:t>
            </a:r>
            <a:endParaRPr lang="en-US" b="0" dirty="0" smtClean="0">
              <a:solidFill>
                <a:schemeClr val="tx1"/>
              </a:solidFill>
              <a:latin typeface="Menlo" charset="0"/>
              <a:ea typeface="Menlo" charset="0"/>
              <a:cs typeface="Menlo" charset="0"/>
              <a:sym typeface="Menlo" charset="0"/>
            </a:endParaRPr>
          </a:p>
        </p:txBody>
      </p:sp>
      <p:sp>
        <p:nvSpPr>
          <p:cNvPr id="26" name="Rectangular Callout 25"/>
          <p:cNvSpPr/>
          <p:nvPr/>
        </p:nvSpPr>
        <p:spPr bwMode="auto">
          <a:xfrm>
            <a:off x="10464800" y="6705600"/>
            <a:ext cx="2187458" cy="707886"/>
          </a:xfrm>
          <a:prstGeom prst="wedgeRectCallout">
            <a:avLst>
              <a:gd name="adj1" fmla="val -209215"/>
              <a:gd name="adj2" fmla="val 94339"/>
            </a:avLst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wrap="none" lIns="45720" rIns="45720" anchor="ctr">
            <a:spAutoFit/>
          </a:bodyPr>
          <a:lstStyle/>
          <a:p>
            <a:pPr>
              <a:defRPr/>
            </a:pPr>
            <a:r>
              <a:rPr lang="en-US" sz="2000" b="0" dirty="0" smtClean="0"/>
              <a:t>Assume we have</a:t>
            </a:r>
            <a:br>
              <a:rPr lang="en-US" sz="2000" b="0" dirty="0" smtClean="0"/>
            </a:br>
            <a:r>
              <a:rPr lang="en-US" sz="2000" b="0" dirty="0" smtClean="0"/>
              <a:t>an implementation</a:t>
            </a:r>
            <a:endParaRPr lang="en-US" sz="2000" b="0" dirty="0" smtClean="0">
              <a:solidFill>
                <a:srgbClr val="C00000"/>
              </a:solidFill>
            </a:endParaRPr>
          </a:p>
        </p:txBody>
      </p:sp>
      <p:sp>
        <p:nvSpPr>
          <p:cNvPr id="28" name="Rectangular Callout 27"/>
          <p:cNvSpPr/>
          <p:nvPr/>
        </p:nvSpPr>
        <p:spPr bwMode="auto">
          <a:xfrm>
            <a:off x="9398000" y="4038600"/>
            <a:ext cx="3293529" cy="1323439"/>
          </a:xfrm>
          <a:prstGeom prst="wedgeRectCallout">
            <a:avLst>
              <a:gd name="adj1" fmla="val -81694"/>
              <a:gd name="adj2" fmla="val 53435"/>
            </a:avLst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wrap="none" lIns="45720" rIns="45720" anchor="ctr">
            <a:spAutoFit/>
          </a:bodyPr>
          <a:lstStyle/>
          <a:p>
            <a:pPr>
              <a:defRPr/>
            </a:pPr>
            <a:r>
              <a:rPr lang="en-US" sz="2000" b="0" dirty="0" smtClean="0"/>
              <a:t>Turns two</a:t>
            </a:r>
            <a:br>
              <a:rPr lang="en-US" sz="2000" b="0" dirty="0" smtClean="0"/>
            </a:br>
            <a:r>
              <a:rPr lang="en-US" sz="2000" b="0" dirty="0" smtClean="0"/>
              <a:t>sorted half arrays segments</a:t>
            </a:r>
            <a:br>
              <a:rPr lang="en-US" sz="2000" b="0" dirty="0" smtClean="0"/>
            </a:br>
            <a:r>
              <a:rPr lang="en-US" sz="2000" b="0" dirty="0" smtClean="0"/>
              <a:t>into a</a:t>
            </a:r>
            <a:br>
              <a:rPr lang="en-US" sz="2000" b="0" dirty="0" smtClean="0"/>
            </a:br>
            <a:r>
              <a:rPr lang="en-US" sz="2000" b="0" dirty="0" smtClean="0"/>
              <a:t>sorted array segment sorted</a:t>
            </a:r>
            <a:endParaRPr lang="en-US" sz="2000" b="0" dirty="0" smtClean="0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52500" y="254000"/>
            <a:ext cx="4940300" cy="1498600"/>
          </a:xfrm>
        </p:spPr>
        <p:txBody>
          <a:bodyPr/>
          <a:lstStyle/>
          <a:p>
            <a:r>
              <a:rPr lang="en-US" dirty="0" smtClean="0"/>
              <a:t>Implementation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pPr lvl="3"/>
            <a:endParaRPr lang="en-US" dirty="0" smtClean="0"/>
          </a:p>
          <a:p>
            <a:r>
              <a:rPr lang="en-US" dirty="0" smtClean="0"/>
              <a:t>Is this code safe?</a:t>
            </a:r>
          </a:p>
          <a:p>
            <a:r>
              <a:rPr lang="en-US" dirty="0" smtClean="0"/>
              <a:t>if </a:t>
            </a:r>
            <a:r>
              <a:rPr lang="en-US" dirty="0" smtClean="0">
                <a:solidFill>
                  <a:srgbClr val="7030A0"/>
                </a:solidFill>
              </a:rPr>
              <a:t>merge</a:t>
            </a:r>
            <a:r>
              <a:rPr lang="en-US" dirty="0" smtClean="0"/>
              <a:t> is correct, its </a:t>
            </a:r>
            <a:r>
              <a:rPr lang="en-US" dirty="0" err="1" smtClean="0"/>
              <a:t>postcondition</a:t>
            </a:r>
            <a:r>
              <a:rPr lang="en-US" dirty="0" smtClean="0"/>
              <a:t> holds</a:t>
            </a:r>
          </a:p>
          <a:p>
            <a:pPr lvl="2">
              <a:buClr>
                <a:schemeClr val="tx1"/>
              </a:buClr>
            </a:pPr>
            <a:r>
              <a:rPr lang="en-US" dirty="0" smtClean="0">
                <a:solidFill>
                  <a:srgbClr val="C00000"/>
                </a:solidFill>
              </a:rPr>
              <a:t>A[lo, hi) sorted</a:t>
            </a:r>
          </a:p>
        </p:txBody>
      </p:sp>
      <p:sp>
        <p:nvSpPr>
          <p:cNvPr id="6" name="Rectangle 5"/>
          <p:cNvSpPr>
            <a:spLocks/>
          </p:cNvSpPr>
          <p:nvPr/>
        </p:nvSpPr>
        <p:spPr bwMode="auto">
          <a:xfrm>
            <a:off x="1549401" y="2819400"/>
            <a:ext cx="8153399" cy="3877985"/>
          </a:xfrm>
          <a:prstGeom prst="rect">
            <a:avLst/>
          </a:prstGeom>
          <a:noFill/>
          <a:ln w="12700">
            <a:solidFill>
              <a:schemeClr val="tx2"/>
            </a:solidFill>
            <a:miter lim="400000"/>
            <a:headEnd/>
            <a:tailEnd/>
          </a:ln>
        </p:spPr>
        <p:txBody>
          <a:bodyPr wrap="square" tIns="91440" bIns="91440" anchor="ctr">
            <a:spAutoFit/>
          </a:bodyPr>
          <a:lstStyle/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void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b="0" dirty="0" smtClean="0">
                <a:solidFill>
                  <a:srgbClr val="5E34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sort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(</a:t>
            </a:r>
            <a:r>
              <a:rPr lang="en-US" b="0" dirty="0" err="1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b="0" dirty="0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[]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b="0" dirty="0" smtClean="0">
                <a:solidFill>
                  <a:srgbClr val="CD7923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A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, </a:t>
            </a:r>
            <a:r>
              <a:rPr lang="en-US" b="0" dirty="0" err="1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b="0" dirty="0" smtClean="0">
                <a:solidFill>
                  <a:srgbClr val="CD7923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lo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, </a:t>
            </a:r>
            <a:r>
              <a:rPr lang="en-US" b="0" dirty="0" err="1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b="0" dirty="0" smtClean="0">
                <a:solidFill>
                  <a:srgbClr val="CD7923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hi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)</a:t>
            </a:r>
          </a:p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//@requires 0 &lt;= lo &amp;&amp; lo &lt;= hi  &amp;&amp; hi &lt;= \length(A);</a:t>
            </a:r>
          </a:p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//@ensures </a:t>
            </a:r>
            <a:r>
              <a:rPr lang="en-US" b="0" dirty="0" err="1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is_sorted</a:t>
            </a:r>
            <a:r>
              <a:rPr lang="en-US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(A, lo, hi);</a:t>
            </a:r>
            <a:endParaRPr lang="en-US" b="0" dirty="0" smtClean="0">
              <a:solidFill>
                <a:schemeClr val="tx1"/>
              </a:solidFill>
              <a:latin typeface="Menlo" charset="0"/>
              <a:ea typeface="Menlo" charset="0"/>
              <a:cs typeface="Menlo" charset="0"/>
              <a:sym typeface="Menlo" charset="0"/>
            </a:endParaRPr>
          </a:p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solidFill>
                  <a:schemeClr val="tx1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{</a:t>
            </a:r>
          </a:p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 </a:t>
            </a:r>
            <a:r>
              <a:rPr lang="en-US" b="0" dirty="0" err="1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b="0" dirty="0" smtClean="0">
                <a:solidFill>
                  <a:srgbClr val="CD7923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mid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= lo + (hi - lo) / 2;</a:t>
            </a:r>
          </a:p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  //@assert  lo &lt;= mid &amp;&amp; mid &lt;= hi;</a:t>
            </a:r>
          </a:p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 </a:t>
            </a:r>
            <a:r>
              <a:rPr lang="en-US" b="0" dirty="0" err="1" smtClean="0">
                <a:latin typeface="Menlo" charset="0"/>
                <a:ea typeface="Menlo" charset="0"/>
                <a:cs typeface="Menlo" charset="0"/>
                <a:sym typeface="Menlo" charset="0"/>
              </a:rPr>
              <a:t>selection_sort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(A, lo, mid);  </a:t>
            </a:r>
            <a:r>
              <a:rPr lang="en-US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//@assert </a:t>
            </a:r>
            <a:r>
              <a:rPr lang="en-US" b="0" dirty="0" err="1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is_sorted</a:t>
            </a:r>
            <a:r>
              <a:rPr lang="en-US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(A, lo, mid);</a:t>
            </a:r>
          </a:p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 </a:t>
            </a:r>
            <a:r>
              <a:rPr lang="en-US" b="0" dirty="0" err="1" smtClean="0">
                <a:latin typeface="Menlo" charset="0"/>
                <a:ea typeface="Menlo" charset="0"/>
                <a:cs typeface="Menlo" charset="0"/>
                <a:sym typeface="Menlo" charset="0"/>
              </a:rPr>
              <a:t>selection_sort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(A, mid, hi);  </a:t>
            </a:r>
            <a:r>
              <a:rPr lang="en-US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//@assert </a:t>
            </a:r>
            <a:r>
              <a:rPr lang="en-US" b="0" dirty="0" err="1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is_sorted</a:t>
            </a:r>
            <a:r>
              <a:rPr lang="en-US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(A, mid, hi);</a:t>
            </a:r>
          </a:p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solidFill>
                  <a:schemeClr val="tx1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  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merge(A, lo, mid, hi);</a:t>
            </a:r>
          </a:p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solidFill>
                  <a:schemeClr val="tx1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}</a:t>
            </a:r>
            <a:endParaRPr lang="en-US" dirty="0" smtClean="0">
              <a:solidFill>
                <a:schemeClr val="tx1"/>
              </a:solidFill>
              <a:latin typeface="Menlo" charset="0"/>
              <a:ea typeface="Menlo" charset="0"/>
              <a:cs typeface="Menlo" charset="0"/>
              <a:sym typeface="Menlo" charset="0"/>
            </a:endParaRPr>
          </a:p>
        </p:txBody>
      </p:sp>
      <p:sp>
        <p:nvSpPr>
          <p:cNvPr id="7" name="Rectangle 6"/>
          <p:cNvSpPr>
            <a:spLocks/>
          </p:cNvSpPr>
          <p:nvPr/>
        </p:nvSpPr>
        <p:spPr bwMode="auto">
          <a:xfrm>
            <a:off x="5905772" y="100548"/>
            <a:ext cx="6997428" cy="2400657"/>
          </a:xfrm>
          <a:prstGeom prst="rect">
            <a:avLst/>
          </a:prstGeom>
          <a:noFill/>
          <a:ln w="12700">
            <a:solidFill>
              <a:schemeClr val="tx2"/>
            </a:solidFill>
            <a:miter lim="400000"/>
            <a:headEnd/>
            <a:tailEnd/>
          </a:ln>
        </p:spPr>
        <p:txBody>
          <a:bodyPr wrap="none" tIns="91440" bIns="91440" anchor="ctr">
            <a:spAutoFit/>
          </a:bodyPr>
          <a:lstStyle/>
          <a:p>
            <a:pPr marL="347663" indent="-347663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void</a:t>
            </a:r>
            <a:r>
              <a:rPr lang="en-US" sz="1800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sz="1800" b="0" dirty="0" err="1" smtClean="0">
                <a:solidFill>
                  <a:srgbClr val="5E34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selection_sort</a:t>
            </a:r>
            <a:r>
              <a:rPr lang="en-US" sz="1800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(</a:t>
            </a:r>
            <a:r>
              <a:rPr lang="en-US" sz="1800" b="0" dirty="0" err="1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sz="1800" b="0" dirty="0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[]</a:t>
            </a:r>
            <a:r>
              <a:rPr lang="en-US" sz="1800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sz="1800" b="0" dirty="0" smtClean="0">
                <a:solidFill>
                  <a:srgbClr val="CD7923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A</a:t>
            </a:r>
            <a:r>
              <a:rPr lang="en-US" sz="1800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, </a:t>
            </a:r>
            <a:r>
              <a:rPr lang="en-US" sz="1800" b="0" dirty="0" err="1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sz="1800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sz="1800" b="0" dirty="0" smtClean="0">
                <a:solidFill>
                  <a:srgbClr val="CD7923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lo</a:t>
            </a:r>
            <a:r>
              <a:rPr lang="en-US" sz="1800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, </a:t>
            </a:r>
            <a:r>
              <a:rPr lang="en-US" sz="1800" b="0" dirty="0" err="1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sz="1800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sz="1800" b="0" dirty="0" smtClean="0">
                <a:solidFill>
                  <a:srgbClr val="CD7923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hi</a:t>
            </a:r>
            <a:r>
              <a:rPr lang="en-US" sz="1800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)</a:t>
            </a:r>
          </a:p>
          <a:p>
            <a:pPr marL="347663" indent="-347663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//@requires 0 &lt;= lo &amp;&amp; lo &lt;= hi  &amp;&amp; hi &lt;= \length(A);</a:t>
            </a:r>
          </a:p>
          <a:p>
            <a:pPr marL="347663" indent="-347663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//@ensures </a:t>
            </a:r>
            <a:r>
              <a:rPr lang="en-US" sz="1800" b="0" dirty="0" err="1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is_sorted</a:t>
            </a:r>
            <a:r>
              <a:rPr lang="en-US" sz="1800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(A, lo, hi);</a:t>
            </a:r>
          </a:p>
          <a:p>
            <a:pPr marL="347663" indent="-347663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endParaRPr lang="en-US" sz="1800" b="0" dirty="0" smtClean="0">
              <a:solidFill>
                <a:srgbClr val="C00000"/>
              </a:solidFill>
              <a:latin typeface="Menlo" charset="0"/>
              <a:ea typeface="Menlo" charset="0"/>
              <a:cs typeface="Menlo" charset="0"/>
              <a:sym typeface="Menlo" charset="0"/>
            </a:endParaRPr>
          </a:p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void</a:t>
            </a:r>
            <a:r>
              <a:rPr lang="en-US" sz="1800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sz="1800" b="0" dirty="0" smtClean="0">
                <a:solidFill>
                  <a:srgbClr val="5E34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merge</a:t>
            </a:r>
            <a:r>
              <a:rPr lang="en-US" sz="1800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(</a:t>
            </a:r>
            <a:r>
              <a:rPr lang="en-US" sz="1800" b="0" dirty="0" err="1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sz="1800" b="0" dirty="0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[]</a:t>
            </a:r>
            <a:r>
              <a:rPr lang="en-US" sz="1800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sz="1800" b="0" dirty="0" smtClean="0">
                <a:solidFill>
                  <a:srgbClr val="CD7923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A</a:t>
            </a:r>
            <a:r>
              <a:rPr lang="en-US" sz="1800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, </a:t>
            </a:r>
            <a:r>
              <a:rPr lang="en-US" sz="1800" b="0" dirty="0" err="1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sz="1800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sz="1800" b="0" dirty="0" smtClean="0">
                <a:solidFill>
                  <a:srgbClr val="CD7923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lo</a:t>
            </a:r>
            <a:r>
              <a:rPr lang="en-US" sz="1800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, </a:t>
            </a:r>
            <a:r>
              <a:rPr lang="en-US" sz="1800" b="0" dirty="0" err="1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sz="1800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sz="1800" b="0" dirty="0" smtClean="0">
                <a:solidFill>
                  <a:srgbClr val="CD7923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mid</a:t>
            </a:r>
            <a:r>
              <a:rPr lang="en-US" sz="1800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, </a:t>
            </a:r>
            <a:r>
              <a:rPr lang="en-US" sz="1800" b="0" dirty="0" err="1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sz="1800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sz="1800" b="0" dirty="0" smtClean="0">
                <a:solidFill>
                  <a:srgbClr val="CD7923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hi</a:t>
            </a:r>
            <a:r>
              <a:rPr lang="en-US" sz="1800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)</a:t>
            </a:r>
          </a:p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//@requires 0 &lt;= lo &amp;&amp; lo &lt;= mid &amp;&amp; mid &lt;= hi  &amp;&amp; hi &lt;= \length(A);</a:t>
            </a:r>
          </a:p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//@requires </a:t>
            </a:r>
            <a:r>
              <a:rPr lang="en-US" sz="1800" b="0" dirty="0" err="1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is_sorted</a:t>
            </a:r>
            <a:r>
              <a:rPr lang="en-US" sz="1800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(A, lo, mid) &amp;&amp; </a:t>
            </a:r>
            <a:r>
              <a:rPr lang="en-US" sz="1800" b="0" dirty="0" err="1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is_sorted</a:t>
            </a:r>
            <a:r>
              <a:rPr lang="en-US" sz="1800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(A, mid, hi);</a:t>
            </a:r>
          </a:p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//@ensures </a:t>
            </a:r>
            <a:r>
              <a:rPr lang="en-US" sz="1800" b="0" dirty="0" err="1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is_sorted</a:t>
            </a:r>
            <a:r>
              <a:rPr lang="en-US" sz="1800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(A, lo, hi);</a:t>
            </a:r>
            <a:endParaRPr lang="en-US" sz="1800" b="0" dirty="0" smtClean="0">
              <a:solidFill>
                <a:schemeClr val="tx1"/>
              </a:solidFill>
              <a:latin typeface="Menlo" charset="0"/>
              <a:ea typeface="Menlo" charset="0"/>
              <a:cs typeface="Menlo" charset="0"/>
              <a:sym typeface="Menlo" charset="0"/>
            </a:endParaRPr>
          </a:p>
        </p:txBody>
      </p:sp>
      <p:sp>
        <p:nvSpPr>
          <p:cNvPr id="9" name="Rectangular Callout 8"/>
          <p:cNvSpPr/>
          <p:nvPr/>
        </p:nvSpPr>
        <p:spPr bwMode="auto">
          <a:xfrm>
            <a:off x="7188200" y="6988314"/>
            <a:ext cx="5552482" cy="707886"/>
          </a:xfrm>
          <a:prstGeom prst="wedgeRectCallout">
            <a:avLst>
              <a:gd name="adj1" fmla="val -95181"/>
              <a:gd name="adj2" fmla="val -158681"/>
            </a:avLst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wrap="none" lIns="45720" rIns="45720" anchor="ctr">
            <a:spAutoFit/>
          </a:bodyPr>
          <a:lstStyle/>
          <a:p>
            <a:pPr algn="l">
              <a:defRPr/>
            </a:pPr>
            <a:r>
              <a:rPr lang="en-US" sz="2000" dirty="0" smtClean="0"/>
              <a:t>To show</a:t>
            </a:r>
            <a:r>
              <a:rPr lang="en-US" sz="2000" b="0" dirty="0" smtClean="0">
                <a:solidFill>
                  <a:schemeClr val="tx1"/>
                </a:solidFill>
              </a:rPr>
              <a:t>:</a:t>
            </a:r>
            <a:r>
              <a:rPr lang="en-US" sz="2000" b="0" dirty="0" smtClean="0">
                <a:solidFill>
                  <a:srgbClr val="C00000"/>
                </a:solidFill>
              </a:rPr>
              <a:t> A[lo, mid) sorted </a:t>
            </a:r>
            <a:r>
              <a:rPr lang="en-US" sz="2000" dirty="0" smtClean="0">
                <a:solidFill>
                  <a:schemeClr val="tx1"/>
                </a:solidFill>
              </a:rPr>
              <a:t>and</a:t>
            </a:r>
            <a:r>
              <a:rPr lang="en-US" sz="2000" b="0" dirty="0" smtClean="0">
                <a:solidFill>
                  <a:srgbClr val="C00000"/>
                </a:solidFill>
              </a:rPr>
              <a:t> A[mid, hi) sorted</a:t>
            </a:r>
          </a:p>
          <a:p>
            <a:pPr marL="169863" indent="-169863" algn="l">
              <a:buFont typeface="Arial" pitchFamily="34" charset="0"/>
              <a:buChar char="•"/>
              <a:defRPr/>
            </a:pPr>
            <a:r>
              <a:rPr lang="en-US" sz="2000" b="0" dirty="0" smtClean="0">
                <a:solidFill>
                  <a:schemeClr val="tx1"/>
                </a:solidFill>
              </a:rPr>
              <a:t>by the </a:t>
            </a:r>
            <a:r>
              <a:rPr lang="en-US" sz="2000" b="0" dirty="0" err="1" smtClean="0">
                <a:solidFill>
                  <a:schemeClr val="tx1"/>
                </a:solidFill>
              </a:rPr>
              <a:t>postconditions</a:t>
            </a:r>
            <a:r>
              <a:rPr lang="en-US" sz="2000" b="0" dirty="0" smtClean="0">
                <a:solidFill>
                  <a:schemeClr val="tx1"/>
                </a:solidFill>
              </a:rPr>
              <a:t> of </a:t>
            </a:r>
            <a:r>
              <a:rPr lang="en-US" sz="2000" b="0" dirty="0" err="1" smtClean="0">
                <a:solidFill>
                  <a:srgbClr val="7030A0"/>
                </a:solidFill>
              </a:rPr>
              <a:t>selection_sort</a:t>
            </a:r>
            <a:endParaRPr lang="en-US" sz="2000" b="0" dirty="0" smtClean="0">
              <a:solidFill>
                <a:srgbClr val="7030A0"/>
              </a:solidFill>
            </a:endParaRPr>
          </a:p>
        </p:txBody>
      </p:sp>
      <p:sp>
        <p:nvSpPr>
          <p:cNvPr id="8" name="Rectangular Callout 7"/>
          <p:cNvSpPr/>
          <p:nvPr/>
        </p:nvSpPr>
        <p:spPr bwMode="auto">
          <a:xfrm>
            <a:off x="8255000" y="5943600"/>
            <a:ext cx="4450962" cy="707886"/>
          </a:xfrm>
          <a:prstGeom prst="wedgeRectCallout">
            <a:avLst>
              <a:gd name="adj1" fmla="val -129753"/>
              <a:gd name="adj2" fmla="val -30616"/>
            </a:avLst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wrap="none" lIns="45720" rIns="45720" anchor="ctr">
            <a:spAutoFit/>
          </a:bodyPr>
          <a:lstStyle/>
          <a:p>
            <a:pPr algn="l">
              <a:defRPr/>
            </a:pPr>
            <a:r>
              <a:rPr lang="en-US" sz="2000" dirty="0" smtClean="0"/>
              <a:t>To show</a:t>
            </a:r>
            <a:r>
              <a:rPr lang="en-US" sz="2000" b="0" dirty="0" smtClean="0">
                <a:solidFill>
                  <a:schemeClr val="tx1"/>
                </a:solidFill>
              </a:rPr>
              <a:t>:</a:t>
            </a:r>
            <a:r>
              <a:rPr lang="en-US" sz="2000" b="0" dirty="0" smtClean="0">
                <a:solidFill>
                  <a:srgbClr val="C00000"/>
                </a:solidFill>
              </a:rPr>
              <a:t> 0 ≤ lo ≤ mid ≤ hi ≤ \length(A)</a:t>
            </a:r>
          </a:p>
          <a:p>
            <a:pPr marL="169863" indent="-169863" algn="l">
              <a:buClr>
                <a:schemeClr val="tx1"/>
              </a:buClr>
              <a:buSzPct val="125000"/>
              <a:tabLst>
                <a:tab pos="2168525" algn="l"/>
              </a:tabLst>
              <a:defRPr/>
            </a:pPr>
            <a:r>
              <a:rPr lang="en-US" sz="2000" b="0" i="1" dirty="0" smtClean="0">
                <a:solidFill>
                  <a:schemeClr val="tx1"/>
                </a:solidFill>
              </a:rPr>
              <a:t>Left as exercise</a:t>
            </a:r>
            <a:endParaRPr lang="en-US" sz="2000" b="0" dirty="0"/>
          </a:p>
        </p:txBody>
      </p:sp>
      <p:sp>
        <p:nvSpPr>
          <p:cNvPr id="10" name="Rectangle 7"/>
          <p:cNvSpPr>
            <a:spLocks/>
          </p:cNvSpPr>
          <p:nvPr/>
        </p:nvSpPr>
        <p:spPr bwMode="auto">
          <a:xfrm>
            <a:off x="7035800" y="8974334"/>
            <a:ext cx="625468" cy="595035"/>
          </a:xfrm>
          <a:prstGeom prst="rect">
            <a:avLst/>
          </a:prstGeom>
          <a:noFill/>
          <a:ln w="12700">
            <a:noFill/>
            <a:miter lim="400000"/>
            <a:headEnd/>
            <a:tailEnd/>
          </a:ln>
        </p:spPr>
        <p:txBody>
          <a:bodyPr wrap="square" lIns="50800" tIns="50800" rIns="50800" bIns="50800" anchor="ctr">
            <a:spAutoFit/>
          </a:bodyPr>
          <a:lstStyle/>
          <a:p>
            <a:r>
              <a:rPr lang="en-US" sz="3200" b="0" dirty="0" smtClean="0"/>
              <a:t>A:</a:t>
            </a:r>
            <a:endParaRPr lang="en-US" sz="3200" b="0" dirty="0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721600" y="8531422"/>
          <a:ext cx="5105400" cy="1069778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2355913"/>
                <a:gridCol w="2341177"/>
                <a:gridCol w="408310"/>
              </a:tblGrid>
              <a:tr h="458689">
                <a:tc>
                  <a:txBody>
                    <a:bodyPr/>
                    <a:lstStyle/>
                    <a:p>
                      <a:r>
                        <a:rPr lang="en-US" sz="1800" b="0" dirty="0" smtClean="0">
                          <a:solidFill>
                            <a:schemeClr val="tx1"/>
                          </a:solidFill>
                        </a:rPr>
                        <a:t>lo</a:t>
                      </a:r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i="1" dirty="0" smtClean="0">
                          <a:solidFill>
                            <a:schemeClr val="tx1"/>
                          </a:solidFill>
                        </a:rPr>
                        <a:t>hi</a:t>
                      </a:r>
                      <a:endParaRPr lang="en-US" sz="18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611089">
                <a:tc gridSpan="2"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rgbClr val="C00000"/>
                          </a:solidFill>
                        </a:rPr>
                        <a:t>SORTED</a:t>
                      </a:r>
                      <a:endParaRPr lang="en-US" sz="1800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4902200" y="6858000"/>
            <a:ext cx="71526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5400" dirty="0" smtClean="0">
                <a:solidFill>
                  <a:srgbClr val="00B050"/>
                </a:solidFill>
                <a:sym typeface="Wingdings 2"/>
              </a:rPr>
              <a:t></a:t>
            </a:r>
            <a:endParaRPr lang="en-US" sz="5400" dirty="0">
              <a:solidFill>
                <a:srgbClr val="00B050"/>
              </a:solidFill>
            </a:endParaRPr>
          </a:p>
        </p:txBody>
      </p:sp>
      <p:sp>
        <p:nvSpPr>
          <p:cNvPr id="13" name="Oval 12"/>
          <p:cNvSpPr>
            <a:spLocks noChangeArrowheads="1"/>
          </p:cNvSpPr>
          <p:nvPr/>
        </p:nvSpPr>
        <p:spPr bwMode="auto">
          <a:xfrm>
            <a:off x="1625600" y="5715000"/>
            <a:ext cx="3124200" cy="685800"/>
          </a:xfrm>
          <a:prstGeom prst="ellipse">
            <a:avLst/>
          </a:prstGeom>
          <a:noFill/>
          <a:ln w="38100" algn="ctr">
            <a:solidFill>
              <a:srgbClr val="FF0000"/>
            </a:solidFill>
            <a:miter lim="400000"/>
            <a:headEnd/>
            <a:tailEnd/>
          </a:ln>
        </p:spPr>
        <p:txBody>
          <a:bodyPr lIns="45720" rIns="45720" anchor="ctr"/>
          <a:lstStyle/>
          <a:p>
            <a:endParaRPr lang="en-US" sz="2000" b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52500" y="254000"/>
            <a:ext cx="4940300" cy="1498600"/>
          </a:xfrm>
        </p:spPr>
        <p:txBody>
          <a:bodyPr/>
          <a:lstStyle/>
          <a:p>
            <a:r>
              <a:rPr lang="en-US" dirty="0" smtClean="0"/>
              <a:t>Implementation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pPr lvl="3"/>
            <a:endParaRPr lang="en-US" dirty="0" smtClean="0"/>
          </a:p>
          <a:p>
            <a:pPr>
              <a:buClr>
                <a:schemeClr val="tx1"/>
              </a:buClr>
            </a:pPr>
            <a:r>
              <a:rPr lang="en-US" dirty="0" smtClean="0">
                <a:solidFill>
                  <a:srgbClr val="C00000"/>
                </a:solidFill>
              </a:rPr>
              <a:t>A[lo, hi) sorted </a:t>
            </a:r>
            <a:r>
              <a:rPr lang="en-US" dirty="0" smtClean="0"/>
              <a:t>is the </a:t>
            </a:r>
            <a:r>
              <a:rPr lang="en-US" dirty="0" err="1" smtClean="0"/>
              <a:t>postcondition</a:t>
            </a:r>
            <a:r>
              <a:rPr lang="en-US" dirty="0" smtClean="0"/>
              <a:t> of </a:t>
            </a:r>
            <a:r>
              <a:rPr lang="en-US" dirty="0" smtClean="0">
                <a:solidFill>
                  <a:srgbClr val="7030A0"/>
                </a:solidFill>
              </a:rPr>
              <a:t>sort</a:t>
            </a:r>
            <a:r>
              <a:rPr lang="en-US" dirty="0" smtClean="0"/>
              <a:t> </a:t>
            </a:r>
            <a:endParaRPr lang="en-US" dirty="0" smtClean="0">
              <a:solidFill>
                <a:srgbClr val="C00000"/>
              </a:solidFill>
            </a:endParaRPr>
          </a:p>
          <a:p>
            <a:pPr lvl="1">
              <a:buClr>
                <a:schemeClr val="tx1"/>
              </a:buClr>
            </a:pPr>
            <a:r>
              <a:rPr lang="en-US" dirty="0" smtClean="0">
                <a:solidFill>
                  <a:srgbClr val="7030A0"/>
                </a:solidFill>
              </a:rPr>
              <a:t>sort</a:t>
            </a:r>
            <a:r>
              <a:rPr lang="en-US" dirty="0" smtClean="0"/>
              <a:t> is </a:t>
            </a:r>
            <a:r>
              <a:rPr lang="en-US" b="1" dirty="0" smtClean="0"/>
              <a:t>correct</a:t>
            </a:r>
          </a:p>
        </p:txBody>
      </p:sp>
      <p:sp>
        <p:nvSpPr>
          <p:cNvPr id="6" name="Rectangle 5"/>
          <p:cNvSpPr>
            <a:spLocks/>
          </p:cNvSpPr>
          <p:nvPr/>
        </p:nvSpPr>
        <p:spPr bwMode="auto">
          <a:xfrm>
            <a:off x="1549401" y="2819400"/>
            <a:ext cx="8153399" cy="3877985"/>
          </a:xfrm>
          <a:prstGeom prst="rect">
            <a:avLst/>
          </a:prstGeom>
          <a:noFill/>
          <a:ln w="12700">
            <a:solidFill>
              <a:schemeClr val="tx2"/>
            </a:solidFill>
            <a:miter lim="400000"/>
            <a:headEnd/>
            <a:tailEnd/>
          </a:ln>
        </p:spPr>
        <p:txBody>
          <a:bodyPr wrap="square" tIns="91440" bIns="91440" anchor="ctr">
            <a:spAutoFit/>
          </a:bodyPr>
          <a:lstStyle/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void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b="0" dirty="0" smtClean="0">
                <a:solidFill>
                  <a:srgbClr val="5E34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sort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(</a:t>
            </a:r>
            <a:r>
              <a:rPr lang="en-US" b="0" dirty="0" err="1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b="0" dirty="0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[]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b="0" dirty="0" smtClean="0">
                <a:solidFill>
                  <a:srgbClr val="CD7923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A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, </a:t>
            </a:r>
            <a:r>
              <a:rPr lang="en-US" b="0" dirty="0" err="1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b="0" dirty="0" smtClean="0">
                <a:solidFill>
                  <a:srgbClr val="CD7923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lo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, </a:t>
            </a:r>
            <a:r>
              <a:rPr lang="en-US" b="0" dirty="0" err="1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b="0" dirty="0" smtClean="0">
                <a:solidFill>
                  <a:srgbClr val="CD7923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hi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)</a:t>
            </a:r>
          </a:p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//@requires 0 &lt;= lo &amp;&amp; lo &lt;= hi  &amp;&amp; hi &lt;= \length(A);</a:t>
            </a:r>
          </a:p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//@ensures </a:t>
            </a:r>
            <a:r>
              <a:rPr lang="en-US" b="0" dirty="0" err="1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is_sorted</a:t>
            </a:r>
            <a:r>
              <a:rPr lang="en-US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(A, lo, hi);</a:t>
            </a:r>
            <a:endParaRPr lang="en-US" b="0" dirty="0" smtClean="0">
              <a:solidFill>
                <a:schemeClr val="tx1"/>
              </a:solidFill>
              <a:latin typeface="Menlo" charset="0"/>
              <a:ea typeface="Menlo" charset="0"/>
              <a:cs typeface="Menlo" charset="0"/>
              <a:sym typeface="Menlo" charset="0"/>
            </a:endParaRPr>
          </a:p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solidFill>
                  <a:schemeClr val="tx1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{</a:t>
            </a:r>
          </a:p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 </a:t>
            </a:r>
            <a:r>
              <a:rPr lang="en-US" b="0" dirty="0" err="1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b="0" dirty="0" smtClean="0">
                <a:solidFill>
                  <a:srgbClr val="CD7923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mid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= lo + (hi - lo) / 2;</a:t>
            </a:r>
          </a:p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  //@assert  lo &lt;= mid &amp;&amp; mid &lt;= hi;</a:t>
            </a:r>
          </a:p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 </a:t>
            </a:r>
            <a:r>
              <a:rPr lang="en-US" b="0" dirty="0" err="1" smtClean="0">
                <a:latin typeface="Menlo" charset="0"/>
                <a:ea typeface="Menlo" charset="0"/>
                <a:cs typeface="Menlo" charset="0"/>
                <a:sym typeface="Menlo" charset="0"/>
              </a:rPr>
              <a:t>selection_sort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(A, lo, mid);  </a:t>
            </a:r>
            <a:r>
              <a:rPr lang="en-US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//@assert </a:t>
            </a:r>
            <a:r>
              <a:rPr lang="en-US" b="0" dirty="0" err="1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is_sorted</a:t>
            </a:r>
            <a:r>
              <a:rPr lang="en-US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(A, lo, mid);</a:t>
            </a:r>
          </a:p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 </a:t>
            </a:r>
            <a:r>
              <a:rPr lang="en-US" b="0" dirty="0" err="1" smtClean="0">
                <a:latin typeface="Menlo" charset="0"/>
                <a:ea typeface="Menlo" charset="0"/>
                <a:cs typeface="Menlo" charset="0"/>
                <a:sym typeface="Menlo" charset="0"/>
              </a:rPr>
              <a:t>selection_sort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(A, mid, hi);  </a:t>
            </a:r>
            <a:r>
              <a:rPr lang="en-US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//@assert </a:t>
            </a:r>
            <a:r>
              <a:rPr lang="en-US" b="0" dirty="0" err="1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is_sorted</a:t>
            </a:r>
            <a:r>
              <a:rPr lang="en-US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(A, mid, hi);</a:t>
            </a:r>
          </a:p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solidFill>
                  <a:schemeClr val="tx1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  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merge(A, lo, mid, hi);        </a:t>
            </a:r>
            <a:r>
              <a:rPr lang="en-US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 //@assert </a:t>
            </a:r>
            <a:r>
              <a:rPr lang="en-US" b="0" dirty="0" err="1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is_sorted</a:t>
            </a:r>
            <a:r>
              <a:rPr lang="en-US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(A, lo, hi)</a:t>
            </a:r>
            <a:endParaRPr lang="en-US" b="0" dirty="0" smtClean="0">
              <a:latin typeface="Menlo" charset="0"/>
              <a:ea typeface="Menlo" charset="0"/>
              <a:cs typeface="Menlo" charset="0"/>
              <a:sym typeface="Menlo" charset="0"/>
            </a:endParaRPr>
          </a:p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solidFill>
                  <a:schemeClr val="tx1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}</a:t>
            </a:r>
            <a:endParaRPr lang="en-US" dirty="0" smtClean="0">
              <a:solidFill>
                <a:schemeClr val="tx1"/>
              </a:solidFill>
              <a:latin typeface="Menlo" charset="0"/>
              <a:ea typeface="Menlo" charset="0"/>
              <a:cs typeface="Menlo" charset="0"/>
              <a:sym typeface="Menlo" charset="0"/>
            </a:endParaRPr>
          </a:p>
        </p:txBody>
      </p:sp>
      <p:sp>
        <p:nvSpPr>
          <p:cNvPr id="7" name="Rectangle 6"/>
          <p:cNvSpPr>
            <a:spLocks/>
          </p:cNvSpPr>
          <p:nvPr/>
        </p:nvSpPr>
        <p:spPr bwMode="auto">
          <a:xfrm>
            <a:off x="5905772" y="100548"/>
            <a:ext cx="6997428" cy="2400657"/>
          </a:xfrm>
          <a:prstGeom prst="rect">
            <a:avLst/>
          </a:prstGeom>
          <a:noFill/>
          <a:ln w="12700">
            <a:solidFill>
              <a:schemeClr val="tx2"/>
            </a:solidFill>
            <a:miter lim="400000"/>
            <a:headEnd/>
            <a:tailEnd/>
          </a:ln>
        </p:spPr>
        <p:txBody>
          <a:bodyPr wrap="none" tIns="91440" bIns="91440" anchor="ctr">
            <a:spAutoFit/>
          </a:bodyPr>
          <a:lstStyle/>
          <a:p>
            <a:pPr marL="347663" indent="-347663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void</a:t>
            </a:r>
            <a:r>
              <a:rPr lang="en-US" sz="1800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sz="1800" b="0" dirty="0" err="1" smtClean="0">
                <a:solidFill>
                  <a:srgbClr val="5E34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selection_sort</a:t>
            </a:r>
            <a:r>
              <a:rPr lang="en-US" sz="1800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(</a:t>
            </a:r>
            <a:r>
              <a:rPr lang="en-US" sz="1800" b="0" dirty="0" err="1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sz="1800" b="0" dirty="0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[]</a:t>
            </a:r>
            <a:r>
              <a:rPr lang="en-US" sz="1800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sz="1800" b="0" dirty="0" smtClean="0">
                <a:solidFill>
                  <a:srgbClr val="CD7923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A</a:t>
            </a:r>
            <a:r>
              <a:rPr lang="en-US" sz="1800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, </a:t>
            </a:r>
            <a:r>
              <a:rPr lang="en-US" sz="1800" b="0" dirty="0" err="1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sz="1800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sz="1800" b="0" dirty="0" smtClean="0">
                <a:solidFill>
                  <a:srgbClr val="CD7923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lo</a:t>
            </a:r>
            <a:r>
              <a:rPr lang="en-US" sz="1800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, </a:t>
            </a:r>
            <a:r>
              <a:rPr lang="en-US" sz="1800" b="0" dirty="0" err="1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sz="1800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sz="1800" b="0" dirty="0" smtClean="0">
                <a:solidFill>
                  <a:srgbClr val="CD7923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hi</a:t>
            </a:r>
            <a:r>
              <a:rPr lang="en-US" sz="1800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)</a:t>
            </a:r>
          </a:p>
          <a:p>
            <a:pPr marL="347663" indent="-347663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//@requires 0 &lt;= lo &amp;&amp; lo &lt;= hi  &amp;&amp; hi &lt;= \length(A);</a:t>
            </a:r>
          </a:p>
          <a:p>
            <a:pPr marL="347663" indent="-347663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//@ensures </a:t>
            </a:r>
            <a:r>
              <a:rPr lang="en-US" sz="1800" b="0" dirty="0" err="1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is_sorted</a:t>
            </a:r>
            <a:r>
              <a:rPr lang="en-US" sz="1800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(A, lo, hi);</a:t>
            </a:r>
          </a:p>
          <a:p>
            <a:pPr marL="347663" indent="-347663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endParaRPr lang="en-US" sz="1800" b="0" dirty="0" smtClean="0">
              <a:solidFill>
                <a:srgbClr val="C00000"/>
              </a:solidFill>
              <a:latin typeface="Menlo" charset="0"/>
              <a:ea typeface="Menlo" charset="0"/>
              <a:cs typeface="Menlo" charset="0"/>
              <a:sym typeface="Menlo" charset="0"/>
            </a:endParaRPr>
          </a:p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void</a:t>
            </a:r>
            <a:r>
              <a:rPr lang="en-US" sz="1800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sz="1800" b="0" dirty="0" smtClean="0">
                <a:solidFill>
                  <a:srgbClr val="5E34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merge</a:t>
            </a:r>
            <a:r>
              <a:rPr lang="en-US" sz="1800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(</a:t>
            </a:r>
            <a:r>
              <a:rPr lang="en-US" sz="1800" b="0" dirty="0" err="1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sz="1800" b="0" dirty="0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[]</a:t>
            </a:r>
            <a:r>
              <a:rPr lang="en-US" sz="1800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sz="1800" b="0" dirty="0" smtClean="0">
                <a:solidFill>
                  <a:srgbClr val="CD7923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A</a:t>
            </a:r>
            <a:r>
              <a:rPr lang="en-US" sz="1800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, </a:t>
            </a:r>
            <a:r>
              <a:rPr lang="en-US" sz="1800" b="0" dirty="0" err="1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sz="1800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sz="1800" b="0" dirty="0" smtClean="0">
                <a:solidFill>
                  <a:srgbClr val="CD7923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lo</a:t>
            </a:r>
            <a:r>
              <a:rPr lang="en-US" sz="1800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, </a:t>
            </a:r>
            <a:r>
              <a:rPr lang="en-US" sz="1800" b="0" dirty="0" err="1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sz="1800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sz="1800" b="0" dirty="0" smtClean="0">
                <a:solidFill>
                  <a:srgbClr val="CD7923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mid</a:t>
            </a:r>
            <a:r>
              <a:rPr lang="en-US" sz="1800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, </a:t>
            </a:r>
            <a:r>
              <a:rPr lang="en-US" sz="1800" b="0" dirty="0" err="1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sz="1800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sz="1800" b="0" dirty="0" smtClean="0">
                <a:solidFill>
                  <a:srgbClr val="CD7923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hi</a:t>
            </a:r>
            <a:r>
              <a:rPr lang="en-US" sz="1800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)</a:t>
            </a:r>
          </a:p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//@requires 0 &lt;= lo &amp;&amp; lo &lt;= mid &amp;&amp; mid &lt;= hi  &amp;&amp; hi &lt;= \length(A);</a:t>
            </a:r>
          </a:p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//@requires </a:t>
            </a:r>
            <a:r>
              <a:rPr lang="en-US" sz="1800" b="0" dirty="0" err="1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is_sorted</a:t>
            </a:r>
            <a:r>
              <a:rPr lang="en-US" sz="1800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(A, lo, mid) &amp;&amp; </a:t>
            </a:r>
            <a:r>
              <a:rPr lang="en-US" sz="1800" b="0" dirty="0" err="1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is_sorted</a:t>
            </a:r>
            <a:r>
              <a:rPr lang="en-US" sz="1800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(A, mid, hi);</a:t>
            </a:r>
          </a:p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//@ensures </a:t>
            </a:r>
            <a:r>
              <a:rPr lang="en-US" sz="1800" b="0" dirty="0" err="1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is_sorted</a:t>
            </a:r>
            <a:r>
              <a:rPr lang="en-US" sz="1800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(A, lo, hi);</a:t>
            </a:r>
            <a:endParaRPr lang="en-US" sz="1800" b="0" dirty="0" smtClean="0">
              <a:solidFill>
                <a:schemeClr val="tx1"/>
              </a:solidFill>
              <a:latin typeface="Menlo" charset="0"/>
              <a:ea typeface="Menlo" charset="0"/>
              <a:cs typeface="Menlo" charset="0"/>
              <a:sym typeface="Menlo" charset="0"/>
            </a:endParaRPr>
          </a:p>
        </p:txBody>
      </p:sp>
      <p:sp>
        <p:nvSpPr>
          <p:cNvPr id="10" name="Rectangle 7"/>
          <p:cNvSpPr>
            <a:spLocks/>
          </p:cNvSpPr>
          <p:nvPr/>
        </p:nvSpPr>
        <p:spPr bwMode="auto">
          <a:xfrm>
            <a:off x="7035800" y="8974334"/>
            <a:ext cx="625468" cy="595035"/>
          </a:xfrm>
          <a:prstGeom prst="rect">
            <a:avLst/>
          </a:prstGeom>
          <a:noFill/>
          <a:ln w="12700">
            <a:noFill/>
            <a:miter lim="400000"/>
            <a:headEnd/>
            <a:tailEnd/>
          </a:ln>
        </p:spPr>
        <p:txBody>
          <a:bodyPr wrap="square" lIns="50800" tIns="50800" rIns="50800" bIns="50800" anchor="ctr">
            <a:spAutoFit/>
          </a:bodyPr>
          <a:lstStyle/>
          <a:p>
            <a:r>
              <a:rPr lang="en-US" sz="3200" b="0" dirty="0" smtClean="0"/>
              <a:t>A:</a:t>
            </a:r>
            <a:endParaRPr lang="en-US" sz="3200" b="0" dirty="0"/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721600" y="8531422"/>
          <a:ext cx="5105400" cy="1069778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2355913"/>
                <a:gridCol w="2341177"/>
                <a:gridCol w="408310"/>
              </a:tblGrid>
              <a:tr h="458689">
                <a:tc>
                  <a:txBody>
                    <a:bodyPr/>
                    <a:lstStyle/>
                    <a:p>
                      <a:r>
                        <a:rPr lang="en-US" sz="1800" b="0" dirty="0" smtClean="0">
                          <a:solidFill>
                            <a:schemeClr val="tx1"/>
                          </a:solidFill>
                        </a:rPr>
                        <a:t>lo</a:t>
                      </a:r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i="1" dirty="0" smtClean="0">
                          <a:solidFill>
                            <a:schemeClr val="tx1"/>
                          </a:solidFill>
                        </a:rPr>
                        <a:t>hi</a:t>
                      </a:r>
                      <a:endParaRPr lang="en-US" sz="18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611089">
                <a:tc gridSpan="2"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rgbClr val="C00000"/>
                          </a:solidFill>
                        </a:rPr>
                        <a:t>SORTED</a:t>
                      </a:r>
                      <a:endParaRPr lang="en-US" sz="1800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4673600" y="8001000"/>
            <a:ext cx="1127233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9600" dirty="0" smtClean="0">
                <a:solidFill>
                  <a:srgbClr val="00B050"/>
                </a:solidFill>
                <a:sym typeface="Wingdings 2"/>
              </a:rPr>
              <a:t></a:t>
            </a:r>
            <a:endParaRPr lang="en-US" sz="9600" dirty="0">
              <a:solidFill>
                <a:srgbClr val="00B05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Implementation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952500" y="7467600"/>
            <a:ext cx="11099800" cy="1409700"/>
          </a:xfrm>
        </p:spPr>
        <p:txBody>
          <a:bodyPr/>
          <a:lstStyle/>
          <a:p>
            <a:r>
              <a:rPr lang="en-US" dirty="0" smtClean="0"/>
              <a:t>But how does merge work?</a:t>
            </a:r>
            <a:endParaRPr lang="en-US" dirty="0"/>
          </a:p>
        </p:txBody>
      </p:sp>
      <p:sp>
        <p:nvSpPr>
          <p:cNvPr id="6" name="Rectangle 7"/>
          <p:cNvSpPr>
            <a:spLocks/>
          </p:cNvSpPr>
          <p:nvPr/>
        </p:nvSpPr>
        <p:spPr bwMode="auto">
          <a:xfrm>
            <a:off x="939800" y="2271712"/>
            <a:ext cx="625468" cy="595035"/>
          </a:xfrm>
          <a:prstGeom prst="rect">
            <a:avLst/>
          </a:prstGeom>
          <a:noFill/>
          <a:ln w="12700">
            <a:noFill/>
            <a:miter lim="400000"/>
            <a:headEnd/>
            <a:tailEnd/>
          </a:ln>
        </p:spPr>
        <p:txBody>
          <a:bodyPr wrap="square" lIns="50800" tIns="50800" rIns="50800" bIns="50800" anchor="ctr">
            <a:spAutoFit/>
          </a:bodyPr>
          <a:lstStyle/>
          <a:p>
            <a:r>
              <a:rPr lang="en-US" sz="3200" b="0" dirty="0" smtClean="0"/>
              <a:t>A:</a:t>
            </a:r>
            <a:endParaRPr lang="en-US" sz="3200" b="0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625600" y="1828800"/>
          <a:ext cx="5105400" cy="1069778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2355913"/>
                <a:gridCol w="2341177"/>
                <a:gridCol w="408310"/>
              </a:tblGrid>
              <a:tr h="458689">
                <a:tc>
                  <a:txBody>
                    <a:bodyPr/>
                    <a:lstStyle/>
                    <a:p>
                      <a:r>
                        <a:rPr lang="en-US" sz="1800" b="0" dirty="0" smtClean="0">
                          <a:solidFill>
                            <a:schemeClr val="tx1"/>
                          </a:solidFill>
                        </a:rPr>
                        <a:t>lo</a:t>
                      </a:r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dirty="0" smtClean="0">
                          <a:solidFill>
                            <a:schemeClr val="tx1"/>
                          </a:solidFill>
                        </a:rPr>
                        <a:t>mid</a:t>
                      </a:r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i="1" dirty="0" smtClean="0">
                          <a:solidFill>
                            <a:schemeClr val="tx1"/>
                          </a:solidFill>
                        </a:rPr>
                        <a:t>hi</a:t>
                      </a:r>
                      <a:endParaRPr lang="en-US" sz="18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611089"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6" name="Rectangle 7"/>
          <p:cNvSpPr>
            <a:spLocks/>
          </p:cNvSpPr>
          <p:nvPr/>
        </p:nvSpPr>
        <p:spPr bwMode="auto">
          <a:xfrm>
            <a:off x="939800" y="4176712"/>
            <a:ext cx="625468" cy="595035"/>
          </a:xfrm>
          <a:prstGeom prst="rect">
            <a:avLst/>
          </a:prstGeom>
          <a:noFill/>
          <a:ln w="12700">
            <a:noFill/>
            <a:miter lim="400000"/>
            <a:headEnd/>
            <a:tailEnd/>
          </a:ln>
        </p:spPr>
        <p:txBody>
          <a:bodyPr wrap="square" lIns="50800" tIns="50800" rIns="50800" bIns="50800" anchor="ctr">
            <a:spAutoFit/>
          </a:bodyPr>
          <a:lstStyle/>
          <a:p>
            <a:r>
              <a:rPr lang="en-US" sz="3200" b="0" dirty="0" smtClean="0"/>
              <a:t>A:</a:t>
            </a:r>
            <a:endParaRPr lang="en-US" sz="3200" b="0" dirty="0"/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625600" y="3733800"/>
          <a:ext cx="5105400" cy="1069778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2355913"/>
                <a:gridCol w="2341177"/>
                <a:gridCol w="408310"/>
              </a:tblGrid>
              <a:tr h="458689">
                <a:tc>
                  <a:txBody>
                    <a:bodyPr/>
                    <a:lstStyle/>
                    <a:p>
                      <a:r>
                        <a:rPr lang="en-US" sz="1800" b="0" dirty="0" smtClean="0">
                          <a:solidFill>
                            <a:schemeClr val="tx1"/>
                          </a:solidFill>
                        </a:rPr>
                        <a:t>lo</a:t>
                      </a:r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dirty="0" smtClean="0">
                          <a:solidFill>
                            <a:schemeClr val="tx1"/>
                          </a:solidFill>
                        </a:rPr>
                        <a:t>mid</a:t>
                      </a:r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i="1" dirty="0" smtClean="0">
                          <a:solidFill>
                            <a:schemeClr val="tx1"/>
                          </a:solidFill>
                        </a:rPr>
                        <a:t>hi</a:t>
                      </a:r>
                      <a:endParaRPr lang="en-US" sz="18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611089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rgbClr val="C00000"/>
                          </a:solidFill>
                        </a:rPr>
                        <a:t>SORTED</a:t>
                      </a:r>
                      <a:endParaRPr lang="en-US" sz="1800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rgbClr val="C00000"/>
                          </a:solidFill>
                        </a:rPr>
                        <a:t>SORTED</a:t>
                      </a:r>
                      <a:endParaRPr lang="en-US" sz="1800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8" name="Rectangle 7"/>
          <p:cNvSpPr>
            <a:spLocks/>
          </p:cNvSpPr>
          <p:nvPr/>
        </p:nvSpPr>
        <p:spPr bwMode="auto">
          <a:xfrm>
            <a:off x="939800" y="6078734"/>
            <a:ext cx="625468" cy="595035"/>
          </a:xfrm>
          <a:prstGeom prst="rect">
            <a:avLst/>
          </a:prstGeom>
          <a:noFill/>
          <a:ln w="12700">
            <a:noFill/>
            <a:miter lim="400000"/>
            <a:headEnd/>
            <a:tailEnd/>
          </a:ln>
        </p:spPr>
        <p:txBody>
          <a:bodyPr wrap="square" lIns="50800" tIns="50800" rIns="50800" bIns="50800" anchor="ctr">
            <a:spAutoFit/>
          </a:bodyPr>
          <a:lstStyle/>
          <a:p>
            <a:r>
              <a:rPr lang="en-US" sz="3200" b="0" dirty="0" smtClean="0"/>
              <a:t>A:</a:t>
            </a:r>
            <a:endParaRPr lang="en-US" sz="3200" b="0" dirty="0"/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1625600" y="5635822"/>
          <a:ext cx="5105400" cy="1069778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2355913"/>
                <a:gridCol w="2341177"/>
                <a:gridCol w="408310"/>
              </a:tblGrid>
              <a:tr h="458689">
                <a:tc>
                  <a:txBody>
                    <a:bodyPr/>
                    <a:lstStyle/>
                    <a:p>
                      <a:r>
                        <a:rPr lang="en-US" sz="1800" b="0" dirty="0" smtClean="0">
                          <a:solidFill>
                            <a:schemeClr val="tx1"/>
                          </a:solidFill>
                        </a:rPr>
                        <a:t>lo</a:t>
                      </a:r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i="1" dirty="0" smtClean="0">
                          <a:solidFill>
                            <a:schemeClr val="tx1"/>
                          </a:solidFill>
                        </a:rPr>
                        <a:t>hi</a:t>
                      </a:r>
                      <a:endParaRPr lang="en-US" sz="18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611089">
                <a:tc gridSpan="2"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rgbClr val="C00000"/>
                          </a:solidFill>
                        </a:rPr>
                        <a:t>SORTED</a:t>
                      </a:r>
                      <a:endParaRPr lang="en-US" sz="1800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1" name="Curved Left Arrow 20"/>
          <p:cNvSpPr/>
          <p:nvPr/>
        </p:nvSpPr>
        <p:spPr bwMode="auto">
          <a:xfrm>
            <a:off x="6502400" y="2667000"/>
            <a:ext cx="609600" cy="1828800"/>
          </a:xfrm>
          <a:prstGeom prst="curvedLeftArrow">
            <a:avLst/>
          </a:prstGeom>
          <a:solidFill>
            <a:schemeClr val="accent1">
              <a:lumMod val="40000"/>
              <a:lumOff val="60000"/>
            </a:schemeClr>
          </a:solidFill>
          <a:ln w="127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  <p:sp>
        <p:nvSpPr>
          <p:cNvPr id="22" name="Curved Left Arrow 21"/>
          <p:cNvSpPr/>
          <p:nvPr/>
        </p:nvSpPr>
        <p:spPr bwMode="auto">
          <a:xfrm>
            <a:off x="6502400" y="4572000"/>
            <a:ext cx="609600" cy="1828800"/>
          </a:xfrm>
          <a:prstGeom prst="curvedLeftArrow">
            <a:avLst/>
          </a:prstGeom>
          <a:solidFill>
            <a:schemeClr val="accent1">
              <a:lumMod val="40000"/>
              <a:lumOff val="60000"/>
            </a:schemeClr>
          </a:solidFill>
          <a:ln w="127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493000" y="3124200"/>
            <a:ext cx="205056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b="0" dirty="0" smtClean="0">
                <a:solidFill>
                  <a:schemeClr val="tx1"/>
                </a:solidFill>
              </a:rPr>
              <a:t>Selection sort</a:t>
            </a:r>
            <a:br>
              <a:rPr lang="en-US" b="0" dirty="0" smtClean="0">
                <a:solidFill>
                  <a:schemeClr val="tx1"/>
                </a:solidFill>
              </a:rPr>
            </a:br>
            <a:r>
              <a:rPr lang="en-US" b="0" dirty="0" smtClean="0">
                <a:solidFill>
                  <a:schemeClr val="tx1"/>
                </a:solidFill>
              </a:rPr>
              <a:t>on each half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3000" y="5329535"/>
            <a:ext cx="1058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b="0" dirty="0" smtClean="0">
                <a:solidFill>
                  <a:schemeClr val="tx1"/>
                </a:solidFill>
              </a:rPr>
              <a:t>Merge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merge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52500" y="6019800"/>
            <a:ext cx="11099800" cy="2857500"/>
          </a:xfrm>
        </p:spPr>
        <p:txBody>
          <a:bodyPr/>
          <a:lstStyle/>
          <a:p>
            <a:r>
              <a:rPr lang="en-US" dirty="0" smtClean="0"/>
              <a:t>Scan the two half array segments from left to right</a:t>
            </a:r>
          </a:p>
          <a:p>
            <a:r>
              <a:rPr lang="en-US" dirty="0" smtClean="0"/>
              <a:t>At each step, copy smaller element in a temporary array</a:t>
            </a:r>
          </a:p>
          <a:p>
            <a:r>
              <a:rPr lang="en-US" dirty="0" smtClean="0"/>
              <a:t>Copy temporary array back into A[lo, hi)</a:t>
            </a:r>
            <a:endParaRPr lang="en-US" dirty="0"/>
          </a:p>
        </p:txBody>
      </p:sp>
      <p:sp>
        <p:nvSpPr>
          <p:cNvPr id="4" name="Rectangle 7"/>
          <p:cNvSpPr>
            <a:spLocks/>
          </p:cNvSpPr>
          <p:nvPr/>
        </p:nvSpPr>
        <p:spPr bwMode="auto">
          <a:xfrm>
            <a:off x="3225800" y="2043112"/>
            <a:ext cx="625468" cy="595035"/>
          </a:xfrm>
          <a:prstGeom prst="rect">
            <a:avLst/>
          </a:prstGeom>
          <a:noFill/>
          <a:ln w="12700">
            <a:noFill/>
            <a:miter lim="400000"/>
            <a:headEnd/>
            <a:tailEnd/>
          </a:ln>
        </p:spPr>
        <p:txBody>
          <a:bodyPr wrap="square" lIns="50800" tIns="50800" rIns="50800" bIns="50800" anchor="ctr">
            <a:spAutoFit/>
          </a:bodyPr>
          <a:lstStyle/>
          <a:p>
            <a:r>
              <a:rPr lang="en-US" sz="3200" b="0" dirty="0" smtClean="0"/>
              <a:t>A:</a:t>
            </a:r>
            <a:endParaRPr lang="en-US" sz="3200" b="0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911600" y="1600200"/>
          <a:ext cx="5105400" cy="1069778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2355913"/>
                <a:gridCol w="2341177"/>
                <a:gridCol w="408310"/>
              </a:tblGrid>
              <a:tr h="458689">
                <a:tc>
                  <a:txBody>
                    <a:bodyPr/>
                    <a:lstStyle/>
                    <a:p>
                      <a:r>
                        <a:rPr lang="en-US" sz="1800" b="0" dirty="0" smtClean="0">
                          <a:solidFill>
                            <a:schemeClr val="tx1"/>
                          </a:solidFill>
                        </a:rPr>
                        <a:t>lo</a:t>
                      </a:r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dirty="0" smtClean="0">
                          <a:solidFill>
                            <a:schemeClr val="tx1"/>
                          </a:solidFill>
                        </a:rPr>
                        <a:t>mid</a:t>
                      </a:r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i="1" dirty="0" smtClean="0">
                          <a:solidFill>
                            <a:schemeClr val="tx1"/>
                          </a:solidFill>
                        </a:rPr>
                        <a:t>hi</a:t>
                      </a:r>
                      <a:endParaRPr lang="en-US" sz="18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611089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rgbClr val="C00000"/>
                          </a:solidFill>
                        </a:rPr>
                        <a:t>SORTED</a:t>
                      </a:r>
                      <a:endParaRPr lang="en-US" sz="1800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rgbClr val="C00000"/>
                          </a:solidFill>
                        </a:rPr>
                        <a:t>SORTED</a:t>
                      </a:r>
                      <a:endParaRPr lang="en-US" sz="1800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6" name="Up Arrow 5"/>
          <p:cNvSpPr/>
          <p:nvPr/>
        </p:nvSpPr>
        <p:spPr bwMode="auto">
          <a:xfrm>
            <a:off x="3911600" y="2743200"/>
            <a:ext cx="304800" cy="304800"/>
          </a:xfrm>
          <a:prstGeom prst="upArrow">
            <a:avLst/>
          </a:prstGeom>
          <a:noFill/>
          <a:ln w="25400" cap="flat" cmpd="sng" algn="ctr">
            <a:solidFill>
              <a:schemeClr val="bg1">
                <a:lumMod val="85000"/>
              </a:schemeClr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  <p:sp>
        <p:nvSpPr>
          <p:cNvPr id="7" name="Up Arrow 6"/>
          <p:cNvSpPr/>
          <p:nvPr/>
        </p:nvSpPr>
        <p:spPr bwMode="auto">
          <a:xfrm>
            <a:off x="4140200" y="2743200"/>
            <a:ext cx="304800" cy="304800"/>
          </a:xfrm>
          <a:prstGeom prst="upArrow">
            <a:avLst/>
          </a:prstGeom>
          <a:noFill/>
          <a:ln w="25400" cap="flat" cmpd="sng" algn="ctr">
            <a:solidFill>
              <a:schemeClr val="bg1">
                <a:lumMod val="50000"/>
              </a:schemeClr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  <p:sp>
        <p:nvSpPr>
          <p:cNvPr id="8" name="Up Arrow 7"/>
          <p:cNvSpPr/>
          <p:nvPr/>
        </p:nvSpPr>
        <p:spPr bwMode="auto">
          <a:xfrm>
            <a:off x="4368800" y="2743200"/>
            <a:ext cx="304800" cy="304800"/>
          </a:xfrm>
          <a:prstGeom prst="upArrow">
            <a:avLst/>
          </a:prstGeom>
          <a:noFill/>
          <a:ln w="254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  <p:sp>
        <p:nvSpPr>
          <p:cNvPr id="9" name="Up Arrow 8"/>
          <p:cNvSpPr/>
          <p:nvPr/>
        </p:nvSpPr>
        <p:spPr bwMode="auto">
          <a:xfrm>
            <a:off x="6273800" y="2743200"/>
            <a:ext cx="304800" cy="304800"/>
          </a:xfrm>
          <a:prstGeom prst="upArrow">
            <a:avLst/>
          </a:prstGeom>
          <a:noFill/>
          <a:ln w="25400" cap="flat" cmpd="sng" algn="ctr">
            <a:solidFill>
              <a:schemeClr val="bg1">
                <a:lumMod val="85000"/>
              </a:schemeClr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  <p:sp>
        <p:nvSpPr>
          <p:cNvPr id="10" name="Up Arrow 9"/>
          <p:cNvSpPr/>
          <p:nvPr/>
        </p:nvSpPr>
        <p:spPr bwMode="auto">
          <a:xfrm>
            <a:off x="6502400" y="2743200"/>
            <a:ext cx="304800" cy="304800"/>
          </a:xfrm>
          <a:prstGeom prst="upArrow">
            <a:avLst/>
          </a:prstGeom>
          <a:noFill/>
          <a:ln w="25400" cap="flat" cmpd="sng" algn="ctr">
            <a:solidFill>
              <a:schemeClr val="bg1">
                <a:lumMod val="50000"/>
              </a:schemeClr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  <p:sp>
        <p:nvSpPr>
          <p:cNvPr id="11" name="Up Arrow 10"/>
          <p:cNvSpPr/>
          <p:nvPr/>
        </p:nvSpPr>
        <p:spPr bwMode="auto">
          <a:xfrm>
            <a:off x="6731000" y="2743200"/>
            <a:ext cx="304800" cy="304800"/>
          </a:xfrm>
          <a:prstGeom prst="upArrow">
            <a:avLst/>
          </a:prstGeom>
          <a:noFill/>
          <a:ln w="254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911600" y="3426022"/>
          <a:ext cx="5105400" cy="1069778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371600"/>
                <a:gridCol w="3325490"/>
                <a:gridCol w="408310"/>
              </a:tblGrid>
              <a:tr h="458689">
                <a:tc>
                  <a:txBody>
                    <a:bodyPr/>
                    <a:lstStyle/>
                    <a:p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611089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rgbClr val="C00000"/>
                          </a:solidFill>
                        </a:rPr>
                        <a:t>SORTED</a:t>
                      </a:r>
                      <a:endParaRPr lang="en-US" sz="1800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3" name="Rectangle 7"/>
          <p:cNvSpPr>
            <a:spLocks/>
          </p:cNvSpPr>
          <p:nvPr/>
        </p:nvSpPr>
        <p:spPr bwMode="auto">
          <a:xfrm>
            <a:off x="2616200" y="3900765"/>
            <a:ext cx="1235068" cy="595035"/>
          </a:xfrm>
          <a:prstGeom prst="rect">
            <a:avLst/>
          </a:prstGeom>
          <a:noFill/>
          <a:ln w="12700">
            <a:noFill/>
            <a:miter lim="400000"/>
            <a:headEnd/>
            <a:tailEnd/>
          </a:ln>
        </p:spPr>
        <p:txBody>
          <a:bodyPr wrap="square" lIns="50800" tIns="50800" rIns="50800" bIns="50800" anchor="ctr">
            <a:spAutoFit/>
          </a:bodyPr>
          <a:lstStyle/>
          <a:p>
            <a:pPr algn="r"/>
            <a:r>
              <a:rPr lang="en-US" sz="3200" b="0" dirty="0" smtClean="0"/>
              <a:t>TMP:</a:t>
            </a:r>
            <a:endParaRPr lang="en-US" sz="3200" b="0" dirty="0"/>
          </a:p>
        </p:txBody>
      </p:sp>
      <p:sp>
        <p:nvSpPr>
          <p:cNvPr id="14" name="Up Arrow 13"/>
          <p:cNvSpPr/>
          <p:nvPr/>
        </p:nvSpPr>
        <p:spPr bwMode="auto">
          <a:xfrm flipV="1">
            <a:off x="3911600" y="3505200"/>
            <a:ext cx="304800" cy="304800"/>
          </a:xfrm>
          <a:prstGeom prst="upArrow">
            <a:avLst/>
          </a:prstGeom>
          <a:noFill/>
          <a:ln w="25400" cap="flat" cmpd="sng" algn="ctr">
            <a:solidFill>
              <a:schemeClr val="bg1">
                <a:lumMod val="95000"/>
              </a:schemeClr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  <p:sp>
        <p:nvSpPr>
          <p:cNvPr id="15" name="Up Arrow 14"/>
          <p:cNvSpPr/>
          <p:nvPr/>
        </p:nvSpPr>
        <p:spPr bwMode="auto">
          <a:xfrm flipV="1">
            <a:off x="4140200" y="3505200"/>
            <a:ext cx="304800" cy="304800"/>
          </a:xfrm>
          <a:prstGeom prst="upArrow">
            <a:avLst/>
          </a:prstGeom>
          <a:noFill/>
          <a:ln w="25400" cap="flat" cmpd="sng" algn="ctr">
            <a:solidFill>
              <a:schemeClr val="bg1">
                <a:lumMod val="75000"/>
              </a:schemeClr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  <p:sp>
        <p:nvSpPr>
          <p:cNvPr id="16" name="Up Arrow 15"/>
          <p:cNvSpPr/>
          <p:nvPr/>
        </p:nvSpPr>
        <p:spPr bwMode="auto">
          <a:xfrm flipV="1">
            <a:off x="4368800" y="3505200"/>
            <a:ext cx="304800" cy="304800"/>
          </a:xfrm>
          <a:prstGeom prst="upArrow">
            <a:avLst/>
          </a:prstGeom>
          <a:noFill/>
          <a:ln w="25400" cap="flat" cmpd="sng" algn="ctr">
            <a:solidFill>
              <a:schemeClr val="bg1">
                <a:lumMod val="50000"/>
              </a:schemeClr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  <p:sp>
        <p:nvSpPr>
          <p:cNvPr id="17" name="Up Arrow 16"/>
          <p:cNvSpPr/>
          <p:nvPr/>
        </p:nvSpPr>
        <p:spPr bwMode="auto">
          <a:xfrm flipV="1">
            <a:off x="4597400" y="3505200"/>
            <a:ext cx="304800" cy="304800"/>
          </a:xfrm>
          <a:prstGeom prst="upArrow">
            <a:avLst/>
          </a:prstGeom>
          <a:noFill/>
          <a:ln w="2540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  <p:sp>
        <p:nvSpPr>
          <p:cNvPr id="18" name="Up Arrow 17"/>
          <p:cNvSpPr/>
          <p:nvPr/>
        </p:nvSpPr>
        <p:spPr bwMode="auto">
          <a:xfrm flipV="1">
            <a:off x="4826000" y="3505200"/>
            <a:ext cx="304800" cy="304800"/>
          </a:xfrm>
          <a:prstGeom prst="upArrow">
            <a:avLst/>
          </a:prstGeom>
          <a:noFill/>
          <a:ln w="254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  <p:sp>
        <p:nvSpPr>
          <p:cNvPr id="19" name="Up Arrow 18"/>
          <p:cNvSpPr/>
          <p:nvPr/>
        </p:nvSpPr>
        <p:spPr bwMode="auto">
          <a:xfrm flipV="1">
            <a:off x="5054600" y="3505200"/>
            <a:ext cx="304800" cy="304800"/>
          </a:xfrm>
          <a:prstGeom prst="upArrow">
            <a:avLst/>
          </a:prstGeom>
          <a:noFill/>
          <a:ln w="254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  <p:sp>
        <p:nvSpPr>
          <p:cNvPr id="20" name="Rectangular Callout 19"/>
          <p:cNvSpPr/>
          <p:nvPr/>
        </p:nvSpPr>
        <p:spPr bwMode="auto">
          <a:xfrm>
            <a:off x="10617200" y="8610600"/>
            <a:ext cx="1175963" cy="707886"/>
          </a:xfrm>
          <a:prstGeom prst="wedgeRectCallout">
            <a:avLst>
              <a:gd name="adj1" fmla="val -183630"/>
              <a:gd name="adj2" fmla="val -201559"/>
            </a:avLst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wrap="none" lIns="45720" rIns="45720" anchor="ctr">
            <a:spAutoFit/>
          </a:bodyPr>
          <a:lstStyle/>
          <a:p>
            <a:pPr>
              <a:defRPr/>
            </a:pPr>
            <a:r>
              <a:rPr lang="en-US" sz="2000" b="0" dirty="0" smtClean="0"/>
              <a:t>See code</a:t>
            </a:r>
            <a:br>
              <a:rPr lang="en-US" sz="2000" b="0" dirty="0" smtClean="0"/>
            </a:br>
            <a:r>
              <a:rPr lang="en-US" sz="2000" b="0" dirty="0" smtClean="0"/>
              <a:t>online</a:t>
            </a:r>
            <a:endParaRPr lang="en-US" sz="2000" b="0" dirty="0" smtClean="0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10274300" y="1943100"/>
            <a:ext cx="4648200" cy="762000"/>
          </a:xfrm>
        </p:spPr>
        <p:txBody>
          <a:bodyPr/>
          <a:lstStyle/>
          <a:p>
            <a:r>
              <a:rPr lang="en-US" dirty="0" smtClean="0"/>
              <a:t>Example merge</a:t>
            </a:r>
            <a:endParaRPr lang="en-US" dirty="0"/>
          </a:p>
        </p:txBody>
      </p:sp>
      <p:sp>
        <p:nvSpPr>
          <p:cNvPr id="8" name="Up Arrow 7"/>
          <p:cNvSpPr/>
          <p:nvPr/>
        </p:nvSpPr>
        <p:spPr bwMode="auto">
          <a:xfrm>
            <a:off x="1473200" y="1219200"/>
            <a:ext cx="304800" cy="304800"/>
          </a:xfrm>
          <a:prstGeom prst="upArrow">
            <a:avLst/>
          </a:prstGeom>
          <a:noFill/>
          <a:ln w="254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  <p:sp>
        <p:nvSpPr>
          <p:cNvPr id="11" name="Up Arrow 10"/>
          <p:cNvSpPr/>
          <p:nvPr/>
        </p:nvSpPr>
        <p:spPr bwMode="auto">
          <a:xfrm>
            <a:off x="3378200" y="1219200"/>
            <a:ext cx="304800" cy="304800"/>
          </a:xfrm>
          <a:prstGeom prst="upArrow">
            <a:avLst/>
          </a:prstGeom>
          <a:noFill/>
          <a:ln w="25400" cap="flat" cmpd="sng" algn="ctr">
            <a:solidFill>
              <a:srgbClr val="FF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  <p:sp>
        <p:nvSpPr>
          <p:cNvPr id="19" name="Up Arrow 18"/>
          <p:cNvSpPr/>
          <p:nvPr/>
        </p:nvSpPr>
        <p:spPr bwMode="auto">
          <a:xfrm flipV="1">
            <a:off x="8026400" y="304800"/>
            <a:ext cx="304800" cy="304800"/>
          </a:xfrm>
          <a:prstGeom prst="upArrow">
            <a:avLst/>
          </a:prstGeom>
          <a:noFill/>
          <a:ln w="254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1320800" y="228600"/>
          <a:ext cx="4467225" cy="917378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638175"/>
                <a:gridCol w="638175"/>
                <a:gridCol w="638175"/>
                <a:gridCol w="638175"/>
                <a:gridCol w="638175"/>
                <a:gridCol w="638175"/>
                <a:gridCol w="638175"/>
              </a:tblGrid>
              <a:tr h="458689">
                <a:tc>
                  <a:txBody>
                    <a:bodyPr/>
                    <a:lstStyle/>
                    <a:p>
                      <a:r>
                        <a:rPr lang="en-US" sz="1400" b="0" i="1" dirty="0" smtClean="0">
                          <a:solidFill>
                            <a:schemeClr val="tx1"/>
                          </a:solidFill>
                        </a:rPr>
                        <a:t>lo</a:t>
                      </a:r>
                      <a:endParaRPr lang="en-US" sz="14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i="1" dirty="0" smtClean="0">
                          <a:solidFill>
                            <a:schemeClr val="tx1"/>
                          </a:solidFill>
                        </a:rPr>
                        <a:t>mid</a:t>
                      </a:r>
                      <a:endParaRPr lang="en-US" sz="14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i="1" dirty="0" smtClean="0">
                          <a:solidFill>
                            <a:schemeClr val="tx1"/>
                          </a:solidFill>
                        </a:rPr>
                        <a:t>hi</a:t>
                      </a:r>
                      <a:endParaRPr lang="en-US" sz="14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58689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3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6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7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2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2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5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2" name="Rectangle 7"/>
          <p:cNvSpPr>
            <a:spLocks/>
          </p:cNvSpPr>
          <p:nvPr/>
        </p:nvSpPr>
        <p:spPr bwMode="auto">
          <a:xfrm>
            <a:off x="695332" y="609521"/>
            <a:ext cx="625468" cy="533479"/>
          </a:xfrm>
          <a:prstGeom prst="rect">
            <a:avLst/>
          </a:prstGeom>
          <a:noFill/>
          <a:ln w="12700">
            <a:noFill/>
            <a:miter lim="400000"/>
            <a:headEnd/>
            <a:tailEnd/>
          </a:ln>
        </p:spPr>
        <p:txBody>
          <a:bodyPr wrap="square" lIns="50800" tIns="50800" rIns="50800" bIns="50800" anchor="ctr">
            <a:spAutoFit/>
          </a:bodyPr>
          <a:lstStyle/>
          <a:p>
            <a:r>
              <a:rPr lang="en-US" sz="2800" b="0" dirty="0" smtClean="0"/>
              <a:t>A:</a:t>
            </a:r>
            <a:endParaRPr lang="en-US" sz="2800" b="0" dirty="0"/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7826375" y="228600"/>
          <a:ext cx="4467225" cy="917378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638175"/>
                <a:gridCol w="638175"/>
                <a:gridCol w="638175"/>
                <a:gridCol w="638175"/>
                <a:gridCol w="638175"/>
                <a:gridCol w="638175"/>
                <a:gridCol w="638175"/>
              </a:tblGrid>
              <a:tr h="458689">
                <a:tc>
                  <a:txBody>
                    <a:bodyPr/>
                    <a:lstStyle/>
                    <a:p>
                      <a:endParaRPr lang="en-US" sz="14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58689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4" name="Rectangle 7"/>
          <p:cNvSpPr>
            <a:spLocks/>
          </p:cNvSpPr>
          <p:nvPr/>
        </p:nvSpPr>
        <p:spPr bwMode="auto">
          <a:xfrm>
            <a:off x="6654800" y="609600"/>
            <a:ext cx="1158868" cy="533479"/>
          </a:xfrm>
          <a:prstGeom prst="rect">
            <a:avLst/>
          </a:prstGeom>
          <a:noFill/>
          <a:ln w="12700">
            <a:noFill/>
            <a:miter lim="400000"/>
            <a:headEnd/>
            <a:tailEnd/>
          </a:ln>
        </p:spPr>
        <p:txBody>
          <a:bodyPr wrap="square" lIns="50800" tIns="50800" rIns="50800" bIns="50800" anchor="ctr">
            <a:spAutoFit/>
          </a:bodyPr>
          <a:lstStyle/>
          <a:p>
            <a:pPr algn="r"/>
            <a:r>
              <a:rPr lang="en-US" sz="2800" b="0" dirty="0" smtClean="0"/>
              <a:t>TMP:</a:t>
            </a:r>
            <a:endParaRPr lang="en-US" sz="2800" b="0" dirty="0"/>
          </a:p>
        </p:txBody>
      </p:sp>
      <p:sp>
        <p:nvSpPr>
          <p:cNvPr id="25" name="Right Arrow 24"/>
          <p:cNvSpPr/>
          <p:nvPr/>
        </p:nvSpPr>
        <p:spPr bwMode="auto">
          <a:xfrm>
            <a:off x="5800732" y="609600"/>
            <a:ext cx="685800" cy="609600"/>
          </a:xfrm>
          <a:prstGeom prst="rightArrow">
            <a:avLst/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2</a:t>
            </a:r>
          </a:p>
        </p:txBody>
      </p:sp>
      <p:sp>
        <p:nvSpPr>
          <p:cNvPr id="26" name="Up Arrow 25"/>
          <p:cNvSpPr/>
          <p:nvPr/>
        </p:nvSpPr>
        <p:spPr bwMode="auto">
          <a:xfrm>
            <a:off x="1489068" y="2590800"/>
            <a:ext cx="304800" cy="304800"/>
          </a:xfrm>
          <a:prstGeom prst="upArrow">
            <a:avLst/>
          </a:prstGeom>
          <a:noFill/>
          <a:ln w="254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  <p:sp>
        <p:nvSpPr>
          <p:cNvPr id="27" name="Up Arrow 26"/>
          <p:cNvSpPr/>
          <p:nvPr/>
        </p:nvSpPr>
        <p:spPr bwMode="auto">
          <a:xfrm>
            <a:off x="4064000" y="2590800"/>
            <a:ext cx="304800" cy="304800"/>
          </a:xfrm>
          <a:prstGeom prst="upArrow">
            <a:avLst/>
          </a:prstGeom>
          <a:noFill/>
          <a:ln w="25400" cap="flat" cmpd="sng" algn="ctr">
            <a:solidFill>
              <a:srgbClr val="FF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  <p:sp>
        <p:nvSpPr>
          <p:cNvPr id="28" name="Up Arrow 27"/>
          <p:cNvSpPr/>
          <p:nvPr/>
        </p:nvSpPr>
        <p:spPr bwMode="auto">
          <a:xfrm flipV="1">
            <a:off x="8636000" y="1676400"/>
            <a:ext cx="304800" cy="304800"/>
          </a:xfrm>
          <a:prstGeom prst="upArrow">
            <a:avLst/>
          </a:prstGeom>
          <a:noFill/>
          <a:ln w="254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1336668" y="1600200"/>
          <a:ext cx="4467225" cy="917378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638175"/>
                <a:gridCol w="638175"/>
                <a:gridCol w="638175"/>
                <a:gridCol w="638175"/>
                <a:gridCol w="638175"/>
                <a:gridCol w="638175"/>
                <a:gridCol w="638175"/>
              </a:tblGrid>
              <a:tr h="458689">
                <a:tc>
                  <a:txBody>
                    <a:bodyPr/>
                    <a:lstStyle/>
                    <a:p>
                      <a:r>
                        <a:rPr lang="en-US" sz="1400" b="0" i="1" dirty="0" smtClean="0">
                          <a:solidFill>
                            <a:schemeClr val="tx1"/>
                          </a:solidFill>
                        </a:rPr>
                        <a:t>lo</a:t>
                      </a:r>
                      <a:endParaRPr lang="en-US" sz="14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i="1" dirty="0" smtClean="0">
                          <a:solidFill>
                            <a:schemeClr val="tx1"/>
                          </a:solidFill>
                        </a:rPr>
                        <a:t>mid</a:t>
                      </a:r>
                      <a:endParaRPr lang="en-US" sz="14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i="1" dirty="0" smtClean="0">
                          <a:solidFill>
                            <a:schemeClr val="tx1"/>
                          </a:solidFill>
                        </a:rPr>
                        <a:t>hi</a:t>
                      </a:r>
                      <a:endParaRPr lang="en-US" sz="14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58689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3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6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7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2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2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5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0" name="Rectangle 7"/>
          <p:cNvSpPr>
            <a:spLocks/>
          </p:cNvSpPr>
          <p:nvPr/>
        </p:nvSpPr>
        <p:spPr bwMode="auto">
          <a:xfrm>
            <a:off x="711200" y="1981121"/>
            <a:ext cx="625468" cy="533479"/>
          </a:xfrm>
          <a:prstGeom prst="rect">
            <a:avLst/>
          </a:prstGeom>
          <a:noFill/>
          <a:ln w="12700">
            <a:noFill/>
            <a:miter lim="400000"/>
            <a:headEnd/>
            <a:tailEnd/>
          </a:ln>
        </p:spPr>
        <p:txBody>
          <a:bodyPr wrap="square" lIns="50800" tIns="50800" rIns="50800" bIns="50800" anchor="ctr">
            <a:spAutoFit/>
          </a:bodyPr>
          <a:lstStyle/>
          <a:p>
            <a:r>
              <a:rPr lang="en-US" sz="2800" b="0" dirty="0" smtClean="0"/>
              <a:t>A:</a:t>
            </a:r>
            <a:endParaRPr lang="en-US" sz="2800" b="0" dirty="0"/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7842243" y="1600200"/>
          <a:ext cx="4467225" cy="917378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638175"/>
                <a:gridCol w="638175"/>
                <a:gridCol w="638175"/>
                <a:gridCol w="638175"/>
                <a:gridCol w="638175"/>
                <a:gridCol w="638175"/>
                <a:gridCol w="638175"/>
              </a:tblGrid>
              <a:tr h="458689">
                <a:tc>
                  <a:txBody>
                    <a:bodyPr/>
                    <a:lstStyle/>
                    <a:p>
                      <a:endParaRPr lang="en-US" sz="14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58689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2" name="Rectangle 7"/>
          <p:cNvSpPr>
            <a:spLocks/>
          </p:cNvSpPr>
          <p:nvPr/>
        </p:nvSpPr>
        <p:spPr bwMode="auto">
          <a:xfrm>
            <a:off x="6670668" y="1981200"/>
            <a:ext cx="1158868" cy="533479"/>
          </a:xfrm>
          <a:prstGeom prst="rect">
            <a:avLst/>
          </a:prstGeom>
          <a:noFill/>
          <a:ln w="12700">
            <a:noFill/>
            <a:miter lim="400000"/>
            <a:headEnd/>
            <a:tailEnd/>
          </a:ln>
        </p:spPr>
        <p:txBody>
          <a:bodyPr wrap="square" lIns="50800" tIns="50800" rIns="50800" bIns="50800" anchor="ctr">
            <a:spAutoFit/>
          </a:bodyPr>
          <a:lstStyle/>
          <a:p>
            <a:pPr algn="r"/>
            <a:r>
              <a:rPr lang="en-US" sz="2800" b="0" dirty="0" smtClean="0"/>
              <a:t>TMP:</a:t>
            </a:r>
            <a:endParaRPr lang="en-US" sz="2800" b="0" dirty="0"/>
          </a:p>
        </p:txBody>
      </p:sp>
      <p:sp>
        <p:nvSpPr>
          <p:cNvPr id="33" name="Right Arrow 32"/>
          <p:cNvSpPr/>
          <p:nvPr/>
        </p:nvSpPr>
        <p:spPr bwMode="auto">
          <a:xfrm>
            <a:off x="5816600" y="1981200"/>
            <a:ext cx="685800" cy="609600"/>
          </a:xfrm>
          <a:prstGeom prst="rightArrow">
            <a:avLst/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2</a:t>
            </a:r>
          </a:p>
        </p:txBody>
      </p:sp>
      <p:sp>
        <p:nvSpPr>
          <p:cNvPr id="34" name="Up Arrow 33"/>
          <p:cNvSpPr/>
          <p:nvPr/>
        </p:nvSpPr>
        <p:spPr bwMode="auto">
          <a:xfrm>
            <a:off x="1489068" y="3886200"/>
            <a:ext cx="304800" cy="304800"/>
          </a:xfrm>
          <a:prstGeom prst="upArrow">
            <a:avLst/>
          </a:prstGeom>
          <a:noFill/>
          <a:ln w="25400" cap="flat" cmpd="sng" algn="ctr">
            <a:solidFill>
              <a:srgbClr val="FF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  <p:sp>
        <p:nvSpPr>
          <p:cNvPr id="35" name="Up Arrow 34"/>
          <p:cNvSpPr/>
          <p:nvPr/>
        </p:nvSpPr>
        <p:spPr bwMode="auto">
          <a:xfrm>
            <a:off x="4694866" y="3886200"/>
            <a:ext cx="304800" cy="304800"/>
          </a:xfrm>
          <a:prstGeom prst="upArrow">
            <a:avLst/>
          </a:prstGeom>
          <a:noFill/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  <p:sp>
        <p:nvSpPr>
          <p:cNvPr id="36" name="Up Arrow 35"/>
          <p:cNvSpPr/>
          <p:nvPr/>
        </p:nvSpPr>
        <p:spPr bwMode="auto">
          <a:xfrm flipV="1">
            <a:off x="9277499" y="2971800"/>
            <a:ext cx="304800" cy="304800"/>
          </a:xfrm>
          <a:prstGeom prst="upArrow">
            <a:avLst/>
          </a:prstGeom>
          <a:noFill/>
          <a:ln w="254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1336668" y="2895600"/>
          <a:ext cx="4467225" cy="917378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638175"/>
                <a:gridCol w="638175"/>
                <a:gridCol w="638175"/>
                <a:gridCol w="638175"/>
                <a:gridCol w="638175"/>
                <a:gridCol w="638175"/>
                <a:gridCol w="638175"/>
              </a:tblGrid>
              <a:tr h="458689">
                <a:tc>
                  <a:txBody>
                    <a:bodyPr/>
                    <a:lstStyle/>
                    <a:p>
                      <a:r>
                        <a:rPr lang="en-US" sz="1400" b="0" i="1" dirty="0" smtClean="0">
                          <a:solidFill>
                            <a:schemeClr val="tx1"/>
                          </a:solidFill>
                        </a:rPr>
                        <a:t>lo</a:t>
                      </a:r>
                      <a:endParaRPr lang="en-US" sz="14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i="1" dirty="0" smtClean="0">
                          <a:solidFill>
                            <a:schemeClr val="tx1"/>
                          </a:solidFill>
                        </a:rPr>
                        <a:t>mid</a:t>
                      </a:r>
                      <a:endParaRPr lang="en-US" sz="14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i="1" dirty="0" smtClean="0">
                          <a:solidFill>
                            <a:schemeClr val="tx1"/>
                          </a:solidFill>
                        </a:rPr>
                        <a:t>hi</a:t>
                      </a:r>
                      <a:endParaRPr lang="en-US" sz="14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58689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3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6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7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2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2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5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8" name="Rectangle 7"/>
          <p:cNvSpPr>
            <a:spLocks/>
          </p:cNvSpPr>
          <p:nvPr/>
        </p:nvSpPr>
        <p:spPr bwMode="auto">
          <a:xfrm>
            <a:off x="711200" y="3276521"/>
            <a:ext cx="625468" cy="533479"/>
          </a:xfrm>
          <a:prstGeom prst="rect">
            <a:avLst/>
          </a:prstGeom>
          <a:noFill/>
          <a:ln w="12700">
            <a:noFill/>
            <a:miter lim="400000"/>
            <a:headEnd/>
            <a:tailEnd/>
          </a:ln>
        </p:spPr>
        <p:txBody>
          <a:bodyPr wrap="square" lIns="50800" tIns="50800" rIns="50800" bIns="50800" anchor="ctr">
            <a:spAutoFit/>
          </a:bodyPr>
          <a:lstStyle/>
          <a:p>
            <a:r>
              <a:rPr lang="en-US" sz="2800" b="0" dirty="0" smtClean="0"/>
              <a:t>A:</a:t>
            </a:r>
            <a:endParaRPr lang="en-US" sz="2800" b="0" dirty="0"/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842243" y="2895600"/>
          <a:ext cx="4467225" cy="917378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638175"/>
                <a:gridCol w="638175"/>
                <a:gridCol w="638175"/>
                <a:gridCol w="638175"/>
                <a:gridCol w="638175"/>
                <a:gridCol w="638175"/>
                <a:gridCol w="638175"/>
              </a:tblGrid>
              <a:tr h="458689">
                <a:tc>
                  <a:txBody>
                    <a:bodyPr/>
                    <a:lstStyle/>
                    <a:p>
                      <a:endParaRPr lang="en-US" sz="14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58689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0" name="Rectangle 7"/>
          <p:cNvSpPr>
            <a:spLocks/>
          </p:cNvSpPr>
          <p:nvPr/>
        </p:nvSpPr>
        <p:spPr bwMode="auto">
          <a:xfrm>
            <a:off x="6670668" y="3276600"/>
            <a:ext cx="1158868" cy="533479"/>
          </a:xfrm>
          <a:prstGeom prst="rect">
            <a:avLst/>
          </a:prstGeom>
          <a:noFill/>
          <a:ln w="12700">
            <a:noFill/>
            <a:miter lim="400000"/>
            <a:headEnd/>
            <a:tailEnd/>
          </a:ln>
        </p:spPr>
        <p:txBody>
          <a:bodyPr wrap="square" lIns="50800" tIns="50800" rIns="50800" bIns="50800" anchor="ctr">
            <a:spAutoFit/>
          </a:bodyPr>
          <a:lstStyle/>
          <a:p>
            <a:pPr algn="r"/>
            <a:r>
              <a:rPr lang="en-US" sz="2800" b="0" dirty="0" smtClean="0"/>
              <a:t>TMP:</a:t>
            </a:r>
            <a:endParaRPr lang="en-US" sz="2800" b="0" dirty="0"/>
          </a:p>
        </p:txBody>
      </p:sp>
      <p:sp>
        <p:nvSpPr>
          <p:cNvPr id="41" name="Right Arrow 40"/>
          <p:cNvSpPr/>
          <p:nvPr/>
        </p:nvSpPr>
        <p:spPr bwMode="auto">
          <a:xfrm>
            <a:off x="5816600" y="3276600"/>
            <a:ext cx="685800" cy="609600"/>
          </a:xfrm>
          <a:prstGeom prst="rightArrow">
            <a:avLst/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3</a:t>
            </a:r>
          </a:p>
        </p:txBody>
      </p:sp>
      <p:sp>
        <p:nvSpPr>
          <p:cNvPr id="42" name="Up Arrow 41"/>
          <p:cNvSpPr/>
          <p:nvPr/>
        </p:nvSpPr>
        <p:spPr bwMode="auto">
          <a:xfrm>
            <a:off x="2127101" y="5181600"/>
            <a:ext cx="304800" cy="304800"/>
          </a:xfrm>
          <a:prstGeom prst="upArrow">
            <a:avLst/>
          </a:prstGeom>
          <a:noFill/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  <p:sp>
        <p:nvSpPr>
          <p:cNvPr id="43" name="Up Arrow 42"/>
          <p:cNvSpPr/>
          <p:nvPr/>
        </p:nvSpPr>
        <p:spPr bwMode="auto">
          <a:xfrm>
            <a:off x="4694866" y="5181600"/>
            <a:ext cx="304800" cy="304800"/>
          </a:xfrm>
          <a:prstGeom prst="upArrow">
            <a:avLst/>
          </a:prstGeom>
          <a:noFill/>
          <a:ln w="25400" cap="flat" cmpd="sng" algn="ctr">
            <a:solidFill>
              <a:srgbClr val="FF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  <p:sp>
        <p:nvSpPr>
          <p:cNvPr id="44" name="Up Arrow 43"/>
          <p:cNvSpPr/>
          <p:nvPr/>
        </p:nvSpPr>
        <p:spPr bwMode="auto">
          <a:xfrm flipV="1">
            <a:off x="9920767" y="4267200"/>
            <a:ext cx="304800" cy="304800"/>
          </a:xfrm>
          <a:prstGeom prst="upArrow">
            <a:avLst/>
          </a:prstGeom>
          <a:noFill/>
          <a:ln w="254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  <p:graphicFrame>
        <p:nvGraphicFramePr>
          <p:cNvPr id="45" name="Table 44"/>
          <p:cNvGraphicFramePr>
            <a:graphicFrameLocks noGrp="1"/>
          </p:cNvGraphicFramePr>
          <p:nvPr/>
        </p:nvGraphicFramePr>
        <p:xfrm>
          <a:off x="1336668" y="4191000"/>
          <a:ext cx="4467225" cy="917378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638175"/>
                <a:gridCol w="638175"/>
                <a:gridCol w="638175"/>
                <a:gridCol w="638175"/>
                <a:gridCol w="638175"/>
                <a:gridCol w="638175"/>
                <a:gridCol w="638175"/>
              </a:tblGrid>
              <a:tr h="458689">
                <a:tc>
                  <a:txBody>
                    <a:bodyPr/>
                    <a:lstStyle/>
                    <a:p>
                      <a:r>
                        <a:rPr lang="en-US" sz="1400" b="0" i="1" dirty="0" smtClean="0">
                          <a:solidFill>
                            <a:schemeClr val="tx1"/>
                          </a:solidFill>
                        </a:rPr>
                        <a:t>lo</a:t>
                      </a:r>
                      <a:endParaRPr lang="en-US" sz="14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i="1" dirty="0" smtClean="0">
                          <a:solidFill>
                            <a:schemeClr val="tx1"/>
                          </a:solidFill>
                        </a:rPr>
                        <a:t>mid</a:t>
                      </a:r>
                      <a:endParaRPr lang="en-US" sz="14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i="1" dirty="0" smtClean="0">
                          <a:solidFill>
                            <a:schemeClr val="tx1"/>
                          </a:solidFill>
                        </a:rPr>
                        <a:t>hi</a:t>
                      </a:r>
                      <a:endParaRPr lang="en-US" sz="14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58689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3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6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7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2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2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5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6" name="Rectangle 7"/>
          <p:cNvSpPr>
            <a:spLocks/>
          </p:cNvSpPr>
          <p:nvPr/>
        </p:nvSpPr>
        <p:spPr bwMode="auto">
          <a:xfrm>
            <a:off x="711200" y="4571921"/>
            <a:ext cx="625468" cy="533479"/>
          </a:xfrm>
          <a:prstGeom prst="rect">
            <a:avLst/>
          </a:prstGeom>
          <a:noFill/>
          <a:ln w="12700">
            <a:noFill/>
            <a:miter lim="400000"/>
            <a:headEnd/>
            <a:tailEnd/>
          </a:ln>
        </p:spPr>
        <p:txBody>
          <a:bodyPr wrap="square" lIns="50800" tIns="50800" rIns="50800" bIns="50800" anchor="ctr">
            <a:spAutoFit/>
          </a:bodyPr>
          <a:lstStyle/>
          <a:p>
            <a:r>
              <a:rPr lang="en-US" sz="2800" b="0" dirty="0" smtClean="0"/>
              <a:t>A:</a:t>
            </a:r>
            <a:endParaRPr lang="en-US" sz="2800" b="0" dirty="0"/>
          </a:p>
        </p:txBody>
      </p:sp>
      <p:graphicFrame>
        <p:nvGraphicFramePr>
          <p:cNvPr id="47" name="Table 46"/>
          <p:cNvGraphicFramePr>
            <a:graphicFrameLocks noGrp="1"/>
          </p:cNvGraphicFramePr>
          <p:nvPr/>
        </p:nvGraphicFramePr>
        <p:xfrm>
          <a:off x="7842243" y="4191000"/>
          <a:ext cx="4467225" cy="917378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638175"/>
                <a:gridCol w="638175"/>
                <a:gridCol w="638175"/>
                <a:gridCol w="638175"/>
                <a:gridCol w="638175"/>
                <a:gridCol w="638175"/>
                <a:gridCol w="638175"/>
              </a:tblGrid>
              <a:tr h="458689">
                <a:tc>
                  <a:txBody>
                    <a:bodyPr/>
                    <a:lstStyle/>
                    <a:p>
                      <a:endParaRPr lang="en-US" sz="14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58689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8" name="Rectangle 7"/>
          <p:cNvSpPr>
            <a:spLocks/>
          </p:cNvSpPr>
          <p:nvPr/>
        </p:nvSpPr>
        <p:spPr bwMode="auto">
          <a:xfrm>
            <a:off x="6670668" y="4572000"/>
            <a:ext cx="1158868" cy="533479"/>
          </a:xfrm>
          <a:prstGeom prst="rect">
            <a:avLst/>
          </a:prstGeom>
          <a:noFill/>
          <a:ln w="12700">
            <a:noFill/>
            <a:miter lim="400000"/>
            <a:headEnd/>
            <a:tailEnd/>
          </a:ln>
        </p:spPr>
        <p:txBody>
          <a:bodyPr wrap="square" lIns="50800" tIns="50800" rIns="50800" bIns="50800" anchor="ctr">
            <a:spAutoFit/>
          </a:bodyPr>
          <a:lstStyle/>
          <a:p>
            <a:pPr algn="r"/>
            <a:r>
              <a:rPr lang="en-US" sz="2800" b="0" dirty="0" smtClean="0"/>
              <a:t>TMP:</a:t>
            </a:r>
            <a:endParaRPr lang="en-US" sz="2800" b="0" dirty="0"/>
          </a:p>
        </p:txBody>
      </p:sp>
      <p:sp>
        <p:nvSpPr>
          <p:cNvPr id="49" name="Right Arrow 48"/>
          <p:cNvSpPr/>
          <p:nvPr/>
        </p:nvSpPr>
        <p:spPr bwMode="auto">
          <a:xfrm>
            <a:off x="5816600" y="4572000"/>
            <a:ext cx="685800" cy="609600"/>
          </a:xfrm>
          <a:prstGeom prst="rightArrow">
            <a:avLst/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5</a:t>
            </a:r>
          </a:p>
        </p:txBody>
      </p:sp>
      <p:sp>
        <p:nvSpPr>
          <p:cNvPr id="50" name="Up Arrow 49"/>
          <p:cNvSpPr/>
          <p:nvPr/>
        </p:nvSpPr>
        <p:spPr bwMode="auto">
          <a:xfrm>
            <a:off x="2159000" y="6477000"/>
            <a:ext cx="304800" cy="304800"/>
          </a:xfrm>
          <a:prstGeom prst="upArrow">
            <a:avLst/>
          </a:prstGeom>
          <a:noFill/>
          <a:ln w="25400" cap="flat" cmpd="sng" algn="ctr">
            <a:solidFill>
              <a:srgbClr val="FF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  <p:sp>
        <p:nvSpPr>
          <p:cNvPr id="51" name="Up Arrow 50"/>
          <p:cNvSpPr/>
          <p:nvPr/>
        </p:nvSpPr>
        <p:spPr bwMode="auto">
          <a:xfrm>
            <a:off x="5054600" y="6477000"/>
            <a:ext cx="304800" cy="304800"/>
          </a:xfrm>
          <a:prstGeom prst="upArrow">
            <a:avLst/>
          </a:prstGeom>
          <a:noFill/>
          <a:ln w="25400" cap="flat" cmpd="sng" algn="ctr">
            <a:solidFill>
              <a:schemeClr val="bg1">
                <a:lumMod val="85000"/>
              </a:schemeClr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  <p:sp>
        <p:nvSpPr>
          <p:cNvPr id="52" name="Up Arrow 51"/>
          <p:cNvSpPr/>
          <p:nvPr/>
        </p:nvSpPr>
        <p:spPr bwMode="auto">
          <a:xfrm flipV="1">
            <a:off x="10562266" y="5562600"/>
            <a:ext cx="304800" cy="304800"/>
          </a:xfrm>
          <a:prstGeom prst="upArrow">
            <a:avLst/>
          </a:prstGeom>
          <a:noFill/>
          <a:ln w="254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  <p:graphicFrame>
        <p:nvGraphicFramePr>
          <p:cNvPr id="53" name="Table 52"/>
          <p:cNvGraphicFramePr>
            <a:graphicFrameLocks noGrp="1"/>
          </p:cNvGraphicFramePr>
          <p:nvPr/>
        </p:nvGraphicFramePr>
        <p:xfrm>
          <a:off x="1336668" y="5486400"/>
          <a:ext cx="4467225" cy="917378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638175"/>
                <a:gridCol w="638175"/>
                <a:gridCol w="638175"/>
                <a:gridCol w="638175"/>
                <a:gridCol w="638175"/>
                <a:gridCol w="638175"/>
                <a:gridCol w="638175"/>
              </a:tblGrid>
              <a:tr h="458689">
                <a:tc>
                  <a:txBody>
                    <a:bodyPr/>
                    <a:lstStyle/>
                    <a:p>
                      <a:r>
                        <a:rPr lang="en-US" sz="1400" b="0" i="1" dirty="0" smtClean="0">
                          <a:solidFill>
                            <a:schemeClr val="tx1"/>
                          </a:solidFill>
                        </a:rPr>
                        <a:t>lo</a:t>
                      </a:r>
                      <a:endParaRPr lang="en-US" sz="14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i="1" dirty="0" smtClean="0">
                          <a:solidFill>
                            <a:schemeClr val="tx1"/>
                          </a:solidFill>
                        </a:rPr>
                        <a:t>mid</a:t>
                      </a:r>
                      <a:endParaRPr lang="en-US" sz="14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i="1" dirty="0" smtClean="0">
                          <a:solidFill>
                            <a:schemeClr val="tx1"/>
                          </a:solidFill>
                        </a:rPr>
                        <a:t>hi</a:t>
                      </a:r>
                      <a:endParaRPr lang="en-US" sz="14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58689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3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6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7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2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2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5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4" name="Rectangle 7"/>
          <p:cNvSpPr>
            <a:spLocks/>
          </p:cNvSpPr>
          <p:nvPr/>
        </p:nvSpPr>
        <p:spPr bwMode="auto">
          <a:xfrm>
            <a:off x="711200" y="5867321"/>
            <a:ext cx="625468" cy="533479"/>
          </a:xfrm>
          <a:prstGeom prst="rect">
            <a:avLst/>
          </a:prstGeom>
          <a:noFill/>
          <a:ln w="12700">
            <a:noFill/>
            <a:miter lim="400000"/>
            <a:headEnd/>
            <a:tailEnd/>
          </a:ln>
        </p:spPr>
        <p:txBody>
          <a:bodyPr wrap="square" lIns="50800" tIns="50800" rIns="50800" bIns="50800" anchor="ctr">
            <a:spAutoFit/>
          </a:bodyPr>
          <a:lstStyle/>
          <a:p>
            <a:r>
              <a:rPr lang="en-US" sz="2800" b="0" dirty="0" smtClean="0"/>
              <a:t>A:</a:t>
            </a:r>
            <a:endParaRPr lang="en-US" sz="2800" b="0" dirty="0"/>
          </a:p>
        </p:txBody>
      </p:sp>
      <p:graphicFrame>
        <p:nvGraphicFramePr>
          <p:cNvPr id="55" name="Table 54"/>
          <p:cNvGraphicFramePr>
            <a:graphicFrameLocks noGrp="1"/>
          </p:cNvGraphicFramePr>
          <p:nvPr/>
        </p:nvGraphicFramePr>
        <p:xfrm>
          <a:off x="7842243" y="5486400"/>
          <a:ext cx="4467225" cy="917378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638175"/>
                <a:gridCol w="638175"/>
                <a:gridCol w="638175"/>
                <a:gridCol w="638175"/>
                <a:gridCol w="638175"/>
                <a:gridCol w="638175"/>
                <a:gridCol w="638175"/>
              </a:tblGrid>
              <a:tr h="458689">
                <a:tc>
                  <a:txBody>
                    <a:bodyPr/>
                    <a:lstStyle/>
                    <a:p>
                      <a:endParaRPr lang="en-US" sz="14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58689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6" name="Rectangle 7"/>
          <p:cNvSpPr>
            <a:spLocks/>
          </p:cNvSpPr>
          <p:nvPr/>
        </p:nvSpPr>
        <p:spPr bwMode="auto">
          <a:xfrm>
            <a:off x="6670668" y="5867400"/>
            <a:ext cx="1158868" cy="533479"/>
          </a:xfrm>
          <a:prstGeom prst="rect">
            <a:avLst/>
          </a:prstGeom>
          <a:noFill/>
          <a:ln w="12700">
            <a:noFill/>
            <a:miter lim="400000"/>
            <a:headEnd/>
            <a:tailEnd/>
          </a:ln>
        </p:spPr>
        <p:txBody>
          <a:bodyPr wrap="square" lIns="50800" tIns="50800" rIns="50800" bIns="50800" anchor="ctr">
            <a:spAutoFit/>
          </a:bodyPr>
          <a:lstStyle/>
          <a:p>
            <a:pPr algn="r"/>
            <a:r>
              <a:rPr lang="en-US" sz="2800" b="0" dirty="0" smtClean="0"/>
              <a:t>TMP:</a:t>
            </a:r>
            <a:endParaRPr lang="en-US" sz="2800" b="0" dirty="0"/>
          </a:p>
        </p:txBody>
      </p:sp>
      <p:sp>
        <p:nvSpPr>
          <p:cNvPr id="57" name="Right Arrow 56"/>
          <p:cNvSpPr/>
          <p:nvPr/>
        </p:nvSpPr>
        <p:spPr bwMode="auto">
          <a:xfrm>
            <a:off x="5816600" y="5867400"/>
            <a:ext cx="685800" cy="609600"/>
          </a:xfrm>
          <a:prstGeom prst="rightArrow">
            <a:avLst/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3</a:t>
            </a:r>
          </a:p>
        </p:txBody>
      </p:sp>
      <p:sp>
        <p:nvSpPr>
          <p:cNvPr id="58" name="Up Arrow 57"/>
          <p:cNvSpPr/>
          <p:nvPr/>
        </p:nvSpPr>
        <p:spPr bwMode="auto">
          <a:xfrm>
            <a:off x="2768600" y="7848600"/>
            <a:ext cx="304800" cy="304800"/>
          </a:xfrm>
          <a:prstGeom prst="upArrow">
            <a:avLst/>
          </a:prstGeom>
          <a:noFill/>
          <a:ln w="25400" cap="flat" cmpd="sng" algn="ctr">
            <a:solidFill>
              <a:srgbClr val="FF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  <p:sp>
        <p:nvSpPr>
          <p:cNvPr id="59" name="Up Arrow 58"/>
          <p:cNvSpPr/>
          <p:nvPr/>
        </p:nvSpPr>
        <p:spPr bwMode="auto">
          <a:xfrm>
            <a:off x="5054600" y="7848600"/>
            <a:ext cx="304800" cy="304800"/>
          </a:xfrm>
          <a:prstGeom prst="upArrow">
            <a:avLst/>
          </a:prstGeom>
          <a:noFill/>
          <a:ln w="25400" cap="flat" cmpd="sng" algn="ctr">
            <a:solidFill>
              <a:schemeClr val="bg1">
                <a:lumMod val="85000"/>
              </a:schemeClr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  <p:sp>
        <p:nvSpPr>
          <p:cNvPr id="60" name="Up Arrow 59"/>
          <p:cNvSpPr/>
          <p:nvPr/>
        </p:nvSpPr>
        <p:spPr bwMode="auto">
          <a:xfrm flipV="1">
            <a:off x="11216167" y="6934200"/>
            <a:ext cx="304800" cy="304800"/>
          </a:xfrm>
          <a:prstGeom prst="upArrow">
            <a:avLst/>
          </a:prstGeom>
          <a:noFill/>
          <a:ln w="254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  <p:graphicFrame>
        <p:nvGraphicFramePr>
          <p:cNvPr id="61" name="Table 60"/>
          <p:cNvGraphicFramePr>
            <a:graphicFrameLocks noGrp="1"/>
          </p:cNvGraphicFramePr>
          <p:nvPr/>
        </p:nvGraphicFramePr>
        <p:xfrm>
          <a:off x="1336668" y="6858000"/>
          <a:ext cx="4467225" cy="917378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638175"/>
                <a:gridCol w="638175"/>
                <a:gridCol w="638175"/>
                <a:gridCol w="638175"/>
                <a:gridCol w="638175"/>
                <a:gridCol w="638175"/>
                <a:gridCol w="638175"/>
              </a:tblGrid>
              <a:tr h="458689">
                <a:tc>
                  <a:txBody>
                    <a:bodyPr/>
                    <a:lstStyle/>
                    <a:p>
                      <a:r>
                        <a:rPr lang="en-US" sz="1400" b="0" i="1" dirty="0" smtClean="0">
                          <a:solidFill>
                            <a:schemeClr val="tx1"/>
                          </a:solidFill>
                        </a:rPr>
                        <a:t>lo</a:t>
                      </a:r>
                      <a:endParaRPr lang="en-US" sz="14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i="1" dirty="0" smtClean="0">
                          <a:solidFill>
                            <a:schemeClr val="tx1"/>
                          </a:solidFill>
                        </a:rPr>
                        <a:t>mid</a:t>
                      </a:r>
                      <a:endParaRPr lang="en-US" sz="14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i="1" dirty="0" smtClean="0">
                          <a:solidFill>
                            <a:schemeClr val="tx1"/>
                          </a:solidFill>
                        </a:rPr>
                        <a:t>hi</a:t>
                      </a:r>
                      <a:endParaRPr lang="en-US" sz="14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58689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3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6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7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2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2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5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62" name="Rectangle 7"/>
          <p:cNvSpPr>
            <a:spLocks/>
          </p:cNvSpPr>
          <p:nvPr/>
        </p:nvSpPr>
        <p:spPr bwMode="auto">
          <a:xfrm>
            <a:off x="711200" y="7238921"/>
            <a:ext cx="625468" cy="533479"/>
          </a:xfrm>
          <a:prstGeom prst="rect">
            <a:avLst/>
          </a:prstGeom>
          <a:noFill/>
          <a:ln w="12700">
            <a:noFill/>
            <a:miter lim="400000"/>
            <a:headEnd/>
            <a:tailEnd/>
          </a:ln>
        </p:spPr>
        <p:txBody>
          <a:bodyPr wrap="square" lIns="50800" tIns="50800" rIns="50800" bIns="50800" anchor="ctr">
            <a:spAutoFit/>
          </a:bodyPr>
          <a:lstStyle/>
          <a:p>
            <a:r>
              <a:rPr lang="en-US" sz="2800" b="0" dirty="0" smtClean="0"/>
              <a:t>A:</a:t>
            </a:r>
            <a:endParaRPr lang="en-US" sz="2800" b="0" dirty="0"/>
          </a:p>
        </p:txBody>
      </p:sp>
      <p:graphicFrame>
        <p:nvGraphicFramePr>
          <p:cNvPr id="63" name="Table 62"/>
          <p:cNvGraphicFramePr>
            <a:graphicFrameLocks noGrp="1"/>
          </p:cNvGraphicFramePr>
          <p:nvPr/>
        </p:nvGraphicFramePr>
        <p:xfrm>
          <a:off x="7842243" y="6858000"/>
          <a:ext cx="4467225" cy="917378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638175"/>
                <a:gridCol w="638175"/>
                <a:gridCol w="638175"/>
                <a:gridCol w="638175"/>
                <a:gridCol w="638175"/>
                <a:gridCol w="638175"/>
                <a:gridCol w="638175"/>
              </a:tblGrid>
              <a:tr h="458689">
                <a:tc>
                  <a:txBody>
                    <a:bodyPr/>
                    <a:lstStyle/>
                    <a:p>
                      <a:endParaRPr lang="en-US" sz="14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58689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64" name="Rectangle 7"/>
          <p:cNvSpPr>
            <a:spLocks/>
          </p:cNvSpPr>
          <p:nvPr/>
        </p:nvSpPr>
        <p:spPr bwMode="auto">
          <a:xfrm>
            <a:off x="6670668" y="7239000"/>
            <a:ext cx="1158868" cy="533479"/>
          </a:xfrm>
          <a:prstGeom prst="rect">
            <a:avLst/>
          </a:prstGeom>
          <a:noFill/>
          <a:ln w="12700">
            <a:noFill/>
            <a:miter lim="400000"/>
            <a:headEnd/>
            <a:tailEnd/>
          </a:ln>
        </p:spPr>
        <p:txBody>
          <a:bodyPr wrap="square" lIns="50800" tIns="50800" rIns="50800" bIns="50800" anchor="ctr">
            <a:spAutoFit/>
          </a:bodyPr>
          <a:lstStyle/>
          <a:p>
            <a:pPr algn="r"/>
            <a:r>
              <a:rPr lang="en-US" sz="2800" b="0" dirty="0" smtClean="0"/>
              <a:t>TMP:</a:t>
            </a:r>
            <a:endParaRPr lang="en-US" sz="2800" b="0" dirty="0"/>
          </a:p>
        </p:txBody>
      </p:sp>
      <p:sp>
        <p:nvSpPr>
          <p:cNvPr id="65" name="Right Arrow 64"/>
          <p:cNvSpPr/>
          <p:nvPr/>
        </p:nvSpPr>
        <p:spPr bwMode="auto">
          <a:xfrm>
            <a:off x="5816600" y="7239000"/>
            <a:ext cx="685800" cy="609600"/>
          </a:xfrm>
          <a:prstGeom prst="rightArrow">
            <a:avLst/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3</a:t>
            </a:r>
          </a:p>
        </p:txBody>
      </p:sp>
      <p:graphicFrame>
        <p:nvGraphicFramePr>
          <p:cNvPr id="67" name="Table 66"/>
          <p:cNvGraphicFramePr>
            <a:graphicFrameLocks noGrp="1"/>
          </p:cNvGraphicFramePr>
          <p:nvPr/>
        </p:nvGraphicFramePr>
        <p:xfrm>
          <a:off x="1336668" y="8458200"/>
          <a:ext cx="4467225" cy="917378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638175"/>
                <a:gridCol w="638175"/>
                <a:gridCol w="638175"/>
                <a:gridCol w="638175"/>
                <a:gridCol w="638175"/>
                <a:gridCol w="638175"/>
                <a:gridCol w="638175"/>
              </a:tblGrid>
              <a:tr h="458689">
                <a:tc>
                  <a:txBody>
                    <a:bodyPr/>
                    <a:lstStyle/>
                    <a:p>
                      <a:r>
                        <a:rPr lang="en-US" sz="1400" b="0" i="1" dirty="0" smtClean="0">
                          <a:solidFill>
                            <a:schemeClr val="tx1"/>
                          </a:solidFill>
                        </a:rPr>
                        <a:t>lo</a:t>
                      </a:r>
                      <a:endParaRPr lang="en-US" sz="14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i="1" dirty="0" smtClean="0">
                          <a:solidFill>
                            <a:schemeClr val="tx1"/>
                          </a:solidFill>
                        </a:rPr>
                        <a:t>hi</a:t>
                      </a:r>
                      <a:endParaRPr lang="en-US" sz="14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58689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68" name="Rectangle 7"/>
          <p:cNvSpPr>
            <a:spLocks/>
          </p:cNvSpPr>
          <p:nvPr/>
        </p:nvSpPr>
        <p:spPr bwMode="auto">
          <a:xfrm>
            <a:off x="711200" y="8839121"/>
            <a:ext cx="625468" cy="533479"/>
          </a:xfrm>
          <a:prstGeom prst="rect">
            <a:avLst/>
          </a:prstGeom>
          <a:noFill/>
          <a:ln w="12700">
            <a:noFill/>
            <a:miter lim="400000"/>
            <a:headEnd/>
            <a:tailEnd/>
          </a:ln>
        </p:spPr>
        <p:txBody>
          <a:bodyPr wrap="square" lIns="50800" tIns="50800" rIns="50800" bIns="50800" anchor="ctr">
            <a:spAutoFit/>
          </a:bodyPr>
          <a:lstStyle/>
          <a:p>
            <a:r>
              <a:rPr lang="en-US" sz="2800" b="0" dirty="0" smtClean="0"/>
              <a:t>A:</a:t>
            </a:r>
            <a:endParaRPr lang="en-US" sz="2800" b="0" dirty="0"/>
          </a:p>
        </p:txBody>
      </p:sp>
      <p:graphicFrame>
        <p:nvGraphicFramePr>
          <p:cNvPr id="69" name="Table 68"/>
          <p:cNvGraphicFramePr>
            <a:graphicFrameLocks noGrp="1"/>
          </p:cNvGraphicFramePr>
          <p:nvPr/>
        </p:nvGraphicFramePr>
        <p:xfrm>
          <a:off x="7842243" y="8458200"/>
          <a:ext cx="4467225" cy="917378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638175"/>
                <a:gridCol w="638175"/>
                <a:gridCol w="638175"/>
                <a:gridCol w="638175"/>
                <a:gridCol w="638175"/>
                <a:gridCol w="638175"/>
                <a:gridCol w="638175"/>
              </a:tblGrid>
              <a:tr h="458689">
                <a:tc>
                  <a:txBody>
                    <a:bodyPr/>
                    <a:lstStyle/>
                    <a:p>
                      <a:endParaRPr lang="en-US" sz="14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58689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70" name="Rectangle 7"/>
          <p:cNvSpPr>
            <a:spLocks/>
          </p:cNvSpPr>
          <p:nvPr/>
        </p:nvSpPr>
        <p:spPr bwMode="auto">
          <a:xfrm>
            <a:off x="6670668" y="8839200"/>
            <a:ext cx="1158868" cy="533479"/>
          </a:xfrm>
          <a:prstGeom prst="rect">
            <a:avLst/>
          </a:prstGeom>
          <a:noFill/>
          <a:ln w="12700">
            <a:noFill/>
            <a:miter lim="400000"/>
            <a:headEnd/>
            <a:tailEnd/>
          </a:ln>
        </p:spPr>
        <p:txBody>
          <a:bodyPr wrap="square" lIns="50800" tIns="50800" rIns="50800" bIns="50800" anchor="ctr">
            <a:spAutoFit/>
          </a:bodyPr>
          <a:lstStyle/>
          <a:p>
            <a:pPr algn="r"/>
            <a:r>
              <a:rPr lang="en-US" sz="2800" b="0" dirty="0" smtClean="0"/>
              <a:t>TMP:</a:t>
            </a:r>
            <a:endParaRPr lang="en-US" sz="2800" b="0" dirty="0"/>
          </a:p>
        </p:txBody>
      </p:sp>
      <p:sp>
        <p:nvSpPr>
          <p:cNvPr id="71" name="Striped Right Arrow 70"/>
          <p:cNvSpPr/>
          <p:nvPr/>
        </p:nvSpPr>
        <p:spPr bwMode="auto">
          <a:xfrm flipH="1">
            <a:off x="5645150" y="8686800"/>
            <a:ext cx="1085850" cy="965200"/>
          </a:xfrm>
          <a:prstGeom prst="stripedRightArrow">
            <a:avLst/>
          </a:prstGeom>
          <a:solidFill>
            <a:srgbClr val="0070C0"/>
          </a:solidFill>
          <a:ln w="127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merge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52500" y="5105400"/>
            <a:ext cx="11099800" cy="3771900"/>
          </a:xfrm>
        </p:spPr>
        <p:txBody>
          <a:bodyPr/>
          <a:lstStyle/>
          <a:p>
            <a:r>
              <a:rPr lang="en-US" dirty="0" smtClean="0"/>
              <a:t>Cost of merge?</a:t>
            </a:r>
          </a:p>
          <a:p>
            <a:pPr lvl="1"/>
            <a:r>
              <a:rPr lang="en-US" dirty="0" smtClean="0"/>
              <a:t>if </a:t>
            </a:r>
            <a:r>
              <a:rPr lang="en-US" i="1" dirty="0" smtClean="0"/>
              <a:t>A[lo, hi) </a:t>
            </a:r>
            <a:r>
              <a:rPr lang="en-US" dirty="0" smtClean="0"/>
              <a:t>has </a:t>
            </a:r>
            <a:r>
              <a:rPr lang="en-US" i="1" dirty="0" smtClean="0"/>
              <a:t>n</a:t>
            </a:r>
            <a:r>
              <a:rPr lang="en-US" dirty="0" smtClean="0"/>
              <a:t> elements,</a:t>
            </a:r>
          </a:p>
          <a:p>
            <a:pPr lvl="1"/>
            <a:r>
              <a:rPr lang="en-US" dirty="0" smtClean="0"/>
              <a:t>we copy one element to TMP at each step</a:t>
            </a:r>
          </a:p>
          <a:p>
            <a:pPr lvl="2"/>
            <a:r>
              <a:rPr lang="en-US" i="1" dirty="0" smtClean="0"/>
              <a:t>n</a:t>
            </a:r>
            <a:r>
              <a:rPr lang="en-US" dirty="0" smtClean="0"/>
              <a:t> steps</a:t>
            </a:r>
          </a:p>
          <a:p>
            <a:pPr lvl="1"/>
            <a:r>
              <a:rPr lang="en-US" dirty="0" smtClean="0"/>
              <a:t>we copy all </a:t>
            </a:r>
            <a:r>
              <a:rPr lang="en-US" i="1" dirty="0" smtClean="0"/>
              <a:t>n</a:t>
            </a:r>
            <a:r>
              <a:rPr lang="en-US" dirty="0" smtClean="0"/>
              <a:t> elements back to A at the end</a:t>
            </a:r>
          </a:p>
          <a:p>
            <a:pPr lvl="4"/>
            <a:endParaRPr lang="en-US" dirty="0" smtClean="0"/>
          </a:p>
          <a:p>
            <a:r>
              <a:rPr lang="en-US" dirty="0" smtClean="0"/>
              <a:t>That’s cheaper then </a:t>
            </a:r>
            <a:r>
              <a:rPr lang="en-US" i="1" dirty="0" smtClean="0"/>
              <a:t>n</a:t>
            </a:r>
            <a:r>
              <a:rPr lang="en-US" i="1" baseline="30000" dirty="0" smtClean="0"/>
              <a:t>2</a:t>
            </a:r>
            <a:r>
              <a:rPr lang="en-US" i="1" dirty="0" smtClean="0"/>
              <a:t>/2</a:t>
            </a:r>
          </a:p>
        </p:txBody>
      </p:sp>
      <p:sp>
        <p:nvSpPr>
          <p:cNvPr id="4" name="Rectangle 7"/>
          <p:cNvSpPr>
            <a:spLocks/>
          </p:cNvSpPr>
          <p:nvPr/>
        </p:nvSpPr>
        <p:spPr bwMode="auto">
          <a:xfrm>
            <a:off x="3225800" y="2043112"/>
            <a:ext cx="625468" cy="595035"/>
          </a:xfrm>
          <a:prstGeom prst="rect">
            <a:avLst/>
          </a:prstGeom>
          <a:noFill/>
          <a:ln w="12700">
            <a:noFill/>
            <a:miter lim="400000"/>
            <a:headEnd/>
            <a:tailEnd/>
          </a:ln>
        </p:spPr>
        <p:txBody>
          <a:bodyPr wrap="square" lIns="50800" tIns="50800" rIns="50800" bIns="50800" anchor="ctr">
            <a:spAutoFit/>
          </a:bodyPr>
          <a:lstStyle/>
          <a:p>
            <a:r>
              <a:rPr lang="en-US" sz="3200" b="0" dirty="0" smtClean="0"/>
              <a:t>A:</a:t>
            </a:r>
            <a:endParaRPr lang="en-US" sz="3200" b="0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911600" y="1600200"/>
          <a:ext cx="5105400" cy="1069778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2355913"/>
                <a:gridCol w="2341177"/>
                <a:gridCol w="408310"/>
              </a:tblGrid>
              <a:tr h="458689">
                <a:tc>
                  <a:txBody>
                    <a:bodyPr/>
                    <a:lstStyle/>
                    <a:p>
                      <a:r>
                        <a:rPr lang="en-US" sz="1800" b="0" dirty="0" smtClean="0">
                          <a:solidFill>
                            <a:schemeClr val="tx1"/>
                          </a:solidFill>
                        </a:rPr>
                        <a:t>lo</a:t>
                      </a:r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dirty="0" smtClean="0">
                          <a:solidFill>
                            <a:schemeClr val="tx1"/>
                          </a:solidFill>
                        </a:rPr>
                        <a:t>mid</a:t>
                      </a:r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i="1" dirty="0" smtClean="0">
                          <a:solidFill>
                            <a:schemeClr val="tx1"/>
                          </a:solidFill>
                        </a:rPr>
                        <a:t>hi</a:t>
                      </a:r>
                      <a:endParaRPr lang="en-US" sz="18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611089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rgbClr val="C00000"/>
                          </a:solidFill>
                        </a:rPr>
                        <a:t>SORTED</a:t>
                      </a:r>
                      <a:endParaRPr lang="en-US" sz="1800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rgbClr val="C00000"/>
                          </a:solidFill>
                        </a:rPr>
                        <a:t>SORTED</a:t>
                      </a:r>
                      <a:endParaRPr lang="en-US" sz="1800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6" name="Up Arrow 5"/>
          <p:cNvSpPr/>
          <p:nvPr/>
        </p:nvSpPr>
        <p:spPr bwMode="auto">
          <a:xfrm>
            <a:off x="3911600" y="2743200"/>
            <a:ext cx="304800" cy="304800"/>
          </a:xfrm>
          <a:prstGeom prst="upArrow">
            <a:avLst/>
          </a:prstGeom>
          <a:noFill/>
          <a:ln w="25400" cap="flat" cmpd="sng" algn="ctr">
            <a:solidFill>
              <a:schemeClr val="bg1">
                <a:lumMod val="85000"/>
              </a:schemeClr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  <p:sp>
        <p:nvSpPr>
          <p:cNvPr id="7" name="Up Arrow 6"/>
          <p:cNvSpPr/>
          <p:nvPr/>
        </p:nvSpPr>
        <p:spPr bwMode="auto">
          <a:xfrm>
            <a:off x="4140200" y="2743200"/>
            <a:ext cx="304800" cy="304800"/>
          </a:xfrm>
          <a:prstGeom prst="upArrow">
            <a:avLst/>
          </a:prstGeom>
          <a:noFill/>
          <a:ln w="25400" cap="flat" cmpd="sng" algn="ctr">
            <a:solidFill>
              <a:schemeClr val="bg1">
                <a:lumMod val="50000"/>
              </a:schemeClr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  <p:sp>
        <p:nvSpPr>
          <p:cNvPr id="8" name="Up Arrow 7"/>
          <p:cNvSpPr/>
          <p:nvPr/>
        </p:nvSpPr>
        <p:spPr bwMode="auto">
          <a:xfrm>
            <a:off x="4368800" y="2743200"/>
            <a:ext cx="304800" cy="304800"/>
          </a:xfrm>
          <a:prstGeom prst="upArrow">
            <a:avLst/>
          </a:prstGeom>
          <a:noFill/>
          <a:ln w="254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  <p:sp>
        <p:nvSpPr>
          <p:cNvPr id="9" name="Up Arrow 8"/>
          <p:cNvSpPr/>
          <p:nvPr/>
        </p:nvSpPr>
        <p:spPr bwMode="auto">
          <a:xfrm>
            <a:off x="6273800" y="2743200"/>
            <a:ext cx="304800" cy="304800"/>
          </a:xfrm>
          <a:prstGeom prst="upArrow">
            <a:avLst/>
          </a:prstGeom>
          <a:noFill/>
          <a:ln w="25400" cap="flat" cmpd="sng" algn="ctr">
            <a:solidFill>
              <a:schemeClr val="bg1">
                <a:lumMod val="85000"/>
              </a:schemeClr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  <p:sp>
        <p:nvSpPr>
          <p:cNvPr id="10" name="Up Arrow 9"/>
          <p:cNvSpPr/>
          <p:nvPr/>
        </p:nvSpPr>
        <p:spPr bwMode="auto">
          <a:xfrm>
            <a:off x="6502400" y="2743200"/>
            <a:ext cx="304800" cy="304800"/>
          </a:xfrm>
          <a:prstGeom prst="upArrow">
            <a:avLst/>
          </a:prstGeom>
          <a:noFill/>
          <a:ln w="25400" cap="flat" cmpd="sng" algn="ctr">
            <a:solidFill>
              <a:schemeClr val="bg1">
                <a:lumMod val="50000"/>
              </a:schemeClr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  <p:sp>
        <p:nvSpPr>
          <p:cNvPr id="11" name="Up Arrow 10"/>
          <p:cNvSpPr/>
          <p:nvPr/>
        </p:nvSpPr>
        <p:spPr bwMode="auto">
          <a:xfrm>
            <a:off x="6731000" y="2743200"/>
            <a:ext cx="304800" cy="304800"/>
          </a:xfrm>
          <a:prstGeom prst="upArrow">
            <a:avLst/>
          </a:prstGeom>
          <a:noFill/>
          <a:ln w="254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911600" y="3426022"/>
          <a:ext cx="5105400" cy="1069778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371600"/>
                <a:gridCol w="3325490"/>
                <a:gridCol w="408310"/>
              </a:tblGrid>
              <a:tr h="458689">
                <a:tc>
                  <a:txBody>
                    <a:bodyPr/>
                    <a:lstStyle/>
                    <a:p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611089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rgbClr val="C00000"/>
                          </a:solidFill>
                        </a:rPr>
                        <a:t>SORTED</a:t>
                      </a:r>
                      <a:endParaRPr lang="en-US" sz="1800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3" name="Rectangle 7"/>
          <p:cNvSpPr>
            <a:spLocks/>
          </p:cNvSpPr>
          <p:nvPr/>
        </p:nvSpPr>
        <p:spPr bwMode="auto">
          <a:xfrm>
            <a:off x="2616200" y="3900765"/>
            <a:ext cx="1235068" cy="595035"/>
          </a:xfrm>
          <a:prstGeom prst="rect">
            <a:avLst/>
          </a:prstGeom>
          <a:noFill/>
          <a:ln w="12700">
            <a:noFill/>
            <a:miter lim="400000"/>
            <a:headEnd/>
            <a:tailEnd/>
          </a:ln>
        </p:spPr>
        <p:txBody>
          <a:bodyPr wrap="square" lIns="50800" tIns="50800" rIns="50800" bIns="50800" anchor="ctr">
            <a:spAutoFit/>
          </a:bodyPr>
          <a:lstStyle/>
          <a:p>
            <a:pPr algn="r"/>
            <a:r>
              <a:rPr lang="en-US" sz="3200" b="0" dirty="0" smtClean="0"/>
              <a:t>TMP:</a:t>
            </a:r>
            <a:endParaRPr lang="en-US" sz="3200" b="0" dirty="0"/>
          </a:p>
        </p:txBody>
      </p:sp>
      <p:sp>
        <p:nvSpPr>
          <p:cNvPr id="14" name="Up Arrow 13"/>
          <p:cNvSpPr/>
          <p:nvPr/>
        </p:nvSpPr>
        <p:spPr bwMode="auto">
          <a:xfrm flipV="1">
            <a:off x="3911600" y="3505200"/>
            <a:ext cx="304800" cy="304800"/>
          </a:xfrm>
          <a:prstGeom prst="upArrow">
            <a:avLst/>
          </a:prstGeom>
          <a:noFill/>
          <a:ln w="25400" cap="flat" cmpd="sng" algn="ctr">
            <a:solidFill>
              <a:schemeClr val="bg1">
                <a:lumMod val="95000"/>
              </a:schemeClr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  <p:sp>
        <p:nvSpPr>
          <p:cNvPr id="15" name="Up Arrow 14"/>
          <p:cNvSpPr/>
          <p:nvPr/>
        </p:nvSpPr>
        <p:spPr bwMode="auto">
          <a:xfrm flipV="1">
            <a:off x="4140200" y="3505200"/>
            <a:ext cx="304800" cy="304800"/>
          </a:xfrm>
          <a:prstGeom prst="upArrow">
            <a:avLst/>
          </a:prstGeom>
          <a:noFill/>
          <a:ln w="25400" cap="flat" cmpd="sng" algn="ctr">
            <a:solidFill>
              <a:schemeClr val="bg1">
                <a:lumMod val="75000"/>
              </a:schemeClr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  <p:sp>
        <p:nvSpPr>
          <p:cNvPr id="16" name="Up Arrow 15"/>
          <p:cNvSpPr/>
          <p:nvPr/>
        </p:nvSpPr>
        <p:spPr bwMode="auto">
          <a:xfrm flipV="1">
            <a:off x="4368800" y="3505200"/>
            <a:ext cx="304800" cy="304800"/>
          </a:xfrm>
          <a:prstGeom prst="upArrow">
            <a:avLst/>
          </a:prstGeom>
          <a:noFill/>
          <a:ln w="25400" cap="flat" cmpd="sng" algn="ctr">
            <a:solidFill>
              <a:schemeClr val="bg1">
                <a:lumMod val="50000"/>
              </a:schemeClr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  <p:sp>
        <p:nvSpPr>
          <p:cNvPr id="17" name="Up Arrow 16"/>
          <p:cNvSpPr/>
          <p:nvPr/>
        </p:nvSpPr>
        <p:spPr bwMode="auto">
          <a:xfrm flipV="1">
            <a:off x="4597400" y="3505200"/>
            <a:ext cx="304800" cy="304800"/>
          </a:xfrm>
          <a:prstGeom prst="upArrow">
            <a:avLst/>
          </a:prstGeom>
          <a:noFill/>
          <a:ln w="2540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  <p:sp>
        <p:nvSpPr>
          <p:cNvPr id="18" name="Up Arrow 17"/>
          <p:cNvSpPr/>
          <p:nvPr/>
        </p:nvSpPr>
        <p:spPr bwMode="auto">
          <a:xfrm flipV="1">
            <a:off x="4826000" y="3505200"/>
            <a:ext cx="304800" cy="304800"/>
          </a:xfrm>
          <a:prstGeom prst="upArrow">
            <a:avLst/>
          </a:prstGeom>
          <a:noFill/>
          <a:ln w="254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  <p:sp>
        <p:nvSpPr>
          <p:cNvPr id="19" name="Up Arrow 18"/>
          <p:cNvSpPr/>
          <p:nvPr/>
        </p:nvSpPr>
        <p:spPr bwMode="auto">
          <a:xfrm flipV="1">
            <a:off x="5054600" y="3505200"/>
            <a:ext cx="304800" cy="304800"/>
          </a:xfrm>
          <a:prstGeom prst="upArrow">
            <a:avLst/>
          </a:prstGeom>
          <a:noFill/>
          <a:ln w="254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  <p:sp>
        <p:nvSpPr>
          <p:cNvPr id="21" name="Right Brace 20"/>
          <p:cNvSpPr/>
          <p:nvPr/>
        </p:nvSpPr>
        <p:spPr bwMode="auto">
          <a:xfrm>
            <a:off x="9169400" y="5867400"/>
            <a:ext cx="288310" cy="1752600"/>
          </a:xfrm>
          <a:prstGeom prst="rightBrace">
            <a:avLst/>
          </a:prstGeom>
          <a:noFill/>
          <a:ln w="254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none" lIns="50800" tIns="50800" rIns="5080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552169" y="6516836"/>
            <a:ext cx="8162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smtClean="0"/>
              <a:t>O(n)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merge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52500" y="5105400"/>
            <a:ext cx="11099800" cy="3771900"/>
          </a:xfrm>
        </p:spPr>
        <p:txBody>
          <a:bodyPr/>
          <a:lstStyle/>
          <a:p>
            <a:r>
              <a:rPr lang="en-US" dirty="0" smtClean="0"/>
              <a:t>Algorithms that do not use temporary storage are called </a:t>
            </a:r>
            <a:r>
              <a:rPr lang="en-US" b="1" dirty="0" smtClean="0"/>
              <a:t>in-place</a:t>
            </a:r>
          </a:p>
          <a:p>
            <a:pPr lvl="4"/>
            <a:endParaRPr lang="en-US" dirty="0" smtClean="0"/>
          </a:p>
          <a:p>
            <a:r>
              <a:rPr lang="en-US" dirty="0" smtClean="0"/>
              <a:t>merge uses lots of temporary storage</a:t>
            </a:r>
          </a:p>
          <a:p>
            <a:pPr lvl="1"/>
            <a:r>
              <a:rPr lang="en-US" dirty="0" smtClean="0"/>
              <a:t>array TMP -- same size as A[lo, hi)</a:t>
            </a:r>
          </a:p>
          <a:p>
            <a:pPr lvl="1"/>
            <a:r>
              <a:rPr lang="en-US" dirty="0" smtClean="0"/>
              <a:t>merge is not in-place</a:t>
            </a:r>
          </a:p>
          <a:p>
            <a:pPr lvl="4"/>
            <a:endParaRPr lang="en-US" dirty="0" smtClean="0"/>
          </a:p>
          <a:p>
            <a:r>
              <a:rPr lang="en-US" dirty="0" smtClean="0"/>
              <a:t>In-place algorithms for merge are more expensive</a:t>
            </a:r>
          </a:p>
        </p:txBody>
      </p:sp>
      <p:sp>
        <p:nvSpPr>
          <p:cNvPr id="4" name="Rectangle 7"/>
          <p:cNvSpPr>
            <a:spLocks/>
          </p:cNvSpPr>
          <p:nvPr/>
        </p:nvSpPr>
        <p:spPr bwMode="auto">
          <a:xfrm>
            <a:off x="3225800" y="2043112"/>
            <a:ext cx="625468" cy="595035"/>
          </a:xfrm>
          <a:prstGeom prst="rect">
            <a:avLst/>
          </a:prstGeom>
          <a:noFill/>
          <a:ln w="12700">
            <a:noFill/>
            <a:miter lim="400000"/>
            <a:headEnd/>
            <a:tailEnd/>
          </a:ln>
        </p:spPr>
        <p:txBody>
          <a:bodyPr wrap="square" lIns="50800" tIns="50800" rIns="50800" bIns="50800" anchor="ctr">
            <a:spAutoFit/>
          </a:bodyPr>
          <a:lstStyle/>
          <a:p>
            <a:r>
              <a:rPr lang="en-US" sz="3200" b="0" dirty="0" smtClean="0"/>
              <a:t>A:</a:t>
            </a:r>
            <a:endParaRPr lang="en-US" sz="3200" b="0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911600" y="1600200"/>
          <a:ext cx="5105400" cy="1069778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2355913"/>
                <a:gridCol w="2341177"/>
                <a:gridCol w="408310"/>
              </a:tblGrid>
              <a:tr h="458689">
                <a:tc>
                  <a:txBody>
                    <a:bodyPr/>
                    <a:lstStyle/>
                    <a:p>
                      <a:r>
                        <a:rPr lang="en-US" sz="1800" b="0" dirty="0" smtClean="0">
                          <a:solidFill>
                            <a:schemeClr val="tx1"/>
                          </a:solidFill>
                        </a:rPr>
                        <a:t>lo</a:t>
                      </a:r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dirty="0" smtClean="0">
                          <a:solidFill>
                            <a:schemeClr val="tx1"/>
                          </a:solidFill>
                        </a:rPr>
                        <a:t>mid</a:t>
                      </a:r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i="1" dirty="0" smtClean="0">
                          <a:solidFill>
                            <a:schemeClr val="tx1"/>
                          </a:solidFill>
                        </a:rPr>
                        <a:t>hi</a:t>
                      </a:r>
                      <a:endParaRPr lang="en-US" sz="18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611089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rgbClr val="C00000"/>
                          </a:solidFill>
                        </a:rPr>
                        <a:t>SORTED</a:t>
                      </a:r>
                      <a:endParaRPr lang="en-US" sz="1800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rgbClr val="C00000"/>
                          </a:solidFill>
                        </a:rPr>
                        <a:t>SORTED</a:t>
                      </a:r>
                      <a:endParaRPr lang="en-US" sz="1800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6" name="Up Arrow 5"/>
          <p:cNvSpPr/>
          <p:nvPr/>
        </p:nvSpPr>
        <p:spPr bwMode="auto">
          <a:xfrm>
            <a:off x="3911600" y="2743200"/>
            <a:ext cx="304800" cy="304800"/>
          </a:xfrm>
          <a:prstGeom prst="upArrow">
            <a:avLst/>
          </a:prstGeom>
          <a:noFill/>
          <a:ln w="25400" cap="flat" cmpd="sng" algn="ctr">
            <a:solidFill>
              <a:schemeClr val="bg1">
                <a:lumMod val="85000"/>
              </a:schemeClr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  <p:sp>
        <p:nvSpPr>
          <p:cNvPr id="7" name="Up Arrow 6"/>
          <p:cNvSpPr/>
          <p:nvPr/>
        </p:nvSpPr>
        <p:spPr bwMode="auto">
          <a:xfrm>
            <a:off x="4140200" y="2743200"/>
            <a:ext cx="304800" cy="304800"/>
          </a:xfrm>
          <a:prstGeom prst="upArrow">
            <a:avLst/>
          </a:prstGeom>
          <a:noFill/>
          <a:ln w="25400" cap="flat" cmpd="sng" algn="ctr">
            <a:solidFill>
              <a:schemeClr val="bg1">
                <a:lumMod val="50000"/>
              </a:schemeClr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  <p:sp>
        <p:nvSpPr>
          <p:cNvPr id="8" name="Up Arrow 7"/>
          <p:cNvSpPr/>
          <p:nvPr/>
        </p:nvSpPr>
        <p:spPr bwMode="auto">
          <a:xfrm>
            <a:off x="4368800" y="2743200"/>
            <a:ext cx="304800" cy="304800"/>
          </a:xfrm>
          <a:prstGeom prst="upArrow">
            <a:avLst/>
          </a:prstGeom>
          <a:noFill/>
          <a:ln w="254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  <p:sp>
        <p:nvSpPr>
          <p:cNvPr id="9" name="Up Arrow 8"/>
          <p:cNvSpPr/>
          <p:nvPr/>
        </p:nvSpPr>
        <p:spPr bwMode="auto">
          <a:xfrm>
            <a:off x="6273800" y="2743200"/>
            <a:ext cx="304800" cy="304800"/>
          </a:xfrm>
          <a:prstGeom prst="upArrow">
            <a:avLst/>
          </a:prstGeom>
          <a:noFill/>
          <a:ln w="25400" cap="flat" cmpd="sng" algn="ctr">
            <a:solidFill>
              <a:schemeClr val="bg1">
                <a:lumMod val="85000"/>
              </a:schemeClr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  <p:sp>
        <p:nvSpPr>
          <p:cNvPr id="10" name="Up Arrow 9"/>
          <p:cNvSpPr/>
          <p:nvPr/>
        </p:nvSpPr>
        <p:spPr bwMode="auto">
          <a:xfrm>
            <a:off x="6502400" y="2743200"/>
            <a:ext cx="304800" cy="304800"/>
          </a:xfrm>
          <a:prstGeom prst="upArrow">
            <a:avLst/>
          </a:prstGeom>
          <a:noFill/>
          <a:ln w="25400" cap="flat" cmpd="sng" algn="ctr">
            <a:solidFill>
              <a:schemeClr val="bg1">
                <a:lumMod val="50000"/>
              </a:schemeClr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  <p:sp>
        <p:nvSpPr>
          <p:cNvPr id="11" name="Up Arrow 10"/>
          <p:cNvSpPr/>
          <p:nvPr/>
        </p:nvSpPr>
        <p:spPr bwMode="auto">
          <a:xfrm>
            <a:off x="6731000" y="2743200"/>
            <a:ext cx="304800" cy="304800"/>
          </a:xfrm>
          <a:prstGeom prst="upArrow">
            <a:avLst/>
          </a:prstGeom>
          <a:noFill/>
          <a:ln w="254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911600" y="3426022"/>
          <a:ext cx="5105400" cy="1069778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371600"/>
                <a:gridCol w="3325490"/>
                <a:gridCol w="408310"/>
              </a:tblGrid>
              <a:tr h="458689">
                <a:tc>
                  <a:txBody>
                    <a:bodyPr/>
                    <a:lstStyle/>
                    <a:p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611089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rgbClr val="C00000"/>
                          </a:solidFill>
                        </a:rPr>
                        <a:t>SORTED</a:t>
                      </a:r>
                      <a:endParaRPr lang="en-US" sz="1800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3" name="Rectangle 7"/>
          <p:cNvSpPr>
            <a:spLocks/>
          </p:cNvSpPr>
          <p:nvPr/>
        </p:nvSpPr>
        <p:spPr bwMode="auto">
          <a:xfrm>
            <a:off x="2616200" y="3900765"/>
            <a:ext cx="1235068" cy="595035"/>
          </a:xfrm>
          <a:prstGeom prst="rect">
            <a:avLst/>
          </a:prstGeom>
          <a:noFill/>
          <a:ln w="12700">
            <a:noFill/>
            <a:miter lim="400000"/>
            <a:headEnd/>
            <a:tailEnd/>
          </a:ln>
        </p:spPr>
        <p:txBody>
          <a:bodyPr wrap="square" lIns="50800" tIns="50800" rIns="50800" bIns="50800" anchor="ctr">
            <a:spAutoFit/>
          </a:bodyPr>
          <a:lstStyle/>
          <a:p>
            <a:pPr algn="r"/>
            <a:r>
              <a:rPr lang="en-US" sz="3200" b="0" dirty="0" smtClean="0"/>
              <a:t>TMP:</a:t>
            </a:r>
            <a:endParaRPr lang="en-US" sz="3200" b="0" dirty="0"/>
          </a:p>
        </p:txBody>
      </p:sp>
      <p:sp>
        <p:nvSpPr>
          <p:cNvPr id="14" name="Up Arrow 13"/>
          <p:cNvSpPr/>
          <p:nvPr/>
        </p:nvSpPr>
        <p:spPr bwMode="auto">
          <a:xfrm flipV="1">
            <a:off x="3911600" y="3505200"/>
            <a:ext cx="304800" cy="304800"/>
          </a:xfrm>
          <a:prstGeom prst="upArrow">
            <a:avLst/>
          </a:prstGeom>
          <a:noFill/>
          <a:ln w="25400" cap="flat" cmpd="sng" algn="ctr">
            <a:solidFill>
              <a:schemeClr val="bg1">
                <a:lumMod val="95000"/>
              </a:schemeClr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  <p:sp>
        <p:nvSpPr>
          <p:cNvPr id="15" name="Up Arrow 14"/>
          <p:cNvSpPr/>
          <p:nvPr/>
        </p:nvSpPr>
        <p:spPr bwMode="auto">
          <a:xfrm flipV="1">
            <a:off x="4140200" y="3505200"/>
            <a:ext cx="304800" cy="304800"/>
          </a:xfrm>
          <a:prstGeom prst="upArrow">
            <a:avLst/>
          </a:prstGeom>
          <a:noFill/>
          <a:ln w="25400" cap="flat" cmpd="sng" algn="ctr">
            <a:solidFill>
              <a:schemeClr val="bg1">
                <a:lumMod val="75000"/>
              </a:schemeClr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  <p:sp>
        <p:nvSpPr>
          <p:cNvPr id="16" name="Up Arrow 15"/>
          <p:cNvSpPr/>
          <p:nvPr/>
        </p:nvSpPr>
        <p:spPr bwMode="auto">
          <a:xfrm flipV="1">
            <a:off x="4368800" y="3505200"/>
            <a:ext cx="304800" cy="304800"/>
          </a:xfrm>
          <a:prstGeom prst="upArrow">
            <a:avLst/>
          </a:prstGeom>
          <a:noFill/>
          <a:ln w="25400" cap="flat" cmpd="sng" algn="ctr">
            <a:solidFill>
              <a:schemeClr val="bg1">
                <a:lumMod val="50000"/>
              </a:schemeClr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  <p:sp>
        <p:nvSpPr>
          <p:cNvPr id="17" name="Up Arrow 16"/>
          <p:cNvSpPr/>
          <p:nvPr/>
        </p:nvSpPr>
        <p:spPr bwMode="auto">
          <a:xfrm flipV="1">
            <a:off x="4597400" y="3505200"/>
            <a:ext cx="304800" cy="304800"/>
          </a:xfrm>
          <a:prstGeom prst="upArrow">
            <a:avLst/>
          </a:prstGeom>
          <a:noFill/>
          <a:ln w="2540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  <p:sp>
        <p:nvSpPr>
          <p:cNvPr id="18" name="Up Arrow 17"/>
          <p:cNvSpPr/>
          <p:nvPr/>
        </p:nvSpPr>
        <p:spPr bwMode="auto">
          <a:xfrm flipV="1">
            <a:off x="4826000" y="3505200"/>
            <a:ext cx="304800" cy="304800"/>
          </a:xfrm>
          <a:prstGeom prst="upArrow">
            <a:avLst/>
          </a:prstGeom>
          <a:noFill/>
          <a:ln w="254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  <p:sp>
        <p:nvSpPr>
          <p:cNvPr id="19" name="Up Arrow 18"/>
          <p:cNvSpPr/>
          <p:nvPr/>
        </p:nvSpPr>
        <p:spPr bwMode="auto">
          <a:xfrm flipV="1">
            <a:off x="5054600" y="3505200"/>
            <a:ext cx="304800" cy="304800"/>
          </a:xfrm>
          <a:prstGeom prst="upArrow">
            <a:avLst/>
          </a:prstGeom>
          <a:noFill/>
          <a:ln w="254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Using Selection Sort Cleverly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>
          <a:xfrm>
            <a:off x="952500" y="7467600"/>
            <a:ext cx="11099800" cy="1409700"/>
          </a:xfrm>
        </p:spPr>
        <p:txBody>
          <a:bodyPr/>
          <a:lstStyle/>
          <a:p>
            <a:r>
              <a:rPr lang="en-US" dirty="0" smtClean="0"/>
              <a:t>Overall cost about </a:t>
            </a:r>
            <a:r>
              <a:rPr lang="en-US" i="1" dirty="0" smtClean="0"/>
              <a:t>n</a:t>
            </a:r>
            <a:r>
              <a:rPr lang="en-US" i="1" baseline="30000" dirty="0" smtClean="0"/>
              <a:t>2</a:t>
            </a:r>
            <a:r>
              <a:rPr lang="en-US" i="1" dirty="0" smtClean="0"/>
              <a:t>/2 + n</a:t>
            </a:r>
          </a:p>
          <a:p>
            <a:pPr lvl="1"/>
            <a:r>
              <a:rPr lang="en-US" dirty="0" smtClean="0"/>
              <a:t>better than plain selection sort -- </a:t>
            </a:r>
            <a:r>
              <a:rPr lang="en-US" i="1" dirty="0" smtClean="0"/>
              <a:t>n</a:t>
            </a:r>
            <a:r>
              <a:rPr lang="en-US" i="1" baseline="30000" dirty="0" smtClean="0"/>
              <a:t>2</a:t>
            </a:r>
            <a:endParaRPr lang="en-US" dirty="0" smtClean="0"/>
          </a:p>
          <a:p>
            <a:pPr lvl="1"/>
            <a:r>
              <a:rPr lang="en-US" dirty="0" smtClean="0"/>
              <a:t>but still </a:t>
            </a:r>
            <a:r>
              <a:rPr lang="en-US" i="1" dirty="0" smtClean="0"/>
              <a:t>O(n</a:t>
            </a:r>
            <a:r>
              <a:rPr lang="en-US" i="1" baseline="30000" dirty="0" smtClean="0"/>
              <a:t>2</a:t>
            </a:r>
            <a:r>
              <a:rPr lang="en-US" i="1" dirty="0" smtClean="0"/>
              <a:t>)</a:t>
            </a:r>
            <a:endParaRPr lang="en-US" i="1" dirty="0"/>
          </a:p>
        </p:txBody>
      </p:sp>
      <p:sp>
        <p:nvSpPr>
          <p:cNvPr id="6" name="Rectangle 7"/>
          <p:cNvSpPr>
            <a:spLocks/>
          </p:cNvSpPr>
          <p:nvPr/>
        </p:nvSpPr>
        <p:spPr bwMode="auto">
          <a:xfrm>
            <a:off x="939800" y="2271712"/>
            <a:ext cx="625468" cy="595035"/>
          </a:xfrm>
          <a:prstGeom prst="rect">
            <a:avLst/>
          </a:prstGeom>
          <a:noFill/>
          <a:ln w="12700">
            <a:noFill/>
            <a:miter lim="400000"/>
            <a:headEnd/>
            <a:tailEnd/>
          </a:ln>
        </p:spPr>
        <p:txBody>
          <a:bodyPr wrap="square" lIns="50800" tIns="50800" rIns="50800" bIns="50800" anchor="ctr">
            <a:spAutoFit/>
          </a:bodyPr>
          <a:lstStyle/>
          <a:p>
            <a:r>
              <a:rPr lang="en-US" sz="3200" b="0" dirty="0" smtClean="0"/>
              <a:t>A:</a:t>
            </a:r>
            <a:endParaRPr lang="en-US" sz="3200" b="0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1625600" y="1828800"/>
          <a:ext cx="5105400" cy="1069778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2355913"/>
                <a:gridCol w="2341177"/>
                <a:gridCol w="408310"/>
              </a:tblGrid>
              <a:tr h="458689">
                <a:tc>
                  <a:txBody>
                    <a:bodyPr/>
                    <a:lstStyle/>
                    <a:p>
                      <a:r>
                        <a:rPr lang="en-US" sz="1800" b="0" dirty="0" smtClean="0">
                          <a:solidFill>
                            <a:schemeClr val="tx1"/>
                          </a:solidFill>
                        </a:rPr>
                        <a:t>lo</a:t>
                      </a:r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dirty="0" smtClean="0">
                          <a:solidFill>
                            <a:schemeClr val="tx1"/>
                          </a:solidFill>
                        </a:rPr>
                        <a:t>mid</a:t>
                      </a:r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i="1" dirty="0" smtClean="0">
                          <a:solidFill>
                            <a:schemeClr val="tx1"/>
                          </a:solidFill>
                        </a:rPr>
                        <a:t>hi</a:t>
                      </a:r>
                      <a:endParaRPr lang="en-US" sz="18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611089"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6" name="Rectangle 7"/>
          <p:cNvSpPr>
            <a:spLocks/>
          </p:cNvSpPr>
          <p:nvPr/>
        </p:nvSpPr>
        <p:spPr bwMode="auto">
          <a:xfrm>
            <a:off x="939800" y="4176712"/>
            <a:ext cx="625468" cy="595035"/>
          </a:xfrm>
          <a:prstGeom prst="rect">
            <a:avLst/>
          </a:prstGeom>
          <a:noFill/>
          <a:ln w="12700">
            <a:noFill/>
            <a:miter lim="400000"/>
            <a:headEnd/>
            <a:tailEnd/>
          </a:ln>
        </p:spPr>
        <p:txBody>
          <a:bodyPr wrap="square" lIns="50800" tIns="50800" rIns="50800" bIns="50800" anchor="ctr">
            <a:spAutoFit/>
          </a:bodyPr>
          <a:lstStyle/>
          <a:p>
            <a:r>
              <a:rPr lang="en-US" sz="3200" b="0" dirty="0" smtClean="0"/>
              <a:t>A:</a:t>
            </a:r>
            <a:endParaRPr lang="en-US" sz="3200" b="0" dirty="0"/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625600" y="3733800"/>
          <a:ext cx="5105400" cy="1069778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2355913"/>
                <a:gridCol w="2341177"/>
                <a:gridCol w="408310"/>
              </a:tblGrid>
              <a:tr h="458689">
                <a:tc>
                  <a:txBody>
                    <a:bodyPr/>
                    <a:lstStyle/>
                    <a:p>
                      <a:r>
                        <a:rPr lang="en-US" sz="1800" b="0" dirty="0" smtClean="0">
                          <a:solidFill>
                            <a:schemeClr val="tx1"/>
                          </a:solidFill>
                        </a:rPr>
                        <a:t>lo</a:t>
                      </a:r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dirty="0" smtClean="0">
                          <a:solidFill>
                            <a:schemeClr val="tx1"/>
                          </a:solidFill>
                        </a:rPr>
                        <a:t>mid</a:t>
                      </a:r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i="1" dirty="0" smtClean="0">
                          <a:solidFill>
                            <a:schemeClr val="tx1"/>
                          </a:solidFill>
                        </a:rPr>
                        <a:t>hi</a:t>
                      </a:r>
                      <a:endParaRPr lang="en-US" sz="18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611089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rgbClr val="C00000"/>
                          </a:solidFill>
                        </a:rPr>
                        <a:t>SORTED</a:t>
                      </a:r>
                      <a:endParaRPr lang="en-US" sz="1800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rgbClr val="C00000"/>
                          </a:solidFill>
                        </a:rPr>
                        <a:t>SORTED</a:t>
                      </a:r>
                      <a:endParaRPr lang="en-US" sz="1800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8" name="Rectangle 7"/>
          <p:cNvSpPr>
            <a:spLocks/>
          </p:cNvSpPr>
          <p:nvPr/>
        </p:nvSpPr>
        <p:spPr bwMode="auto">
          <a:xfrm>
            <a:off x="939800" y="6078734"/>
            <a:ext cx="625468" cy="595035"/>
          </a:xfrm>
          <a:prstGeom prst="rect">
            <a:avLst/>
          </a:prstGeom>
          <a:noFill/>
          <a:ln w="12700">
            <a:noFill/>
            <a:miter lim="400000"/>
            <a:headEnd/>
            <a:tailEnd/>
          </a:ln>
        </p:spPr>
        <p:txBody>
          <a:bodyPr wrap="square" lIns="50800" tIns="50800" rIns="50800" bIns="50800" anchor="ctr">
            <a:spAutoFit/>
          </a:bodyPr>
          <a:lstStyle/>
          <a:p>
            <a:r>
              <a:rPr lang="en-US" sz="3200" b="0" dirty="0" smtClean="0"/>
              <a:t>A:</a:t>
            </a:r>
            <a:endParaRPr lang="en-US" sz="3200" b="0" dirty="0"/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1625600" y="5635822"/>
          <a:ext cx="5105400" cy="1069778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2355913"/>
                <a:gridCol w="2341177"/>
                <a:gridCol w="408310"/>
              </a:tblGrid>
              <a:tr h="458689">
                <a:tc>
                  <a:txBody>
                    <a:bodyPr/>
                    <a:lstStyle/>
                    <a:p>
                      <a:r>
                        <a:rPr lang="en-US" sz="1800" b="0" dirty="0" smtClean="0">
                          <a:solidFill>
                            <a:schemeClr val="tx1"/>
                          </a:solidFill>
                        </a:rPr>
                        <a:t>lo</a:t>
                      </a:r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i="1" dirty="0" smtClean="0">
                          <a:solidFill>
                            <a:schemeClr val="tx1"/>
                          </a:solidFill>
                        </a:rPr>
                        <a:t>hi</a:t>
                      </a:r>
                      <a:endParaRPr lang="en-US" sz="18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611089">
                <a:tc gridSpan="2"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rgbClr val="C00000"/>
                          </a:solidFill>
                        </a:rPr>
                        <a:t>SORTED</a:t>
                      </a:r>
                      <a:endParaRPr lang="en-US" sz="1800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1" name="Curved Left Arrow 20"/>
          <p:cNvSpPr/>
          <p:nvPr/>
        </p:nvSpPr>
        <p:spPr bwMode="auto">
          <a:xfrm>
            <a:off x="6502400" y="2667000"/>
            <a:ext cx="609600" cy="1828800"/>
          </a:xfrm>
          <a:prstGeom prst="curvedLeftArrow">
            <a:avLst/>
          </a:prstGeom>
          <a:solidFill>
            <a:schemeClr val="accent1">
              <a:lumMod val="40000"/>
              <a:lumOff val="60000"/>
            </a:schemeClr>
          </a:solidFill>
          <a:ln w="127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  <p:sp>
        <p:nvSpPr>
          <p:cNvPr id="22" name="Curved Left Arrow 21"/>
          <p:cNvSpPr/>
          <p:nvPr/>
        </p:nvSpPr>
        <p:spPr bwMode="auto">
          <a:xfrm>
            <a:off x="6502400" y="4572000"/>
            <a:ext cx="609600" cy="1828800"/>
          </a:xfrm>
          <a:prstGeom prst="curvedLeftArrow">
            <a:avLst/>
          </a:prstGeom>
          <a:solidFill>
            <a:schemeClr val="accent1">
              <a:lumMod val="40000"/>
              <a:lumOff val="60000"/>
            </a:schemeClr>
          </a:solidFill>
          <a:ln w="127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7493000" y="3124200"/>
            <a:ext cx="2050561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b="0" dirty="0" smtClean="0">
                <a:solidFill>
                  <a:schemeClr val="tx1"/>
                </a:solidFill>
              </a:rPr>
              <a:t>Selection sort</a:t>
            </a:r>
            <a:br>
              <a:rPr lang="en-US" b="0" dirty="0" smtClean="0">
                <a:solidFill>
                  <a:schemeClr val="tx1"/>
                </a:solidFill>
              </a:rPr>
            </a:br>
            <a:r>
              <a:rPr lang="en-US" b="0" dirty="0" smtClean="0">
                <a:solidFill>
                  <a:schemeClr val="tx1"/>
                </a:solidFill>
              </a:rPr>
              <a:t>on each half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3000" y="5329535"/>
            <a:ext cx="105830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b="0" dirty="0" smtClean="0">
                <a:solidFill>
                  <a:schemeClr val="tx1"/>
                </a:solidFill>
              </a:rPr>
              <a:t>Merge</a:t>
            </a:r>
          </a:p>
        </p:txBody>
      </p:sp>
      <p:sp>
        <p:nvSpPr>
          <p:cNvPr id="15" name="Rectangular Callout 14"/>
          <p:cNvSpPr/>
          <p:nvPr/>
        </p:nvSpPr>
        <p:spPr bwMode="auto">
          <a:xfrm>
            <a:off x="10236200" y="2209800"/>
            <a:ext cx="1459695" cy="707886"/>
          </a:xfrm>
          <a:prstGeom prst="wedgeRectCallout">
            <a:avLst>
              <a:gd name="adj1" fmla="val -122843"/>
              <a:gd name="adj2" fmla="val 81624"/>
            </a:avLst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wrap="none" lIns="45720" rIns="45720" anchor="ctr">
            <a:spAutoFit/>
          </a:bodyPr>
          <a:lstStyle/>
          <a:p>
            <a:pPr>
              <a:defRPr/>
            </a:pPr>
            <a:r>
              <a:rPr lang="en-US" sz="2000" b="0" dirty="0" smtClean="0"/>
              <a:t>Costs about</a:t>
            </a:r>
            <a:r>
              <a:rPr lang="en-US" sz="2000" b="0" i="1" dirty="0" smtClean="0"/>
              <a:t/>
            </a:r>
            <a:br>
              <a:rPr lang="en-US" sz="2000" b="0" i="1" dirty="0" smtClean="0"/>
            </a:br>
            <a:r>
              <a:rPr lang="en-US" sz="2000" b="0" i="1" dirty="0" smtClean="0"/>
              <a:t>n</a:t>
            </a:r>
            <a:r>
              <a:rPr lang="en-US" sz="2000" b="0" i="1" baseline="30000" dirty="0" smtClean="0"/>
              <a:t>2</a:t>
            </a:r>
            <a:r>
              <a:rPr lang="en-US" sz="2000" b="0" i="1" dirty="0" smtClean="0"/>
              <a:t>/2</a:t>
            </a:r>
            <a:endParaRPr lang="en-US" sz="2000" b="0" i="1" dirty="0"/>
          </a:p>
        </p:txBody>
      </p:sp>
      <p:sp>
        <p:nvSpPr>
          <p:cNvPr id="20" name="Rectangular Callout 19"/>
          <p:cNvSpPr/>
          <p:nvPr/>
        </p:nvSpPr>
        <p:spPr bwMode="auto">
          <a:xfrm>
            <a:off x="10236200" y="4191000"/>
            <a:ext cx="1459695" cy="707886"/>
          </a:xfrm>
          <a:prstGeom prst="wedgeRectCallout">
            <a:avLst>
              <a:gd name="adj1" fmla="val -166378"/>
              <a:gd name="adj2" fmla="val 122178"/>
            </a:avLst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wrap="none" lIns="45720" rIns="45720" anchor="ctr">
            <a:spAutoFit/>
          </a:bodyPr>
          <a:lstStyle/>
          <a:p>
            <a:pPr>
              <a:defRPr/>
            </a:pPr>
            <a:r>
              <a:rPr lang="en-US" sz="2000" b="0" dirty="0" smtClean="0"/>
              <a:t>Costs about</a:t>
            </a:r>
            <a:br>
              <a:rPr lang="en-US" sz="2000" b="0" dirty="0" smtClean="0"/>
            </a:br>
            <a:r>
              <a:rPr lang="en-US" sz="2000" b="0" i="1" dirty="0" smtClean="0"/>
              <a:t>n</a:t>
            </a:r>
            <a:endParaRPr lang="en-US" sz="2000" b="0" i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Mergesort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52500" y="254000"/>
            <a:ext cx="6464300" cy="1498600"/>
          </a:xfrm>
        </p:spPr>
        <p:txBody>
          <a:bodyPr/>
          <a:lstStyle/>
          <a:p>
            <a:r>
              <a:rPr lang="en-US" dirty="0" smtClean="0"/>
              <a:t>Reflection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pPr>
              <a:buClr>
                <a:schemeClr val="tx1"/>
              </a:buClr>
            </a:pPr>
            <a:r>
              <a:rPr lang="en-US" dirty="0" err="1" smtClean="0">
                <a:solidFill>
                  <a:srgbClr val="7030A0"/>
                </a:solidFill>
              </a:rPr>
              <a:t>selection_sort</a:t>
            </a:r>
            <a:r>
              <a:rPr lang="en-US" dirty="0" smtClean="0"/>
              <a:t> and </a:t>
            </a:r>
            <a:r>
              <a:rPr lang="en-US" dirty="0" smtClean="0">
                <a:solidFill>
                  <a:srgbClr val="7030A0"/>
                </a:solidFill>
              </a:rPr>
              <a:t>sort</a:t>
            </a:r>
            <a:r>
              <a:rPr lang="en-US" dirty="0" smtClean="0"/>
              <a:t> are </a:t>
            </a:r>
            <a:r>
              <a:rPr lang="en-US" b="1" dirty="0" smtClean="0"/>
              <a:t>interchangeable</a:t>
            </a:r>
          </a:p>
          <a:p>
            <a:pPr lvl="1"/>
            <a:r>
              <a:rPr lang="en-US" dirty="0" smtClean="0"/>
              <a:t>they solve the </a:t>
            </a:r>
            <a:r>
              <a:rPr lang="en-US" b="1" dirty="0" smtClean="0"/>
              <a:t>same problem </a:t>
            </a:r>
            <a:r>
              <a:rPr lang="en-US" dirty="0" smtClean="0"/>
              <a:t>— </a:t>
            </a:r>
            <a:r>
              <a:rPr lang="en-US" i="1" dirty="0" smtClean="0"/>
              <a:t>sorting an array segment</a:t>
            </a:r>
          </a:p>
          <a:p>
            <a:pPr lvl="1"/>
            <a:r>
              <a:rPr lang="en-US" dirty="0" smtClean="0"/>
              <a:t>they have the </a:t>
            </a:r>
            <a:r>
              <a:rPr lang="en-US" b="1" dirty="0" smtClean="0"/>
              <a:t>same contracts</a:t>
            </a:r>
          </a:p>
          <a:p>
            <a:pPr lvl="1"/>
            <a:r>
              <a:rPr lang="en-US" dirty="0" smtClean="0"/>
              <a:t>both are </a:t>
            </a:r>
            <a:r>
              <a:rPr lang="en-US" b="1" dirty="0" smtClean="0"/>
              <a:t>correct</a:t>
            </a:r>
          </a:p>
        </p:txBody>
      </p:sp>
      <p:sp>
        <p:nvSpPr>
          <p:cNvPr id="6" name="Rectangle 5"/>
          <p:cNvSpPr>
            <a:spLocks/>
          </p:cNvSpPr>
          <p:nvPr/>
        </p:nvSpPr>
        <p:spPr bwMode="auto">
          <a:xfrm>
            <a:off x="1320800" y="1905000"/>
            <a:ext cx="8153399" cy="3877985"/>
          </a:xfrm>
          <a:prstGeom prst="rect">
            <a:avLst/>
          </a:prstGeom>
          <a:noFill/>
          <a:ln w="12700">
            <a:solidFill>
              <a:schemeClr val="tx2"/>
            </a:solidFill>
            <a:miter lim="400000"/>
            <a:headEnd/>
            <a:tailEnd/>
          </a:ln>
        </p:spPr>
        <p:txBody>
          <a:bodyPr wrap="square" tIns="91440" bIns="91440" anchor="ctr">
            <a:spAutoFit/>
          </a:bodyPr>
          <a:lstStyle/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void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b="0" dirty="0" smtClean="0">
                <a:solidFill>
                  <a:srgbClr val="5E34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sort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(</a:t>
            </a:r>
            <a:r>
              <a:rPr lang="en-US" b="0" dirty="0" err="1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b="0" dirty="0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[]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b="0" dirty="0" smtClean="0">
                <a:solidFill>
                  <a:srgbClr val="CD7923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A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, </a:t>
            </a:r>
            <a:r>
              <a:rPr lang="en-US" b="0" dirty="0" err="1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b="0" dirty="0" smtClean="0">
                <a:solidFill>
                  <a:srgbClr val="CD7923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lo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, </a:t>
            </a:r>
            <a:r>
              <a:rPr lang="en-US" b="0" dirty="0" err="1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b="0" dirty="0" smtClean="0">
                <a:solidFill>
                  <a:srgbClr val="CD7923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hi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)</a:t>
            </a:r>
          </a:p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//@requires 0 &lt;= lo &amp;&amp; lo &lt;= hi  &amp;&amp; hi &lt;= \length(A);</a:t>
            </a:r>
          </a:p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//@ensures </a:t>
            </a:r>
            <a:r>
              <a:rPr lang="en-US" b="0" dirty="0" err="1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is_sorted</a:t>
            </a:r>
            <a:r>
              <a:rPr lang="en-US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(A, lo, hi);</a:t>
            </a:r>
            <a:endParaRPr lang="en-US" b="0" dirty="0" smtClean="0">
              <a:solidFill>
                <a:schemeClr val="tx1"/>
              </a:solidFill>
              <a:latin typeface="Menlo" charset="0"/>
              <a:ea typeface="Menlo" charset="0"/>
              <a:cs typeface="Menlo" charset="0"/>
              <a:sym typeface="Menlo" charset="0"/>
            </a:endParaRPr>
          </a:p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solidFill>
                  <a:schemeClr val="tx1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{</a:t>
            </a:r>
          </a:p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 </a:t>
            </a:r>
            <a:r>
              <a:rPr lang="en-US" b="0" dirty="0" err="1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b="0" dirty="0" smtClean="0">
                <a:solidFill>
                  <a:srgbClr val="CD7923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mid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= lo + (hi - lo) / 2;</a:t>
            </a:r>
          </a:p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  //@assert  lo &lt;= mid &amp;&amp; mid &lt;= hi;</a:t>
            </a:r>
          </a:p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 </a:t>
            </a:r>
            <a:r>
              <a:rPr lang="en-US" b="0" dirty="0" err="1" smtClean="0">
                <a:latin typeface="Menlo" charset="0"/>
                <a:ea typeface="Menlo" charset="0"/>
                <a:cs typeface="Menlo" charset="0"/>
                <a:sym typeface="Menlo" charset="0"/>
              </a:rPr>
              <a:t>selection_sort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(A, lo, mid);</a:t>
            </a:r>
            <a:r>
              <a:rPr lang="en-US" sz="2000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 </a:t>
            </a:r>
            <a:r>
              <a:rPr lang="en-US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//@assert </a:t>
            </a:r>
            <a:r>
              <a:rPr lang="en-US" b="0" dirty="0" err="1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is_sorted</a:t>
            </a:r>
            <a:r>
              <a:rPr lang="en-US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(A, lo, mid);</a:t>
            </a:r>
          </a:p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 </a:t>
            </a:r>
            <a:r>
              <a:rPr lang="en-US" b="0" dirty="0" err="1" smtClean="0">
                <a:latin typeface="Menlo" charset="0"/>
                <a:ea typeface="Menlo" charset="0"/>
                <a:cs typeface="Menlo" charset="0"/>
                <a:sym typeface="Menlo" charset="0"/>
              </a:rPr>
              <a:t>selection_sort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(A, mid, hi);</a:t>
            </a:r>
            <a:r>
              <a:rPr lang="en-US" sz="2000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 </a:t>
            </a:r>
            <a:r>
              <a:rPr lang="en-US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//@assert </a:t>
            </a:r>
            <a:r>
              <a:rPr lang="en-US" b="0" dirty="0" err="1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is_sorted</a:t>
            </a:r>
            <a:r>
              <a:rPr lang="en-US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(A, mid, hi);</a:t>
            </a:r>
          </a:p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solidFill>
                  <a:schemeClr val="tx1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  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merge(A, lo, mid, hi);        </a:t>
            </a:r>
            <a:r>
              <a:rPr lang="en-US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 //@assert </a:t>
            </a:r>
            <a:r>
              <a:rPr lang="en-US" b="0" dirty="0" err="1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is_sorted</a:t>
            </a:r>
            <a:r>
              <a:rPr lang="en-US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(A, lo, hi)</a:t>
            </a:r>
            <a:endParaRPr lang="en-US" b="0" dirty="0" smtClean="0">
              <a:latin typeface="Menlo" charset="0"/>
              <a:ea typeface="Menlo" charset="0"/>
              <a:cs typeface="Menlo" charset="0"/>
              <a:sym typeface="Menlo" charset="0"/>
            </a:endParaRPr>
          </a:p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solidFill>
                  <a:schemeClr val="tx1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}</a:t>
            </a:r>
            <a:endParaRPr lang="en-US" dirty="0" smtClean="0">
              <a:solidFill>
                <a:schemeClr val="tx1"/>
              </a:solidFill>
              <a:latin typeface="Menlo" charset="0"/>
              <a:ea typeface="Menlo" charset="0"/>
              <a:cs typeface="Menlo" charset="0"/>
              <a:sym typeface="Menlo" charset="0"/>
            </a:endParaRPr>
          </a:p>
        </p:txBody>
      </p:sp>
      <p:sp>
        <p:nvSpPr>
          <p:cNvPr id="7" name="Rectangle 6"/>
          <p:cNvSpPr>
            <a:spLocks/>
          </p:cNvSpPr>
          <p:nvPr/>
        </p:nvSpPr>
        <p:spPr bwMode="auto">
          <a:xfrm>
            <a:off x="7419006" y="76200"/>
            <a:ext cx="5484194" cy="1015663"/>
          </a:xfrm>
          <a:prstGeom prst="rect">
            <a:avLst/>
          </a:prstGeom>
          <a:noFill/>
          <a:ln w="12700">
            <a:solidFill>
              <a:schemeClr val="tx2"/>
            </a:solidFill>
            <a:miter lim="400000"/>
            <a:headEnd/>
            <a:tailEnd/>
          </a:ln>
        </p:spPr>
        <p:txBody>
          <a:bodyPr wrap="none" tIns="91440" bIns="91440" anchor="ctr">
            <a:spAutoFit/>
          </a:bodyPr>
          <a:lstStyle/>
          <a:p>
            <a:pPr marL="347663" indent="-347663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void</a:t>
            </a:r>
            <a:r>
              <a:rPr lang="en-US" sz="1800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sz="1800" b="0" dirty="0" err="1" smtClean="0">
                <a:solidFill>
                  <a:srgbClr val="5E34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selection_sort</a:t>
            </a:r>
            <a:r>
              <a:rPr lang="en-US" sz="1800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(</a:t>
            </a:r>
            <a:r>
              <a:rPr lang="en-US" sz="1800" b="0" dirty="0" err="1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sz="1800" b="0" dirty="0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[]</a:t>
            </a:r>
            <a:r>
              <a:rPr lang="en-US" sz="1800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sz="1800" b="0" dirty="0" smtClean="0">
                <a:solidFill>
                  <a:srgbClr val="CD7923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A</a:t>
            </a:r>
            <a:r>
              <a:rPr lang="en-US" sz="1800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, </a:t>
            </a:r>
            <a:r>
              <a:rPr lang="en-US" sz="1800" b="0" dirty="0" err="1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sz="1800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sz="1800" b="0" dirty="0" smtClean="0">
                <a:solidFill>
                  <a:srgbClr val="CD7923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lo</a:t>
            </a:r>
            <a:r>
              <a:rPr lang="en-US" sz="1800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, </a:t>
            </a:r>
            <a:r>
              <a:rPr lang="en-US" sz="1800" b="0" dirty="0" err="1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sz="1800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sz="1800" b="0" dirty="0" smtClean="0">
                <a:solidFill>
                  <a:srgbClr val="CD7923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hi</a:t>
            </a:r>
            <a:r>
              <a:rPr lang="en-US" sz="1800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)</a:t>
            </a:r>
          </a:p>
          <a:p>
            <a:pPr marL="347663" indent="-347663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//@requires 0 &lt;= lo &amp;&amp; lo &lt;= hi  &amp;&amp; hi &lt;= \length(A);</a:t>
            </a:r>
          </a:p>
          <a:p>
            <a:pPr marL="347663" indent="-347663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//@ensures </a:t>
            </a:r>
            <a:r>
              <a:rPr lang="en-US" sz="1800" b="0" dirty="0" err="1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is_sorted</a:t>
            </a:r>
            <a:r>
              <a:rPr lang="en-US" sz="1800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(A, lo, hi);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52500" y="254000"/>
            <a:ext cx="6464300" cy="1498600"/>
          </a:xfrm>
        </p:spPr>
        <p:txBody>
          <a:bodyPr/>
          <a:lstStyle/>
          <a:p>
            <a:r>
              <a:rPr lang="en-US" dirty="0" smtClean="0"/>
              <a:t>A Recursive </a:t>
            </a:r>
            <a:r>
              <a:rPr lang="en-US" dirty="0" smtClean="0">
                <a:solidFill>
                  <a:srgbClr val="7030A0"/>
                </a:solidFill>
              </a:rPr>
              <a:t>sort</a:t>
            </a:r>
            <a:endParaRPr lang="en-US" dirty="0">
              <a:solidFill>
                <a:srgbClr val="7030A0"/>
              </a:solidFill>
            </a:endParaRPr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pPr>
              <a:buClr>
                <a:schemeClr val="tx1"/>
              </a:buClr>
            </a:pPr>
            <a:r>
              <a:rPr lang="en-US" dirty="0" smtClean="0">
                <a:solidFill>
                  <a:schemeClr val="tx1"/>
                </a:solidFill>
              </a:rPr>
              <a:t>Replace calls to </a:t>
            </a:r>
            <a:r>
              <a:rPr lang="en-US" dirty="0" err="1" smtClean="0">
                <a:solidFill>
                  <a:srgbClr val="7030A0"/>
                </a:solidFill>
              </a:rPr>
              <a:t>selection_sort</a:t>
            </a:r>
            <a:r>
              <a:rPr lang="en-US" dirty="0" smtClean="0"/>
              <a:t> with </a:t>
            </a:r>
            <a:r>
              <a:rPr lang="en-US" b="1" dirty="0" smtClean="0"/>
              <a:t>recursive</a:t>
            </a:r>
            <a:r>
              <a:rPr lang="en-US" dirty="0" smtClean="0"/>
              <a:t> calls to </a:t>
            </a:r>
            <a:r>
              <a:rPr lang="en-US" dirty="0" smtClean="0">
                <a:solidFill>
                  <a:srgbClr val="7030A0"/>
                </a:solidFill>
              </a:rPr>
              <a:t>sort</a:t>
            </a:r>
            <a:endParaRPr lang="en-US" b="1" dirty="0" smtClean="0"/>
          </a:p>
          <a:p>
            <a:pPr lvl="1"/>
            <a:r>
              <a:rPr lang="en-US" dirty="0" smtClean="0"/>
              <a:t>same preconditions: calls to </a:t>
            </a:r>
            <a:r>
              <a:rPr lang="en-US" dirty="0" smtClean="0">
                <a:solidFill>
                  <a:srgbClr val="7030A0"/>
                </a:solidFill>
              </a:rPr>
              <a:t>sort</a:t>
            </a:r>
            <a:r>
              <a:rPr lang="en-US" dirty="0" smtClean="0"/>
              <a:t> are safe</a:t>
            </a:r>
            <a:endParaRPr lang="en-US" i="1" dirty="0" smtClean="0"/>
          </a:p>
          <a:p>
            <a:pPr lvl="1"/>
            <a:r>
              <a:rPr lang="en-US" dirty="0" smtClean="0"/>
              <a:t>same </a:t>
            </a:r>
            <a:r>
              <a:rPr lang="en-US" dirty="0" err="1" smtClean="0"/>
              <a:t>postconditions</a:t>
            </a:r>
            <a:r>
              <a:rPr lang="en-US" dirty="0" smtClean="0"/>
              <a:t>: can only return sorted array segments</a:t>
            </a:r>
          </a:p>
          <a:p>
            <a:pPr lvl="1"/>
            <a:r>
              <a:rPr lang="en-US" dirty="0" smtClean="0"/>
              <a:t>nothing changes for </a:t>
            </a:r>
            <a:r>
              <a:rPr lang="en-US" dirty="0" smtClean="0">
                <a:solidFill>
                  <a:srgbClr val="7030A0"/>
                </a:solidFill>
              </a:rPr>
              <a:t>merge</a:t>
            </a:r>
          </a:p>
          <a:p>
            <a:pPr lvl="2">
              <a:buClr>
                <a:schemeClr val="tx1"/>
              </a:buClr>
            </a:pPr>
            <a:r>
              <a:rPr lang="en-US" dirty="0" smtClean="0">
                <a:solidFill>
                  <a:srgbClr val="7030A0"/>
                </a:solidFill>
              </a:rPr>
              <a:t>merge</a:t>
            </a:r>
            <a:r>
              <a:rPr lang="en-US" dirty="0" smtClean="0"/>
              <a:t> returns a sorted array segment	</a:t>
            </a:r>
          </a:p>
          <a:p>
            <a:r>
              <a:rPr lang="en-US" dirty="0" smtClean="0"/>
              <a:t>sort cannot compute the wrong result</a:t>
            </a:r>
          </a:p>
        </p:txBody>
      </p:sp>
      <p:sp>
        <p:nvSpPr>
          <p:cNvPr id="6" name="Rectangle 5"/>
          <p:cNvSpPr>
            <a:spLocks/>
          </p:cNvSpPr>
          <p:nvPr/>
        </p:nvSpPr>
        <p:spPr bwMode="auto">
          <a:xfrm>
            <a:off x="1320800" y="1905000"/>
            <a:ext cx="8153399" cy="3877985"/>
          </a:xfrm>
          <a:prstGeom prst="rect">
            <a:avLst/>
          </a:prstGeom>
          <a:noFill/>
          <a:ln w="12700">
            <a:solidFill>
              <a:schemeClr val="tx2"/>
            </a:solidFill>
            <a:miter lim="400000"/>
            <a:headEnd/>
            <a:tailEnd/>
          </a:ln>
        </p:spPr>
        <p:txBody>
          <a:bodyPr wrap="square" tIns="91440" bIns="91440" anchor="ctr">
            <a:spAutoFit/>
          </a:bodyPr>
          <a:lstStyle/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void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b="0" dirty="0" smtClean="0">
                <a:solidFill>
                  <a:srgbClr val="5E34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sort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(</a:t>
            </a:r>
            <a:r>
              <a:rPr lang="en-US" b="0" dirty="0" err="1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b="0" dirty="0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[]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b="0" dirty="0" smtClean="0">
                <a:solidFill>
                  <a:srgbClr val="CD7923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A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, </a:t>
            </a:r>
            <a:r>
              <a:rPr lang="en-US" b="0" dirty="0" err="1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b="0" dirty="0" smtClean="0">
                <a:solidFill>
                  <a:srgbClr val="CD7923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lo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, </a:t>
            </a:r>
            <a:r>
              <a:rPr lang="en-US" b="0" dirty="0" err="1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b="0" dirty="0" smtClean="0">
                <a:solidFill>
                  <a:srgbClr val="CD7923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hi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)</a:t>
            </a:r>
          </a:p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//@requires 0 &lt;= lo &amp;&amp; lo &lt;= hi  &amp;&amp; hi &lt;= \length(A);</a:t>
            </a:r>
          </a:p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//@ensures </a:t>
            </a:r>
            <a:r>
              <a:rPr lang="en-US" b="0" dirty="0" err="1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is_sorted</a:t>
            </a:r>
            <a:r>
              <a:rPr lang="en-US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(A, lo, hi);</a:t>
            </a:r>
            <a:endParaRPr lang="en-US" b="0" dirty="0" smtClean="0">
              <a:solidFill>
                <a:schemeClr val="tx1"/>
              </a:solidFill>
              <a:latin typeface="Menlo" charset="0"/>
              <a:ea typeface="Menlo" charset="0"/>
              <a:cs typeface="Menlo" charset="0"/>
              <a:sym typeface="Menlo" charset="0"/>
            </a:endParaRPr>
          </a:p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solidFill>
                  <a:schemeClr val="tx1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{</a:t>
            </a:r>
          </a:p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 </a:t>
            </a:r>
            <a:r>
              <a:rPr lang="en-US" b="0" dirty="0" err="1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b="0" dirty="0" smtClean="0">
                <a:solidFill>
                  <a:srgbClr val="CD7923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mid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= lo + (hi - lo) / 2;</a:t>
            </a:r>
          </a:p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  //@assert  lo &lt;= mid &amp;&amp; mid &lt;= hi;</a:t>
            </a:r>
          </a:p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 sort(A, lo, mid);                  </a:t>
            </a:r>
            <a:r>
              <a:rPr lang="en-US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//@assert </a:t>
            </a:r>
            <a:r>
              <a:rPr lang="en-US" b="0" dirty="0" err="1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is_sorted</a:t>
            </a:r>
            <a:r>
              <a:rPr lang="en-US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(A, lo, mid);</a:t>
            </a:r>
          </a:p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 sort(A, mid, hi);                  </a:t>
            </a:r>
            <a:r>
              <a:rPr lang="en-US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//@assert </a:t>
            </a:r>
            <a:r>
              <a:rPr lang="en-US" b="0" dirty="0" err="1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is_sorted</a:t>
            </a:r>
            <a:r>
              <a:rPr lang="en-US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(A, mid, hi);</a:t>
            </a:r>
          </a:p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solidFill>
                  <a:schemeClr val="tx1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  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merge(A, lo, mid, hi);        </a:t>
            </a:r>
            <a:r>
              <a:rPr lang="en-US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 //@assert </a:t>
            </a:r>
            <a:r>
              <a:rPr lang="en-US" b="0" dirty="0" err="1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is_sorted</a:t>
            </a:r>
            <a:r>
              <a:rPr lang="en-US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(A, lo, hi);</a:t>
            </a:r>
            <a:endParaRPr lang="en-US" b="0" dirty="0" smtClean="0">
              <a:latin typeface="Menlo" charset="0"/>
              <a:ea typeface="Menlo" charset="0"/>
              <a:cs typeface="Menlo" charset="0"/>
              <a:sym typeface="Menlo" charset="0"/>
            </a:endParaRPr>
          </a:p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solidFill>
                  <a:schemeClr val="tx1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}</a:t>
            </a:r>
            <a:endParaRPr lang="en-US" dirty="0" smtClean="0">
              <a:solidFill>
                <a:schemeClr val="tx1"/>
              </a:solidFill>
              <a:latin typeface="Menlo" charset="0"/>
              <a:ea typeface="Menlo" charset="0"/>
              <a:cs typeface="Menlo" charset="0"/>
              <a:sym typeface="Menlo" charset="0"/>
            </a:endParaRPr>
          </a:p>
        </p:txBody>
      </p:sp>
      <p:sp>
        <p:nvSpPr>
          <p:cNvPr id="7" name="Rectangle 6"/>
          <p:cNvSpPr>
            <a:spLocks/>
          </p:cNvSpPr>
          <p:nvPr/>
        </p:nvSpPr>
        <p:spPr bwMode="auto">
          <a:xfrm>
            <a:off x="7419006" y="76200"/>
            <a:ext cx="5484194" cy="1015663"/>
          </a:xfrm>
          <a:prstGeom prst="rect">
            <a:avLst/>
          </a:prstGeom>
          <a:noFill/>
          <a:ln w="12700">
            <a:solidFill>
              <a:schemeClr val="tx2"/>
            </a:solidFill>
            <a:miter lim="400000"/>
            <a:headEnd/>
            <a:tailEnd/>
          </a:ln>
        </p:spPr>
        <p:txBody>
          <a:bodyPr wrap="none" tIns="91440" bIns="91440" anchor="ctr">
            <a:spAutoFit/>
          </a:bodyPr>
          <a:lstStyle/>
          <a:p>
            <a:pPr marL="347663" indent="-347663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void</a:t>
            </a:r>
            <a:r>
              <a:rPr lang="en-US" sz="1800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sz="1800" b="0" dirty="0" err="1" smtClean="0">
                <a:solidFill>
                  <a:srgbClr val="5E34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selection_sort</a:t>
            </a:r>
            <a:r>
              <a:rPr lang="en-US" sz="1800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(</a:t>
            </a:r>
            <a:r>
              <a:rPr lang="en-US" sz="1800" b="0" dirty="0" err="1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sz="1800" b="0" dirty="0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[]</a:t>
            </a:r>
            <a:r>
              <a:rPr lang="en-US" sz="1800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sz="1800" b="0" dirty="0" smtClean="0">
                <a:solidFill>
                  <a:srgbClr val="CD7923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A</a:t>
            </a:r>
            <a:r>
              <a:rPr lang="en-US" sz="1800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, </a:t>
            </a:r>
            <a:r>
              <a:rPr lang="en-US" sz="1800" b="0" dirty="0" err="1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sz="1800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sz="1800" b="0" dirty="0" smtClean="0">
                <a:solidFill>
                  <a:srgbClr val="CD7923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lo</a:t>
            </a:r>
            <a:r>
              <a:rPr lang="en-US" sz="1800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, </a:t>
            </a:r>
            <a:r>
              <a:rPr lang="en-US" sz="1800" b="0" dirty="0" err="1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sz="1800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sz="1800" b="0" dirty="0" smtClean="0">
                <a:solidFill>
                  <a:srgbClr val="CD7923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hi</a:t>
            </a:r>
            <a:r>
              <a:rPr lang="en-US" sz="1800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)</a:t>
            </a:r>
          </a:p>
          <a:p>
            <a:pPr marL="347663" indent="-347663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//@requires 0 &lt;= lo &amp;&amp; lo &lt;= hi  &amp;&amp; hi &lt;= \length(A);</a:t>
            </a:r>
          </a:p>
          <a:p>
            <a:pPr marL="347663" indent="-347663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355600" algn="l"/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//@ensures </a:t>
            </a:r>
            <a:r>
              <a:rPr lang="en-US" sz="1800" b="0" dirty="0" err="1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is_sorted</a:t>
            </a:r>
            <a:r>
              <a:rPr lang="en-US" sz="1800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(A, lo, hi);</a:t>
            </a:r>
          </a:p>
        </p:txBody>
      </p:sp>
      <p:sp>
        <p:nvSpPr>
          <p:cNvPr id="8" name="Oval 7"/>
          <p:cNvSpPr>
            <a:spLocks noChangeArrowheads="1"/>
          </p:cNvSpPr>
          <p:nvPr/>
        </p:nvSpPr>
        <p:spPr bwMode="auto">
          <a:xfrm>
            <a:off x="1244600" y="4157332"/>
            <a:ext cx="2819400" cy="914400"/>
          </a:xfrm>
          <a:prstGeom prst="ellipse">
            <a:avLst/>
          </a:prstGeom>
          <a:noFill/>
          <a:ln w="38100" algn="ctr">
            <a:solidFill>
              <a:srgbClr val="FF0000"/>
            </a:solidFill>
            <a:miter lim="400000"/>
            <a:headEnd/>
            <a:tailEnd/>
          </a:ln>
        </p:spPr>
        <p:txBody>
          <a:bodyPr lIns="45720" rIns="45720" anchor="ctr"/>
          <a:lstStyle/>
          <a:p>
            <a:endParaRPr lang="en-US" sz="2000" b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52500" y="254000"/>
            <a:ext cx="6464300" cy="1498600"/>
          </a:xfrm>
        </p:spPr>
        <p:txBody>
          <a:bodyPr/>
          <a:lstStyle/>
          <a:p>
            <a:r>
              <a:rPr lang="en-US" dirty="0" smtClean="0"/>
              <a:t>A Recursive </a:t>
            </a:r>
            <a:r>
              <a:rPr lang="en-US" dirty="0" smtClean="0">
                <a:solidFill>
                  <a:srgbClr val="7030A0"/>
                </a:solidFill>
              </a:rPr>
              <a:t>sort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endParaRPr lang="en-US" dirty="0" smtClean="0"/>
          </a:p>
          <a:p>
            <a:pPr>
              <a:buClr>
                <a:schemeClr val="tx1"/>
              </a:buClr>
            </a:pPr>
            <a:r>
              <a:rPr lang="en-US" dirty="0" smtClean="0"/>
              <a:t>Is </a:t>
            </a:r>
            <a:r>
              <a:rPr lang="en-US" dirty="0" smtClean="0">
                <a:solidFill>
                  <a:srgbClr val="7030A0"/>
                </a:solidFill>
              </a:rPr>
              <a:t>sort</a:t>
            </a:r>
            <a:r>
              <a:rPr lang="en-US" dirty="0" smtClean="0"/>
              <a:t> </a:t>
            </a:r>
            <a:r>
              <a:rPr lang="en-US" b="1" dirty="0" smtClean="0"/>
              <a:t>correct</a:t>
            </a:r>
            <a:r>
              <a:rPr lang="en-US" dirty="0" smtClean="0"/>
              <a:t>?</a:t>
            </a:r>
          </a:p>
          <a:p>
            <a:pPr lvl="1">
              <a:buClr>
                <a:schemeClr val="tx1"/>
              </a:buClr>
            </a:pPr>
            <a:r>
              <a:rPr lang="en-US" dirty="0" smtClean="0"/>
              <a:t>it cannot compute the wrong result</a:t>
            </a:r>
          </a:p>
          <a:p>
            <a:pPr lvl="1">
              <a:buClr>
                <a:schemeClr val="tx1"/>
              </a:buClr>
            </a:pPr>
            <a:r>
              <a:rPr lang="en-US" dirty="0" smtClean="0"/>
              <a:t>but will it compute the right result?</a:t>
            </a:r>
          </a:p>
          <a:p>
            <a:pPr lvl="4">
              <a:buClr>
                <a:schemeClr val="tx1"/>
              </a:buClr>
            </a:pPr>
            <a:endParaRPr lang="en-US" dirty="0" smtClean="0"/>
          </a:p>
          <a:p>
            <a:pPr>
              <a:buClr>
                <a:schemeClr val="tx1"/>
              </a:buClr>
            </a:pPr>
            <a:r>
              <a:rPr lang="en-US" dirty="0" smtClean="0"/>
              <a:t>This is a recursive function,</a:t>
            </a:r>
          </a:p>
          <a:p>
            <a:pPr lvl="1">
              <a:buClr>
                <a:schemeClr val="tx1"/>
              </a:buClr>
            </a:pPr>
            <a:r>
              <a:rPr lang="en-US" dirty="0" smtClean="0"/>
              <a:t>but no base case!</a:t>
            </a:r>
          </a:p>
        </p:txBody>
      </p:sp>
      <p:sp>
        <p:nvSpPr>
          <p:cNvPr id="6" name="Rectangle 5"/>
          <p:cNvSpPr>
            <a:spLocks/>
          </p:cNvSpPr>
          <p:nvPr/>
        </p:nvSpPr>
        <p:spPr bwMode="auto">
          <a:xfrm>
            <a:off x="1320800" y="1905000"/>
            <a:ext cx="8153399" cy="3877985"/>
          </a:xfrm>
          <a:prstGeom prst="rect">
            <a:avLst/>
          </a:prstGeom>
          <a:noFill/>
          <a:ln w="12700">
            <a:solidFill>
              <a:schemeClr val="tx2"/>
            </a:solidFill>
            <a:miter lim="400000"/>
            <a:headEnd/>
            <a:tailEnd/>
          </a:ln>
        </p:spPr>
        <p:txBody>
          <a:bodyPr wrap="square" tIns="91440" bIns="91440" anchor="ctr">
            <a:spAutoFit/>
          </a:bodyPr>
          <a:lstStyle/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void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b="0" dirty="0" smtClean="0">
                <a:solidFill>
                  <a:srgbClr val="5E34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sort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(</a:t>
            </a:r>
            <a:r>
              <a:rPr lang="en-US" b="0" dirty="0" err="1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b="0" dirty="0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[]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b="0" dirty="0" smtClean="0">
                <a:solidFill>
                  <a:srgbClr val="CD7923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A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, </a:t>
            </a:r>
            <a:r>
              <a:rPr lang="en-US" b="0" dirty="0" err="1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b="0" dirty="0" smtClean="0">
                <a:solidFill>
                  <a:srgbClr val="CD7923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lo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, </a:t>
            </a:r>
            <a:r>
              <a:rPr lang="en-US" b="0" dirty="0" err="1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b="0" dirty="0" smtClean="0">
                <a:solidFill>
                  <a:srgbClr val="CD7923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hi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)</a:t>
            </a:r>
          </a:p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//@requires 0 &lt;= lo &amp;&amp; lo &lt;= hi  &amp;&amp; hi &lt;= \length(A);</a:t>
            </a:r>
          </a:p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//@ensures </a:t>
            </a:r>
            <a:r>
              <a:rPr lang="en-US" b="0" dirty="0" err="1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is_sorted</a:t>
            </a:r>
            <a:r>
              <a:rPr lang="en-US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(A, lo, hi);</a:t>
            </a:r>
            <a:endParaRPr lang="en-US" b="0" dirty="0" smtClean="0">
              <a:solidFill>
                <a:schemeClr val="tx1"/>
              </a:solidFill>
              <a:latin typeface="Menlo" charset="0"/>
              <a:ea typeface="Menlo" charset="0"/>
              <a:cs typeface="Menlo" charset="0"/>
              <a:sym typeface="Menlo" charset="0"/>
            </a:endParaRPr>
          </a:p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solidFill>
                  <a:schemeClr val="tx1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{</a:t>
            </a:r>
          </a:p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 </a:t>
            </a:r>
            <a:r>
              <a:rPr lang="en-US" b="0" dirty="0" err="1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b="0" dirty="0" smtClean="0">
                <a:solidFill>
                  <a:srgbClr val="CD7923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mid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= lo + (hi - lo) / 2;</a:t>
            </a:r>
          </a:p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  //@assert  lo &lt;= mid &amp;&amp; mid &lt;= hi;</a:t>
            </a:r>
          </a:p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 sort(A, lo, mid);                  </a:t>
            </a:r>
            <a:r>
              <a:rPr lang="en-US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//@assert </a:t>
            </a:r>
            <a:r>
              <a:rPr lang="en-US" b="0" dirty="0" err="1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is_sorted</a:t>
            </a:r>
            <a:r>
              <a:rPr lang="en-US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(A, lo, mid);</a:t>
            </a:r>
          </a:p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 sort(A, mid, hi);                  </a:t>
            </a:r>
            <a:r>
              <a:rPr lang="en-US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//@assert </a:t>
            </a:r>
            <a:r>
              <a:rPr lang="en-US" b="0" dirty="0" err="1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is_sorted</a:t>
            </a:r>
            <a:r>
              <a:rPr lang="en-US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(A, mid, hi);</a:t>
            </a:r>
          </a:p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solidFill>
                  <a:schemeClr val="tx1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  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merge(A, lo, mid, hi);        </a:t>
            </a:r>
            <a:r>
              <a:rPr lang="en-US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 //@assert </a:t>
            </a:r>
            <a:r>
              <a:rPr lang="en-US" b="0" dirty="0" err="1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is_sorted</a:t>
            </a:r>
            <a:r>
              <a:rPr lang="en-US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(A, lo, hi);</a:t>
            </a:r>
            <a:endParaRPr lang="en-US" b="0" dirty="0" smtClean="0">
              <a:latin typeface="Menlo" charset="0"/>
              <a:ea typeface="Menlo" charset="0"/>
              <a:cs typeface="Menlo" charset="0"/>
              <a:sym typeface="Menlo" charset="0"/>
            </a:endParaRPr>
          </a:p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solidFill>
                  <a:schemeClr val="tx1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}</a:t>
            </a:r>
            <a:endParaRPr lang="en-US" dirty="0" smtClean="0">
              <a:solidFill>
                <a:schemeClr val="tx1"/>
              </a:solidFill>
              <a:latin typeface="Menlo" charset="0"/>
              <a:ea typeface="Menlo" charset="0"/>
              <a:cs typeface="Menlo" charset="0"/>
              <a:sym typeface="Menlo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52500" y="254000"/>
            <a:ext cx="6464300" cy="1498600"/>
          </a:xfrm>
        </p:spPr>
        <p:txBody>
          <a:bodyPr/>
          <a:lstStyle/>
          <a:p>
            <a:r>
              <a:rPr lang="en-US" dirty="0" smtClean="0"/>
              <a:t>A Recursive </a:t>
            </a:r>
            <a:r>
              <a:rPr lang="en-US" dirty="0" smtClean="0">
                <a:solidFill>
                  <a:srgbClr val="7030A0"/>
                </a:solidFill>
              </a:rPr>
              <a:t>sort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chemeClr val="tx1"/>
              </a:buClr>
            </a:pPr>
            <a:r>
              <a:rPr lang="en-US" dirty="0" smtClean="0"/>
              <a:t>What if hi == lo?</a:t>
            </a:r>
          </a:p>
          <a:p>
            <a:pPr lvl="1">
              <a:buClr>
                <a:schemeClr val="tx1"/>
              </a:buClr>
            </a:pPr>
            <a:r>
              <a:rPr lang="en-US" dirty="0" smtClean="0"/>
              <a:t>mid == lo</a:t>
            </a:r>
          </a:p>
          <a:p>
            <a:pPr lvl="1">
              <a:buClr>
                <a:schemeClr val="tx1"/>
              </a:buClr>
            </a:pPr>
            <a:r>
              <a:rPr lang="en-US" dirty="0" smtClean="0"/>
              <a:t>recursive calls with identical arguments</a:t>
            </a:r>
          </a:p>
          <a:p>
            <a:pPr lvl="2">
              <a:buClr>
                <a:schemeClr val="tx1"/>
              </a:buClr>
            </a:pPr>
            <a:r>
              <a:rPr lang="en-US" dirty="0" smtClean="0"/>
              <a:t>infinite loop!!</a:t>
            </a:r>
          </a:p>
          <a:p>
            <a:pPr lvl="4">
              <a:buClr>
                <a:schemeClr val="tx1"/>
              </a:buClr>
            </a:pPr>
            <a:endParaRPr lang="en-US" dirty="0" smtClean="0"/>
          </a:p>
          <a:p>
            <a:pPr>
              <a:buClr>
                <a:schemeClr val="tx1"/>
              </a:buClr>
            </a:pPr>
            <a:r>
              <a:rPr lang="en-US" dirty="0" smtClean="0"/>
              <a:t>What to do?</a:t>
            </a:r>
          </a:p>
          <a:p>
            <a:pPr lvl="1">
              <a:buClr>
                <a:schemeClr val="tx1"/>
              </a:buClr>
            </a:pPr>
            <a:r>
              <a:rPr lang="en-US" dirty="0" smtClean="0"/>
              <a:t>A[</a:t>
            </a:r>
            <a:r>
              <a:rPr lang="en-US" dirty="0" err="1" smtClean="0"/>
              <a:t>lo,lo</a:t>
            </a:r>
            <a:r>
              <a:rPr lang="en-US" dirty="0" smtClean="0"/>
              <a:t>) is the</a:t>
            </a:r>
            <a:br>
              <a:rPr lang="en-US" dirty="0" smtClean="0"/>
            </a:br>
            <a:r>
              <a:rPr lang="en-US" dirty="0" smtClean="0"/>
              <a:t>empty array</a:t>
            </a:r>
          </a:p>
          <a:p>
            <a:pPr lvl="1">
              <a:buClr>
                <a:schemeClr val="tx1"/>
              </a:buClr>
            </a:pPr>
            <a:r>
              <a:rPr lang="en-US" dirty="0" smtClean="0"/>
              <a:t>always sorted!</a:t>
            </a:r>
          </a:p>
          <a:p>
            <a:pPr lvl="1">
              <a:buClr>
                <a:schemeClr val="tx1"/>
              </a:buClr>
            </a:pPr>
            <a:r>
              <a:rPr lang="en-US" dirty="0" smtClean="0"/>
              <a:t>simply return</a:t>
            </a:r>
          </a:p>
        </p:txBody>
      </p:sp>
      <p:sp>
        <p:nvSpPr>
          <p:cNvPr id="6" name="Rectangle 5"/>
          <p:cNvSpPr>
            <a:spLocks/>
          </p:cNvSpPr>
          <p:nvPr/>
        </p:nvSpPr>
        <p:spPr bwMode="auto">
          <a:xfrm>
            <a:off x="4749801" y="5169217"/>
            <a:ext cx="8153399" cy="4431983"/>
          </a:xfrm>
          <a:prstGeom prst="rect">
            <a:avLst/>
          </a:prstGeom>
          <a:noFill/>
          <a:ln w="12700">
            <a:solidFill>
              <a:schemeClr val="tx2"/>
            </a:solidFill>
            <a:miter lim="400000"/>
            <a:headEnd/>
            <a:tailEnd/>
          </a:ln>
        </p:spPr>
        <p:txBody>
          <a:bodyPr wrap="square" tIns="91440" bIns="91440" anchor="ctr">
            <a:spAutoFit/>
          </a:bodyPr>
          <a:lstStyle/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void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b="0" dirty="0" smtClean="0">
                <a:solidFill>
                  <a:srgbClr val="5E34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sort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(</a:t>
            </a:r>
            <a:r>
              <a:rPr lang="en-US" b="0" dirty="0" err="1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b="0" dirty="0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[]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b="0" dirty="0" smtClean="0">
                <a:solidFill>
                  <a:srgbClr val="CD7923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A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, </a:t>
            </a:r>
            <a:r>
              <a:rPr lang="en-US" b="0" dirty="0" err="1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b="0" dirty="0" smtClean="0">
                <a:solidFill>
                  <a:srgbClr val="CD7923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lo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, </a:t>
            </a:r>
            <a:r>
              <a:rPr lang="en-US" b="0" dirty="0" err="1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b="0" dirty="0" smtClean="0">
                <a:solidFill>
                  <a:srgbClr val="CD7923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hi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)</a:t>
            </a:r>
          </a:p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//@requires 0 &lt;= lo &amp;&amp; lo &lt;= hi  &amp;&amp; hi &lt;= \length(A);</a:t>
            </a:r>
          </a:p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//@ensures </a:t>
            </a:r>
            <a:r>
              <a:rPr lang="en-US" b="0" dirty="0" err="1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is_sorted</a:t>
            </a:r>
            <a:r>
              <a:rPr lang="en-US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(A, lo, hi);</a:t>
            </a:r>
            <a:endParaRPr lang="en-US" b="0" dirty="0" smtClean="0">
              <a:solidFill>
                <a:schemeClr val="tx1"/>
              </a:solidFill>
              <a:latin typeface="Menlo" charset="0"/>
              <a:ea typeface="Menlo" charset="0"/>
              <a:cs typeface="Menlo" charset="0"/>
              <a:sym typeface="Menlo" charset="0"/>
            </a:endParaRPr>
          </a:p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solidFill>
                  <a:schemeClr val="tx1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{</a:t>
            </a:r>
          </a:p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solidFill>
                  <a:schemeClr val="tx1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  </a:t>
            </a:r>
            <a:r>
              <a:rPr lang="en-US" b="0" dirty="0" smtClean="0">
                <a:solidFill>
                  <a:srgbClr val="D03B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if 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(hi == lo) </a:t>
            </a:r>
            <a:r>
              <a:rPr lang="en-US" b="0" dirty="0" smtClean="0">
                <a:solidFill>
                  <a:srgbClr val="D03B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return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;</a:t>
            </a:r>
          </a:p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endParaRPr lang="en-US" sz="1200" b="0" dirty="0" smtClean="0">
              <a:solidFill>
                <a:schemeClr val="tx1"/>
              </a:solidFill>
              <a:latin typeface="Menlo" charset="0"/>
              <a:ea typeface="Menlo" charset="0"/>
              <a:cs typeface="Menlo" charset="0"/>
              <a:sym typeface="Menlo" charset="0"/>
            </a:endParaRPr>
          </a:p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 </a:t>
            </a:r>
            <a:r>
              <a:rPr lang="en-US" b="0" dirty="0" err="1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b="0" dirty="0" smtClean="0">
                <a:solidFill>
                  <a:srgbClr val="CD7923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mid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= lo + (hi - lo) / 2;</a:t>
            </a:r>
          </a:p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  //@assert  lo &lt;= mid &amp;&amp; mid &lt; hi;</a:t>
            </a:r>
          </a:p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 sort(A, lo, mid);                  </a:t>
            </a:r>
            <a:r>
              <a:rPr lang="en-US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//@assert </a:t>
            </a:r>
            <a:r>
              <a:rPr lang="en-US" b="0" dirty="0" err="1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is_sorted</a:t>
            </a:r>
            <a:r>
              <a:rPr lang="en-US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(A, lo, mid);</a:t>
            </a:r>
          </a:p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 sort(A, mid, hi);                  </a:t>
            </a:r>
            <a:r>
              <a:rPr lang="en-US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//@assert </a:t>
            </a:r>
            <a:r>
              <a:rPr lang="en-US" b="0" dirty="0" err="1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is_sorted</a:t>
            </a:r>
            <a:r>
              <a:rPr lang="en-US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(A, mid, hi);</a:t>
            </a:r>
          </a:p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solidFill>
                  <a:schemeClr val="tx1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  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merge(A, lo, mid, hi);        </a:t>
            </a:r>
            <a:r>
              <a:rPr lang="en-US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 //@assert </a:t>
            </a:r>
            <a:r>
              <a:rPr lang="en-US" b="0" dirty="0" err="1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is_sorted</a:t>
            </a:r>
            <a:r>
              <a:rPr lang="en-US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(A, lo, hi);</a:t>
            </a:r>
            <a:endParaRPr lang="en-US" b="0" dirty="0" smtClean="0">
              <a:latin typeface="Menlo" charset="0"/>
              <a:ea typeface="Menlo" charset="0"/>
              <a:cs typeface="Menlo" charset="0"/>
              <a:sym typeface="Menlo" charset="0"/>
            </a:endParaRPr>
          </a:p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solidFill>
                  <a:schemeClr val="tx1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}</a:t>
            </a:r>
            <a:endParaRPr lang="en-US" dirty="0" smtClean="0">
              <a:solidFill>
                <a:schemeClr val="tx1"/>
              </a:solidFill>
              <a:latin typeface="Menlo" charset="0"/>
              <a:ea typeface="Menlo" charset="0"/>
              <a:cs typeface="Menlo" charset="0"/>
              <a:sym typeface="Menlo" charset="0"/>
            </a:endParaRPr>
          </a:p>
        </p:txBody>
      </p:sp>
      <p:sp>
        <p:nvSpPr>
          <p:cNvPr id="7" name="Oval 6"/>
          <p:cNvSpPr>
            <a:spLocks noChangeArrowheads="1"/>
          </p:cNvSpPr>
          <p:nvPr/>
        </p:nvSpPr>
        <p:spPr bwMode="auto">
          <a:xfrm>
            <a:off x="4749800" y="6608134"/>
            <a:ext cx="2819400" cy="685800"/>
          </a:xfrm>
          <a:prstGeom prst="ellipse">
            <a:avLst/>
          </a:prstGeom>
          <a:noFill/>
          <a:ln w="38100" algn="ctr">
            <a:solidFill>
              <a:srgbClr val="FF0000"/>
            </a:solidFill>
            <a:miter lim="400000"/>
            <a:headEnd/>
            <a:tailEnd/>
          </a:ln>
        </p:spPr>
        <p:txBody>
          <a:bodyPr lIns="45720" rIns="45720" anchor="ctr"/>
          <a:lstStyle/>
          <a:p>
            <a:endParaRPr lang="en-US" sz="2000" b="0"/>
          </a:p>
        </p:txBody>
      </p:sp>
      <p:sp>
        <p:nvSpPr>
          <p:cNvPr id="8" name="Oval 7"/>
          <p:cNvSpPr>
            <a:spLocks noChangeArrowheads="1"/>
          </p:cNvSpPr>
          <p:nvPr/>
        </p:nvSpPr>
        <p:spPr bwMode="auto">
          <a:xfrm>
            <a:off x="8832701" y="7685567"/>
            <a:ext cx="304800" cy="304800"/>
          </a:xfrm>
          <a:prstGeom prst="ellipse">
            <a:avLst/>
          </a:prstGeom>
          <a:noFill/>
          <a:ln w="38100" algn="ctr">
            <a:solidFill>
              <a:srgbClr val="FF0000"/>
            </a:solidFill>
            <a:miter lim="400000"/>
            <a:headEnd/>
            <a:tailEnd/>
          </a:ln>
        </p:spPr>
        <p:txBody>
          <a:bodyPr lIns="45720" rIns="45720" anchor="ctr"/>
          <a:lstStyle/>
          <a:p>
            <a:endParaRPr lang="en-US" sz="2000" b="0"/>
          </a:p>
        </p:txBody>
      </p:sp>
      <p:sp>
        <p:nvSpPr>
          <p:cNvPr id="9" name="Rectangular Callout 8"/>
          <p:cNvSpPr/>
          <p:nvPr/>
        </p:nvSpPr>
        <p:spPr bwMode="auto">
          <a:xfrm>
            <a:off x="9550400" y="6705600"/>
            <a:ext cx="1687320" cy="707886"/>
          </a:xfrm>
          <a:prstGeom prst="wedgeRectCallout">
            <a:avLst>
              <a:gd name="adj1" fmla="val -76638"/>
              <a:gd name="adj2" fmla="val 90751"/>
            </a:avLst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wrap="none" lIns="45720" rIns="45720" anchor="ctr">
            <a:spAutoFit/>
          </a:bodyPr>
          <a:lstStyle/>
          <a:p>
            <a:pPr>
              <a:defRPr/>
            </a:pPr>
            <a:r>
              <a:rPr lang="en-US" sz="2000" b="0" dirty="0" smtClean="0"/>
              <a:t>mid == hi now</a:t>
            </a:r>
            <a:br>
              <a:rPr lang="en-US" sz="2000" b="0" dirty="0" smtClean="0"/>
            </a:br>
            <a:r>
              <a:rPr lang="en-US" sz="2000" b="0" dirty="0" smtClean="0"/>
              <a:t>impossible</a:t>
            </a:r>
            <a:endParaRPr lang="en-US" sz="2000" b="0" i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52500" y="254000"/>
            <a:ext cx="6464300" cy="1498600"/>
          </a:xfrm>
        </p:spPr>
        <p:txBody>
          <a:bodyPr/>
          <a:lstStyle/>
          <a:p>
            <a:r>
              <a:rPr lang="en-US" dirty="0" smtClean="0"/>
              <a:t>A Recursive </a:t>
            </a:r>
            <a:r>
              <a:rPr lang="en-US" dirty="0" smtClean="0">
                <a:solidFill>
                  <a:srgbClr val="7030A0"/>
                </a:solidFill>
              </a:rPr>
              <a:t>sort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chemeClr val="tx1"/>
              </a:buClr>
            </a:pPr>
            <a:r>
              <a:rPr lang="en-US" dirty="0" smtClean="0"/>
              <a:t>What if hi == lo+1?</a:t>
            </a:r>
          </a:p>
          <a:p>
            <a:pPr lvl="1">
              <a:buClr>
                <a:schemeClr val="tx1"/>
              </a:buClr>
            </a:pPr>
            <a:r>
              <a:rPr lang="en-US" dirty="0" smtClean="0"/>
              <a:t>mid == lo, still</a:t>
            </a:r>
          </a:p>
          <a:p>
            <a:pPr lvl="1">
              <a:buClr>
                <a:schemeClr val="tx1"/>
              </a:buClr>
            </a:pPr>
            <a:r>
              <a:rPr lang="en-US" dirty="0" smtClean="0"/>
              <a:t>first recursive call: sort(A, lo, lo)</a:t>
            </a:r>
          </a:p>
          <a:p>
            <a:pPr lvl="2">
              <a:buClr>
                <a:schemeClr val="tx1"/>
              </a:buClr>
            </a:pPr>
            <a:r>
              <a:rPr lang="en-US" dirty="0" smtClean="0"/>
              <a:t>handled by new base case</a:t>
            </a:r>
          </a:p>
          <a:p>
            <a:pPr lvl="1">
              <a:buClr>
                <a:schemeClr val="tx1"/>
              </a:buClr>
            </a:pPr>
            <a:r>
              <a:rPr lang="en-US" dirty="0" smtClean="0"/>
              <a:t>second recursive call: sort(A, lo, hi)</a:t>
            </a:r>
          </a:p>
          <a:p>
            <a:pPr lvl="2">
              <a:buClr>
                <a:schemeClr val="tx1"/>
              </a:buClr>
            </a:pPr>
            <a:r>
              <a:rPr lang="en-US" dirty="0" smtClean="0"/>
              <a:t>infinite loop!!</a:t>
            </a:r>
          </a:p>
          <a:p>
            <a:pPr lvl="4">
              <a:buClr>
                <a:schemeClr val="tx1"/>
              </a:buClr>
            </a:pPr>
            <a:endParaRPr lang="en-US" dirty="0" smtClean="0"/>
          </a:p>
          <a:p>
            <a:pPr>
              <a:buClr>
                <a:schemeClr val="tx1"/>
              </a:buClr>
            </a:pPr>
            <a:r>
              <a:rPr lang="en-US" dirty="0" smtClean="0"/>
              <a:t>What to do?</a:t>
            </a:r>
          </a:p>
          <a:p>
            <a:pPr lvl="1">
              <a:buClr>
                <a:schemeClr val="tx1"/>
              </a:buClr>
            </a:pPr>
            <a:r>
              <a:rPr lang="en-US" dirty="0" smtClean="0"/>
              <a:t>A[lo,lo+1) is a</a:t>
            </a:r>
            <a:br>
              <a:rPr lang="en-US" dirty="0" smtClean="0"/>
            </a:br>
            <a:r>
              <a:rPr lang="en-US" dirty="0" smtClean="0"/>
              <a:t>1-element array</a:t>
            </a:r>
          </a:p>
          <a:p>
            <a:pPr lvl="1">
              <a:buClr>
                <a:schemeClr val="tx1"/>
              </a:buClr>
            </a:pPr>
            <a:r>
              <a:rPr lang="en-US" dirty="0" smtClean="0"/>
              <a:t>always sorted!</a:t>
            </a:r>
          </a:p>
          <a:p>
            <a:pPr lvl="1">
              <a:buClr>
                <a:schemeClr val="tx1"/>
              </a:buClr>
            </a:pPr>
            <a:r>
              <a:rPr lang="en-US" dirty="0" smtClean="0"/>
              <a:t>simply return!</a:t>
            </a:r>
          </a:p>
        </p:txBody>
      </p:sp>
      <p:sp>
        <p:nvSpPr>
          <p:cNvPr id="6" name="Rectangle 5"/>
          <p:cNvSpPr>
            <a:spLocks/>
          </p:cNvSpPr>
          <p:nvPr/>
        </p:nvSpPr>
        <p:spPr bwMode="auto">
          <a:xfrm>
            <a:off x="4749801" y="4799886"/>
            <a:ext cx="8153399" cy="4801314"/>
          </a:xfrm>
          <a:prstGeom prst="rect">
            <a:avLst/>
          </a:prstGeom>
          <a:noFill/>
          <a:ln w="12700">
            <a:solidFill>
              <a:schemeClr val="tx2"/>
            </a:solidFill>
            <a:miter lim="400000"/>
            <a:headEnd/>
            <a:tailEnd/>
          </a:ln>
        </p:spPr>
        <p:txBody>
          <a:bodyPr wrap="square" tIns="91440" bIns="91440" anchor="ctr">
            <a:spAutoFit/>
          </a:bodyPr>
          <a:lstStyle/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void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b="0" dirty="0" smtClean="0">
                <a:solidFill>
                  <a:srgbClr val="5E34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sort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(</a:t>
            </a:r>
            <a:r>
              <a:rPr lang="en-US" b="0" dirty="0" err="1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b="0" dirty="0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[]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b="0" dirty="0" smtClean="0">
                <a:solidFill>
                  <a:srgbClr val="CD7923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A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, </a:t>
            </a:r>
            <a:r>
              <a:rPr lang="en-US" b="0" dirty="0" err="1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b="0" dirty="0" smtClean="0">
                <a:solidFill>
                  <a:srgbClr val="CD7923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lo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, </a:t>
            </a:r>
            <a:r>
              <a:rPr lang="en-US" b="0" dirty="0" err="1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b="0" dirty="0" smtClean="0">
                <a:solidFill>
                  <a:srgbClr val="CD7923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hi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)</a:t>
            </a:r>
          </a:p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//@requires 0 &lt;= lo &amp;&amp; lo &lt;= hi  &amp;&amp; hi &lt;= \length(A);</a:t>
            </a:r>
          </a:p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//@ensures </a:t>
            </a:r>
            <a:r>
              <a:rPr lang="en-US" b="0" dirty="0" err="1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is_sorted</a:t>
            </a:r>
            <a:r>
              <a:rPr lang="en-US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(A, lo, hi);</a:t>
            </a:r>
            <a:endParaRPr lang="en-US" b="0" dirty="0" smtClean="0">
              <a:solidFill>
                <a:schemeClr val="tx1"/>
              </a:solidFill>
              <a:latin typeface="Menlo" charset="0"/>
              <a:ea typeface="Menlo" charset="0"/>
              <a:cs typeface="Menlo" charset="0"/>
              <a:sym typeface="Menlo" charset="0"/>
            </a:endParaRPr>
          </a:p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solidFill>
                  <a:schemeClr val="tx1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{</a:t>
            </a:r>
          </a:p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solidFill>
                  <a:schemeClr val="tx1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  </a:t>
            </a:r>
            <a:r>
              <a:rPr lang="en-US" b="0" dirty="0" smtClean="0">
                <a:solidFill>
                  <a:srgbClr val="D03B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if 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(hi == lo) </a:t>
            </a:r>
            <a:r>
              <a:rPr lang="en-US" b="0" dirty="0" smtClean="0">
                <a:solidFill>
                  <a:srgbClr val="D03B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return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;</a:t>
            </a:r>
          </a:p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solidFill>
                  <a:schemeClr val="tx1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  </a:t>
            </a:r>
            <a:r>
              <a:rPr lang="en-US" b="0" dirty="0" smtClean="0">
                <a:solidFill>
                  <a:srgbClr val="D03B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if 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(hi == lo+1) </a:t>
            </a:r>
            <a:r>
              <a:rPr lang="en-US" b="0" dirty="0" smtClean="0">
                <a:solidFill>
                  <a:srgbClr val="D03B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return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;</a:t>
            </a:r>
          </a:p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endParaRPr lang="en-US" sz="1200" b="0" dirty="0" smtClean="0">
              <a:solidFill>
                <a:schemeClr val="tx1"/>
              </a:solidFill>
              <a:latin typeface="Menlo" charset="0"/>
              <a:ea typeface="Menlo" charset="0"/>
              <a:cs typeface="Menlo" charset="0"/>
              <a:sym typeface="Menlo" charset="0"/>
            </a:endParaRPr>
          </a:p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 </a:t>
            </a:r>
            <a:r>
              <a:rPr lang="en-US" b="0" dirty="0" err="1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b="0" dirty="0" smtClean="0">
                <a:solidFill>
                  <a:srgbClr val="CD7923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mid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= lo + (hi - lo) / 2;</a:t>
            </a:r>
          </a:p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  //@assert  lo &lt; mid &amp;&amp; mid &lt; hi;</a:t>
            </a:r>
          </a:p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 sort(A, lo, mid);                  </a:t>
            </a:r>
            <a:r>
              <a:rPr lang="en-US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//@assert </a:t>
            </a:r>
            <a:r>
              <a:rPr lang="en-US" b="0" dirty="0" err="1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is_sorted</a:t>
            </a:r>
            <a:r>
              <a:rPr lang="en-US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(A, lo, mid);</a:t>
            </a:r>
          </a:p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 sort(A, mid, hi);                  </a:t>
            </a:r>
            <a:r>
              <a:rPr lang="en-US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//@assert </a:t>
            </a:r>
            <a:r>
              <a:rPr lang="en-US" b="0" dirty="0" err="1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is_sorted</a:t>
            </a:r>
            <a:r>
              <a:rPr lang="en-US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(A, mid, hi);</a:t>
            </a:r>
          </a:p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solidFill>
                  <a:schemeClr val="tx1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  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merge(A, lo, mid, hi);        </a:t>
            </a:r>
            <a:r>
              <a:rPr lang="en-US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 //@assert </a:t>
            </a:r>
            <a:r>
              <a:rPr lang="en-US" b="0" dirty="0" err="1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is_sorted</a:t>
            </a:r>
            <a:r>
              <a:rPr lang="en-US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(A, lo, hi);</a:t>
            </a:r>
            <a:endParaRPr lang="en-US" b="0" dirty="0" smtClean="0">
              <a:latin typeface="Menlo" charset="0"/>
              <a:ea typeface="Menlo" charset="0"/>
              <a:cs typeface="Menlo" charset="0"/>
              <a:sym typeface="Menlo" charset="0"/>
            </a:endParaRPr>
          </a:p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solidFill>
                  <a:schemeClr val="tx1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}</a:t>
            </a:r>
            <a:endParaRPr lang="en-US" dirty="0" smtClean="0">
              <a:solidFill>
                <a:schemeClr val="tx1"/>
              </a:solidFill>
              <a:latin typeface="Menlo" charset="0"/>
              <a:ea typeface="Menlo" charset="0"/>
              <a:cs typeface="Menlo" charset="0"/>
              <a:sym typeface="Menlo" charset="0"/>
            </a:endParaRPr>
          </a:p>
        </p:txBody>
      </p:sp>
      <p:sp>
        <p:nvSpPr>
          <p:cNvPr id="7" name="Oval 6"/>
          <p:cNvSpPr>
            <a:spLocks noChangeArrowheads="1"/>
          </p:cNvSpPr>
          <p:nvPr/>
        </p:nvSpPr>
        <p:spPr bwMode="auto">
          <a:xfrm>
            <a:off x="4749800" y="6618767"/>
            <a:ext cx="3200400" cy="685800"/>
          </a:xfrm>
          <a:prstGeom prst="ellipse">
            <a:avLst/>
          </a:prstGeom>
          <a:noFill/>
          <a:ln w="38100" algn="ctr">
            <a:solidFill>
              <a:srgbClr val="FF0000"/>
            </a:solidFill>
            <a:miter lim="400000"/>
            <a:headEnd/>
            <a:tailEnd/>
          </a:ln>
        </p:spPr>
        <p:txBody>
          <a:bodyPr lIns="45720" rIns="45720" anchor="ctr"/>
          <a:lstStyle/>
          <a:p>
            <a:endParaRPr lang="en-US" sz="2000" b="0"/>
          </a:p>
        </p:txBody>
      </p:sp>
      <p:sp>
        <p:nvSpPr>
          <p:cNvPr id="8" name="Oval 7"/>
          <p:cNvSpPr>
            <a:spLocks noChangeArrowheads="1"/>
          </p:cNvSpPr>
          <p:nvPr/>
        </p:nvSpPr>
        <p:spPr bwMode="auto">
          <a:xfrm>
            <a:off x="6731000" y="7685567"/>
            <a:ext cx="304800" cy="304800"/>
          </a:xfrm>
          <a:prstGeom prst="ellipse">
            <a:avLst/>
          </a:prstGeom>
          <a:noFill/>
          <a:ln w="38100" algn="ctr">
            <a:solidFill>
              <a:srgbClr val="FF0000"/>
            </a:solidFill>
            <a:miter lim="400000"/>
            <a:headEnd/>
            <a:tailEnd/>
          </a:ln>
        </p:spPr>
        <p:txBody>
          <a:bodyPr lIns="45720" rIns="45720" anchor="ctr"/>
          <a:lstStyle/>
          <a:p>
            <a:endParaRPr lang="en-US" sz="2000" b="0"/>
          </a:p>
        </p:txBody>
      </p:sp>
      <p:sp>
        <p:nvSpPr>
          <p:cNvPr id="9" name="Rectangular Callout 8"/>
          <p:cNvSpPr/>
          <p:nvPr/>
        </p:nvSpPr>
        <p:spPr bwMode="auto">
          <a:xfrm>
            <a:off x="9550400" y="6988314"/>
            <a:ext cx="1687320" cy="707886"/>
          </a:xfrm>
          <a:prstGeom prst="wedgeRectCallout">
            <a:avLst>
              <a:gd name="adj1" fmla="val -200147"/>
              <a:gd name="adj2" fmla="val 56205"/>
            </a:avLst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wrap="none" lIns="45720" rIns="45720" anchor="ctr">
            <a:spAutoFit/>
          </a:bodyPr>
          <a:lstStyle/>
          <a:p>
            <a:pPr>
              <a:defRPr/>
            </a:pPr>
            <a:r>
              <a:rPr lang="en-US" sz="2000" b="0" dirty="0" smtClean="0"/>
              <a:t>mid == lo also</a:t>
            </a:r>
            <a:br>
              <a:rPr lang="en-US" sz="2000" b="0" dirty="0" smtClean="0"/>
            </a:br>
            <a:r>
              <a:rPr lang="en-US" sz="2000" b="0" dirty="0" smtClean="0"/>
              <a:t>impossible</a:t>
            </a:r>
            <a:endParaRPr lang="en-US" sz="2000" b="0" i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52500" y="254000"/>
            <a:ext cx="6464300" cy="1498600"/>
          </a:xfrm>
        </p:spPr>
        <p:txBody>
          <a:bodyPr/>
          <a:lstStyle/>
          <a:p>
            <a:r>
              <a:rPr lang="en-US" dirty="0" smtClean="0"/>
              <a:t>A Recursive </a:t>
            </a:r>
            <a:r>
              <a:rPr lang="en-US" dirty="0" smtClean="0">
                <a:solidFill>
                  <a:srgbClr val="7030A0"/>
                </a:solidFill>
              </a:rPr>
              <a:t>sort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buClr>
                <a:schemeClr val="tx1"/>
              </a:buClr>
            </a:pPr>
            <a:r>
              <a:rPr lang="en-US" dirty="0" smtClean="0"/>
              <a:t>No more opportunities for infinite loops</a:t>
            </a:r>
          </a:p>
          <a:p>
            <a:pPr>
              <a:buClr>
                <a:schemeClr val="tx1"/>
              </a:buClr>
            </a:pPr>
            <a:r>
              <a:rPr lang="en-US" dirty="0" smtClean="0"/>
              <a:t>The preconditions still imply the </a:t>
            </a:r>
            <a:r>
              <a:rPr lang="en-US" dirty="0" err="1" smtClean="0"/>
              <a:t>postconditions</a:t>
            </a:r>
            <a:endParaRPr lang="en-US" dirty="0" smtClean="0"/>
          </a:p>
          <a:p>
            <a:pPr lvl="1">
              <a:buClr>
                <a:schemeClr val="tx1"/>
              </a:buClr>
            </a:pPr>
            <a:r>
              <a:rPr lang="en-US" dirty="0" smtClean="0"/>
              <a:t>base case return: arrays of lengths 0 and 1 are always sorted</a:t>
            </a:r>
          </a:p>
          <a:p>
            <a:pPr lvl="1">
              <a:buClr>
                <a:schemeClr val="tx1"/>
              </a:buClr>
            </a:pPr>
            <a:r>
              <a:rPr lang="en-US" dirty="0" smtClean="0"/>
              <a:t>final return: our original proof applies</a:t>
            </a:r>
          </a:p>
          <a:p>
            <a:pPr lvl="4">
              <a:buClr>
                <a:schemeClr val="tx1"/>
              </a:buClr>
            </a:pPr>
            <a:endParaRPr lang="en-US" dirty="0" smtClean="0"/>
          </a:p>
          <a:p>
            <a:pPr>
              <a:buClr>
                <a:schemeClr val="tx1"/>
              </a:buClr>
            </a:pPr>
            <a:r>
              <a:rPr lang="en-US" dirty="0" smtClean="0">
                <a:solidFill>
                  <a:srgbClr val="7030A0"/>
                </a:solidFill>
              </a:rPr>
              <a:t>sort</a:t>
            </a:r>
            <a:r>
              <a:rPr lang="en-US" dirty="0" smtClean="0"/>
              <a:t> is </a:t>
            </a:r>
            <a:r>
              <a:rPr lang="en-US" b="1" dirty="0" smtClean="0"/>
              <a:t>correct</a:t>
            </a:r>
            <a:r>
              <a:rPr lang="en-US" sz="3600" b="1" dirty="0" smtClean="0"/>
              <a:t>!</a:t>
            </a:r>
          </a:p>
          <a:p>
            <a:pPr lvl="4">
              <a:buClr>
                <a:schemeClr val="tx1"/>
              </a:buClr>
            </a:pPr>
            <a:endParaRPr lang="en-US" dirty="0" smtClean="0"/>
          </a:p>
          <a:p>
            <a:pPr>
              <a:buClr>
                <a:schemeClr val="tx1"/>
              </a:buClr>
            </a:pPr>
            <a:r>
              <a:rPr lang="en-US" dirty="0" smtClean="0"/>
              <a:t>This function is</a:t>
            </a:r>
            <a:br>
              <a:rPr lang="en-US" dirty="0" smtClean="0"/>
            </a:br>
            <a:r>
              <a:rPr lang="en-US" dirty="0" smtClean="0"/>
              <a:t>called</a:t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r>
              <a:rPr lang="en-US" b="1" dirty="0" err="1" smtClean="0"/>
              <a:t>mergesort</a:t>
            </a:r>
            <a:endParaRPr lang="en-US" b="1" dirty="0" smtClean="0"/>
          </a:p>
        </p:txBody>
      </p:sp>
      <p:sp>
        <p:nvSpPr>
          <p:cNvPr id="6" name="Rectangle 5"/>
          <p:cNvSpPr>
            <a:spLocks/>
          </p:cNvSpPr>
          <p:nvPr/>
        </p:nvSpPr>
        <p:spPr bwMode="auto">
          <a:xfrm>
            <a:off x="4749801" y="5169217"/>
            <a:ext cx="8153399" cy="4431983"/>
          </a:xfrm>
          <a:prstGeom prst="rect">
            <a:avLst/>
          </a:prstGeom>
          <a:noFill/>
          <a:ln w="12700">
            <a:solidFill>
              <a:schemeClr val="tx2"/>
            </a:solidFill>
            <a:miter lim="400000"/>
            <a:headEnd/>
            <a:tailEnd/>
          </a:ln>
        </p:spPr>
        <p:txBody>
          <a:bodyPr wrap="square" tIns="91440" bIns="91440" anchor="ctr">
            <a:spAutoFit/>
          </a:bodyPr>
          <a:lstStyle/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void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b="0" dirty="0" smtClean="0">
                <a:solidFill>
                  <a:srgbClr val="5E34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sort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(</a:t>
            </a:r>
            <a:r>
              <a:rPr lang="en-US" b="0" dirty="0" err="1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b="0" dirty="0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[]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b="0" dirty="0" smtClean="0">
                <a:solidFill>
                  <a:srgbClr val="CD7923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A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, </a:t>
            </a:r>
            <a:r>
              <a:rPr lang="en-US" b="0" dirty="0" err="1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b="0" dirty="0" smtClean="0">
                <a:solidFill>
                  <a:srgbClr val="CD7923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lo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, </a:t>
            </a:r>
            <a:r>
              <a:rPr lang="en-US" b="0" dirty="0" err="1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b="0" dirty="0" smtClean="0">
                <a:solidFill>
                  <a:srgbClr val="CD7923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hi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)</a:t>
            </a:r>
          </a:p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//@requires 0 &lt;= lo &amp;&amp; lo &lt;= hi  &amp;&amp; hi &lt;= \length(A);</a:t>
            </a:r>
          </a:p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//@ensures </a:t>
            </a:r>
            <a:r>
              <a:rPr lang="en-US" b="0" dirty="0" err="1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is_sorted</a:t>
            </a:r>
            <a:r>
              <a:rPr lang="en-US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(A, lo, hi);</a:t>
            </a:r>
            <a:endParaRPr lang="en-US" b="0" dirty="0" smtClean="0">
              <a:solidFill>
                <a:schemeClr val="tx1"/>
              </a:solidFill>
              <a:latin typeface="Menlo" charset="0"/>
              <a:ea typeface="Menlo" charset="0"/>
              <a:cs typeface="Menlo" charset="0"/>
              <a:sym typeface="Menlo" charset="0"/>
            </a:endParaRPr>
          </a:p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solidFill>
                  <a:schemeClr val="tx1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{</a:t>
            </a:r>
          </a:p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solidFill>
                  <a:schemeClr val="tx1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  </a:t>
            </a:r>
            <a:r>
              <a:rPr lang="en-US" b="0" dirty="0" smtClean="0">
                <a:solidFill>
                  <a:srgbClr val="D03B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if 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(hi - lo &lt;= 1) </a:t>
            </a:r>
            <a:r>
              <a:rPr lang="en-US" b="0" dirty="0" smtClean="0">
                <a:solidFill>
                  <a:srgbClr val="D03B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return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;</a:t>
            </a:r>
          </a:p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endParaRPr lang="en-US" sz="1200" b="0" dirty="0" smtClean="0">
              <a:solidFill>
                <a:schemeClr val="tx1"/>
              </a:solidFill>
              <a:latin typeface="Menlo" charset="0"/>
              <a:ea typeface="Menlo" charset="0"/>
              <a:cs typeface="Menlo" charset="0"/>
              <a:sym typeface="Menlo" charset="0"/>
            </a:endParaRPr>
          </a:p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 </a:t>
            </a:r>
            <a:r>
              <a:rPr lang="en-US" b="0" dirty="0" err="1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b="0" dirty="0" smtClean="0">
                <a:solidFill>
                  <a:srgbClr val="CD7923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mid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= lo + (hi - lo) / 2;</a:t>
            </a:r>
          </a:p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  //@assert  lo &lt;= mid &amp;&amp; mid &lt;= hi;</a:t>
            </a:r>
          </a:p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 sort(A, lo, mid);                  </a:t>
            </a:r>
            <a:r>
              <a:rPr lang="en-US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//@assert </a:t>
            </a:r>
            <a:r>
              <a:rPr lang="en-US" b="0" dirty="0" err="1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is_sorted</a:t>
            </a:r>
            <a:r>
              <a:rPr lang="en-US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(A, lo, mid);</a:t>
            </a:r>
          </a:p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 sort(A, mid, hi);                  </a:t>
            </a:r>
            <a:r>
              <a:rPr lang="en-US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//@assert </a:t>
            </a:r>
            <a:r>
              <a:rPr lang="en-US" b="0" dirty="0" err="1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is_sorted</a:t>
            </a:r>
            <a:r>
              <a:rPr lang="en-US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(A, mid, hi);</a:t>
            </a:r>
          </a:p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solidFill>
                  <a:schemeClr val="tx1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  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merge(A, lo, mid, hi);        </a:t>
            </a:r>
            <a:r>
              <a:rPr lang="en-US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 //@assert </a:t>
            </a:r>
            <a:r>
              <a:rPr lang="en-US" b="0" dirty="0" err="1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is_sorted</a:t>
            </a:r>
            <a:r>
              <a:rPr lang="en-US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(A, lo, hi);</a:t>
            </a:r>
            <a:endParaRPr lang="en-US" b="0" dirty="0" smtClean="0">
              <a:latin typeface="Menlo" charset="0"/>
              <a:ea typeface="Menlo" charset="0"/>
              <a:cs typeface="Menlo" charset="0"/>
              <a:sym typeface="Menlo" charset="0"/>
            </a:endParaRPr>
          </a:p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solidFill>
                  <a:schemeClr val="tx1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}</a:t>
            </a:r>
            <a:endParaRPr lang="en-US" dirty="0" smtClean="0">
              <a:solidFill>
                <a:schemeClr val="tx1"/>
              </a:solidFill>
              <a:latin typeface="Menlo" charset="0"/>
              <a:ea typeface="Menlo" charset="0"/>
              <a:cs typeface="Menlo" charset="0"/>
              <a:sym typeface="Menlo" charset="0"/>
            </a:endParaRPr>
          </a:p>
        </p:txBody>
      </p:sp>
      <p:sp>
        <p:nvSpPr>
          <p:cNvPr id="8" name="Rectangular Callout 7"/>
          <p:cNvSpPr/>
          <p:nvPr/>
        </p:nvSpPr>
        <p:spPr bwMode="auto">
          <a:xfrm>
            <a:off x="10276690" y="6248400"/>
            <a:ext cx="1788310" cy="400110"/>
          </a:xfrm>
          <a:prstGeom prst="wedgeRectCallout">
            <a:avLst>
              <a:gd name="adj1" fmla="val -240036"/>
              <a:gd name="adj2" fmla="val 92946"/>
            </a:avLst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wrap="none" lIns="45720" rIns="45720" anchor="ctr">
            <a:spAutoFit/>
          </a:bodyPr>
          <a:lstStyle/>
          <a:p>
            <a:pPr>
              <a:defRPr/>
            </a:pPr>
            <a:r>
              <a:rPr lang="en-US" sz="2000" b="0" dirty="0" smtClean="0"/>
              <a:t>minor clean-up</a:t>
            </a:r>
            <a:endParaRPr lang="en-US" sz="2000" b="0" i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 Recursive </a:t>
            </a:r>
            <a:r>
              <a:rPr lang="en-US" dirty="0" smtClean="0">
                <a:solidFill>
                  <a:srgbClr val="7030A0"/>
                </a:solidFill>
              </a:rPr>
              <a:t>sort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Recursive functions don’t have loop invariants</a:t>
            </a:r>
          </a:p>
          <a:p>
            <a:pPr lvl="4"/>
            <a:endParaRPr lang="en-US" dirty="0" smtClean="0"/>
          </a:p>
          <a:p>
            <a:r>
              <a:rPr lang="en-US" dirty="0" smtClean="0"/>
              <a:t>How does our correctness methodology transfer?</a:t>
            </a:r>
          </a:p>
          <a:p>
            <a:pPr lvl="1">
              <a:tabLst>
                <a:tab pos="1998663" algn="l"/>
              </a:tabLst>
            </a:pPr>
            <a:r>
              <a:rPr lang="en-US" b="1" dirty="0" smtClean="0"/>
              <a:t>INIT</a:t>
            </a:r>
            <a:r>
              <a:rPr lang="en-US" dirty="0" smtClean="0"/>
              <a:t>:	Safety of initial call to the function</a:t>
            </a:r>
          </a:p>
          <a:p>
            <a:pPr lvl="1">
              <a:tabLst>
                <a:tab pos="1998663" algn="l"/>
              </a:tabLst>
            </a:pPr>
            <a:r>
              <a:rPr lang="en-US" b="1" dirty="0" smtClean="0"/>
              <a:t>PRES</a:t>
            </a:r>
            <a:r>
              <a:rPr lang="en-US" dirty="0" smtClean="0"/>
              <a:t>:	From preconditions to safety of recursive calls</a:t>
            </a:r>
          </a:p>
          <a:p>
            <a:pPr lvl="1">
              <a:tabLst>
                <a:tab pos="1998663" algn="l"/>
              </a:tabLst>
            </a:pPr>
            <a:r>
              <a:rPr lang="en-US" b="1" dirty="0" smtClean="0"/>
              <a:t>EXIT</a:t>
            </a:r>
            <a:r>
              <a:rPr lang="en-US" dirty="0" smtClean="0"/>
              <a:t>:	From </a:t>
            </a:r>
            <a:r>
              <a:rPr lang="en-US" dirty="0" err="1" smtClean="0"/>
              <a:t>postconditions</a:t>
            </a:r>
            <a:r>
              <a:rPr lang="en-US" dirty="0" smtClean="0"/>
              <a:t> of recursive calls to </a:t>
            </a:r>
            <a:r>
              <a:rPr lang="en-US" dirty="0" err="1" smtClean="0"/>
              <a:t>postcondition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	of function</a:t>
            </a:r>
          </a:p>
          <a:p>
            <a:pPr lvl="1"/>
            <a:r>
              <a:rPr lang="en-US" b="1" dirty="0" smtClean="0"/>
              <a:t>TERM</a:t>
            </a:r>
            <a:r>
              <a:rPr lang="en-US" dirty="0" smtClean="0"/>
              <a:t>:</a:t>
            </a:r>
          </a:p>
          <a:p>
            <a:pPr lvl="2"/>
            <a:r>
              <a:rPr lang="en-US" dirty="0" smtClean="0"/>
              <a:t>base case handles input smaller than some bound</a:t>
            </a:r>
          </a:p>
          <a:p>
            <a:pPr lvl="2"/>
            <a:r>
              <a:rPr lang="en-US" dirty="0" smtClean="0"/>
              <a:t>input of recursive calls strictly smaller than input of function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52500" y="254000"/>
            <a:ext cx="4940300" cy="1498600"/>
          </a:xfrm>
        </p:spPr>
        <p:txBody>
          <a:bodyPr/>
          <a:lstStyle/>
          <a:p>
            <a:r>
              <a:rPr lang="en-US" dirty="0" err="1" smtClean="0"/>
              <a:t>Mergesort</a:t>
            </a:r>
            <a:endParaRPr lang="en-US" dirty="0"/>
          </a:p>
        </p:txBody>
      </p:sp>
      <p:sp>
        <p:nvSpPr>
          <p:cNvPr id="6" name="Rectangle 5"/>
          <p:cNvSpPr>
            <a:spLocks/>
          </p:cNvSpPr>
          <p:nvPr/>
        </p:nvSpPr>
        <p:spPr bwMode="auto">
          <a:xfrm>
            <a:off x="2882901" y="3352800"/>
            <a:ext cx="7238999" cy="4431983"/>
          </a:xfrm>
          <a:prstGeom prst="rect">
            <a:avLst/>
          </a:prstGeom>
          <a:noFill/>
          <a:ln w="12700">
            <a:solidFill>
              <a:schemeClr val="tx2"/>
            </a:solidFill>
            <a:miter lim="400000"/>
            <a:headEnd/>
            <a:tailEnd/>
          </a:ln>
        </p:spPr>
        <p:txBody>
          <a:bodyPr wrap="square" tIns="91440" bIns="91440" anchor="ctr">
            <a:spAutoFit/>
          </a:bodyPr>
          <a:lstStyle/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void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b="0" dirty="0" err="1" smtClean="0">
                <a:solidFill>
                  <a:srgbClr val="5E34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mergesort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(</a:t>
            </a:r>
            <a:r>
              <a:rPr lang="en-US" b="0" dirty="0" err="1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b="0" dirty="0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[]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b="0" dirty="0" smtClean="0">
                <a:solidFill>
                  <a:srgbClr val="CD7923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A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, </a:t>
            </a:r>
            <a:r>
              <a:rPr lang="en-US" b="0" dirty="0" err="1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b="0" dirty="0" smtClean="0">
                <a:solidFill>
                  <a:srgbClr val="CD7923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lo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, </a:t>
            </a:r>
            <a:r>
              <a:rPr lang="en-US" b="0" dirty="0" err="1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b="0" dirty="0" smtClean="0">
                <a:solidFill>
                  <a:srgbClr val="CD7923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hi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)</a:t>
            </a:r>
          </a:p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//@requires 0 &lt;= lo &amp;&amp; lo &lt;= hi  &amp;&amp; hi &lt;= \length(A);</a:t>
            </a:r>
          </a:p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//@ensures </a:t>
            </a:r>
            <a:r>
              <a:rPr lang="en-US" b="0" dirty="0" err="1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is_sorted</a:t>
            </a:r>
            <a:r>
              <a:rPr lang="en-US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(A, lo, hi);</a:t>
            </a:r>
            <a:endParaRPr lang="en-US" b="0" dirty="0" smtClean="0">
              <a:solidFill>
                <a:schemeClr val="tx1"/>
              </a:solidFill>
              <a:latin typeface="Menlo" charset="0"/>
              <a:ea typeface="Menlo" charset="0"/>
              <a:cs typeface="Menlo" charset="0"/>
              <a:sym typeface="Menlo" charset="0"/>
            </a:endParaRPr>
          </a:p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solidFill>
                  <a:schemeClr val="tx1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{</a:t>
            </a:r>
          </a:p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solidFill>
                  <a:schemeClr val="tx1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  </a:t>
            </a:r>
            <a:r>
              <a:rPr lang="en-US" b="0" dirty="0" smtClean="0">
                <a:solidFill>
                  <a:srgbClr val="D03B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if 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(hi - lo &lt;= 1) </a:t>
            </a:r>
            <a:r>
              <a:rPr lang="en-US" b="0" dirty="0" smtClean="0">
                <a:solidFill>
                  <a:srgbClr val="D03B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return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;</a:t>
            </a:r>
          </a:p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endParaRPr lang="en-US" sz="1200" b="0" dirty="0" smtClean="0">
              <a:solidFill>
                <a:schemeClr val="tx1"/>
              </a:solidFill>
              <a:latin typeface="Menlo" charset="0"/>
              <a:ea typeface="Menlo" charset="0"/>
              <a:cs typeface="Menlo" charset="0"/>
              <a:sym typeface="Menlo" charset="0"/>
            </a:endParaRPr>
          </a:p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 </a:t>
            </a:r>
            <a:r>
              <a:rPr lang="en-US" b="0" dirty="0" err="1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b="0" dirty="0" smtClean="0">
                <a:solidFill>
                  <a:srgbClr val="CD7923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mid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= lo + (hi - lo) / 2;</a:t>
            </a:r>
          </a:p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  //@assert  lo &lt; mid &amp;&amp; mid &lt; hi;</a:t>
            </a:r>
          </a:p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 </a:t>
            </a:r>
            <a:r>
              <a:rPr lang="en-US" b="0" dirty="0" err="1" smtClean="0">
                <a:latin typeface="Menlo" charset="0"/>
                <a:ea typeface="Menlo" charset="0"/>
                <a:cs typeface="Menlo" charset="0"/>
                <a:sym typeface="Menlo" charset="0"/>
              </a:rPr>
              <a:t>mergesort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(A, lo, mid);</a:t>
            </a:r>
            <a:endParaRPr lang="en-US" b="0" dirty="0" smtClean="0">
              <a:solidFill>
                <a:srgbClr val="C00000"/>
              </a:solidFill>
              <a:latin typeface="Menlo" charset="0"/>
              <a:ea typeface="Menlo" charset="0"/>
              <a:cs typeface="Menlo" charset="0"/>
              <a:sym typeface="Menlo" charset="0"/>
            </a:endParaRPr>
          </a:p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 </a:t>
            </a:r>
            <a:r>
              <a:rPr lang="en-US" b="0" dirty="0" err="1" smtClean="0">
                <a:latin typeface="Menlo" charset="0"/>
                <a:ea typeface="Menlo" charset="0"/>
                <a:cs typeface="Menlo" charset="0"/>
                <a:sym typeface="Menlo" charset="0"/>
              </a:rPr>
              <a:t>mergesort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(A, mid, hi);</a:t>
            </a:r>
            <a:endParaRPr lang="en-US" b="0" dirty="0" smtClean="0">
              <a:solidFill>
                <a:srgbClr val="C00000"/>
              </a:solidFill>
              <a:latin typeface="Menlo" charset="0"/>
              <a:ea typeface="Menlo" charset="0"/>
              <a:cs typeface="Menlo" charset="0"/>
              <a:sym typeface="Menlo" charset="0"/>
            </a:endParaRPr>
          </a:p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solidFill>
                  <a:schemeClr val="tx1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  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merge(A, lo, mid, hi);</a:t>
            </a:r>
          </a:p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solidFill>
                  <a:schemeClr val="tx1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}</a:t>
            </a:r>
            <a:endParaRPr lang="en-US" dirty="0" smtClean="0">
              <a:solidFill>
                <a:schemeClr val="tx1"/>
              </a:solidFill>
              <a:latin typeface="Menlo" charset="0"/>
              <a:ea typeface="Menlo" charset="0"/>
              <a:cs typeface="Menlo" charset="0"/>
              <a:sym typeface="Menlo" charset="0"/>
            </a:endParaRPr>
          </a:p>
        </p:txBody>
      </p:sp>
      <p:sp>
        <p:nvSpPr>
          <p:cNvPr id="10" name="Rectangle 9"/>
          <p:cNvSpPr>
            <a:spLocks/>
          </p:cNvSpPr>
          <p:nvPr/>
        </p:nvSpPr>
        <p:spPr bwMode="auto">
          <a:xfrm>
            <a:off x="5905772" y="100548"/>
            <a:ext cx="6997428" cy="1292662"/>
          </a:xfrm>
          <a:prstGeom prst="rect">
            <a:avLst/>
          </a:prstGeom>
          <a:noFill/>
          <a:ln w="12700">
            <a:solidFill>
              <a:schemeClr val="tx2"/>
            </a:solidFill>
            <a:miter lim="400000"/>
            <a:headEnd/>
            <a:tailEnd/>
          </a:ln>
        </p:spPr>
        <p:txBody>
          <a:bodyPr wrap="none" tIns="91440" bIns="91440" anchor="ctr">
            <a:spAutoFit/>
          </a:bodyPr>
          <a:lstStyle/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void</a:t>
            </a:r>
            <a:r>
              <a:rPr lang="en-US" sz="1800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sz="1800" b="0" dirty="0" smtClean="0">
                <a:solidFill>
                  <a:srgbClr val="5E34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merge</a:t>
            </a:r>
            <a:r>
              <a:rPr lang="en-US" sz="1800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(</a:t>
            </a:r>
            <a:r>
              <a:rPr lang="en-US" sz="1800" b="0" dirty="0" err="1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sz="1800" b="0" dirty="0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[]</a:t>
            </a:r>
            <a:r>
              <a:rPr lang="en-US" sz="1800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sz="1800" b="0" dirty="0" smtClean="0">
                <a:solidFill>
                  <a:srgbClr val="CD7923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A</a:t>
            </a:r>
            <a:r>
              <a:rPr lang="en-US" sz="1800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, </a:t>
            </a:r>
            <a:r>
              <a:rPr lang="en-US" sz="1800" b="0" dirty="0" err="1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sz="1800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sz="1800" b="0" dirty="0" smtClean="0">
                <a:solidFill>
                  <a:srgbClr val="CD7923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lo</a:t>
            </a:r>
            <a:r>
              <a:rPr lang="en-US" sz="1800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, </a:t>
            </a:r>
            <a:r>
              <a:rPr lang="en-US" sz="1800" b="0" dirty="0" err="1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sz="1800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sz="1800" b="0" dirty="0" smtClean="0">
                <a:solidFill>
                  <a:srgbClr val="CD7923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mid</a:t>
            </a:r>
            <a:r>
              <a:rPr lang="en-US" sz="1800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, </a:t>
            </a:r>
            <a:r>
              <a:rPr lang="en-US" sz="1800" b="0" dirty="0" err="1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sz="1800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sz="1800" b="0" dirty="0" smtClean="0">
                <a:solidFill>
                  <a:srgbClr val="CD7923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hi</a:t>
            </a:r>
            <a:r>
              <a:rPr lang="en-US" sz="1800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)</a:t>
            </a:r>
          </a:p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//@requires 0 &lt;= lo &amp;&amp; lo &lt;= mid &amp;&amp; mid &lt;= hi  &amp;&amp; hi &lt;= \length(A);</a:t>
            </a:r>
          </a:p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//@requires </a:t>
            </a:r>
            <a:r>
              <a:rPr lang="en-US" sz="1800" b="0" dirty="0" err="1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is_sorted</a:t>
            </a:r>
            <a:r>
              <a:rPr lang="en-US" sz="1800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(A, lo, mid) &amp;&amp; </a:t>
            </a:r>
            <a:r>
              <a:rPr lang="en-US" sz="1800" b="0" dirty="0" err="1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is_sorted</a:t>
            </a:r>
            <a:r>
              <a:rPr lang="en-US" sz="1800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(A, mid, hi);</a:t>
            </a:r>
          </a:p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//@ensures </a:t>
            </a:r>
            <a:r>
              <a:rPr lang="en-US" sz="1800" b="0" dirty="0" err="1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is_sorted</a:t>
            </a:r>
            <a:r>
              <a:rPr lang="en-US" sz="1800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(A, lo, hi);</a:t>
            </a:r>
            <a:endParaRPr lang="en-US" sz="1800" b="0" dirty="0" smtClean="0">
              <a:solidFill>
                <a:schemeClr val="tx1"/>
              </a:solidFill>
              <a:latin typeface="Menlo" charset="0"/>
              <a:ea typeface="Menlo" charset="0"/>
              <a:cs typeface="Menlo" charset="0"/>
              <a:sym typeface="Menlo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2500" y="254000"/>
            <a:ext cx="8140700" cy="1498600"/>
          </a:xfrm>
        </p:spPr>
        <p:txBody>
          <a:bodyPr/>
          <a:lstStyle/>
          <a:p>
            <a:r>
              <a:rPr lang="en-US" dirty="0" smtClean="0"/>
              <a:t>Complexity of </a:t>
            </a:r>
            <a:r>
              <a:rPr lang="en-US" dirty="0" err="1" smtClean="0"/>
              <a:t>Mergesort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Work done by each call to </a:t>
            </a:r>
            <a:r>
              <a:rPr lang="en-US" dirty="0" err="1" smtClean="0"/>
              <a:t>mergesort</a:t>
            </a:r>
            <a:endParaRPr lang="en-US" dirty="0" smtClean="0"/>
          </a:p>
          <a:p>
            <a:pPr lvl="2">
              <a:buNone/>
            </a:pPr>
            <a:r>
              <a:rPr lang="en-US" dirty="0" smtClean="0"/>
              <a:t>	</a:t>
            </a:r>
            <a:r>
              <a:rPr lang="en-US" i="1" dirty="0" smtClean="0"/>
              <a:t>(ignoring recursive calls)</a:t>
            </a:r>
          </a:p>
          <a:p>
            <a:pPr lvl="1"/>
            <a:r>
              <a:rPr lang="en-US" dirty="0" smtClean="0"/>
              <a:t>Base case: constant cost -- O(1)</a:t>
            </a:r>
          </a:p>
          <a:p>
            <a:pPr lvl="1"/>
            <a:r>
              <a:rPr lang="en-US" dirty="0" smtClean="0"/>
              <a:t>Recursive case:</a:t>
            </a:r>
          </a:p>
          <a:p>
            <a:pPr lvl="2"/>
            <a:r>
              <a:rPr lang="en-US" dirty="0" smtClean="0"/>
              <a:t>compute mid: constant cost -- O(1)</a:t>
            </a:r>
          </a:p>
          <a:p>
            <a:pPr lvl="2"/>
            <a:r>
              <a:rPr lang="en-US" dirty="0" smtClean="0"/>
              <a:t>recursive calls: (ignored)</a:t>
            </a:r>
          </a:p>
          <a:p>
            <a:pPr lvl="2"/>
            <a:r>
              <a:rPr lang="en-US" dirty="0" smtClean="0"/>
              <a:t>merge: linear cost -- O(n)</a:t>
            </a:r>
          </a:p>
          <a:p>
            <a:endParaRPr lang="en-US" dirty="0" smtClean="0"/>
          </a:p>
          <a:p>
            <a:r>
              <a:rPr lang="en-US" dirty="0" smtClean="0"/>
              <a:t>We need to add this for all recursive calls</a:t>
            </a:r>
          </a:p>
          <a:p>
            <a:pPr lvl="1"/>
            <a:r>
              <a:rPr lang="en-US" dirty="0" smtClean="0"/>
              <a:t>It is convenient to organize them by </a:t>
            </a:r>
            <a:r>
              <a:rPr lang="en-US" i="1" dirty="0" smtClean="0"/>
              <a:t>level</a:t>
            </a:r>
            <a:endParaRPr lang="en-US" i="1" dirty="0"/>
          </a:p>
        </p:txBody>
      </p:sp>
      <p:sp>
        <p:nvSpPr>
          <p:cNvPr id="4" name="Rectangle 3"/>
          <p:cNvSpPr>
            <a:spLocks/>
          </p:cNvSpPr>
          <p:nvPr/>
        </p:nvSpPr>
        <p:spPr bwMode="auto">
          <a:xfrm>
            <a:off x="9089335" y="76200"/>
            <a:ext cx="3813865" cy="2123658"/>
          </a:xfrm>
          <a:prstGeom prst="rect">
            <a:avLst/>
          </a:prstGeom>
          <a:noFill/>
          <a:ln w="12700">
            <a:solidFill>
              <a:schemeClr val="tx2"/>
            </a:solidFill>
            <a:miter lim="400000"/>
            <a:headEnd/>
            <a:tailEnd/>
          </a:ln>
        </p:spPr>
        <p:txBody>
          <a:bodyPr wrap="none" tIns="91440" bIns="91440" anchor="ctr">
            <a:spAutoFit/>
          </a:bodyPr>
          <a:lstStyle/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void</a:t>
            </a:r>
            <a:r>
              <a:rPr lang="en-US" sz="1800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sz="1800" b="0" dirty="0" err="1" smtClean="0">
                <a:solidFill>
                  <a:srgbClr val="5E34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mergesort</a:t>
            </a:r>
            <a:r>
              <a:rPr lang="en-US" sz="1800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(</a:t>
            </a:r>
            <a:r>
              <a:rPr lang="en-US" sz="1800" b="0" dirty="0" err="1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sz="1800" b="0" dirty="0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[]</a:t>
            </a:r>
            <a:r>
              <a:rPr lang="en-US" sz="1800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sz="1800" b="0" dirty="0" smtClean="0">
                <a:solidFill>
                  <a:srgbClr val="CD7923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A</a:t>
            </a:r>
            <a:r>
              <a:rPr lang="en-US" sz="1800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, </a:t>
            </a:r>
            <a:r>
              <a:rPr lang="en-US" sz="1800" b="0" dirty="0" err="1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sz="1800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sz="1800" b="0" dirty="0" smtClean="0">
                <a:solidFill>
                  <a:srgbClr val="CD7923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lo</a:t>
            </a:r>
            <a:r>
              <a:rPr lang="en-US" sz="1800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, </a:t>
            </a:r>
            <a:r>
              <a:rPr lang="en-US" sz="1800" b="0" dirty="0" err="1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sz="1800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sz="1800" b="0" dirty="0" smtClean="0">
                <a:solidFill>
                  <a:srgbClr val="CD7923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hi</a:t>
            </a:r>
            <a:r>
              <a:rPr lang="en-US" sz="1800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) </a:t>
            </a:r>
            <a:r>
              <a:rPr lang="en-US" sz="1800" b="0" dirty="0" smtClean="0">
                <a:solidFill>
                  <a:schemeClr val="tx1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{</a:t>
            </a:r>
          </a:p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solidFill>
                  <a:schemeClr val="tx1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  </a:t>
            </a:r>
            <a:r>
              <a:rPr lang="en-US" sz="1800" b="0" dirty="0" smtClean="0">
                <a:solidFill>
                  <a:srgbClr val="D03B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if </a:t>
            </a:r>
            <a:r>
              <a:rPr lang="en-US" sz="1800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(hi - lo &lt;= 1) </a:t>
            </a:r>
            <a:r>
              <a:rPr lang="en-US" sz="1800" b="0" dirty="0" smtClean="0">
                <a:solidFill>
                  <a:srgbClr val="D03B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return</a:t>
            </a:r>
            <a:r>
              <a:rPr lang="en-US" sz="1800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;       </a:t>
            </a:r>
            <a:r>
              <a:rPr lang="en-US" sz="1800" b="0" dirty="0" smtClean="0">
                <a:solidFill>
                  <a:schemeClr val="accent5">
                    <a:lumMod val="75000"/>
                  </a:schemeClr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// O(1)</a:t>
            </a:r>
          </a:p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 </a:t>
            </a:r>
            <a:r>
              <a:rPr lang="en-US" sz="1800" b="0" dirty="0" err="1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sz="1800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sz="1800" b="0" dirty="0" smtClean="0">
                <a:solidFill>
                  <a:srgbClr val="CD7923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mid</a:t>
            </a:r>
            <a:r>
              <a:rPr lang="en-US" sz="1800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= lo + (hi - lo) / 2;</a:t>
            </a:r>
            <a:r>
              <a:rPr lang="en-US" sz="1600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 </a:t>
            </a:r>
            <a:r>
              <a:rPr lang="en-US" sz="1800" b="0" dirty="0" smtClean="0">
                <a:solidFill>
                  <a:schemeClr val="accent5">
                    <a:lumMod val="75000"/>
                  </a:schemeClr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// O(1)</a:t>
            </a:r>
          </a:p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 </a:t>
            </a:r>
            <a:r>
              <a:rPr lang="en-US" sz="1800" b="0" dirty="0" err="1" smtClean="0">
                <a:latin typeface="Menlo" charset="0"/>
                <a:ea typeface="Menlo" charset="0"/>
                <a:cs typeface="Menlo" charset="0"/>
                <a:sym typeface="Menlo" charset="0"/>
              </a:rPr>
              <a:t>mergesort</a:t>
            </a:r>
            <a:r>
              <a:rPr lang="en-US" sz="1800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(A, lo, mid);</a:t>
            </a:r>
            <a:endParaRPr lang="en-US" sz="1800" b="0" dirty="0" smtClean="0">
              <a:solidFill>
                <a:srgbClr val="C00000"/>
              </a:solidFill>
              <a:latin typeface="Menlo" charset="0"/>
              <a:ea typeface="Menlo" charset="0"/>
              <a:cs typeface="Menlo" charset="0"/>
              <a:sym typeface="Menlo" charset="0"/>
            </a:endParaRPr>
          </a:p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 </a:t>
            </a:r>
            <a:r>
              <a:rPr lang="en-US" sz="1800" b="0" dirty="0" err="1" smtClean="0">
                <a:latin typeface="Menlo" charset="0"/>
                <a:ea typeface="Menlo" charset="0"/>
                <a:cs typeface="Menlo" charset="0"/>
                <a:sym typeface="Menlo" charset="0"/>
              </a:rPr>
              <a:t>mergesort</a:t>
            </a:r>
            <a:r>
              <a:rPr lang="en-US" sz="1800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(A, mid, hi);</a:t>
            </a:r>
            <a:endParaRPr lang="en-US" sz="1800" b="0" dirty="0" smtClean="0">
              <a:solidFill>
                <a:srgbClr val="C00000"/>
              </a:solidFill>
              <a:latin typeface="Menlo" charset="0"/>
              <a:ea typeface="Menlo" charset="0"/>
              <a:cs typeface="Menlo" charset="0"/>
              <a:sym typeface="Menlo" charset="0"/>
            </a:endParaRPr>
          </a:p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solidFill>
                  <a:schemeClr val="tx1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  </a:t>
            </a:r>
            <a:r>
              <a:rPr lang="en-US" sz="1800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merge(A, lo, mid, hi);       </a:t>
            </a:r>
            <a:r>
              <a:rPr lang="en-US" sz="1800" b="0" dirty="0" smtClean="0">
                <a:solidFill>
                  <a:schemeClr val="accent5">
                    <a:lumMod val="75000"/>
                  </a:schemeClr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// O(n)</a:t>
            </a:r>
          </a:p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solidFill>
                  <a:schemeClr val="tx1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}</a:t>
            </a:r>
            <a:endParaRPr lang="en-US" sz="1800" dirty="0" smtClean="0">
              <a:solidFill>
                <a:schemeClr val="tx1"/>
              </a:solidFill>
              <a:latin typeface="Menlo" charset="0"/>
              <a:ea typeface="Menlo" charset="0"/>
              <a:cs typeface="Menlo" charset="0"/>
              <a:sym typeface="Menlo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2500" y="254000"/>
            <a:ext cx="8140700" cy="1498600"/>
          </a:xfrm>
        </p:spPr>
        <p:txBody>
          <a:bodyPr/>
          <a:lstStyle/>
          <a:p>
            <a:r>
              <a:rPr lang="en-US" dirty="0" smtClean="0"/>
              <a:t>Complexity of </a:t>
            </a:r>
            <a:r>
              <a:rPr lang="en-US" dirty="0" err="1" smtClean="0"/>
              <a:t>Mergesort</a:t>
            </a:r>
            <a:endParaRPr lang="en-US" dirty="0"/>
          </a:p>
        </p:txBody>
      </p:sp>
      <p:sp>
        <p:nvSpPr>
          <p:cNvPr id="4" name="Rectangle 3"/>
          <p:cNvSpPr>
            <a:spLocks/>
          </p:cNvSpPr>
          <p:nvPr/>
        </p:nvSpPr>
        <p:spPr bwMode="auto">
          <a:xfrm>
            <a:off x="9089335" y="76200"/>
            <a:ext cx="3813865" cy="2123658"/>
          </a:xfrm>
          <a:prstGeom prst="rect">
            <a:avLst/>
          </a:prstGeom>
          <a:noFill/>
          <a:ln w="12700">
            <a:solidFill>
              <a:schemeClr val="tx2"/>
            </a:solidFill>
            <a:miter lim="400000"/>
            <a:headEnd/>
            <a:tailEnd/>
          </a:ln>
        </p:spPr>
        <p:txBody>
          <a:bodyPr wrap="none" tIns="91440" bIns="91440" anchor="ctr">
            <a:spAutoFit/>
          </a:bodyPr>
          <a:lstStyle/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void</a:t>
            </a:r>
            <a:r>
              <a:rPr lang="en-US" sz="1800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sz="1800" b="0" dirty="0" err="1" smtClean="0">
                <a:solidFill>
                  <a:srgbClr val="5E34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mergesort</a:t>
            </a:r>
            <a:r>
              <a:rPr lang="en-US" sz="1800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(</a:t>
            </a:r>
            <a:r>
              <a:rPr lang="en-US" sz="1800" b="0" dirty="0" err="1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sz="1800" b="0" dirty="0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[]</a:t>
            </a:r>
            <a:r>
              <a:rPr lang="en-US" sz="1800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sz="1800" b="0" dirty="0" smtClean="0">
                <a:solidFill>
                  <a:srgbClr val="CD7923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A</a:t>
            </a:r>
            <a:r>
              <a:rPr lang="en-US" sz="1800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, </a:t>
            </a:r>
            <a:r>
              <a:rPr lang="en-US" sz="1800" b="0" dirty="0" err="1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sz="1800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sz="1800" b="0" dirty="0" smtClean="0">
                <a:solidFill>
                  <a:srgbClr val="CD7923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lo</a:t>
            </a:r>
            <a:r>
              <a:rPr lang="en-US" sz="1800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, </a:t>
            </a:r>
            <a:r>
              <a:rPr lang="en-US" sz="1800" b="0" dirty="0" err="1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sz="1800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sz="1800" b="0" dirty="0" smtClean="0">
                <a:solidFill>
                  <a:srgbClr val="CD7923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hi</a:t>
            </a:r>
            <a:r>
              <a:rPr lang="en-US" sz="1800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) </a:t>
            </a:r>
            <a:r>
              <a:rPr lang="en-US" sz="1800" b="0" dirty="0" smtClean="0">
                <a:solidFill>
                  <a:schemeClr val="tx1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{</a:t>
            </a:r>
          </a:p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solidFill>
                  <a:schemeClr val="tx1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  </a:t>
            </a:r>
            <a:r>
              <a:rPr lang="en-US" sz="1800" b="0" dirty="0" smtClean="0">
                <a:solidFill>
                  <a:srgbClr val="D03B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if </a:t>
            </a:r>
            <a:r>
              <a:rPr lang="en-US" sz="1800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(hi - lo &lt;= 1) </a:t>
            </a:r>
            <a:r>
              <a:rPr lang="en-US" sz="1800" b="0" dirty="0" smtClean="0">
                <a:solidFill>
                  <a:srgbClr val="D03B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return</a:t>
            </a:r>
            <a:r>
              <a:rPr lang="en-US" sz="1800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;       </a:t>
            </a:r>
            <a:r>
              <a:rPr lang="en-US" sz="1800" b="0" dirty="0" smtClean="0">
                <a:solidFill>
                  <a:schemeClr val="accent5">
                    <a:lumMod val="75000"/>
                  </a:schemeClr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// O(1)</a:t>
            </a:r>
          </a:p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 </a:t>
            </a:r>
            <a:r>
              <a:rPr lang="en-US" sz="1800" b="0" dirty="0" err="1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sz="1800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sz="1800" b="0" dirty="0" smtClean="0">
                <a:solidFill>
                  <a:srgbClr val="CD7923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mid</a:t>
            </a:r>
            <a:r>
              <a:rPr lang="en-US" sz="1800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= lo + (hi - lo) / 2;</a:t>
            </a:r>
            <a:r>
              <a:rPr lang="en-US" sz="1600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 </a:t>
            </a:r>
            <a:r>
              <a:rPr lang="en-US" sz="1800" b="0" dirty="0" smtClean="0">
                <a:solidFill>
                  <a:schemeClr val="accent5">
                    <a:lumMod val="75000"/>
                  </a:schemeClr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// O(1)</a:t>
            </a:r>
          </a:p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 </a:t>
            </a:r>
            <a:r>
              <a:rPr lang="en-US" sz="1800" b="0" dirty="0" err="1" smtClean="0">
                <a:latin typeface="Menlo" charset="0"/>
                <a:ea typeface="Menlo" charset="0"/>
                <a:cs typeface="Menlo" charset="0"/>
                <a:sym typeface="Menlo" charset="0"/>
              </a:rPr>
              <a:t>mergesort</a:t>
            </a:r>
            <a:r>
              <a:rPr lang="en-US" sz="1800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(A, lo, mid);</a:t>
            </a:r>
            <a:endParaRPr lang="en-US" sz="1800" b="0" dirty="0" smtClean="0">
              <a:solidFill>
                <a:srgbClr val="C00000"/>
              </a:solidFill>
              <a:latin typeface="Menlo" charset="0"/>
              <a:ea typeface="Menlo" charset="0"/>
              <a:cs typeface="Menlo" charset="0"/>
              <a:sym typeface="Menlo" charset="0"/>
            </a:endParaRPr>
          </a:p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 </a:t>
            </a:r>
            <a:r>
              <a:rPr lang="en-US" sz="1800" b="0" dirty="0" err="1" smtClean="0">
                <a:latin typeface="Menlo" charset="0"/>
                <a:ea typeface="Menlo" charset="0"/>
                <a:cs typeface="Menlo" charset="0"/>
                <a:sym typeface="Menlo" charset="0"/>
              </a:rPr>
              <a:t>mergesort</a:t>
            </a:r>
            <a:r>
              <a:rPr lang="en-US" sz="1800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(A, mid, hi);</a:t>
            </a:r>
            <a:endParaRPr lang="en-US" sz="1800" b="0" dirty="0" smtClean="0">
              <a:solidFill>
                <a:srgbClr val="C00000"/>
              </a:solidFill>
              <a:latin typeface="Menlo" charset="0"/>
              <a:ea typeface="Menlo" charset="0"/>
              <a:cs typeface="Menlo" charset="0"/>
              <a:sym typeface="Menlo" charset="0"/>
            </a:endParaRPr>
          </a:p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solidFill>
                  <a:schemeClr val="tx1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  </a:t>
            </a:r>
            <a:r>
              <a:rPr lang="en-US" sz="1800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merge(A, lo, mid, hi);       </a:t>
            </a:r>
            <a:r>
              <a:rPr lang="en-US" sz="1800" b="0" dirty="0" smtClean="0">
                <a:solidFill>
                  <a:schemeClr val="accent5">
                    <a:lumMod val="75000"/>
                  </a:schemeClr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// O(n)</a:t>
            </a:r>
          </a:p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solidFill>
                  <a:schemeClr val="tx1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}</a:t>
            </a:r>
            <a:endParaRPr lang="en-US" sz="1800" dirty="0" smtClean="0">
              <a:solidFill>
                <a:schemeClr val="tx1"/>
              </a:solidFill>
              <a:latin typeface="Menlo" charset="0"/>
              <a:ea typeface="Menlo" charset="0"/>
              <a:cs typeface="Menlo" charset="0"/>
              <a:sym typeface="Menlo" charset="0"/>
            </a:endParaRP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2755785" y="3657600"/>
          <a:ext cx="6172208" cy="33375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85763"/>
                <a:gridCol w="385763"/>
                <a:gridCol w="385763"/>
                <a:gridCol w="385763"/>
                <a:gridCol w="385763"/>
                <a:gridCol w="385763"/>
                <a:gridCol w="385763"/>
                <a:gridCol w="385763"/>
                <a:gridCol w="385763"/>
                <a:gridCol w="385763"/>
                <a:gridCol w="385763"/>
                <a:gridCol w="385763"/>
                <a:gridCol w="385763"/>
                <a:gridCol w="385763"/>
                <a:gridCol w="385763"/>
                <a:gridCol w="385763"/>
              </a:tblGrid>
              <a:tr h="370840">
                <a:tc gridSpan="16"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n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70840">
                <a:tc gridSpan="8"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n/2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8"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n/2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70840">
                <a:tc gridSpan="4"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n/4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n/4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n/4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n/4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…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kumimoji="0" lang="en-US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</a:rPr>
                        <a:t>…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…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…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…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…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…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…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1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1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1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1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1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1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1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1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1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1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1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1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1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1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1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1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49043" y="3431976"/>
            <a:ext cx="7537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solidFill>
                  <a:schemeClr val="tx1"/>
                </a:solidFill>
              </a:rPr>
              <a:t>level</a:t>
            </a:r>
          </a:p>
        </p:txBody>
      </p:sp>
      <p:sp>
        <p:nvSpPr>
          <p:cNvPr id="8" name="Curved Right Arrow 7"/>
          <p:cNvSpPr/>
          <p:nvPr/>
        </p:nvSpPr>
        <p:spPr bwMode="auto">
          <a:xfrm>
            <a:off x="2489089" y="3962400"/>
            <a:ext cx="152400" cy="533400"/>
          </a:xfrm>
          <a:prstGeom prst="curvedRightArrow">
            <a:avLst/>
          </a:prstGeom>
          <a:solidFill>
            <a:schemeClr val="accent1">
              <a:lumMod val="40000"/>
              <a:lumOff val="60000"/>
            </a:schemeClr>
          </a:solidFill>
          <a:ln w="127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355175" y="3124200"/>
            <a:ext cx="133722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solidFill>
                  <a:schemeClr val="tx1"/>
                </a:solidFill>
              </a:rPr>
              <a:t>calls to</a:t>
            </a:r>
            <a:br>
              <a:rPr lang="en-US" sz="2000" dirty="0" smtClean="0">
                <a:solidFill>
                  <a:schemeClr val="tx1"/>
                </a:solidFill>
              </a:rPr>
            </a:br>
            <a:r>
              <a:rPr lang="en-US" sz="2000" b="0" dirty="0" err="1" smtClean="0">
                <a:solidFill>
                  <a:srgbClr val="7030A0"/>
                </a:solidFill>
              </a:rPr>
              <a:t>mergesort</a:t>
            </a:r>
            <a:endParaRPr lang="en-US" sz="2000" b="0" dirty="0" smtClean="0">
              <a:solidFill>
                <a:srgbClr val="7030A0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017000" y="3124200"/>
            <a:ext cx="106631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solidFill>
                  <a:schemeClr val="tx1"/>
                </a:solidFill>
              </a:rPr>
              <a:t>calls to</a:t>
            </a:r>
            <a:br>
              <a:rPr lang="en-US" sz="2000" dirty="0" smtClean="0">
                <a:solidFill>
                  <a:schemeClr val="tx1"/>
                </a:solidFill>
              </a:rPr>
            </a:br>
            <a:r>
              <a:rPr lang="en-US" sz="2000" b="0" dirty="0" smtClean="0">
                <a:solidFill>
                  <a:srgbClr val="7030A0"/>
                </a:solidFill>
              </a:rPr>
              <a:t>merge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244239" y="3124200"/>
            <a:ext cx="126669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solidFill>
                  <a:schemeClr val="tx1"/>
                </a:solidFill>
              </a:rPr>
              <a:t>cost of</a:t>
            </a:r>
            <a:br>
              <a:rPr lang="en-US" sz="2000" dirty="0" smtClean="0">
                <a:solidFill>
                  <a:schemeClr val="tx1"/>
                </a:solidFill>
              </a:rPr>
            </a:br>
            <a:r>
              <a:rPr lang="en-US" sz="2000" dirty="0" smtClean="0">
                <a:solidFill>
                  <a:schemeClr val="tx1"/>
                </a:solidFill>
              </a:rPr>
              <a:t>each call</a:t>
            </a:r>
          </a:p>
        </p:txBody>
      </p:sp>
      <p:sp>
        <p:nvSpPr>
          <p:cNvPr id="12" name="Curved Right Arrow 11"/>
          <p:cNvSpPr/>
          <p:nvPr/>
        </p:nvSpPr>
        <p:spPr bwMode="auto">
          <a:xfrm flipH="1" flipV="1">
            <a:off x="9042289" y="3947160"/>
            <a:ext cx="152400" cy="533400"/>
          </a:xfrm>
          <a:prstGeom prst="curvedRightArrow">
            <a:avLst/>
          </a:prstGeom>
          <a:solidFill>
            <a:schemeClr val="accent1">
              <a:lumMod val="40000"/>
              <a:lumOff val="60000"/>
            </a:schemeClr>
          </a:solidFill>
          <a:ln w="127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11645658" y="3124200"/>
            <a:ext cx="127951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solidFill>
                  <a:schemeClr val="tx1"/>
                </a:solidFill>
              </a:rPr>
              <a:t>cost at</a:t>
            </a:r>
            <a:br>
              <a:rPr lang="en-US" sz="2000" dirty="0" smtClean="0">
                <a:solidFill>
                  <a:schemeClr val="tx1"/>
                </a:solidFill>
              </a:rPr>
            </a:br>
            <a:r>
              <a:rPr lang="en-US" sz="2000" dirty="0" smtClean="0">
                <a:solidFill>
                  <a:schemeClr val="tx1"/>
                </a:solidFill>
              </a:rPr>
              <a:t>this level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010" y="4018369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dirty="0" smtClean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863175" y="4018369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dirty="0" smtClean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98709" y="4018369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dirty="0" smtClean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725299" y="4018369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dirty="0" smtClean="0">
                <a:solidFill>
                  <a:schemeClr val="tx1"/>
                </a:solidFill>
              </a:rPr>
              <a:t>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118165" y="4018369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dirty="0" smtClean="0">
                <a:solidFill>
                  <a:schemeClr val="tx1"/>
                </a:solidFill>
              </a:rPr>
              <a:t>n</a:t>
            </a:r>
          </a:p>
        </p:txBody>
      </p:sp>
      <p:sp>
        <p:nvSpPr>
          <p:cNvPr id="19" name="Curved Right Arrow 18"/>
          <p:cNvSpPr/>
          <p:nvPr/>
        </p:nvSpPr>
        <p:spPr bwMode="auto">
          <a:xfrm>
            <a:off x="2504018" y="4724400"/>
            <a:ext cx="152400" cy="533400"/>
          </a:xfrm>
          <a:prstGeom prst="curvedRightArrow">
            <a:avLst/>
          </a:prstGeom>
          <a:solidFill>
            <a:schemeClr val="accent1">
              <a:lumMod val="40000"/>
              <a:lumOff val="60000"/>
            </a:schemeClr>
          </a:solidFill>
          <a:ln w="127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  <p:sp>
        <p:nvSpPr>
          <p:cNvPr id="20" name="Curved Right Arrow 19"/>
          <p:cNvSpPr/>
          <p:nvPr/>
        </p:nvSpPr>
        <p:spPr bwMode="auto">
          <a:xfrm flipH="1" flipV="1">
            <a:off x="9057218" y="4709160"/>
            <a:ext cx="152400" cy="533400"/>
          </a:xfrm>
          <a:prstGeom prst="curvedRightArrow">
            <a:avLst/>
          </a:prstGeom>
          <a:solidFill>
            <a:schemeClr val="accent1">
              <a:lumMod val="40000"/>
              <a:lumOff val="60000"/>
            </a:schemeClr>
          </a:solidFill>
          <a:ln w="127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681939" y="4780369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dirty="0" smtClean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878104" y="4780369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dirty="0" smtClean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13638" y="4780369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dirty="0" smtClean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740228" y="4780369"/>
            <a:ext cx="5052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dirty="0" smtClean="0">
                <a:solidFill>
                  <a:schemeClr val="tx1"/>
                </a:solidFill>
              </a:rPr>
              <a:t>n/2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2133094" y="4780369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dirty="0" smtClean="0">
                <a:solidFill>
                  <a:schemeClr val="tx1"/>
                </a:solidFill>
              </a:rPr>
              <a:t>n</a:t>
            </a:r>
          </a:p>
        </p:txBody>
      </p:sp>
      <p:sp>
        <p:nvSpPr>
          <p:cNvPr id="26" name="Curved Right Arrow 25"/>
          <p:cNvSpPr/>
          <p:nvPr/>
        </p:nvSpPr>
        <p:spPr bwMode="auto">
          <a:xfrm>
            <a:off x="2504018" y="5425440"/>
            <a:ext cx="152400" cy="533400"/>
          </a:xfrm>
          <a:prstGeom prst="curvedRightArrow">
            <a:avLst/>
          </a:prstGeom>
          <a:solidFill>
            <a:schemeClr val="accent1">
              <a:lumMod val="40000"/>
              <a:lumOff val="60000"/>
            </a:schemeClr>
          </a:solidFill>
          <a:ln w="127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  <p:sp>
        <p:nvSpPr>
          <p:cNvPr id="27" name="Curved Right Arrow 26"/>
          <p:cNvSpPr/>
          <p:nvPr/>
        </p:nvSpPr>
        <p:spPr bwMode="auto">
          <a:xfrm flipH="1" flipV="1">
            <a:off x="9057218" y="5410200"/>
            <a:ext cx="152400" cy="533400"/>
          </a:xfrm>
          <a:prstGeom prst="curvedRightArrow">
            <a:avLst/>
          </a:prstGeom>
          <a:solidFill>
            <a:schemeClr val="accent1">
              <a:lumMod val="40000"/>
              <a:lumOff val="60000"/>
            </a:schemeClr>
          </a:solidFill>
          <a:ln w="127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681939" y="5481409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dirty="0" smtClean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878104" y="5481409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dirty="0" smtClean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413638" y="5481409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dirty="0" smtClean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0740228" y="5481409"/>
            <a:ext cx="5052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dirty="0" smtClean="0">
                <a:solidFill>
                  <a:schemeClr val="tx1"/>
                </a:solidFill>
              </a:rPr>
              <a:t>n/4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133094" y="5481409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dirty="0" smtClean="0">
                <a:solidFill>
                  <a:schemeClr val="tx1"/>
                </a:solidFill>
              </a:rPr>
              <a:t>n</a:t>
            </a:r>
          </a:p>
        </p:txBody>
      </p:sp>
      <p:sp>
        <p:nvSpPr>
          <p:cNvPr id="33" name="Curved Right Arrow 32"/>
          <p:cNvSpPr/>
          <p:nvPr/>
        </p:nvSpPr>
        <p:spPr bwMode="auto">
          <a:xfrm>
            <a:off x="2504018" y="6248400"/>
            <a:ext cx="152400" cy="533400"/>
          </a:xfrm>
          <a:prstGeom prst="curvedRightArrow">
            <a:avLst/>
          </a:prstGeom>
          <a:solidFill>
            <a:schemeClr val="accent1">
              <a:lumMod val="40000"/>
              <a:lumOff val="60000"/>
            </a:schemeClr>
          </a:solidFill>
          <a:ln w="127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  <p:sp>
        <p:nvSpPr>
          <p:cNvPr id="34" name="Curved Right Arrow 33"/>
          <p:cNvSpPr/>
          <p:nvPr/>
        </p:nvSpPr>
        <p:spPr bwMode="auto">
          <a:xfrm flipH="1" flipV="1">
            <a:off x="9057218" y="6233160"/>
            <a:ext cx="152400" cy="533400"/>
          </a:xfrm>
          <a:prstGeom prst="curvedRightArrow">
            <a:avLst/>
          </a:prstGeom>
          <a:solidFill>
            <a:schemeClr val="accent1">
              <a:lumMod val="40000"/>
              <a:lumOff val="60000"/>
            </a:schemeClr>
          </a:solidFill>
          <a:ln w="127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490545" y="6304369"/>
            <a:ext cx="6848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dirty="0" smtClean="0">
                <a:solidFill>
                  <a:schemeClr val="tx1"/>
                </a:solidFill>
              </a:rPr>
              <a:t>log 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875466" y="6304369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dirty="0" smtClean="0">
                <a:solidFill>
                  <a:schemeClr val="tx1"/>
                </a:solidFill>
              </a:rPr>
              <a:t>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413638" y="6304369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dirty="0" smtClean="0">
                <a:solidFill>
                  <a:schemeClr val="tx1"/>
                </a:solidFill>
              </a:rPr>
              <a:t>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740228" y="6304369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dirty="0" smtClean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2133094" y="6304369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dirty="0" smtClean="0">
                <a:solidFill>
                  <a:schemeClr val="tx1"/>
                </a:solidFill>
              </a:rPr>
              <a:t>n</a:t>
            </a:r>
          </a:p>
        </p:txBody>
      </p:sp>
      <p:sp>
        <p:nvSpPr>
          <p:cNvPr id="40" name="Oval 39"/>
          <p:cNvSpPr>
            <a:spLocks noChangeArrowheads="1"/>
          </p:cNvSpPr>
          <p:nvPr/>
        </p:nvSpPr>
        <p:spPr bwMode="auto">
          <a:xfrm>
            <a:off x="351466" y="6269666"/>
            <a:ext cx="914400" cy="457200"/>
          </a:xfrm>
          <a:prstGeom prst="ellipse">
            <a:avLst/>
          </a:prstGeom>
          <a:noFill/>
          <a:ln w="38100" algn="ctr">
            <a:solidFill>
              <a:srgbClr val="FF0000"/>
            </a:solidFill>
            <a:miter lim="400000"/>
            <a:headEnd/>
            <a:tailEnd/>
          </a:ln>
        </p:spPr>
        <p:txBody>
          <a:bodyPr lIns="45720" rIns="45720" anchor="ctr"/>
          <a:lstStyle/>
          <a:p>
            <a:endParaRPr lang="en-US" sz="2000" b="0"/>
          </a:p>
        </p:txBody>
      </p:sp>
      <p:cxnSp>
        <p:nvCxnSpPr>
          <p:cNvPr id="42" name="Straight Connector 41"/>
          <p:cNvCxnSpPr/>
          <p:nvPr/>
        </p:nvCxnSpPr>
        <p:spPr bwMode="auto">
          <a:xfrm>
            <a:off x="11836400" y="7010400"/>
            <a:ext cx="914400" cy="158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sp>
        <p:nvSpPr>
          <p:cNvPr id="45" name="TextBox 44"/>
          <p:cNvSpPr txBox="1"/>
          <p:nvPr/>
        </p:nvSpPr>
        <p:spPr>
          <a:xfrm>
            <a:off x="10464800" y="7098268"/>
            <a:ext cx="22192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smtClean="0">
                <a:solidFill>
                  <a:schemeClr val="tx1"/>
                </a:solidFill>
              </a:rPr>
              <a:t>Total cost:   </a:t>
            </a:r>
            <a:r>
              <a:rPr lang="en-US" sz="1800" b="0" dirty="0" smtClean="0">
                <a:solidFill>
                  <a:schemeClr val="tx1"/>
                </a:solidFill>
              </a:rPr>
              <a:t>n log n</a:t>
            </a:r>
          </a:p>
        </p:txBody>
      </p:sp>
      <p:sp>
        <p:nvSpPr>
          <p:cNvPr id="46" name="Rectangular Callout 45"/>
          <p:cNvSpPr/>
          <p:nvPr/>
        </p:nvSpPr>
        <p:spPr bwMode="auto">
          <a:xfrm>
            <a:off x="9626600" y="8229600"/>
            <a:ext cx="1260923" cy="400110"/>
          </a:xfrm>
          <a:prstGeom prst="wedgeRectCallout">
            <a:avLst>
              <a:gd name="adj1" fmla="val -74749"/>
              <a:gd name="adj2" fmla="val -406647"/>
            </a:avLst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wrap="none" lIns="45720" rIns="45720" anchor="ctr">
            <a:spAutoFit/>
          </a:bodyPr>
          <a:lstStyle/>
          <a:p>
            <a:pPr>
              <a:defRPr/>
            </a:pPr>
            <a:r>
              <a:rPr lang="en-US" sz="2000" b="0" dirty="0" smtClean="0"/>
              <a:t>base case</a:t>
            </a:r>
            <a:endParaRPr lang="en-US" sz="2000" b="0" i="1" dirty="0"/>
          </a:p>
        </p:txBody>
      </p:sp>
      <p:sp>
        <p:nvSpPr>
          <p:cNvPr id="47" name="Rectangular Callout 46"/>
          <p:cNvSpPr/>
          <p:nvPr/>
        </p:nvSpPr>
        <p:spPr bwMode="auto">
          <a:xfrm>
            <a:off x="2510587" y="8077200"/>
            <a:ext cx="1799532" cy="400110"/>
          </a:xfrm>
          <a:prstGeom prst="wedgeRectCallout">
            <a:avLst>
              <a:gd name="adj1" fmla="val -71204"/>
              <a:gd name="adj2" fmla="val -409305"/>
            </a:avLst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wrap="none" lIns="45720" rIns="45720" anchor="ctr">
            <a:spAutoFit/>
          </a:bodyPr>
          <a:lstStyle/>
          <a:p>
            <a:pPr>
              <a:defRPr/>
            </a:pPr>
            <a:r>
              <a:rPr lang="en-US" sz="2000" b="0" dirty="0" smtClean="0"/>
              <a:t>(give or take 1)</a:t>
            </a:r>
            <a:endParaRPr lang="en-US" sz="2000" b="0" i="1" dirty="0"/>
          </a:p>
        </p:txBody>
      </p:sp>
      <p:sp>
        <p:nvSpPr>
          <p:cNvPr id="48" name="Rectangular Callout 47"/>
          <p:cNvSpPr/>
          <p:nvPr/>
        </p:nvSpPr>
        <p:spPr bwMode="auto">
          <a:xfrm>
            <a:off x="114209" y="7924800"/>
            <a:ext cx="2044791" cy="1323439"/>
          </a:xfrm>
          <a:prstGeom prst="wedgeRectCallout">
            <a:avLst>
              <a:gd name="adj1" fmla="val -15909"/>
              <a:gd name="adj2" fmla="val -135856"/>
            </a:avLst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wrap="none" lIns="45720" rIns="45720" anchor="ctr">
            <a:spAutoFit/>
          </a:bodyPr>
          <a:lstStyle/>
          <a:p>
            <a:pPr>
              <a:defRPr/>
            </a:pPr>
            <a:r>
              <a:rPr lang="en-US" sz="2000" b="0" dirty="0" smtClean="0"/>
              <a:t>At each level, we</a:t>
            </a:r>
            <a:br>
              <a:rPr lang="en-US" sz="2000" b="0" dirty="0" smtClean="0"/>
            </a:br>
            <a:r>
              <a:rPr lang="en-US" sz="2000" b="0" dirty="0" smtClean="0"/>
              <a:t>split array in half;</a:t>
            </a:r>
          </a:p>
          <a:p>
            <a:pPr>
              <a:defRPr/>
            </a:pPr>
            <a:r>
              <a:rPr lang="en-US" sz="2000" b="0" dirty="0" smtClean="0"/>
              <a:t>can be done only</a:t>
            </a:r>
            <a:br>
              <a:rPr lang="en-US" sz="2000" b="0" dirty="0" smtClean="0"/>
            </a:br>
            <a:r>
              <a:rPr lang="en-US" sz="2000" i="1" dirty="0" smtClean="0"/>
              <a:t>log n </a:t>
            </a:r>
            <a:r>
              <a:rPr lang="en-US" sz="2000" b="0" dirty="0" smtClean="0"/>
              <a:t>times</a:t>
            </a:r>
            <a:endParaRPr lang="en-US" sz="2000" b="0" dirty="0"/>
          </a:p>
        </p:txBody>
      </p:sp>
      <p:sp>
        <p:nvSpPr>
          <p:cNvPr id="49" name="TextBox 48"/>
          <p:cNvSpPr txBox="1"/>
          <p:nvPr/>
        </p:nvSpPr>
        <p:spPr>
          <a:xfrm>
            <a:off x="1320800" y="5879068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dirty="0" smtClean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52" name="Oval 51"/>
          <p:cNvSpPr>
            <a:spLocks noChangeArrowheads="1"/>
          </p:cNvSpPr>
          <p:nvPr/>
        </p:nvSpPr>
        <p:spPr bwMode="auto">
          <a:xfrm>
            <a:off x="11760200" y="7063565"/>
            <a:ext cx="990600" cy="457200"/>
          </a:xfrm>
          <a:prstGeom prst="ellipse">
            <a:avLst/>
          </a:prstGeom>
          <a:noFill/>
          <a:ln w="38100" algn="ctr">
            <a:solidFill>
              <a:srgbClr val="FF0000"/>
            </a:solidFill>
            <a:miter lim="400000"/>
            <a:headEnd/>
            <a:tailEnd/>
          </a:ln>
        </p:spPr>
        <p:txBody>
          <a:bodyPr lIns="45720" rIns="45720" anchor="ctr"/>
          <a:lstStyle/>
          <a:p>
            <a:endParaRPr lang="en-US" sz="2000" b="0"/>
          </a:p>
        </p:txBody>
      </p:sp>
      <p:sp>
        <p:nvSpPr>
          <p:cNvPr id="53" name="TextBox 52"/>
          <p:cNvSpPr txBox="1"/>
          <p:nvPr/>
        </p:nvSpPr>
        <p:spPr>
          <a:xfrm>
            <a:off x="5969000" y="8686800"/>
            <a:ext cx="211788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i="1" dirty="0" smtClean="0">
                <a:solidFill>
                  <a:schemeClr val="tx1"/>
                </a:solidFill>
              </a:rPr>
              <a:t>O(n log n)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Comparing Sorting Algorithms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Selection sort and </a:t>
            </a:r>
            <a:r>
              <a:rPr lang="en-US" dirty="0" err="1" smtClean="0"/>
              <a:t>mergesort</a:t>
            </a:r>
            <a:r>
              <a:rPr lang="en-US" dirty="0" smtClean="0"/>
              <a:t> solve the </a:t>
            </a:r>
            <a:r>
              <a:rPr lang="en-US" b="1" dirty="0" smtClean="0"/>
              <a:t>same problem</a:t>
            </a:r>
          </a:p>
          <a:p>
            <a:pPr lvl="1"/>
            <a:r>
              <a:rPr lang="en-US" dirty="0" err="1" smtClean="0"/>
              <a:t>mergesort</a:t>
            </a:r>
            <a:r>
              <a:rPr lang="en-US" dirty="0" smtClean="0"/>
              <a:t> is </a:t>
            </a:r>
            <a:r>
              <a:rPr lang="en-US" b="1" dirty="0" smtClean="0"/>
              <a:t>asymptotically faster</a:t>
            </a:r>
            <a:r>
              <a:rPr lang="en-US" dirty="0" smtClean="0"/>
              <a:t>: </a:t>
            </a:r>
            <a:r>
              <a:rPr lang="en-US" i="1" dirty="0" smtClean="0"/>
              <a:t>O(n log n)</a:t>
            </a:r>
            <a:r>
              <a:rPr lang="en-US" dirty="0" smtClean="0"/>
              <a:t> vs. </a:t>
            </a:r>
            <a:r>
              <a:rPr lang="en-US" i="1" dirty="0" smtClean="0"/>
              <a:t>O(n</a:t>
            </a:r>
            <a:r>
              <a:rPr lang="en-US" i="1" baseline="30000" dirty="0" smtClean="0"/>
              <a:t>2</a:t>
            </a:r>
            <a:r>
              <a:rPr lang="en-US" i="1" dirty="0" smtClean="0"/>
              <a:t>)</a:t>
            </a:r>
          </a:p>
          <a:p>
            <a:pPr lvl="2"/>
            <a:r>
              <a:rPr lang="en-US" dirty="0" err="1" smtClean="0"/>
              <a:t>mergesort</a:t>
            </a:r>
            <a:r>
              <a:rPr lang="en-US" dirty="0" smtClean="0"/>
              <a:t> is preferable if speed for large inputs is all that matters</a:t>
            </a:r>
          </a:p>
          <a:p>
            <a:pPr lvl="1"/>
            <a:r>
              <a:rPr lang="en-US" dirty="0" smtClean="0"/>
              <a:t>selection sort is </a:t>
            </a:r>
            <a:r>
              <a:rPr lang="en-US" b="1" dirty="0" smtClean="0"/>
              <a:t>in-place</a:t>
            </a:r>
            <a:r>
              <a:rPr lang="en-US" dirty="0" smtClean="0"/>
              <a:t> but </a:t>
            </a:r>
            <a:r>
              <a:rPr lang="en-US" dirty="0" err="1" smtClean="0"/>
              <a:t>mergesort</a:t>
            </a:r>
            <a:r>
              <a:rPr lang="en-US" dirty="0" smtClean="0"/>
              <a:t> is not</a:t>
            </a:r>
          </a:p>
          <a:p>
            <a:pPr lvl="2"/>
            <a:r>
              <a:rPr lang="en-US" dirty="0" smtClean="0"/>
              <a:t>selection sort may be preferable if space is very tight</a:t>
            </a:r>
          </a:p>
          <a:p>
            <a:pPr lvl="4"/>
            <a:endParaRPr lang="en-US" dirty="0" smtClean="0"/>
          </a:p>
          <a:p>
            <a:r>
              <a:rPr lang="en-US" dirty="0" smtClean="0"/>
              <a:t>Choosing an algorithm involves several parameters</a:t>
            </a:r>
          </a:p>
          <a:p>
            <a:pPr lvl="1"/>
            <a:r>
              <a:rPr lang="en-US" b="1" dirty="0" smtClean="0"/>
              <a:t>It depends on application</a:t>
            </a:r>
          </a:p>
          <a:p>
            <a:pPr lvl="4"/>
            <a:endParaRPr lang="en-US" dirty="0" smtClean="0"/>
          </a:p>
          <a:p>
            <a:r>
              <a:rPr lang="en-US" dirty="0" smtClean="0"/>
              <a:t>Summary</a:t>
            </a: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082800" y="7239000"/>
          <a:ext cx="6572250" cy="16002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76400"/>
                <a:gridCol w="2438400"/>
                <a:gridCol w="2457450"/>
              </a:tblGrid>
              <a:tr h="370840">
                <a:tc>
                  <a:txBody>
                    <a:bodyPr/>
                    <a:lstStyle/>
                    <a:p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>
                          <a:solidFill>
                            <a:schemeClr val="tx1"/>
                          </a:solidFill>
                        </a:rPr>
                        <a:t>Selection</a:t>
                      </a:r>
                      <a:r>
                        <a:rPr lang="en-US" b="1" baseline="0" dirty="0" smtClean="0">
                          <a:solidFill>
                            <a:schemeClr val="tx1"/>
                          </a:solidFill>
                        </a:rPr>
                        <a:t> sort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 smtClean="0">
                          <a:solidFill>
                            <a:schemeClr val="tx1"/>
                          </a:solidFill>
                        </a:rPr>
                        <a:t>Mergesort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chemeClr val="tx1"/>
                          </a:solidFill>
                        </a:rPr>
                        <a:t>Worst-case</a:t>
                      </a:r>
                      <a:r>
                        <a:rPr lang="en-US" b="1" baseline="0" dirty="0" smtClean="0">
                          <a:solidFill>
                            <a:schemeClr val="tx1"/>
                          </a:solidFill>
                        </a:rPr>
                        <a:t/>
                      </a:r>
                      <a:br>
                        <a:rPr lang="en-US" b="1" baseline="0" dirty="0" smtClean="0">
                          <a:solidFill>
                            <a:schemeClr val="tx1"/>
                          </a:solidFill>
                        </a:rPr>
                      </a:br>
                      <a:r>
                        <a:rPr lang="en-US" b="1" baseline="0" dirty="0" smtClean="0">
                          <a:solidFill>
                            <a:schemeClr val="tx1"/>
                          </a:solidFill>
                        </a:rPr>
                        <a:t>complexity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 smtClean="0">
                          <a:solidFill>
                            <a:schemeClr val="tx1"/>
                          </a:solidFill>
                        </a:rPr>
                        <a:t>O(n</a:t>
                      </a:r>
                      <a:r>
                        <a:rPr lang="en-US" b="0" i="1" baseline="300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en-US" b="0" i="1" dirty="0" smtClean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 smtClean="0">
                          <a:solidFill>
                            <a:schemeClr val="tx1"/>
                          </a:solidFill>
                        </a:rPr>
                        <a:t>O(n log n)</a:t>
                      </a:r>
                      <a:endParaRPr 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89280"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chemeClr val="tx1"/>
                          </a:solidFill>
                        </a:rPr>
                        <a:t>In-place?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Yes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No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 smtClean="0"/>
              <a:t>Quicksort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52500" y="254000"/>
            <a:ext cx="8140700" cy="1498600"/>
          </a:xfrm>
        </p:spPr>
        <p:txBody>
          <a:bodyPr/>
          <a:lstStyle/>
          <a:p>
            <a:r>
              <a:rPr lang="en-US" dirty="0" smtClean="0"/>
              <a:t>Reflections</a:t>
            </a:r>
            <a:endParaRPr lang="en-US" dirty="0"/>
          </a:p>
        </p:txBody>
      </p:sp>
      <p:sp>
        <p:nvSpPr>
          <p:cNvPr id="6" name="Rectangle 7"/>
          <p:cNvSpPr>
            <a:spLocks/>
          </p:cNvSpPr>
          <p:nvPr/>
        </p:nvSpPr>
        <p:spPr bwMode="auto">
          <a:xfrm>
            <a:off x="254000" y="4557712"/>
            <a:ext cx="625468" cy="595035"/>
          </a:xfrm>
          <a:prstGeom prst="rect">
            <a:avLst/>
          </a:prstGeom>
          <a:noFill/>
          <a:ln w="12700">
            <a:noFill/>
            <a:miter lim="400000"/>
            <a:headEnd/>
            <a:tailEnd/>
          </a:ln>
        </p:spPr>
        <p:txBody>
          <a:bodyPr wrap="square" lIns="50800" tIns="50800" rIns="50800" bIns="50800" anchor="ctr">
            <a:spAutoFit/>
          </a:bodyPr>
          <a:lstStyle/>
          <a:p>
            <a:r>
              <a:rPr lang="en-US" sz="3200" b="0" dirty="0" smtClean="0"/>
              <a:t>A:</a:t>
            </a:r>
            <a:endParaRPr lang="en-US" sz="3200" b="0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939800" y="4114800"/>
          <a:ext cx="5105400" cy="1069778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2355913"/>
                <a:gridCol w="2341177"/>
                <a:gridCol w="408310"/>
              </a:tblGrid>
              <a:tr h="458689">
                <a:tc>
                  <a:txBody>
                    <a:bodyPr/>
                    <a:lstStyle/>
                    <a:p>
                      <a:r>
                        <a:rPr lang="en-US" sz="1800" b="0" dirty="0" smtClean="0">
                          <a:solidFill>
                            <a:schemeClr val="tx1"/>
                          </a:solidFill>
                        </a:rPr>
                        <a:t>lo</a:t>
                      </a:r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dirty="0" smtClean="0">
                          <a:solidFill>
                            <a:schemeClr val="tx1"/>
                          </a:solidFill>
                        </a:rPr>
                        <a:t>mid</a:t>
                      </a:r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i="1" dirty="0" smtClean="0">
                          <a:solidFill>
                            <a:schemeClr val="tx1"/>
                          </a:solidFill>
                        </a:rPr>
                        <a:t>hi</a:t>
                      </a:r>
                      <a:endParaRPr lang="en-US" sz="18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611089"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6" name="Rectangle 7"/>
          <p:cNvSpPr>
            <a:spLocks/>
          </p:cNvSpPr>
          <p:nvPr/>
        </p:nvSpPr>
        <p:spPr bwMode="auto">
          <a:xfrm>
            <a:off x="254000" y="6462712"/>
            <a:ext cx="625468" cy="595035"/>
          </a:xfrm>
          <a:prstGeom prst="rect">
            <a:avLst/>
          </a:prstGeom>
          <a:noFill/>
          <a:ln w="12700">
            <a:noFill/>
            <a:miter lim="400000"/>
            <a:headEnd/>
            <a:tailEnd/>
          </a:ln>
        </p:spPr>
        <p:txBody>
          <a:bodyPr wrap="square" lIns="50800" tIns="50800" rIns="50800" bIns="50800" anchor="ctr">
            <a:spAutoFit/>
          </a:bodyPr>
          <a:lstStyle/>
          <a:p>
            <a:r>
              <a:rPr lang="en-US" sz="3200" b="0" dirty="0" smtClean="0"/>
              <a:t>A:</a:t>
            </a:r>
            <a:endParaRPr lang="en-US" sz="3200" b="0" dirty="0"/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939800" y="6019800"/>
          <a:ext cx="5105400" cy="1069778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2355913"/>
                <a:gridCol w="2341177"/>
                <a:gridCol w="408310"/>
              </a:tblGrid>
              <a:tr h="458689">
                <a:tc>
                  <a:txBody>
                    <a:bodyPr/>
                    <a:lstStyle/>
                    <a:p>
                      <a:r>
                        <a:rPr lang="en-US" sz="1800" b="0" dirty="0" smtClean="0">
                          <a:solidFill>
                            <a:schemeClr val="tx1"/>
                          </a:solidFill>
                        </a:rPr>
                        <a:t>lo</a:t>
                      </a:r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dirty="0" smtClean="0">
                          <a:solidFill>
                            <a:schemeClr val="tx1"/>
                          </a:solidFill>
                        </a:rPr>
                        <a:t>mid</a:t>
                      </a:r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i="1" dirty="0" smtClean="0">
                          <a:solidFill>
                            <a:schemeClr val="tx1"/>
                          </a:solidFill>
                        </a:rPr>
                        <a:t>hi</a:t>
                      </a:r>
                      <a:endParaRPr lang="en-US" sz="18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611089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rgbClr val="C00000"/>
                          </a:solidFill>
                        </a:rPr>
                        <a:t>SORTED</a:t>
                      </a:r>
                      <a:endParaRPr lang="en-US" sz="1800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rgbClr val="C00000"/>
                          </a:solidFill>
                        </a:rPr>
                        <a:t>SORTED</a:t>
                      </a:r>
                      <a:endParaRPr lang="en-US" sz="1800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8" name="Rectangle 7"/>
          <p:cNvSpPr>
            <a:spLocks/>
          </p:cNvSpPr>
          <p:nvPr/>
        </p:nvSpPr>
        <p:spPr bwMode="auto">
          <a:xfrm>
            <a:off x="254000" y="8364734"/>
            <a:ext cx="625468" cy="595035"/>
          </a:xfrm>
          <a:prstGeom prst="rect">
            <a:avLst/>
          </a:prstGeom>
          <a:noFill/>
          <a:ln w="12700">
            <a:noFill/>
            <a:miter lim="400000"/>
            <a:headEnd/>
            <a:tailEnd/>
          </a:ln>
        </p:spPr>
        <p:txBody>
          <a:bodyPr wrap="square" lIns="50800" tIns="50800" rIns="50800" bIns="50800" anchor="ctr">
            <a:spAutoFit/>
          </a:bodyPr>
          <a:lstStyle/>
          <a:p>
            <a:r>
              <a:rPr lang="en-US" sz="3200" b="0" dirty="0" smtClean="0"/>
              <a:t>A:</a:t>
            </a:r>
            <a:endParaRPr lang="en-US" sz="3200" b="0" dirty="0"/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939800" y="7921822"/>
          <a:ext cx="5105400" cy="1069778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2355913"/>
                <a:gridCol w="2341177"/>
                <a:gridCol w="408310"/>
              </a:tblGrid>
              <a:tr h="458689">
                <a:tc>
                  <a:txBody>
                    <a:bodyPr/>
                    <a:lstStyle/>
                    <a:p>
                      <a:r>
                        <a:rPr lang="en-US" sz="1800" b="0" dirty="0" smtClean="0">
                          <a:solidFill>
                            <a:schemeClr val="tx1"/>
                          </a:solidFill>
                        </a:rPr>
                        <a:t>lo</a:t>
                      </a:r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i="1" dirty="0" smtClean="0">
                          <a:solidFill>
                            <a:schemeClr val="tx1"/>
                          </a:solidFill>
                        </a:rPr>
                        <a:t>hi</a:t>
                      </a:r>
                      <a:endParaRPr lang="en-US" sz="18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611089">
                <a:tc gridSpan="2"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rgbClr val="C00000"/>
                          </a:solidFill>
                        </a:rPr>
                        <a:t>SORTED</a:t>
                      </a:r>
                      <a:endParaRPr lang="en-US" sz="1800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1" name="Curved Left Arrow 20"/>
          <p:cNvSpPr/>
          <p:nvPr/>
        </p:nvSpPr>
        <p:spPr bwMode="auto">
          <a:xfrm>
            <a:off x="5816600" y="4953000"/>
            <a:ext cx="609600" cy="1828800"/>
          </a:xfrm>
          <a:prstGeom prst="curvedLeftArrow">
            <a:avLst/>
          </a:prstGeom>
          <a:solidFill>
            <a:schemeClr val="accent1">
              <a:lumMod val="40000"/>
              <a:lumOff val="60000"/>
            </a:schemeClr>
          </a:solidFill>
          <a:ln w="127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  <p:sp>
        <p:nvSpPr>
          <p:cNvPr id="22" name="Curved Left Arrow 21"/>
          <p:cNvSpPr/>
          <p:nvPr/>
        </p:nvSpPr>
        <p:spPr bwMode="auto">
          <a:xfrm>
            <a:off x="5816600" y="6858000"/>
            <a:ext cx="609600" cy="1828800"/>
          </a:xfrm>
          <a:prstGeom prst="curvedLeftArrow">
            <a:avLst/>
          </a:prstGeom>
          <a:solidFill>
            <a:schemeClr val="accent1">
              <a:lumMod val="40000"/>
              <a:lumOff val="60000"/>
            </a:schemeClr>
          </a:solidFill>
          <a:ln w="127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578600" y="5410200"/>
            <a:ext cx="155523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b="0" dirty="0" smtClean="0">
                <a:solidFill>
                  <a:schemeClr val="tx1"/>
                </a:solidFill>
              </a:rPr>
              <a:t>Recursive</a:t>
            </a:r>
            <a:br>
              <a:rPr lang="en-US" b="0" dirty="0" smtClean="0">
                <a:solidFill>
                  <a:schemeClr val="tx1"/>
                </a:solidFill>
              </a:rPr>
            </a:br>
            <a:r>
              <a:rPr lang="en-US" b="0" dirty="0" smtClean="0">
                <a:solidFill>
                  <a:schemeClr val="tx1"/>
                </a:solidFill>
              </a:rPr>
              <a:t>calls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78600" y="7539335"/>
            <a:ext cx="16914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b="0" dirty="0" smtClean="0">
                <a:solidFill>
                  <a:schemeClr val="tx1"/>
                </a:solidFill>
              </a:rPr>
              <a:t>Final touch</a:t>
            </a:r>
          </a:p>
        </p:txBody>
      </p:sp>
      <p:sp>
        <p:nvSpPr>
          <p:cNvPr id="30" name="Rectangle 7"/>
          <p:cNvSpPr>
            <a:spLocks/>
          </p:cNvSpPr>
          <p:nvPr/>
        </p:nvSpPr>
        <p:spPr bwMode="auto">
          <a:xfrm>
            <a:off x="254000" y="2649734"/>
            <a:ext cx="625468" cy="595035"/>
          </a:xfrm>
          <a:prstGeom prst="rect">
            <a:avLst/>
          </a:prstGeom>
          <a:noFill/>
          <a:ln w="12700">
            <a:noFill/>
            <a:miter lim="400000"/>
            <a:headEnd/>
            <a:tailEnd/>
          </a:ln>
        </p:spPr>
        <p:txBody>
          <a:bodyPr wrap="square" lIns="50800" tIns="50800" rIns="50800" bIns="50800" anchor="ctr">
            <a:spAutoFit/>
          </a:bodyPr>
          <a:lstStyle/>
          <a:p>
            <a:r>
              <a:rPr lang="en-US" sz="3200" b="0" dirty="0" smtClean="0"/>
              <a:t>A:</a:t>
            </a:r>
            <a:endParaRPr lang="en-US" sz="3200" b="0" dirty="0"/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939800" y="2206822"/>
          <a:ext cx="5105400" cy="1069778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2355913"/>
                <a:gridCol w="2341177"/>
                <a:gridCol w="408310"/>
              </a:tblGrid>
              <a:tr h="458689">
                <a:tc>
                  <a:txBody>
                    <a:bodyPr/>
                    <a:lstStyle/>
                    <a:p>
                      <a:r>
                        <a:rPr lang="en-US" sz="1800" b="0" dirty="0" smtClean="0">
                          <a:solidFill>
                            <a:schemeClr val="tx1"/>
                          </a:solidFill>
                        </a:rPr>
                        <a:t>lo</a:t>
                      </a:r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i="1" dirty="0" smtClean="0">
                          <a:solidFill>
                            <a:schemeClr val="tx1"/>
                          </a:solidFill>
                        </a:rPr>
                        <a:t>hi</a:t>
                      </a:r>
                      <a:endParaRPr lang="en-US" sz="18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611089">
                <a:tc gridSpan="2"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2" name="Curved Left Arrow 31"/>
          <p:cNvSpPr/>
          <p:nvPr/>
        </p:nvSpPr>
        <p:spPr bwMode="auto">
          <a:xfrm>
            <a:off x="5816600" y="3048000"/>
            <a:ext cx="609600" cy="1828800"/>
          </a:xfrm>
          <a:prstGeom prst="curvedLeftArrow">
            <a:avLst/>
          </a:prstGeom>
          <a:solidFill>
            <a:schemeClr val="accent1">
              <a:lumMod val="40000"/>
              <a:lumOff val="60000"/>
            </a:schemeClr>
          </a:solidFill>
          <a:ln w="127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578600" y="3653135"/>
            <a:ext cx="15712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b="0" dirty="0" smtClean="0">
                <a:solidFill>
                  <a:schemeClr val="tx1"/>
                </a:solidFill>
              </a:rPr>
              <a:t>Prep work</a:t>
            </a:r>
          </a:p>
        </p:txBody>
      </p:sp>
      <p:sp>
        <p:nvSpPr>
          <p:cNvPr id="36" name="Rectangle 35"/>
          <p:cNvSpPr>
            <a:spLocks/>
          </p:cNvSpPr>
          <p:nvPr/>
        </p:nvSpPr>
        <p:spPr bwMode="auto">
          <a:xfrm>
            <a:off x="9089335" y="76200"/>
            <a:ext cx="3813865" cy="2123658"/>
          </a:xfrm>
          <a:prstGeom prst="rect">
            <a:avLst/>
          </a:prstGeom>
          <a:noFill/>
          <a:ln w="12700">
            <a:solidFill>
              <a:schemeClr val="tx2"/>
            </a:solidFill>
            <a:miter lim="400000"/>
            <a:headEnd/>
            <a:tailEnd/>
          </a:ln>
        </p:spPr>
        <p:txBody>
          <a:bodyPr wrap="none" tIns="91440" bIns="91440" anchor="ctr">
            <a:spAutoFit/>
          </a:bodyPr>
          <a:lstStyle/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void</a:t>
            </a:r>
            <a:r>
              <a:rPr lang="en-US" sz="1800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sz="1800" b="0" dirty="0" err="1" smtClean="0">
                <a:solidFill>
                  <a:srgbClr val="5E34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mergesort</a:t>
            </a:r>
            <a:r>
              <a:rPr lang="en-US" sz="1800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(</a:t>
            </a:r>
            <a:r>
              <a:rPr lang="en-US" sz="1800" b="0" dirty="0" err="1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sz="1800" b="0" dirty="0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[]</a:t>
            </a:r>
            <a:r>
              <a:rPr lang="en-US" sz="1800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sz="1800" b="0" dirty="0" smtClean="0">
                <a:solidFill>
                  <a:srgbClr val="CD7923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A</a:t>
            </a:r>
            <a:r>
              <a:rPr lang="en-US" sz="1800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, </a:t>
            </a:r>
            <a:r>
              <a:rPr lang="en-US" sz="1800" b="0" dirty="0" err="1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sz="1800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sz="1800" b="0" dirty="0" smtClean="0">
                <a:solidFill>
                  <a:srgbClr val="CD7923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lo</a:t>
            </a:r>
            <a:r>
              <a:rPr lang="en-US" sz="1800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, </a:t>
            </a:r>
            <a:r>
              <a:rPr lang="en-US" sz="1800" b="0" dirty="0" err="1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sz="1800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sz="1800" b="0" dirty="0" smtClean="0">
                <a:solidFill>
                  <a:srgbClr val="CD7923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hi</a:t>
            </a:r>
            <a:r>
              <a:rPr lang="en-US" sz="1800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) </a:t>
            </a:r>
            <a:r>
              <a:rPr lang="en-US" sz="1800" b="0" dirty="0" smtClean="0">
                <a:solidFill>
                  <a:schemeClr val="tx1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{</a:t>
            </a:r>
          </a:p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solidFill>
                  <a:schemeClr val="tx1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  </a:t>
            </a:r>
            <a:r>
              <a:rPr lang="en-US" sz="1800" b="0" dirty="0" smtClean="0">
                <a:solidFill>
                  <a:srgbClr val="D03B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if </a:t>
            </a:r>
            <a:r>
              <a:rPr lang="en-US" sz="1800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(hi - lo &lt;= 1) </a:t>
            </a:r>
            <a:r>
              <a:rPr lang="en-US" sz="1800" b="0" dirty="0" smtClean="0">
                <a:solidFill>
                  <a:srgbClr val="D03B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return</a:t>
            </a:r>
            <a:r>
              <a:rPr lang="en-US" sz="1800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;</a:t>
            </a:r>
            <a:endParaRPr lang="en-US" sz="1800" b="0" dirty="0" smtClean="0">
              <a:solidFill>
                <a:schemeClr val="accent5">
                  <a:lumMod val="75000"/>
                </a:schemeClr>
              </a:solidFill>
              <a:latin typeface="Menlo" charset="0"/>
              <a:ea typeface="Menlo" charset="0"/>
              <a:cs typeface="Menlo" charset="0"/>
              <a:sym typeface="Menlo" charset="0"/>
            </a:endParaRPr>
          </a:p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 </a:t>
            </a:r>
            <a:r>
              <a:rPr lang="en-US" sz="1800" b="0" dirty="0" err="1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sz="1800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sz="1800" b="0" dirty="0" smtClean="0">
                <a:solidFill>
                  <a:srgbClr val="CD7923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mid</a:t>
            </a:r>
            <a:r>
              <a:rPr lang="en-US" sz="1800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= lo + (hi - lo) / 2;</a:t>
            </a:r>
            <a:endParaRPr lang="en-US" sz="1800" b="0" dirty="0" smtClean="0">
              <a:solidFill>
                <a:schemeClr val="accent5">
                  <a:lumMod val="75000"/>
                </a:schemeClr>
              </a:solidFill>
              <a:latin typeface="Menlo" charset="0"/>
              <a:ea typeface="Menlo" charset="0"/>
              <a:cs typeface="Menlo" charset="0"/>
              <a:sym typeface="Menlo" charset="0"/>
            </a:endParaRPr>
          </a:p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 </a:t>
            </a:r>
            <a:r>
              <a:rPr lang="en-US" sz="1800" b="0" dirty="0" err="1" smtClean="0">
                <a:latin typeface="Menlo" charset="0"/>
                <a:ea typeface="Menlo" charset="0"/>
                <a:cs typeface="Menlo" charset="0"/>
                <a:sym typeface="Menlo" charset="0"/>
              </a:rPr>
              <a:t>mergesort</a:t>
            </a:r>
            <a:r>
              <a:rPr lang="en-US" sz="1800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(A, lo, mid);</a:t>
            </a:r>
            <a:endParaRPr lang="en-US" sz="1800" b="0" dirty="0" smtClean="0">
              <a:solidFill>
                <a:srgbClr val="C00000"/>
              </a:solidFill>
              <a:latin typeface="Menlo" charset="0"/>
              <a:ea typeface="Menlo" charset="0"/>
              <a:cs typeface="Menlo" charset="0"/>
              <a:sym typeface="Menlo" charset="0"/>
            </a:endParaRPr>
          </a:p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 </a:t>
            </a:r>
            <a:r>
              <a:rPr lang="en-US" sz="1800" b="0" dirty="0" err="1" smtClean="0">
                <a:latin typeface="Menlo" charset="0"/>
                <a:ea typeface="Menlo" charset="0"/>
                <a:cs typeface="Menlo" charset="0"/>
                <a:sym typeface="Menlo" charset="0"/>
              </a:rPr>
              <a:t>mergesort</a:t>
            </a:r>
            <a:r>
              <a:rPr lang="en-US" sz="1800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(A, mid, hi);</a:t>
            </a:r>
            <a:endParaRPr lang="en-US" sz="1800" b="0" dirty="0" smtClean="0">
              <a:solidFill>
                <a:srgbClr val="C00000"/>
              </a:solidFill>
              <a:latin typeface="Menlo" charset="0"/>
              <a:ea typeface="Menlo" charset="0"/>
              <a:cs typeface="Menlo" charset="0"/>
              <a:sym typeface="Menlo" charset="0"/>
            </a:endParaRPr>
          </a:p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solidFill>
                  <a:schemeClr val="tx1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  </a:t>
            </a:r>
            <a:r>
              <a:rPr lang="en-US" sz="1800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merge(A, lo, mid, hi);</a:t>
            </a:r>
            <a:endParaRPr lang="en-US" sz="1800" b="0" dirty="0" smtClean="0">
              <a:solidFill>
                <a:schemeClr val="accent5">
                  <a:lumMod val="75000"/>
                </a:schemeClr>
              </a:solidFill>
              <a:latin typeface="Menlo" charset="0"/>
              <a:ea typeface="Menlo" charset="0"/>
              <a:cs typeface="Menlo" charset="0"/>
              <a:sym typeface="Menlo" charset="0"/>
            </a:endParaRPr>
          </a:p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solidFill>
                  <a:schemeClr val="tx1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}</a:t>
            </a:r>
            <a:endParaRPr lang="en-US" sz="1800" dirty="0" smtClean="0">
              <a:solidFill>
                <a:schemeClr val="tx1"/>
              </a:solidFill>
              <a:latin typeface="Menlo" charset="0"/>
              <a:ea typeface="Menlo" charset="0"/>
              <a:cs typeface="Menlo" charset="0"/>
              <a:sym typeface="Menlo" charset="0"/>
            </a:endParaRPr>
          </a:p>
        </p:txBody>
      </p:sp>
      <p:sp>
        <p:nvSpPr>
          <p:cNvPr id="15" name="Rectangular Callout 14"/>
          <p:cNvSpPr/>
          <p:nvPr/>
        </p:nvSpPr>
        <p:spPr bwMode="auto">
          <a:xfrm>
            <a:off x="9940573" y="2667000"/>
            <a:ext cx="1743427" cy="1015663"/>
          </a:xfrm>
          <a:prstGeom prst="wedgeRectCallout">
            <a:avLst>
              <a:gd name="adj1" fmla="val -154557"/>
              <a:gd name="adj2" fmla="val 66967"/>
            </a:avLst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wrap="none" lIns="45720" rIns="45720" anchor="ctr">
            <a:spAutoFit/>
          </a:bodyPr>
          <a:lstStyle/>
          <a:p>
            <a:pPr>
              <a:defRPr/>
            </a:pPr>
            <a:r>
              <a:rPr lang="en-US" sz="2000" b="0" dirty="0" smtClean="0"/>
              <a:t>Finding </a:t>
            </a:r>
            <a:r>
              <a:rPr lang="en-US" sz="2000" b="0" dirty="0" smtClean="0">
                <a:solidFill>
                  <a:srgbClr val="CD7923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mid</a:t>
            </a:r>
            <a:r>
              <a:rPr lang="en-US" sz="2000" b="0" dirty="0" smtClean="0"/>
              <a:t/>
            </a:r>
            <a:br>
              <a:rPr lang="en-US" sz="2000" b="0" dirty="0" smtClean="0"/>
            </a:br>
            <a:r>
              <a:rPr lang="en-US" sz="2000" b="0" dirty="0" smtClean="0"/>
              <a:t>almost no cost</a:t>
            </a:r>
            <a:br>
              <a:rPr lang="en-US" sz="2000" b="0" dirty="0" smtClean="0"/>
            </a:br>
            <a:r>
              <a:rPr lang="en-US" sz="2000" b="0" i="1" dirty="0" smtClean="0"/>
              <a:t>O(1)</a:t>
            </a:r>
            <a:endParaRPr lang="en-US" sz="2000" b="0" i="1" dirty="0"/>
          </a:p>
        </p:txBody>
      </p:sp>
      <p:sp>
        <p:nvSpPr>
          <p:cNvPr id="20" name="Rectangular Callout 19"/>
          <p:cNvSpPr/>
          <p:nvPr/>
        </p:nvSpPr>
        <p:spPr bwMode="auto">
          <a:xfrm>
            <a:off x="10083800" y="6400800"/>
            <a:ext cx="1757854" cy="1015663"/>
          </a:xfrm>
          <a:prstGeom prst="wedgeRectCallout">
            <a:avLst>
              <a:gd name="adj1" fmla="val -154886"/>
              <a:gd name="adj2" fmla="val 78210"/>
            </a:avLst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wrap="none" lIns="45720" rIns="45720" anchor="ctr">
            <a:spAutoFit/>
          </a:bodyPr>
          <a:lstStyle/>
          <a:p>
            <a:pPr>
              <a:defRPr/>
            </a:pPr>
            <a:r>
              <a:rPr lang="en-US" sz="2000" b="0" dirty="0" smtClean="0">
                <a:solidFill>
                  <a:srgbClr val="7030A0"/>
                </a:solidFill>
              </a:rPr>
              <a:t>merge</a:t>
            </a:r>
            <a:r>
              <a:rPr lang="en-US" sz="2000" b="0" dirty="0" smtClean="0"/>
              <a:t/>
            </a:r>
            <a:br>
              <a:rPr lang="en-US" sz="2000" b="0" dirty="0" smtClean="0"/>
            </a:br>
            <a:r>
              <a:rPr lang="en-US" sz="2000" b="0" dirty="0" smtClean="0"/>
              <a:t>some real cost</a:t>
            </a:r>
            <a:br>
              <a:rPr lang="en-US" sz="2000" b="0" dirty="0" smtClean="0"/>
            </a:br>
            <a:r>
              <a:rPr lang="en-US" sz="2000" b="0" i="1" dirty="0" smtClean="0"/>
              <a:t>O(n)</a:t>
            </a:r>
            <a:endParaRPr lang="en-US" sz="2000" b="0" i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Reflections</a:t>
            </a:r>
            <a:endParaRPr lang="en-US" dirty="0"/>
          </a:p>
        </p:txBody>
      </p:sp>
      <p:sp>
        <p:nvSpPr>
          <p:cNvPr id="26" name="Content Placeholder 25"/>
          <p:cNvSpPr>
            <a:spLocks noGrp="1"/>
          </p:cNvSpPr>
          <p:nvPr>
            <p:ph idx="1"/>
          </p:nvPr>
        </p:nvSpPr>
        <p:spPr>
          <a:xfrm>
            <a:off x="8255000" y="1981200"/>
            <a:ext cx="3962400" cy="6896100"/>
          </a:xfrm>
        </p:spPr>
        <p:txBody>
          <a:bodyPr/>
          <a:lstStyle/>
          <a:p>
            <a:r>
              <a:rPr lang="en-US" dirty="0" smtClean="0"/>
              <a:t>Can we do it the other way around?</a:t>
            </a:r>
            <a:endParaRPr lang="en-US" dirty="0"/>
          </a:p>
        </p:txBody>
      </p:sp>
      <p:sp>
        <p:nvSpPr>
          <p:cNvPr id="6" name="Rectangle 7"/>
          <p:cNvSpPr>
            <a:spLocks/>
          </p:cNvSpPr>
          <p:nvPr/>
        </p:nvSpPr>
        <p:spPr bwMode="auto">
          <a:xfrm>
            <a:off x="254000" y="4557712"/>
            <a:ext cx="625468" cy="595035"/>
          </a:xfrm>
          <a:prstGeom prst="rect">
            <a:avLst/>
          </a:prstGeom>
          <a:noFill/>
          <a:ln w="12700">
            <a:noFill/>
            <a:miter lim="400000"/>
            <a:headEnd/>
            <a:tailEnd/>
          </a:ln>
        </p:spPr>
        <p:txBody>
          <a:bodyPr wrap="square" lIns="50800" tIns="50800" rIns="50800" bIns="50800" anchor="ctr">
            <a:spAutoFit/>
          </a:bodyPr>
          <a:lstStyle/>
          <a:p>
            <a:r>
              <a:rPr lang="en-US" sz="3200" b="0" dirty="0" smtClean="0"/>
              <a:t>A:</a:t>
            </a:r>
            <a:endParaRPr lang="en-US" sz="3200" b="0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939800" y="4114800"/>
          <a:ext cx="5105400" cy="1069778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2355913"/>
                <a:gridCol w="2341177"/>
                <a:gridCol w="408310"/>
              </a:tblGrid>
              <a:tr h="458689">
                <a:tc>
                  <a:txBody>
                    <a:bodyPr/>
                    <a:lstStyle/>
                    <a:p>
                      <a:r>
                        <a:rPr lang="en-US" sz="1800" b="0" dirty="0" smtClean="0">
                          <a:solidFill>
                            <a:schemeClr val="tx1"/>
                          </a:solidFill>
                        </a:rPr>
                        <a:t>lo</a:t>
                      </a:r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dirty="0" smtClean="0">
                          <a:solidFill>
                            <a:schemeClr val="tx1"/>
                          </a:solidFill>
                        </a:rPr>
                        <a:t>p</a:t>
                      </a:r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i="1" dirty="0" smtClean="0">
                          <a:solidFill>
                            <a:schemeClr val="tx1"/>
                          </a:solidFill>
                        </a:rPr>
                        <a:t>hi</a:t>
                      </a:r>
                      <a:endParaRPr lang="en-US" sz="18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611089"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6" name="Rectangle 7"/>
          <p:cNvSpPr>
            <a:spLocks/>
          </p:cNvSpPr>
          <p:nvPr/>
        </p:nvSpPr>
        <p:spPr bwMode="auto">
          <a:xfrm>
            <a:off x="254000" y="6462712"/>
            <a:ext cx="625468" cy="595035"/>
          </a:xfrm>
          <a:prstGeom prst="rect">
            <a:avLst/>
          </a:prstGeom>
          <a:noFill/>
          <a:ln w="12700">
            <a:noFill/>
            <a:miter lim="400000"/>
            <a:headEnd/>
            <a:tailEnd/>
          </a:ln>
        </p:spPr>
        <p:txBody>
          <a:bodyPr wrap="square" lIns="50800" tIns="50800" rIns="50800" bIns="50800" anchor="ctr">
            <a:spAutoFit/>
          </a:bodyPr>
          <a:lstStyle/>
          <a:p>
            <a:r>
              <a:rPr lang="en-US" sz="3200" b="0" dirty="0" smtClean="0"/>
              <a:t>A:</a:t>
            </a:r>
            <a:endParaRPr lang="en-US" sz="3200" b="0" dirty="0"/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939800" y="6019800"/>
          <a:ext cx="5105400" cy="1069778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2355913"/>
                <a:gridCol w="2341177"/>
                <a:gridCol w="408310"/>
              </a:tblGrid>
              <a:tr h="458689">
                <a:tc>
                  <a:txBody>
                    <a:bodyPr/>
                    <a:lstStyle/>
                    <a:p>
                      <a:r>
                        <a:rPr lang="en-US" sz="1800" b="0" dirty="0" smtClean="0">
                          <a:solidFill>
                            <a:schemeClr val="tx1"/>
                          </a:solidFill>
                        </a:rPr>
                        <a:t>lo</a:t>
                      </a:r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dirty="0" smtClean="0">
                          <a:solidFill>
                            <a:schemeClr val="tx1"/>
                          </a:solidFill>
                        </a:rPr>
                        <a:t>p</a:t>
                      </a:r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i="1" dirty="0" smtClean="0">
                          <a:solidFill>
                            <a:schemeClr val="tx1"/>
                          </a:solidFill>
                        </a:rPr>
                        <a:t>hi</a:t>
                      </a:r>
                      <a:endParaRPr lang="en-US" sz="18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611089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rgbClr val="C00000"/>
                          </a:solidFill>
                        </a:rPr>
                        <a:t>SORTED</a:t>
                      </a:r>
                      <a:endParaRPr lang="en-US" sz="1800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rgbClr val="C00000"/>
                          </a:solidFill>
                        </a:rPr>
                        <a:t>SORTED</a:t>
                      </a:r>
                      <a:endParaRPr lang="en-US" sz="1800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8" name="Rectangle 7"/>
          <p:cNvSpPr>
            <a:spLocks/>
          </p:cNvSpPr>
          <p:nvPr/>
        </p:nvSpPr>
        <p:spPr bwMode="auto">
          <a:xfrm>
            <a:off x="254000" y="8364734"/>
            <a:ext cx="625468" cy="595035"/>
          </a:xfrm>
          <a:prstGeom prst="rect">
            <a:avLst/>
          </a:prstGeom>
          <a:noFill/>
          <a:ln w="12700">
            <a:noFill/>
            <a:miter lim="400000"/>
            <a:headEnd/>
            <a:tailEnd/>
          </a:ln>
        </p:spPr>
        <p:txBody>
          <a:bodyPr wrap="square" lIns="50800" tIns="50800" rIns="50800" bIns="50800" anchor="ctr">
            <a:spAutoFit/>
          </a:bodyPr>
          <a:lstStyle/>
          <a:p>
            <a:r>
              <a:rPr lang="en-US" sz="3200" b="0" dirty="0" smtClean="0"/>
              <a:t>A:</a:t>
            </a:r>
            <a:endParaRPr lang="en-US" sz="3200" b="0" dirty="0"/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939800" y="7921822"/>
          <a:ext cx="5105400" cy="1069778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2355913"/>
                <a:gridCol w="2341177"/>
                <a:gridCol w="408310"/>
              </a:tblGrid>
              <a:tr h="458689">
                <a:tc>
                  <a:txBody>
                    <a:bodyPr/>
                    <a:lstStyle/>
                    <a:p>
                      <a:r>
                        <a:rPr lang="en-US" sz="1800" b="0" dirty="0" smtClean="0">
                          <a:solidFill>
                            <a:schemeClr val="tx1"/>
                          </a:solidFill>
                        </a:rPr>
                        <a:t>lo</a:t>
                      </a:r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i="1" dirty="0" smtClean="0">
                          <a:solidFill>
                            <a:schemeClr val="tx1"/>
                          </a:solidFill>
                        </a:rPr>
                        <a:t>hi</a:t>
                      </a:r>
                      <a:endParaRPr lang="en-US" sz="18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611089">
                <a:tc gridSpan="2"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rgbClr val="C00000"/>
                          </a:solidFill>
                        </a:rPr>
                        <a:t>SORTED</a:t>
                      </a:r>
                      <a:endParaRPr lang="en-US" sz="1800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1" name="Curved Left Arrow 20"/>
          <p:cNvSpPr/>
          <p:nvPr/>
        </p:nvSpPr>
        <p:spPr bwMode="auto">
          <a:xfrm>
            <a:off x="5816600" y="4953000"/>
            <a:ext cx="609600" cy="1828800"/>
          </a:xfrm>
          <a:prstGeom prst="curvedLeftArrow">
            <a:avLst/>
          </a:prstGeom>
          <a:solidFill>
            <a:schemeClr val="accent1">
              <a:lumMod val="40000"/>
              <a:lumOff val="60000"/>
            </a:schemeClr>
          </a:solidFill>
          <a:ln w="127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  <p:sp>
        <p:nvSpPr>
          <p:cNvPr id="22" name="Curved Left Arrow 21"/>
          <p:cNvSpPr/>
          <p:nvPr/>
        </p:nvSpPr>
        <p:spPr bwMode="auto">
          <a:xfrm>
            <a:off x="5816600" y="6858000"/>
            <a:ext cx="609600" cy="1828800"/>
          </a:xfrm>
          <a:prstGeom prst="curvedLeftArrow">
            <a:avLst/>
          </a:prstGeom>
          <a:solidFill>
            <a:schemeClr val="accent1">
              <a:lumMod val="40000"/>
              <a:lumOff val="60000"/>
            </a:schemeClr>
          </a:solidFill>
          <a:ln w="127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578600" y="5410200"/>
            <a:ext cx="155523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b="0" dirty="0" smtClean="0">
                <a:solidFill>
                  <a:schemeClr val="tx1"/>
                </a:solidFill>
              </a:rPr>
              <a:t>Recursive</a:t>
            </a:r>
            <a:br>
              <a:rPr lang="en-US" b="0" dirty="0" smtClean="0">
                <a:solidFill>
                  <a:schemeClr val="tx1"/>
                </a:solidFill>
              </a:rPr>
            </a:br>
            <a:r>
              <a:rPr lang="en-US" b="0" dirty="0" smtClean="0">
                <a:solidFill>
                  <a:schemeClr val="tx1"/>
                </a:solidFill>
              </a:rPr>
              <a:t>calls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78600" y="7539335"/>
            <a:ext cx="16914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b="0" dirty="0" smtClean="0">
                <a:solidFill>
                  <a:schemeClr val="tx1"/>
                </a:solidFill>
              </a:rPr>
              <a:t>Final touch</a:t>
            </a:r>
          </a:p>
        </p:txBody>
      </p:sp>
      <p:sp>
        <p:nvSpPr>
          <p:cNvPr id="30" name="Rectangle 7"/>
          <p:cNvSpPr>
            <a:spLocks/>
          </p:cNvSpPr>
          <p:nvPr/>
        </p:nvSpPr>
        <p:spPr bwMode="auto">
          <a:xfrm>
            <a:off x="254000" y="2649734"/>
            <a:ext cx="625468" cy="595035"/>
          </a:xfrm>
          <a:prstGeom prst="rect">
            <a:avLst/>
          </a:prstGeom>
          <a:noFill/>
          <a:ln w="12700">
            <a:noFill/>
            <a:miter lim="400000"/>
            <a:headEnd/>
            <a:tailEnd/>
          </a:ln>
        </p:spPr>
        <p:txBody>
          <a:bodyPr wrap="square" lIns="50800" tIns="50800" rIns="50800" bIns="50800" anchor="ctr">
            <a:spAutoFit/>
          </a:bodyPr>
          <a:lstStyle/>
          <a:p>
            <a:r>
              <a:rPr lang="en-US" sz="3200" b="0" dirty="0" smtClean="0"/>
              <a:t>A:</a:t>
            </a:r>
            <a:endParaRPr lang="en-US" sz="3200" b="0" dirty="0"/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939800" y="2206822"/>
          <a:ext cx="5105400" cy="1069778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2355913"/>
                <a:gridCol w="2341177"/>
                <a:gridCol w="408310"/>
              </a:tblGrid>
              <a:tr h="458689">
                <a:tc>
                  <a:txBody>
                    <a:bodyPr/>
                    <a:lstStyle/>
                    <a:p>
                      <a:r>
                        <a:rPr lang="en-US" sz="1800" b="0" dirty="0" smtClean="0">
                          <a:solidFill>
                            <a:schemeClr val="tx1"/>
                          </a:solidFill>
                        </a:rPr>
                        <a:t>lo</a:t>
                      </a:r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i="1" dirty="0" smtClean="0">
                          <a:solidFill>
                            <a:schemeClr val="tx1"/>
                          </a:solidFill>
                        </a:rPr>
                        <a:t>hi</a:t>
                      </a:r>
                      <a:endParaRPr lang="en-US" sz="18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611089">
                <a:tc gridSpan="2"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2" name="Curved Left Arrow 31"/>
          <p:cNvSpPr/>
          <p:nvPr/>
        </p:nvSpPr>
        <p:spPr bwMode="auto">
          <a:xfrm>
            <a:off x="5816600" y="3048000"/>
            <a:ext cx="609600" cy="1828800"/>
          </a:xfrm>
          <a:prstGeom prst="curvedLeftArrow">
            <a:avLst/>
          </a:prstGeom>
          <a:solidFill>
            <a:schemeClr val="accent1">
              <a:lumMod val="40000"/>
              <a:lumOff val="60000"/>
            </a:schemeClr>
          </a:solidFill>
          <a:ln w="127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578600" y="3653135"/>
            <a:ext cx="15712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b="0" dirty="0" smtClean="0">
                <a:solidFill>
                  <a:schemeClr val="tx1"/>
                </a:solidFill>
              </a:rPr>
              <a:t>Prep work</a:t>
            </a:r>
          </a:p>
        </p:txBody>
      </p:sp>
      <p:sp>
        <p:nvSpPr>
          <p:cNvPr id="15" name="Rectangular Callout 14"/>
          <p:cNvSpPr/>
          <p:nvPr/>
        </p:nvSpPr>
        <p:spPr bwMode="auto">
          <a:xfrm>
            <a:off x="10092973" y="4394537"/>
            <a:ext cx="1757854" cy="707886"/>
          </a:xfrm>
          <a:prstGeom prst="wedgeRectCallout">
            <a:avLst>
              <a:gd name="adj1" fmla="val -164314"/>
              <a:gd name="adj2" fmla="val -90061"/>
            </a:avLst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wrap="none" lIns="45720" rIns="45720" anchor="ctr">
            <a:spAutoFit/>
          </a:bodyPr>
          <a:lstStyle/>
          <a:p>
            <a:pPr>
              <a:defRPr/>
            </a:pPr>
            <a:r>
              <a:rPr lang="en-US" sz="2000" b="0" dirty="0" smtClean="0">
                <a:solidFill>
                  <a:srgbClr val="FF0000"/>
                </a:solidFill>
              </a:rPr>
              <a:t>some real cost</a:t>
            </a:r>
            <a:r>
              <a:rPr lang="en-US" sz="2000" b="0" dirty="0" smtClean="0"/>
              <a:t/>
            </a:r>
            <a:br>
              <a:rPr lang="en-US" sz="2000" b="0" dirty="0" smtClean="0"/>
            </a:br>
            <a:r>
              <a:rPr lang="en-US" sz="2000" b="0" dirty="0" smtClean="0"/>
              <a:t>hopefully </a:t>
            </a:r>
            <a:r>
              <a:rPr lang="en-US" sz="2000" b="0" i="1" dirty="0" smtClean="0"/>
              <a:t>O(n)</a:t>
            </a:r>
            <a:endParaRPr lang="en-US" sz="2000" b="0" i="1" dirty="0"/>
          </a:p>
        </p:txBody>
      </p:sp>
      <p:sp>
        <p:nvSpPr>
          <p:cNvPr id="20" name="Rectangular Callout 19"/>
          <p:cNvSpPr/>
          <p:nvPr/>
        </p:nvSpPr>
        <p:spPr bwMode="auto">
          <a:xfrm>
            <a:off x="10083800" y="6324600"/>
            <a:ext cx="1743427" cy="707886"/>
          </a:xfrm>
          <a:prstGeom prst="wedgeRectCallout">
            <a:avLst>
              <a:gd name="adj1" fmla="val -157326"/>
              <a:gd name="adj2" fmla="val 127777"/>
            </a:avLst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wrap="none" lIns="45720" rIns="45720" anchor="ctr">
            <a:spAutoFit/>
          </a:bodyPr>
          <a:lstStyle/>
          <a:p>
            <a:pPr>
              <a:defRPr/>
            </a:pPr>
            <a:r>
              <a:rPr lang="en-US" sz="2000" b="0" dirty="0" smtClean="0">
                <a:solidFill>
                  <a:srgbClr val="FF0000"/>
                </a:solidFill>
              </a:rPr>
              <a:t>almost no cost</a:t>
            </a:r>
            <a:br>
              <a:rPr lang="en-US" sz="2000" b="0" dirty="0" smtClean="0">
                <a:solidFill>
                  <a:srgbClr val="FF0000"/>
                </a:solidFill>
              </a:rPr>
            </a:br>
            <a:r>
              <a:rPr lang="en-US" sz="2000" b="0" i="1" dirty="0" smtClean="0"/>
              <a:t>O(1)</a:t>
            </a:r>
            <a:endParaRPr lang="en-US" sz="2000" b="0" i="1" dirty="0"/>
          </a:p>
        </p:txBody>
      </p:sp>
      <p:sp>
        <p:nvSpPr>
          <p:cNvPr id="27" name="Rectangular Callout 26"/>
          <p:cNvSpPr/>
          <p:nvPr/>
        </p:nvSpPr>
        <p:spPr bwMode="auto">
          <a:xfrm>
            <a:off x="9855200" y="7696200"/>
            <a:ext cx="2808076" cy="1015663"/>
          </a:xfrm>
          <a:prstGeom prst="wedgeRectCallout">
            <a:avLst>
              <a:gd name="adj1" fmla="val 1569"/>
              <a:gd name="adj2" fmla="val -123561"/>
            </a:avLst>
          </a:prstGeom>
          <a:solidFill>
            <a:schemeClr val="accent2">
              <a:lumMod val="40000"/>
              <a:lumOff val="60000"/>
            </a:schemeClr>
          </a:solidFill>
          <a:ln w="127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wrap="none" lIns="45720" rIns="45720" anchor="ctr">
            <a:spAutoFit/>
          </a:bodyPr>
          <a:lstStyle/>
          <a:p>
            <a:pPr>
              <a:defRPr/>
            </a:pPr>
            <a:r>
              <a:rPr lang="en-US" sz="2000" b="0" dirty="0" smtClean="0"/>
              <a:t>What if we arrange</a:t>
            </a:r>
            <a:br>
              <a:rPr lang="en-US" sz="2000" b="0" dirty="0" smtClean="0"/>
            </a:br>
            <a:r>
              <a:rPr lang="en-US" sz="2000" b="0" dirty="0" smtClean="0"/>
              <a:t>so that </a:t>
            </a:r>
            <a:r>
              <a:rPr lang="en-US" sz="2000" b="0" dirty="0" smtClean="0">
                <a:solidFill>
                  <a:srgbClr val="C00000"/>
                </a:solidFill>
              </a:rPr>
              <a:t>A[</a:t>
            </a:r>
            <a:r>
              <a:rPr lang="en-US" sz="2000" b="0" dirty="0" err="1" smtClean="0">
                <a:solidFill>
                  <a:srgbClr val="C00000"/>
                </a:solidFill>
              </a:rPr>
              <a:t>lo,p</a:t>
            </a:r>
            <a:r>
              <a:rPr lang="en-US" sz="2000" b="0" dirty="0" smtClean="0">
                <a:solidFill>
                  <a:srgbClr val="C00000"/>
                </a:solidFill>
              </a:rPr>
              <a:t>) ≤ A[</a:t>
            </a:r>
            <a:r>
              <a:rPr lang="en-US" sz="2000" b="0" dirty="0" err="1" smtClean="0">
                <a:solidFill>
                  <a:srgbClr val="C00000"/>
                </a:solidFill>
              </a:rPr>
              <a:t>p,hi</a:t>
            </a:r>
            <a:r>
              <a:rPr lang="en-US" sz="2000" b="0" dirty="0" smtClean="0">
                <a:solidFill>
                  <a:srgbClr val="C00000"/>
                </a:solidFill>
              </a:rPr>
              <a:t>)</a:t>
            </a:r>
            <a:r>
              <a:rPr lang="en-US" sz="2000" b="0" dirty="0" smtClean="0"/>
              <a:t>?</a:t>
            </a:r>
            <a:br>
              <a:rPr lang="en-US" sz="2000" b="0" dirty="0" smtClean="0"/>
            </a:br>
            <a:r>
              <a:rPr lang="en-US" sz="2000" b="0" i="1" dirty="0" smtClean="0"/>
              <a:t>No final touch needed!</a:t>
            </a:r>
            <a:endParaRPr lang="en-US" sz="2000" b="0" i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Reflections</a:t>
            </a:r>
            <a:endParaRPr lang="en-US" dirty="0"/>
          </a:p>
        </p:txBody>
      </p:sp>
      <p:sp>
        <p:nvSpPr>
          <p:cNvPr id="26" name="Content Placeholder 25"/>
          <p:cNvSpPr>
            <a:spLocks noGrp="1"/>
          </p:cNvSpPr>
          <p:nvPr>
            <p:ph idx="1"/>
          </p:nvPr>
        </p:nvSpPr>
        <p:spPr>
          <a:xfrm>
            <a:off x="8255000" y="1981200"/>
            <a:ext cx="4267200" cy="6896100"/>
          </a:xfrm>
        </p:spPr>
        <p:txBody>
          <a:bodyPr/>
          <a:lstStyle/>
          <a:p>
            <a:r>
              <a:rPr lang="en-US" b="1" i="1" dirty="0" smtClean="0"/>
              <a:t>How</a:t>
            </a:r>
            <a:r>
              <a:rPr lang="en-US" dirty="0" smtClean="0"/>
              <a:t> do we do it the other way around?</a:t>
            </a:r>
            <a:endParaRPr lang="en-US" dirty="0"/>
          </a:p>
        </p:txBody>
      </p:sp>
      <p:sp>
        <p:nvSpPr>
          <p:cNvPr id="6" name="Rectangle 7"/>
          <p:cNvSpPr>
            <a:spLocks/>
          </p:cNvSpPr>
          <p:nvPr/>
        </p:nvSpPr>
        <p:spPr bwMode="auto">
          <a:xfrm>
            <a:off x="254000" y="4557712"/>
            <a:ext cx="625468" cy="595035"/>
          </a:xfrm>
          <a:prstGeom prst="rect">
            <a:avLst/>
          </a:prstGeom>
          <a:noFill/>
          <a:ln w="12700">
            <a:noFill/>
            <a:miter lim="400000"/>
            <a:headEnd/>
            <a:tailEnd/>
          </a:ln>
        </p:spPr>
        <p:txBody>
          <a:bodyPr wrap="square" lIns="50800" tIns="50800" rIns="50800" bIns="50800" anchor="ctr">
            <a:spAutoFit/>
          </a:bodyPr>
          <a:lstStyle/>
          <a:p>
            <a:r>
              <a:rPr lang="en-US" sz="3200" b="0" dirty="0" smtClean="0"/>
              <a:t>A:</a:t>
            </a:r>
            <a:endParaRPr lang="en-US" sz="3200" b="0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939800" y="4114800"/>
          <a:ext cx="5105400" cy="1069778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2355913"/>
                <a:gridCol w="2341177"/>
                <a:gridCol w="408310"/>
              </a:tblGrid>
              <a:tr h="458689">
                <a:tc>
                  <a:txBody>
                    <a:bodyPr/>
                    <a:lstStyle/>
                    <a:p>
                      <a:r>
                        <a:rPr lang="en-US" sz="1800" b="0" dirty="0" smtClean="0">
                          <a:solidFill>
                            <a:schemeClr val="tx1"/>
                          </a:solidFill>
                        </a:rPr>
                        <a:t>lo</a:t>
                      </a:r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dirty="0" smtClean="0">
                          <a:solidFill>
                            <a:schemeClr val="tx1"/>
                          </a:solidFill>
                        </a:rPr>
                        <a:t>p</a:t>
                      </a:r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i="1" dirty="0" smtClean="0">
                          <a:solidFill>
                            <a:schemeClr val="tx1"/>
                          </a:solidFill>
                        </a:rPr>
                        <a:t>hi</a:t>
                      </a:r>
                      <a:endParaRPr lang="en-US" sz="18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611089"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6" name="Rectangle 7"/>
          <p:cNvSpPr>
            <a:spLocks/>
          </p:cNvSpPr>
          <p:nvPr/>
        </p:nvSpPr>
        <p:spPr bwMode="auto">
          <a:xfrm>
            <a:off x="254000" y="6462712"/>
            <a:ext cx="625468" cy="595035"/>
          </a:xfrm>
          <a:prstGeom prst="rect">
            <a:avLst/>
          </a:prstGeom>
          <a:noFill/>
          <a:ln w="12700">
            <a:noFill/>
            <a:miter lim="400000"/>
            <a:headEnd/>
            <a:tailEnd/>
          </a:ln>
        </p:spPr>
        <p:txBody>
          <a:bodyPr wrap="square" lIns="50800" tIns="50800" rIns="50800" bIns="50800" anchor="ctr">
            <a:spAutoFit/>
          </a:bodyPr>
          <a:lstStyle/>
          <a:p>
            <a:r>
              <a:rPr lang="en-US" sz="3200" b="0" dirty="0" smtClean="0"/>
              <a:t>A:</a:t>
            </a:r>
            <a:endParaRPr lang="en-US" sz="3200" b="0" dirty="0"/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939800" y="6019800"/>
          <a:ext cx="5105400" cy="1069778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2355913"/>
                <a:gridCol w="2341177"/>
                <a:gridCol w="408310"/>
              </a:tblGrid>
              <a:tr h="458689">
                <a:tc>
                  <a:txBody>
                    <a:bodyPr/>
                    <a:lstStyle/>
                    <a:p>
                      <a:r>
                        <a:rPr lang="en-US" sz="1800" b="0" dirty="0" smtClean="0">
                          <a:solidFill>
                            <a:schemeClr val="tx1"/>
                          </a:solidFill>
                        </a:rPr>
                        <a:t>lo</a:t>
                      </a:r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dirty="0" smtClean="0">
                          <a:solidFill>
                            <a:schemeClr val="tx1"/>
                          </a:solidFill>
                        </a:rPr>
                        <a:t>p</a:t>
                      </a:r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i="1" dirty="0" smtClean="0">
                          <a:solidFill>
                            <a:schemeClr val="tx1"/>
                          </a:solidFill>
                        </a:rPr>
                        <a:t>hi</a:t>
                      </a:r>
                      <a:endParaRPr lang="en-US" sz="18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611089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rgbClr val="C00000"/>
                          </a:solidFill>
                        </a:rPr>
                        <a:t>SORTED</a:t>
                      </a:r>
                      <a:endParaRPr lang="en-US" sz="1800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rgbClr val="C00000"/>
                          </a:solidFill>
                        </a:rPr>
                        <a:t>SORTED</a:t>
                      </a:r>
                      <a:endParaRPr lang="en-US" sz="1800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8" name="Rectangle 7"/>
          <p:cNvSpPr>
            <a:spLocks/>
          </p:cNvSpPr>
          <p:nvPr/>
        </p:nvSpPr>
        <p:spPr bwMode="auto">
          <a:xfrm>
            <a:off x="254000" y="8364734"/>
            <a:ext cx="625468" cy="595035"/>
          </a:xfrm>
          <a:prstGeom prst="rect">
            <a:avLst/>
          </a:prstGeom>
          <a:noFill/>
          <a:ln w="12700">
            <a:noFill/>
            <a:miter lim="400000"/>
            <a:headEnd/>
            <a:tailEnd/>
          </a:ln>
        </p:spPr>
        <p:txBody>
          <a:bodyPr wrap="square" lIns="50800" tIns="50800" rIns="50800" bIns="50800" anchor="ctr">
            <a:spAutoFit/>
          </a:bodyPr>
          <a:lstStyle/>
          <a:p>
            <a:r>
              <a:rPr lang="en-US" sz="3200" b="0" dirty="0" smtClean="0"/>
              <a:t>A:</a:t>
            </a:r>
            <a:endParaRPr lang="en-US" sz="3200" b="0" dirty="0"/>
          </a:p>
        </p:txBody>
      </p:sp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939800" y="7921822"/>
          <a:ext cx="5105400" cy="1069778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2355913"/>
                <a:gridCol w="2341177"/>
                <a:gridCol w="408310"/>
              </a:tblGrid>
              <a:tr h="458689">
                <a:tc>
                  <a:txBody>
                    <a:bodyPr/>
                    <a:lstStyle/>
                    <a:p>
                      <a:r>
                        <a:rPr lang="en-US" sz="1800" b="0" dirty="0" smtClean="0">
                          <a:solidFill>
                            <a:schemeClr val="tx1"/>
                          </a:solidFill>
                        </a:rPr>
                        <a:t>lo</a:t>
                      </a:r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i="1" dirty="0" smtClean="0">
                          <a:solidFill>
                            <a:schemeClr val="tx1"/>
                          </a:solidFill>
                        </a:rPr>
                        <a:t>hi</a:t>
                      </a:r>
                      <a:endParaRPr lang="en-US" sz="18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611089">
                <a:tc gridSpan="2"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rgbClr val="C00000"/>
                          </a:solidFill>
                        </a:rPr>
                        <a:t>SORTED</a:t>
                      </a:r>
                      <a:endParaRPr lang="en-US" sz="1800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1" name="Curved Left Arrow 20"/>
          <p:cNvSpPr/>
          <p:nvPr/>
        </p:nvSpPr>
        <p:spPr bwMode="auto">
          <a:xfrm>
            <a:off x="5816600" y="4953000"/>
            <a:ext cx="609600" cy="1828800"/>
          </a:xfrm>
          <a:prstGeom prst="curvedLeftArrow">
            <a:avLst/>
          </a:prstGeom>
          <a:solidFill>
            <a:schemeClr val="accent1">
              <a:lumMod val="40000"/>
              <a:lumOff val="60000"/>
            </a:schemeClr>
          </a:solidFill>
          <a:ln w="127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  <p:sp>
        <p:nvSpPr>
          <p:cNvPr id="22" name="Curved Left Arrow 21"/>
          <p:cNvSpPr/>
          <p:nvPr/>
        </p:nvSpPr>
        <p:spPr bwMode="auto">
          <a:xfrm>
            <a:off x="5816600" y="6858000"/>
            <a:ext cx="609600" cy="1828800"/>
          </a:xfrm>
          <a:prstGeom prst="curvedLeftArrow">
            <a:avLst/>
          </a:prstGeom>
          <a:solidFill>
            <a:schemeClr val="accent1">
              <a:lumMod val="40000"/>
              <a:lumOff val="60000"/>
            </a:schemeClr>
          </a:solidFill>
          <a:ln w="127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6578600" y="5410200"/>
            <a:ext cx="1555234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b="0" dirty="0" smtClean="0">
                <a:solidFill>
                  <a:schemeClr val="tx1"/>
                </a:solidFill>
              </a:rPr>
              <a:t>Recursive</a:t>
            </a:r>
            <a:br>
              <a:rPr lang="en-US" b="0" dirty="0" smtClean="0">
                <a:solidFill>
                  <a:schemeClr val="tx1"/>
                </a:solidFill>
              </a:rPr>
            </a:br>
            <a:r>
              <a:rPr lang="en-US" b="0" dirty="0" smtClean="0">
                <a:solidFill>
                  <a:schemeClr val="tx1"/>
                </a:solidFill>
              </a:rPr>
              <a:t>calls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578600" y="7539335"/>
            <a:ext cx="169148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b="0" dirty="0" smtClean="0">
                <a:solidFill>
                  <a:schemeClr val="tx1"/>
                </a:solidFill>
              </a:rPr>
              <a:t>Final touch</a:t>
            </a:r>
          </a:p>
        </p:txBody>
      </p:sp>
      <p:sp>
        <p:nvSpPr>
          <p:cNvPr id="30" name="Rectangle 7"/>
          <p:cNvSpPr>
            <a:spLocks/>
          </p:cNvSpPr>
          <p:nvPr/>
        </p:nvSpPr>
        <p:spPr bwMode="auto">
          <a:xfrm>
            <a:off x="254000" y="2649734"/>
            <a:ext cx="625468" cy="595035"/>
          </a:xfrm>
          <a:prstGeom prst="rect">
            <a:avLst/>
          </a:prstGeom>
          <a:noFill/>
          <a:ln w="12700">
            <a:noFill/>
            <a:miter lim="400000"/>
            <a:headEnd/>
            <a:tailEnd/>
          </a:ln>
        </p:spPr>
        <p:txBody>
          <a:bodyPr wrap="square" lIns="50800" tIns="50800" rIns="50800" bIns="50800" anchor="ctr">
            <a:spAutoFit/>
          </a:bodyPr>
          <a:lstStyle/>
          <a:p>
            <a:r>
              <a:rPr lang="en-US" sz="3200" b="0" dirty="0" smtClean="0"/>
              <a:t>A:</a:t>
            </a:r>
            <a:endParaRPr lang="en-US" sz="3200" b="0" dirty="0"/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939800" y="2206822"/>
          <a:ext cx="5105400" cy="1069778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2355913"/>
                <a:gridCol w="2341177"/>
                <a:gridCol w="408310"/>
              </a:tblGrid>
              <a:tr h="458689">
                <a:tc>
                  <a:txBody>
                    <a:bodyPr/>
                    <a:lstStyle/>
                    <a:p>
                      <a:r>
                        <a:rPr lang="en-US" sz="1800" b="0" dirty="0" smtClean="0">
                          <a:solidFill>
                            <a:schemeClr val="tx1"/>
                          </a:solidFill>
                        </a:rPr>
                        <a:t>lo</a:t>
                      </a:r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i="1" dirty="0" smtClean="0">
                          <a:solidFill>
                            <a:schemeClr val="tx1"/>
                          </a:solidFill>
                        </a:rPr>
                        <a:t>hi</a:t>
                      </a:r>
                      <a:endParaRPr lang="en-US" sz="18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611089">
                <a:tc gridSpan="2"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2" name="Curved Left Arrow 31"/>
          <p:cNvSpPr/>
          <p:nvPr/>
        </p:nvSpPr>
        <p:spPr bwMode="auto">
          <a:xfrm>
            <a:off x="5816600" y="3048000"/>
            <a:ext cx="609600" cy="1828800"/>
          </a:xfrm>
          <a:prstGeom prst="curvedLeftArrow">
            <a:avLst/>
          </a:prstGeom>
          <a:solidFill>
            <a:schemeClr val="accent1">
              <a:lumMod val="40000"/>
              <a:lumOff val="60000"/>
            </a:schemeClr>
          </a:solidFill>
          <a:ln w="127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6578600" y="3653135"/>
            <a:ext cx="157126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/>
            <a:r>
              <a:rPr lang="en-US" b="0" dirty="0" smtClean="0">
                <a:solidFill>
                  <a:schemeClr val="tx1"/>
                </a:solidFill>
              </a:rPr>
              <a:t>Prep work</a:t>
            </a:r>
          </a:p>
        </p:txBody>
      </p:sp>
      <p:sp>
        <p:nvSpPr>
          <p:cNvPr id="20" name="Rectangular Callout 19"/>
          <p:cNvSpPr/>
          <p:nvPr/>
        </p:nvSpPr>
        <p:spPr bwMode="auto">
          <a:xfrm>
            <a:off x="10083800" y="8286690"/>
            <a:ext cx="1616789" cy="400110"/>
          </a:xfrm>
          <a:prstGeom prst="wedgeRectCallout">
            <a:avLst>
              <a:gd name="adj1" fmla="val -165218"/>
              <a:gd name="adj2" fmla="val -143278"/>
            </a:avLst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wrap="none" lIns="45720" rIns="45720" anchor="ctr">
            <a:spAutoFit/>
          </a:bodyPr>
          <a:lstStyle/>
          <a:p>
            <a:pPr>
              <a:defRPr/>
            </a:pPr>
            <a:r>
              <a:rPr lang="en-US" sz="2000" b="0" i="1" dirty="0" smtClean="0"/>
              <a:t>Nothing to do</a:t>
            </a:r>
            <a:endParaRPr lang="en-US" sz="2000" b="0" i="1" dirty="0"/>
          </a:p>
        </p:txBody>
      </p:sp>
      <p:sp>
        <p:nvSpPr>
          <p:cNvPr id="25" name="TextBox 24"/>
          <p:cNvSpPr txBox="1"/>
          <p:nvPr/>
        </p:nvSpPr>
        <p:spPr>
          <a:xfrm>
            <a:off x="2281467" y="7524690"/>
            <a:ext cx="20747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0" dirty="0" smtClean="0">
                <a:solidFill>
                  <a:srgbClr val="C00000"/>
                </a:solidFill>
              </a:rPr>
              <a:t>A[lo, p) ≤ A[p, hi)</a:t>
            </a:r>
          </a:p>
        </p:txBody>
      </p:sp>
      <p:sp>
        <p:nvSpPr>
          <p:cNvPr id="28" name="Oval 27"/>
          <p:cNvSpPr>
            <a:spLocks noChangeArrowheads="1"/>
          </p:cNvSpPr>
          <p:nvPr/>
        </p:nvSpPr>
        <p:spPr bwMode="auto">
          <a:xfrm>
            <a:off x="2061534" y="7391400"/>
            <a:ext cx="2514600" cy="685800"/>
          </a:xfrm>
          <a:prstGeom prst="ellipse">
            <a:avLst/>
          </a:prstGeom>
          <a:noFill/>
          <a:ln w="38100" algn="ctr">
            <a:solidFill>
              <a:srgbClr val="FF0000"/>
            </a:solidFill>
            <a:miter lim="400000"/>
            <a:headEnd/>
            <a:tailEnd/>
          </a:ln>
        </p:spPr>
        <p:txBody>
          <a:bodyPr lIns="45720" rIns="45720" anchor="ctr"/>
          <a:lstStyle/>
          <a:p>
            <a:endParaRPr lang="en-US" sz="2000" b="0"/>
          </a:p>
        </p:txBody>
      </p:sp>
      <p:sp>
        <p:nvSpPr>
          <p:cNvPr id="29" name="TextBox 28"/>
          <p:cNvSpPr txBox="1"/>
          <p:nvPr/>
        </p:nvSpPr>
        <p:spPr>
          <a:xfrm>
            <a:off x="2281467" y="5509822"/>
            <a:ext cx="20747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0" dirty="0" smtClean="0">
                <a:solidFill>
                  <a:srgbClr val="C00000"/>
                </a:solidFill>
              </a:rPr>
              <a:t>A[lo, p) ≤ A[p, hi)</a:t>
            </a:r>
          </a:p>
        </p:txBody>
      </p:sp>
      <p:sp>
        <p:nvSpPr>
          <p:cNvPr id="34" name="Oval 33"/>
          <p:cNvSpPr>
            <a:spLocks noChangeArrowheads="1"/>
          </p:cNvSpPr>
          <p:nvPr/>
        </p:nvSpPr>
        <p:spPr bwMode="auto">
          <a:xfrm>
            <a:off x="2061534" y="5376532"/>
            <a:ext cx="2514600" cy="685800"/>
          </a:xfrm>
          <a:prstGeom prst="ellipse">
            <a:avLst/>
          </a:prstGeom>
          <a:noFill/>
          <a:ln w="38100" algn="ctr">
            <a:solidFill>
              <a:srgbClr val="FF0000"/>
            </a:solidFill>
            <a:miter lim="400000"/>
            <a:headEnd/>
            <a:tailEnd/>
          </a:ln>
        </p:spPr>
        <p:txBody>
          <a:bodyPr lIns="45720" rIns="45720" anchor="ctr"/>
          <a:lstStyle/>
          <a:p>
            <a:endParaRPr lang="en-US" sz="2000" b="0"/>
          </a:p>
        </p:txBody>
      </p:sp>
      <p:sp>
        <p:nvSpPr>
          <p:cNvPr id="35" name="TextBox 34"/>
          <p:cNvSpPr txBox="1"/>
          <p:nvPr/>
        </p:nvSpPr>
        <p:spPr>
          <a:xfrm>
            <a:off x="2281467" y="3638490"/>
            <a:ext cx="20747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0" dirty="0" smtClean="0">
                <a:solidFill>
                  <a:srgbClr val="C00000"/>
                </a:solidFill>
              </a:rPr>
              <a:t>A[lo, p) ≤ A[p, hi)</a:t>
            </a:r>
          </a:p>
        </p:txBody>
      </p:sp>
      <p:sp>
        <p:nvSpPr>
          <p:cNvPr id="36" name="Oval 35"/>
          <p:cNvSpPr>
            <a:spLocks noChangeArrowheads="1"/>
          </p:cNvSpPr>
          <p:nvPr/>
        </p:nvSpPr>
        <p:spPr bwMode="auto">
          <a:xfrm>
            <a:off x="2061534" y="3505200"/>
            <a:ext cx="2514600" cy="685800"/>
          </a:xfrm>
          <a:prstGeom prst="ellipse">
            <a:avLst/>
          </a:prstGeom>
          <a:noFill/>
          <a:ln w="38100" algn="ctr">
            <a:solidFill>
              <a:srgbClr val="FF0000"/>
            </a:solidFill>
            <a:miter lim="400000"/>
            <a:headEnd/>
            <a:tailEnd/>
          </a:ln>
        </p:spPr>
        <p:txBody>
          <a:bodyPr lIns="45720" rIns="45720" anchor="ctr"/>
          <a:lstStyle/>
          <a:p>
            <a:endParaRPr lang="en-US" sz="2000" b="0"/>
          </a:p>
        </p:txBody>
      </p:sp>
      <p:sp>
        <p:nvSpPr>
          <p:cNvPr id="37" name="Rectangular Callout 36"/>
          <p:cNvSpPr/>
          <p:nvPr/>
        </p:nvSpPr>
        <p:spPr bwMode="auto">
          <a:xfrm>
            <a:off x="9550400" y="6076890"/>
            <a:ext cx="2992294" cy="1323439"/>
          </a:xfrm>
          <a:prstGeom prst="wedgeRectCallout">
            <a:avLst>
              <a:gd name="adj1" fmla="val -101614"/>
              <a:gd name="adj2" fmla="val -58921"/>
            </a:avLst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wrap="none" lIns="45720" rIns="45720" anchor="ctr">
            <a:spAutoFit/>
          </a:bodyPr>
          <a:lstStyle/>
          <a:p>
            <a:pPr>
              <a:defRPr/>
            </a:pPr>
            <a:r>
              <a:rPr lang="en-US" sz="2000" b="0" dirty="0" smtClean="0"/>
              <a:t>Applied independently</a:t>
            </a:r>
            <a:br>
              <a:rPr lang="en-US" sz="2000" b="0" dirty="0" smtClean="0"/>
            </a:br>
            <a:r>
              <a:rPr lang="en-US" sz="2000" b="0" dirty="0" smtClean="0"/>
              <a:t>on each section:</a:t>
            </a:r>
            <a:r>
              <a:rPr lang="en-US" sz="2000" b="0" i="1" dirty="0" smtClean="0"/>
              <a:t/>
            </a:r>
            <a:br>
              <a:rPr lang="en-US" sz="2000" b="0" i="1" dirty="0" smtClean="0"/>
            </a:br>
            <a:r>
              <a:rPr lang="en-US" sz="2000" b="0" i="1" dirty="0" smtClean="0"/>
              <a:t>if </a:t>
            </a:r>
            <a:r>
              <a:rPr lang="en-US" sz="2000" b="0" dirty="0" smtClean="0">
                <a:solidFill>
                  <a:srgbClr val="C00000"/>
                </a:solidFill>
              </a:rPr>
              <a:t>A[</a:t>
            </a:r>
            <a:r>
              <a:rPr lang="en-US" sz="2000" b="0" dirty="0" err="1" smtClean="0">
                <a:solidFill>
                  <a:srgbClr val="C00000"/>
                </a:solidFill>
              </a:rPr>
              <a:t>lo,p</a:t>
            </a:r>
            <a:r>
              <a:rPr lang="en-US" sz="2000" b="0" dirty="0" smtClean="0">
                <a:solidFill>
                  <a:srgbClr val="C00000"/>
                </a:solidFill>
              </a:rPr>
              <a:t>) ≤ A[</a:t>
            </a:r>
            <a:r>
              <a:rPr lang="en-US" sz="2000" b="0" dirty="0" err="1" smtClean="0">
                <a:solidFill>
                  <a:srgbClr val="C00000"/>
                </a:solidFill>
              </a:rPr>
              <a:t>p,hi</a:t>
            </a:r>
            <a:r>
              <a:rPr lang="en-US" sz="2000" b="0" dirty="0" smtClean="0">
                <a:solidFill>
                  <a:srgbClr val="C00000"/>
                </a:solidFill>
              </a:rPr>
              <a:t>)</a:t>
            </a:r>
            <a:r>
              <a:rPr lang="en-US" sz="2000" b="0" i="1" dirty="0" smtClean="0"/>
              <a:t> before,</a:t>
            </a:r>
            <a:br>
              <a:rPr lang="en-US" sz="2000" b="0" i="1" dirty="0" smtClean="0"/>
            </a:br>
            <a:r>
              <a:rPr lang="en-US" sz="2000" b="0" i="1" dirty="0" smtClean="0"/>
              <a:t>then </a:t>
            </a:r>
            <a:r>
              <a:rPr lang="en-US" sz="2000" b="0" dirty="0" smtClean="0">
                <a:solidFill>
                  <a:srgbClr val="C00000"/>
                </a:solidFill>
              </a:rPr>
              <a:t>A[</a:t>
            </a:r>
            <a:r>
              <a:rPr lang="en-US" sz="2000" b="0" dirty="0" err="1" smtClean="0">
                <a:solidFill>
                  <a:srgbClr val="C00000"/>
                </a:solidFill>
              </a:rPr>
              <a:t>lo,p</a:t>
            </a:r>
            <a:r>
              <a:rPr lang="en-US" sz="2000" b="0" dirty="0" smtClean="0">
                <a:solidFill>
                  <a:srgbClr val="C00000"/>
                </a:solidFill>
              </a:rPr>
              <a:t>) ≤ A[</a:t>
            </a:r>
            <a:r>
              <a:rPr lang="en-US" sz="2000" b="0" dirty="0" err="1" smtClean="0">
                <a:solidFill>
                  <a:srgbClr val="C00000"/>
                </a:solidFill>
              </a:rPr>
              <a:t>p,hi</a:t>
            </a:r>
            <a:r>
              <a:rPr lang="en-US" sz="2000" b="0" dirty="0" smtClean="0">
                <a:solidFill>
                  <a:srgbClr val="C00000"/>
                </a:solidFill>
              </a:rPr>
              <a:t>)</a:t>
            </a:r>
            <a:r>
              <a:rPr lang="en-US" sz="2000" b="0" i="1" dirty="0" smtClean="0"/>
              <a:t> after</a:t>
            </a:r>
            <a:endParaRPr lang="en-US" sz="2000" b="0" i="1" dirty="0"/>
          </a:p>
        </p:txBody>
      </p:sp>
      <p:sp>
        <p:nvSpPr>
          <p:cNvPr id="38" name="Rectangular Callout 37"/>
          <p:cNvSpPr/>
          <p:nvPr/>
        </p:nvSpPr>
        <p:spPr bwMode="auto">
          <a:xfrm>
            <a:off x="10092973" y="4267200"/>
            <a:ext cx="1757854" cy="707886"/>
          </a:xfrm>
          <a:prstGeom prst="wedgeRectCallout">
            <a:avLst>
              <a:gd name="adj1" fmla="val -161290"/>
              <a:gd name="adj2" fmla="val -91563"/>
            </a:avLst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wrap="none" lIns="45720" rIns="45720" anchor="ctr">
            <a:spAutoFit/>
          </a:bodyPr>
          <a:lstStyle/>
          <a:p>
            <a:pPr>
              <a:defRPr/>
            </a:pPr>
            <a:r>
              <a:rPr lang="en-US" sz="2000" b="0" dirty="0" smtClean="0">
                <a:solidFill>
                  <a:srgbClr val="FF0000"/>
                </a:solidFill>
              </a:rPr>
              <a:t>some real cost</a:t>
            </a:r>
            <a:r>
              <a:rPr lang="en-US" sz="2000" b="0" dirty="0" smtClean="0"/>
              <a:t/>
            </a:r>
            <a:br>
              <a:rPr lang="en-US" sz="2000" b="0" dirty="0" smtClean="0"/>
            </a:br>
            <a:r>
              <a:rPr lang="en-US" sz="2000" b="0" dirty="0" smtClean="0"/>
              <a:t>hopefully </a:t>
            </a:r>
            <a:r>
              <a:rPr lang="en-US" sz="2000" b="0" i="1" dirty="0" smtClean="0"/>
              <a:t>O(n)</a:t>
            </a:r>
            <a:endParaRPr lang="en-US" sz="2000" b="0" i="1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4" name="Straight Arrow Connector 53"/>
          <p:cNvCxnSpPr/>
          <p:nvPr/>
        </p:nvCxnSpPr>
        <p:spPr bwMode="auto">
          <a:xfrm rot="10800000" flipV="1">
            <a:off x="8636001" y="2971796"/>
            <a:ext cx="2779867" cy="1752604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0070C0"/>
            </a:solidFill>
            <a:prstDash val="solid"/>
            <a:miter lim="400000"/>
            <a:headEnd type="oval" w="lg" len="lg"/>
            <a:tailEnd type="arrow"/>
          </a:ln>
          <a:effectLst/>
        </p:spPr>
      </p:cxn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Partition</a:t>
            </a:r>
            <a:endParaRPr lang="en-US" dirty="0"/>
          </a:p>
        </p:txBody>
      </p:sp>
      <p:sp>
        <p:nvSpPr>
          <p:cNvPr id="26" name="Content Placeholder 2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Function that</a:t>
            </a:r>
          </a:p>
          <a:p>
            <a:pPr lvl="1"/>
            <a:r>
              <a:rPr lang="en-US" dirty="0" smtClean="0"/>
              <a:t>moves </a:t>
            </a:r>
            <a:r>
              <a:rPr lang="en-US" dirty="0" smtClean="0">
                <a:solidFill>
                  <a:srgbClr val="0070C0"/>
                </a:solidFill>
              </a:rPr>
              <a:t>small</a:t>
            </a:r>
            <a:r>
              <a:rPr lang="en-US" dirty="0" smtClean="0"/>
              <a:t> values</a:t>
            </a:r>
            <a:br>
              <a:rPr lang="en-US" dirty="0" smtClean="0"/>
            </a:br>
            <a:r>
              <a:rPr lang="en-US" dirty="0" smtClean="0"/>
              <a:t>to the left of A</a:t>
            </a:r>
          </a:p>
          <a:p>
            <a:pPr lvl="1"/>
            <a:r>
              <a:rPr lang="en-US" dirty="0" smtClean="0"/>
              <a:t>moves </a:t>
            </a:r>
            <a:r>
              <a:rPr lang="en-US" dirty="0" smtClean="0">
                <a:solidFill>
                  <a:srgbClr val="FF0000"/>
                </a:solidFill>
              </a:rPr>
              <a:t>big</a:t>
            </a:r>
            <a:r>
              <a:rPr lang="en-US" dirty="0" smtClean="0"/>
              <a:t> values</a:t>
            </a:r>
            <a:br>
              <a:rPr lang="en-US" dirty="0" smtClean="0"/>
            </a:br>
            <a:r>
              <a:rPr lang="en-US" dirty="0" smtClean="0"/>
              <a:t>to the right of A</a:t>
            </a:r>
          </a:p>
          <a:p>
            <a:pPr lvl="1"/>
            <a:r>
              <a:rPr lang="en-US" dirty="0" smtClean="0"/>
              <a:t>returns the index </a:t>
            </a:r>
            <a:r>
              <a:rPr lang="en-US" dirty="0" smtClean="0">
                <a:solidFill>
                  <a:srgbClr val="CD7923"/>
                </a:solidFill>
                <a:ea typeface="Menlo" charset="0"/>
                <a:cs typeface="Menlo" charset="0"/>
                <a:sym typeface="Menlo" charset="0"/>
              </a:rPr>
              <a:t>p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that separates them</a:t>
            </a:r>
          </a:p>
          <a:p>
            <a:pPr lvl="4"/>
            <a:endParaRPr lang="en-US" dirty="0" smtClean="0"/>
          </a:p>
          <a:p>
            <a:r>
              <a:rPr lang="en-US" dirty="0" smtClean="0"/>
              <a:t>This is partition</a:t>
            </a:r>
            <a:endParaRPr lang="en-US" dirty="0"/>
          </a:p>
        </p:txBody>
      </p:sp>
      <p:sp>
        <p:nvSpPr>
          <p:cNvPr id="6" name="Rectangle 7"/>
          <p:cNvSpPr>
            <a:spLocks/>
          </p:cNvSpPr>
          <p:nvPr/>
        </p:nvSpPr>
        <p:spPr bwMode="auto">
          <a:xfrm>
            <a:off x="6426200" y="4538602"/>
            <a:ext cx="625468" cy="595035"/>
          </a:xfrm>
          <a:prstGeom prst="rect">
            <a:avLst/>
          </a:prstGeom>
          <a:noFill/>
          <a:ln w="12700">
            <a:noFill/>
            <a:miter lim="400000"/>
            <a:headEnd/>
            <a:tailEnd/>
          </a:ln>
        </p:spPr>
        <p:txBody>
          <a:bodyPr wrap="square" lIns="50800" tIns="50800" rIns="50800" bIns="50800" anchor="ctr">
            <a:spAutoFit/>
          </a:bodyPr>
          <a:lstStyle/>
          <a:p>
            <a:r>
              <a:rPr lang="en-US" sz="3200" b="0" dirty="0" smtClean="0"/>
              <a:t>A:</a:t>
            </a:r>
            <a:endParaRPr lang="en-US" sz="3200" b="0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112000" y="4114799"/>
          <a:ext cx="5105400" cy="1050668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2355913"/>
                <a:gridCol w="2341177"/>
                <a:gridCol w="408310"/>
              </a:tblGrid>
              <a:tr h="439579">
                <a:tc>
                  <a:txBody>
                    <a:bodyPr/>
                    <a:lstStyle/>
                    <a:p>
                      <a:r>
                        <a:rPr lang="en-US" sz="1800" b="0" dirty="0" smtClean="0">
                          <a:solidFill>
                            <a:schemeClr val="tx1"/>
                          </a:solidFill>
                        </a:rPr>
                        <a:t>lo</a:t>
                      </a:r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rgbClr val="CD7923"/>
                          </a:solidFill>
                          <a:ea typeface="Menlo" charset="0"/>
                          <a:cs typeface="Menlo" charset="0"/>
                          <a:sym typeface="Menlo" charset="0"/>
                        </a:rPr>
                        <a:t>p</a:t>
                      </a:r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i="1" dirty="0" smtClean="0">
                          <a:solidFill>
                            <a:schemeClr val="tx1"/>
                          </a:solidFill>
                        </a:rPr>
                        <a:t>hi</a:t>
                      </a:r>
                      <a:endParaRPr lang="en-US" sz="18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611089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rgbClr val="0070C0"/>
                          </a:solidFill>
                        </a:rPr>
                        <a:t>SMALLER</a:t>
                      </a:r>
                      <a:endParaRPr lang="en-US" sz="1800" dirty="0">
                        <a:solidFill>
                          <a:srgbClr val="0070C0"/>
                        </a:solidFill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rgbClr val="FF0000"/>
                          </a:solidFill>
                        </a:rPr>
                        <a:t>BIGGER</a:t>
                      </a:r>
                      <a:endParaRPr lang="en-US" sz="1800" dirty="0">
                        <a:solidFill>
                          <a:srgbClr val="FF0000"/>
                        </a:solidFill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0" name="Rectangle 7"/>
          <p:cNvSpPr>
            <a:spLocks/>
          </p:cNvSpPr>
          <p:nvPr/>
        </p:nvSpPr>
        <p:spPr bwMode="auto">
          <a:xfrm>
            <a:off x="6426200" y="2630624"/>
            <a:ext cx="625468" cy="595035"/>
          </a:xfrm>
          <a:prstGeom prst="rect">
            <a:avLst/>
          </a:prstGeom>
          <a:noFill/>
          <a:ln w="12700">
            <a:noFill/>
            <a:miter lim="400000"/>
            <a:headEnd/>
            <a:tailEnd/>
          </a:ln>
        </p:spPr>
        <p:txBody>
          <a:bodyPr wrap="square" lIns="50800" tIns="50800" rIns="50800" bIns="50800" anchor="ctr">
            <a:spAutoFit/>
          </a:bodyPr>
          <a:lstStyle/>
          <a:p>
            <a:r>
              <a:rPr lang="en-US" sz="3200" b="0" dirty="0" smtClean="0"/>
              <a:t>A:</a:t>
            </a:r>
            <a:endParaRPr lang="en-US" sz="3200" b="0" dirty="0"/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7112000" y="2187712"/>
          <a:ext cx="5105400" cy="1069778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2355913"/>
                <a:gridCol w="2341177"/>
                <a:gridCol w="408310"/>
              </a:tblGrid>
              <a:tr h="458689">
                <a:tc>
                  <a:txBody>
                    <a:bodyPr/>
                    <a:lstStyle/>
                    <a:p>
                      <a:r>
                        <a:rPr lang="en-US" sz="1800" b="0" dirty="0" smtClean="0">
                          <a:solidFill>
                            <a:schemeClr val="tx1"/>
                          </a:solidFill>
                        </a:rPr>
                        <a:t>lo</a:t>
                      </a:r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i="1" dirty="0" smtClean="0">
                          <a:solidFill>
                            <a:schemeClr val="tx1"/>
                          </a:solidFill>
                        </a:rPr>
                        <a:t>hi</a:t>
                      </a:r>
                      <a:endParaRPr lang="en-US" sz="18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611089">
                <a:tc gridSpan="2"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2" name="Curved Left Arrow 31"/>
          <p:cNvSpPr/>
          <p:nvPr/>
        </p:nvSpPr>
        <p:spPr bwMode="auto">
          <a:xfrm>
            <a:off x="11988800" y="3028890"/>
            <a:ext cx="609600" cy="1828800"/>
          </a:xfrm>
          <a:prstGeom prst="curvedLeftArrow">
            <a:avLst/>
          </a:prstGeom>
          <a:solidFill>
            <a:schemeClr val="accent1">
              <a:lumMod val="40000"/>
              <a:lumOff val="60000"/>
            </a:schemeClr>
          </a:solidFill>
          <a:ln w="127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8407400" y="5543490"/>
            <a:ext cx="207473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0" dirty="0" smtClean="0">
                <a:solidFill>
                  <a:srgbClr val="C00000"/>
                </a:solidFill>
              </a:rPr>
              <a:t>A[lo, p) ≤ A[p, hi)</a:t>
            </a:r>
          </a:p>
        </p:txBody>
      </p:sp>
      <p:sp>
        <p:nvSpPr>
          <p:cNvPr id="40" name="Right Brace 39"/>
          <p:cNvSpPr/>
          <p:nvPr/>
        </p:nvSpPr>
        <p:spPr bwMode="auto">
          <a:xfrm rot="5400000">
            <a:off x="9321800" y="3028890"/>
            <a:ext cx="228600" cy="4648200"/>
          </a:xfrm>
          <a:prstGeom prst="rightBrace">
            <a:avLst/>
          </a:prstGeom>
          <a:noFill/>
          <a:ln w="38100" cap="flat" cmpd="sng" algn="ctr">
            <a:solidFill>
              <a:srgbClr val="C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50800" tIns="50800" rIns="5080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  <p:sp>
        <p:nvSpPr>
          <p:cNvPr id="41" name="Rectangle 40"/>
          <p:cNvSpPr>
            <a:spLocks/>
          </p:cNvSpPr>
          <p:nvPr/>
        </p:nvSpPr>
        <p:spPr bwMode="auto">
          <a:xfrm>
            <a:off x="1993294" y="6948607"/>
            <a:ext cx="7252306" cy="1661993"/>
          </a:xfrm>
          <a:prstGeom prst="rect">
            <a:avLst/>
          </a:prstGeom>
          <a:noFill/>
          <a:ln w="12700">
            <a:solidFill>
              <a:schemeClr val="tx2"/>
            </a:solidFill>
            <a:miter lim="400000"/>
            <a:headEnd/>
            <a:tailEnd/>
          </a:ln>
        </p:spPr>
        <p:txBody>
          <a:bodyPr wrap="none" tIns="91440" bIns="91440" anchor="ctr">
            <a:spAutoFit/>
          </a:bodyPr>
          <a:lstStyle/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err="1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b="0" dirty="0" smtClean="0">
                <a:solidFill>
                  <a:srgbClr val="5E34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partition 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(</a:t>
            </a:r>
            <a:r>
              <a:rPr lang="en-US" b="0" dirty="0" err="1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b="0" dirty="0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[]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b="0" dirty="0" smtClean="0">
                <a:solidFill>
                  <a:srgbClr val="CD7923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A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, </a:t>
            </a:r>
            <a:r>
              <a:rPr lang="en-US" b="0" dirty="0" err="1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b="0" dirty="0" smtClean="0">
                <a:solidFill>
                  <a:srgbClr val="CD7923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lo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, </a:t>
            </a:r>
            <a:r>
              <a:rPr lang="en-US" b="0" dirty="0" err="1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b="0" dirty="0" smtClean="0">
                <a:solidFill>
                  <a:srgbClr val="CD7923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hi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)</a:t>
            </a:r>
          </a:p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//@requires 0 &lt;= lo &amp;&amp; lo &lt;= hi  &amp;&amp; hi &lt;= \length(A);</a:t>
            </a:r>
          </a:p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//@ensures lo &lt;= \result &amp;&amp; \result &lt;= hi;</a:t>
            </a:r>
          </a:p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//@ensures </a:t>
            </a:r>
            <a:r>
              <a:rPr lang="en-US" b="0" dirty="0" err="1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le_segs</a:t>
            </a:r>
            <a:r>
              <a:rPr lang="en-US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(A, lo, \result, A, \result, hi);</a:t>
            </a:r>
            <a:endParaRPr lang="en-US" b="0" dirty="0" smtClean="0">
              <a:solidFill>
                <a:schemeClr val="tx1"/>
              </a:solidFill>
              <a:latin typeface="Menlo" charset="0"/>
              <a:ea typeface="Menlo" charset="0"/>
              <a:cs typeface="Menlo" charset="0"/>
              <a:sym typeface="Menlo" charset="0"/>
            </a:endParaRPr>
          </a:p>
        </p:txBody>
      </p:sp>
      <p:cxnSp>
        <p:nvCxnSpPr>
          <p:cNvPr id="68" name="Straight Arrow Connector 67"/>
          <p:cNvCxnSpPr/>
          <p:nvPr/>
        </p:nvCxnSpPr>
        <p:spPr bwMode="auto">
          <a:xfrm rot="5400000">
            <a:off x="9973781" y="3843819"/>
            <a:ext cx="1752600" cy="8562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FF0000"/>
            </a:solidFill>
            <a:prstDash val="solid"/>
            <a:miter lim="400000"/>
            <a:headEnd type="oval" w="lg" len="lg"/>
            <a:tailEnd type="arrow"/>
          </a:ln>
          <a:effectLst/>
        </p:spPr>
      </p:cxnSp>
      <p:cxnSp>
        <p:nvCxnSpPr>
          <p:cNvPr id="71" name="Straight Arrow Connector 70"/>
          <p:cNvCxnSpPr/>
          <p:nvPr/>
        </p:nvCxnSpPr>
        <p:spPr bwMode="auto">
          <a:xfrm rot="5400000">
            <a:off x="8854831" y="3286369"/>
            <a:ext cx="1752600" cy="1123462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0070C0"/>
            </a:solidFill>
            <a:prstDash val="solid"/>
            <a:miter lim="400000"/>
            <a:headEnd type="oval" w="lg" len="lg"/>
            <a:tailEnd type="arrow"/>
          </a:ln>
          <a:effectLst/>
        </p:spPr>
      </p:cxnSp>
      <p:cxnSp>
        <p:nvCxnSpPr>
          <p:cNvPr id="74" name="Straight Arrow Connector 73"/>
          <p:cNvCxnSpPr/>
          <p:nvPr/>
        </p:nvCxnSpPr>
        <p:spPr bwMode="auto">
          <a:xfrm rot="16200000" flipH="1">
            <a:off x="8864832" y="3276832"/>
            <a:ext cx="1752600" cy="114254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FF0000"/>
            </a:solidFill>
            <a:prstDash val="solid"/>
            <a:miter lim="400000"/>
            <a:headEnd type="oval" w="lg" len="lg"/>
            <a:tailEnd type="arrow"/>
          </a:ln>
          <a:effectLst/>
        </p:spPr>
      </p:cxnSp>
      <p:cxnSp>
        <p:nvCxnSpPr>
          <p:cNvPr id="77" name="Straight Arrow Connector 76"/>
          <p:cNvCxnSpPr/>
          <p:nvPr/>
        </p:nvCxnSpPr>
        <p:spPr bwMode="auto">
          <a:xfrm rot="10800000" flipV="1">
            <a:off x="7493000" y="2971800"/>
            <a:ext cx="2238362" cy="175260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0070C0"/>
            </a:solidFill>
            <a:prstDash val="solid"/>
            <a:miter lim="400000"/>
            <a:headEnd type="oval" w="lg" len="lg"/>
            <a:tailEnd type="arrow"/>
          </a:ln>
          <a:effectLst/>
        </p:spPr>
      </p:cxnSp>
      <p:cxnSp>
        <p:nvCxnSpPr>
          <p:cNvPr id="80" name="Straight Arrow Connector 79"/>
          <p:cNvCxnSpPr/>
          <p:nvPr/>
        </p:nvCxnSpPr>
        <p:spPr bwMode="auto">
          <a:xfrm>
            <a:off x="8608362" y="2971802"/>
            <a:ext cx="2847038" cy="1752598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FF0000"/>
            </a:solidFill>
            <a:prstDash val="solid"/>
            <a:miter lim="400000"/>
            <a:headEnd type="oval" w="lg" len="lg"/>
            <a:tailEnd type="arrow"/>
          </a:ln>
          <a:effectLst/>
        </p:spPr>
      </p:cxnSp>
      <p:cxnSp>
        <p:nvCxnSpPr>
          <p:cNvPr id="83" name="Straight Arrow Connector 82"/>
          <p:cNvCxnSpPr/>
          <p:nvPr/>
        </p:nvCxnSpPr>
        <p:spPr bwMode="auto">
          <a:xfrm rot="16200000" flipH="1">
            <a:off x="8036632" y="2982032"/>
            <a:ext cx="1752598" cy="1732138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FF0000"/>
            </a:solidFill>
            <a:prstDash val="solid"/>
            <a:miter lim="400000"/>
            <a:headEnd type="oval" w="lg" len="lg"/>
            <a:tailEnd type="arrow"/>
          </a:ln>
          <a:effectLst/>
        </p:spPr>
      </p:cxnSp>
      <p:cxnSp>
        <p:nvCxnSpPr>
          <p:cNvPr id="86" name="Straight Arrow Connector 85"/>
          <p:cNvCxnSpPr/>
          <p:nvPr/>
        </p:nvCxnSpPr>
        <p:spPr bwMode="auto">
          <a:xfrm rot="16200000" flipH="1">
            <a:off x="6917684" y="3539484"/>
            <a:ext cx="1752594" cy="617238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0070C0"/>
            </a:solidFill>
            <a:prstDash val="solid"/>
            <a:miter lim="400000"/>
            <a:headEnd type="oval" w="lg" len="lg"/>
            <a:tailEnd type="arrow"/>
          </a:ln>
          <a:effectLst/>
        </p:spPr>
      </p:cxn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Partition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Using partition in sort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marL="514350" indent="-514350"/>
            <a:endParaRPr lang="en-US" dirty="0" smtClean="0"/>
          </a:p>
          <a:p>
            <a:pPr>
              <a:buNone/>
            </a:pPr>
            <a:endParaRPr lang="en-US" dirty="0" smtClean="0"/>
          </a:p>
          <a:p>
            <a:r>
              <a:rPr lang="en-US" dirty="0" smtClean="0"/>
              <a:t>What if </a:t>
            </a:r>
            <a:r>
              <a:rPr lang="en-US" dirty="0" smtClean="0">
                <a:solidFill>
                  <a:srgbClr val="C00000"/>
                </a:solidFill>
              </a:rPr>
              <a:t>p == hi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where </a:t>
            </a:r>
            <a:r>
              <a:rPr lang="en-US" dirty="0" smtClean="0">
                <a:solidFill>
                  <a:srgbClr val="C00000"/>
                </a:solidFill>
              </a:rPr>
              <a:t>hi &gt; lo+1</a:t>
            </a:r>
            <a:r>
              <a:rPr lang="en-US" dirty="0" smtClean="0"/>
              <a:t> ?</a:t>
            </a:r>
          </a:p>
          <a:p>
            <a:pPr lvl="1"/>
            <a:r>
              <a:rPr lang="en-US" dirty="0" smtClean="0"/>
              <a:t>Infinite loop!</a:t>
            </a:r>
          </a:p>
          <a:p>
            <a:pPr>
              <a:buNone/>
            </a:pPr>
            <a:endParaRPr lang="en-US" dirty="0" smtClean="0"/>
          </a:p>
          <a:p>
            <a:pPr>
              <a:buNone/>
            </a:pPr>
            <a:endParaRPr lang="en-US" dirty="0" smtClean="0"/>
          </a:p>
          <a:p>
            <a:r>
              <a:rPr lang="en-US" dirty="0" smtClean="0"/>
              <a:t>We want </a:t>
            </a:r>
            <a:r>
              <a:rPr lang="en-US" dirty="0" smtClean="0">
                <a:solidFill>
                  <a:srgbClr val="C00000"/>
                </a:solidFill>
              </a:rPr>
              <a:t>p &lt; hi</a:t>
            </a:r>
          </a:p>
          <a:p>
            <a:pPr lvl="1"/>
            <a:r>
              <a:rPr lang="en-US" dirty="0" smtClean="0"/>
              <a:t>There is an element at A[p] when </a:t>
            </a:r>
            <a:r>
              <a:rPr lang="en-US" dirty="0" smtClean="0">
                <a:solidFill>
                  <a:srgbClr val="7030A0"/>
                </a:solidFill>
              </a:rPr>
              <a:t>partition</a:t>
            </a:r>
            <a:r>
              <a:rPr lang="en-US" dirty="0" smtClean="0"/>
              <a:t> returns</a:t>
            </a:r>
            <a:endParaRPr lang="en-US" dirty="0"/>
          </a:p>
        </p:txBody>
      </p:sp>
      <p:sp>
        <p:nvSpPr>
          <p:cNvPr id="4" name="Rectangle 3"/>
          <p:cNvSpPr>
            <a:spLocks/>
          </p:cNvSpPr>
          <p:nvPr/>
        </p:nvSpPr>
        <p:spPr bwMode="auto">
          <a:xfrm>
            <a:off x="5587998" y="2049506"/>
            <a:ext cx="7239001" cy="1661993"/>
          </a:xfrm>
          <a:prstGeom prst="rect">
            <a:avLst/>
          </a:prstGeom>
          <a:noFill/>
          <a:ln w="12700">
            <a:solidFill>
              <a:schemeClr val="tx2"/>
            </a:solidFill>
            <a:miter lim="400000"/>
            <a:headEnd/>
            <a:tailEnd/>
          </a:ln>
        </p:spPr>
        <p:txBody>
          <a:bodyPr wrap="square" tIns="91440" bIns="91440" anchor="ctr">
            <a:spAutoFit/>
          </a:bodyPr>
          <a:lstStyle/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err="1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b="0" dirty="0" smtClean="0">
                <a:solidFill>
                  <a:srgbClr val="5E34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partition 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(</a:t>
            </a:r>
            <a:r>
              <a:rPr lang="en-US" b="0" dirty="0" err="1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b="0" dirty="0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[]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b="0" dirty="0" smtClean="0">
                <a:solidFill>
                  <a:srgbClr val="CD7923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A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, </a:t>
            </a:r>
            <a:r>
              <a:rPr lang="en-US" b="0" dirty="0" err="1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b="0" dirty="0" smtClean="0">
                <a:solidFill>
                  <a:srgbClr val="CD7923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lo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, </a:t>
            </a:r>
            <a:r>
              <a:rPr lang="en-US" b="0" dirty="0" err="1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b="0" dirty="0" smtClean="0">
                <a:solidFill>
                  <a:srgbClr val="CD7923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hi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)</a:t>
            </a:r>
          </a:p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//@requires 0 &lt;= lo &amp;&amp; lo &lt;= hi  &amp;&amp; hi &lt;= \length(A);</a:t>
            </a:r>
          </a:p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//@ensures lo &lt;= \result &amp;&amp; \result &lt;= hi;</a:t>
            </a:r>
          </a:p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//@ensures </a:t>
            </a:r>
            <a:r>
              <a:rPr lang="en-US" b="0" dirty="0" err="1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le_segs</a:t>
            </a:r>
            <a:r>
              <a:rPr lang="en-US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(A, lo, \result, A, \result, hi);</a:t>
            </a:r>
            <a:endParaRPr lang="en-US" b="0" dirty="0" smtClean="0">
              <a:solidFill>
                <a:schemeClr val="tx1"/>
              </a:solidFill>
              <a:latin typeface="Menlo" charset="0"/>
              <a:ea typeface="Menlo" charset="0"/>
              <a:cs typeface="Menlo" charset="0"/>
              <a:sym typeface="Menlo" charset="0"/>
            </a:endParaRPr>
          </a:p>
        </p:txBody>
      </p:sp>
      <p:sp>
        <p:nvSpPr>
          <p:cNvPr id="5" name="Rectangle 4"/>
          <p:cNvSpPr>
            <a:spLocks/>
          </p:cNvSpPr>
          <p:nvPr/>
        </p:nvSpPr>
        <p:spPr bwMode="auto">
          <a:xfrm>
            <a:off x="5588000" y="3709749"/>
            <a:ext cx="7239000" cy="4062651"/>
          </a:xfrm>
          <a:prstGeom prst="rect">
            <a:avLst/>
          </a:prstGeom>
          <a:noFill/>
          <a:ln w="12700">
            <a:solidFill>
              <a:schemeClr val="tx2"/>
            </a:solidFill>
            <a:miter lim="400000"/>
            <a:headEnd/>
            <a:tailEnd/>
          </a:ln>
        </p:spPr>
        <p:txBody>
          <a:bodyPr wrap="square" tIns="91440" bIns="91440" anchor="ctr">
            <a:spAutoFit/>
          </a:bodyPr>
          <a:lstStyle/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void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b="0" dirty="0" smtClean="0">
                <a:solidFill>
                  <a:srgbClr val="5E34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sort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(</a:t>
            </a:r>
            <a:r>
              <a:rPr lang="en-US" b="0" dirty="0" err="1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b="0" dirty="0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[]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b="0" dirty="0" smtClean="0">
                <a:solidFill>
                  <a:srgbClr val="CD7923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A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, </a:t>
            </a:r>
            <a:r>
              <a:rPr lang="en-US" b="0" dirty="0" err="1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b="0" dirty="0" smtClean="0">
                <a:solidFill>
                  <a:srgbClr val="CD7923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lo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, </a:t>
            </a:r>
            <a:r>
              <a:rPr lang="en-US" b="0" dirty="0" err="1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b="0" dirty="0" smtClean="0">
                <a:solidFill>
                  <a:srgbClr val="CD7923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hi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)</a:t>
            </a:r>
          </a:p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//@requires 0 &lt;= lo &amp;&amp; lo &lt;= hi  &amp;&amp; hi &lt;= \length(A);</a:t>
            </a:r>
          </a:p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//@ensures </a:t>
            </a:r>
            <a:r>
              <a:rPr lang="en-US" b="0" dirty="0" err="1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is_sorted</a:t>
            </a:r>
            <a:r>
              <a:rPr lang="en-US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(A, lo, hi);</a:t>
            </a:r>
            <a:endParaRPr lang="en-US" b="0" dirty="0" smtClean="0">
              <a:solidFill>
                <a:schemeClr val="tx1"/>
              </a:solidFill>
              <a:latin typeface="Menlo" charset="0"/>
              <a:ea typeface="Menlo" charset="0"/>
              <a:cs typeface="Menlo" charset="0"/>
              <a:sym typeface="Menlo" charset="0"/>
            </a:endParaRPr>
          </a:p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solidFill>
                  <a:schemeClr val="tx1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{</a:t>
            </a:r>
          </a:p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solidFill>
                  <a:schemeClr val="tx1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  </a:t>
            </a:r>
            <a:r>
              <a:rPr lang="en-US" b="0" dirty="0" smtClean="0">
                <a:solidFill>
                  <a:srgbClr val="D03B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if 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(hi - lo &lt;= 1) </a:t>
            </a:r>
            <a:r>
              <a:rPr lang="en-US" b="0" dirty="0" smtClean="0">
                <a:solidFill>
                  <a:srgbClr val="D03B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return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;</a:t>
            </a:r>
          </a:p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endParaRPr lang="en-US" sz="1200" b="0" dirty="0" smtClean="0">
              <a:solidFill>
                <a:schemeClr val="tx1"/>
              </a:solidFill>
              <a:latin typeface="Menlo" charset="0"/>
              <a:ea typeface="Menlo" charset="0"/>
              <a:cs typeface="Menlo" charset="0"/>
              <a:sym typeface="Menlo" charset="0"/>
            </a:endParaRPr>
          </a:p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 </a:t>
            </a:r>
            <a:r>
              <a:rPr lang="en-US" b="0" dirty="0" err="1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b="0" dirty="0" smtClean="0">
                <a:solidFill>
                  <a:srgbClr val="CD7923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p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= partition(A, lo, hi);</a:t>
            </a:r>
          </a:p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  //@assert  lo &lt;= p &amp;&amp; p &lt;= hi;</a:t>
            </a:r>
          </a:p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 sort(A, lo, p);</a:t>
            </a:r>
            <a:endParaRPr lang="en-US" b="0" dirty="0" smtClean="0">
              <a:solidFill>
                <a:srgbClr val="C00000"/>
              </a:solidFill>
              <a:latin typeface="Menlo" charset="0"/>
              <a:ea typeface="Menlo" charset="0"/>
              <a:cs typeface="Menlo" charset="0"/>
              <a:sym typeface="Menlo" charset="0"/>
            </a:endParaRPr>
          </a:p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 sort(A, p, hi);</a:t>
            </a:r>
            <a:endParaRPr lang="en-US" b="0" dirty="0" smtClean="0">
              <a:solidFill>
                <a:srgbClr val="C00000"/>
              </a:solidFill>
              <a:latin typeface="Menlo" charset="0"/>
              <a:ea typeface="Menlo" charset="0"/>
              <a:cs typeface="Menlo" charset="0"/>
              <a:sym typeface="Menlo" charset="0"/>
            </a:endParaRPr>
          </a:p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solidFill>
                  <a:schemeClr val="tx1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}</a:t>
            </a:r>
            <a:endParaRPr lang="en-US" dirty="0" smtClean="0">
              <a:solidFill>
                <a:schemeClr val="tx1"/>
              </a:solidFill>
              <a:latin typeface="Menlo" charset="0"/>
              <a:ea typeface="Menlo" charset="0"/>
              <a:cs typeface="Menlo" charset="0"/>
              <a:sym typeface="Menlo" charset="0"/>
            </a:endParaRPr>
          </a:p>
        </p:txBody>
      </p:sp>
      <p:sp>
        <p:nvSpPr>
          <p:cNvPr id="6" name="Rectangular Callout 5"/>
          <p:cNvSpPr/>
          <p:nvPr/>
        </p:nvSpPr>
        <p:spPr bwMode="auto">
          <a:xfrm>
            <a:off x="11455399" y="5897463"/>
            <a:ext cx="1244892" cy="707886"/>
          </a:xfrm>
          <a:prstGeom prst="wedgeRectCallout">
            <a:avLst>
              <a:gd name="adj1" fmla="val -150390"/>
              <a:gd name="adj2" fmla="val -196481"/>
            </a:avLst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wrap="none" lIns="45720" rIns="45720" anchor="ctr">
            <a:spAutoFit/>
          </a:bodyPr>
          <a:lstStyle/>
          <a:p>
            <a:pPr>
              <a:defRPr/>
            </a:pPr>
            <a:r>
              <a:rPr lang="en-US" sz="2000" b="0" dirty="0" smtClean="0"/>
              <a:t>just like</a:t>
            </a:r>
            <a:br>
              <a:rPr lang="en-US" sz="2000" b="0" dirty="0" smtClean="0"/>
            </a:br>
            <a:r>
              <a:rPr lang="en-US" sz="2000" b="0" dirty="0" err="1" smtClean="0"/>
              <a:t>mergesort</a:t>
            </a:r>
            <a:endParaRPr lang="en-US" sz="2000" b="0" i="1" dirty="0"/>
          </a:p>
        </p:txBody>
      </p:sp>
      <p:sp>
        <p:nvSpPr>
          <p:cNvPr id="7" name="Rectangular Callout 6"/>
          <p:cNvSpPr/>
          <p:nvPr/>
        </p:nvSpPr>
        <p:spPr bwMode="auto">
          <a:xfrm>
            <a:off x="11455399" y="5897463"/>
            <a:ext cx="1244892" cy="707886"/>
          </a:xfrm>
          <a:prstGeom prst="wedgeRectCallout">
            <a:avLst>
              <a:gd name="adj1" fmla="val -263985"/>
              <a:gd name="adj2" fmla="val -104858"/>
            </a:avLst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wrap="none" lIns="45720" rIns="45720" anchor="ctr">
            <a:spAutoFit/>
          </a:bodyPr>
          <a:lstStyle/>
          <a:p>
            <a:pPr>
              <a:defRPr/>
            </a:pPr>
            <a:r>
              <a:rPr lang="en-US" sz="2000" b="0" dirty="0" smtClean="0"/>
              <a:t>just like</a:t>
            </a:r>
            <a:br>
              <a:rPr lang="en-US" sz="2000" b="0" dirty="0" smtClean="0"/>
            </a:br>
            <a:r>
              <a:rPr lang="en-US" sz="2000" b="0" dirty="0" err="1" smtClean="0"/>
              <a:t>mergesort</a:t>
            </a:r>
            <a:endParaRPr lang="en-US" sz="2000" b="0" i="1" dirty="0"/>
          </a:p>
        </p:txBody>
      </p:sp>
      <p:sp>
        <p:nvSpPr>
          <p:cNvPr id="8" name="Rectangular Callout 7"/>
          <p:cNvSpPr/>
          <p:nvPr/>
        </p:nvSpPr>
        <p:spPr bwMode="auto">
          <a:xfrm>
            <a:off x="11455399" y="5897463"/>
            <a:ext cx="1244892" cy="707886"/>
          </a:xfrm>
          <a:prstGeom prst="wedgeRectCallout">
            <a:avLst>
              <a:gd name="adj1" fmla="val -349395"/>
              <a:gd name="adj2" fmla="val 102419"/>
            </a:avLst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wrap="none" lIns="45720" rIns="45720" anchor="ctr">
            <a:spAutoFit/>
          </a:bodyPr>
          <a:lstStyle/>
          <a:p>
            <a:pPr>
              <a:defRPr/>
            </a:pPr>
            <a:r>
              <a:rPr lang="en-US" sz="2000" b="0" dirty="0" smtClean="0"/>
              <a:t>just like</a:t>
            </a:r>
            <a:br>
              <a:rPr lang="en-US" sz="2000" b="0" dirty="0" smtClean="0"/>
            </a:br>
            <a:r>
              <a:rPr lang="en-US" sz="2000" b="0" dirty="0" err="1" smtClean="0">
                <a:solidFill>
                  <a:srgbClr val="7030A0"/>
                </a:solidFill>
              </a:rPr>
              <a:t>mergesort</a:t>
            </a:r>
            <a:endParaRPr lang="en-US" sz="2000" b="0" i="1" dirty="0">
              <a:solidFill>
                <a:srgbClr val="7030A0"/>
              </a:solidFill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4" name="Straight Arrow Connector 53"/>
          <p:cNvCxnSpPr/>
          <p:nvPr/>
        </p:nvCxnSpPr>
        <p:spPr bwMode="auto">
          <a:xfrm rot="10800000" flipV="1">
            <a:off x="8636001" y="2971796"/>
            <a:ext cx="2779867" cy="1752604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0070C0"/>
            </a:solidFill>
            <a:prstDash val="solid"/>
            <a:miter lim="400000"/>
            <a:headEnd type="oval" w="lg" len="lg"/>
            <a:tailEnd type="arrow"/>
          </a:ln>
          <a:effectLst/>
        </p:spPr>
      </p:cxn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Partition</a:t>
            </a:r>
            <a:endParaRPr lang="en-US" dirty="0"/>
          </a:p>
        </p:txBody>
      </p:sp>
      <p:sp>
        <p:nvSpPr>
          <p:cNvPr id="26" name="Content Placeholder 2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Element v that ends up</a:t>
            </a:r>
            <a:br>
              <a:rPr lang="en-US" dirty="0" smtClean="0"/>
            </a:br>
            <a:r>
              <a:rPr lang="en-US" dirty="0" smtClean="0"/>
              <a:t>in A[p] is the </a:t>
            </a:r>
            <a:r>
              <a:rPr lang="en-US" b="1" dirty="0" smtClean="0"/>
              <a:t>pivot</a:t>
            </a:r>
          </a:p>
          <a:p>
            <a:pPr lvl="1">
              <a:buClr>
                <a:schemeClr val="tx1"/>
              </a:buClr>
            </a:pPr>
            <a:r>
              <a:rPr lang="en-US" dirty="0" smtClean="0">
                <a:solidFill>
                  <a:srgbClr val="CD7923"/>
                </a:solidFill>
                <a:ea typeface="Menlo" charset="0"/>
                <a:cs typeface="Menlo" charset="0"/>
                <a:sym typeface="Menlo" charset="0"/>
              </a:rPr>
              <a:t>A</a:t>
            </a:r>
            <a:r>
              <a:rPr lang="en-US" dirty="0" smtClean="0"/>
              <a:t> is the </a:t>
            </a:r>
            <a:r>
              <a:rPr lang="en-US" b="1" dirty="0" smtClean="0"/>
              <a:t>pivot index</a:t>
            </a:r>
          </a:p>
          <a:p>
            <a:r>
              <a:rPr lang="en-US" dirty="0" smtClean="0"/>
              <a:t>We can refine our</a:t>
            </a:r>
            <a:br>
              <a:rPr lang="en-US" dirty="0" smtClean="0"/>
            </a:br>
            <a:r>
              <a:rPr lang="en-US" dirty="0" smtClean="0"/>
              <a:t>contracts</a:t>
            </a:r>
          </a:p>
          <a:p>
            <a:pPr lvl="1">
              <a:buClr>
                <a:schemeClr val="tx1"/>
              </a:buClr>
            </a:pPr>
            <a:r>
              <a:rPr lang="en-US" dirty="0" smtClean="0">
                <a:solidFill>
                  <a:srgbClr val="C00000"/>
                </a:solidFill>
              </a:rPr>
              <a:t>A[lo, p) ≤ A[p]</a:t>
            </a:r>
          </a:p>
          <a:p>
            <a:pPr lvl="1">
              <a:buClr>
                <a:schemeClr val="tx1"/>
              </a:buClr>
            </a:pPr>
            <a:r>
              <a:rPr lang="en-US" dirty="0" smtClean="0">
                <a:solidFill>
                  <a:srgbClr val="C00000"/>
                </a:solidFill>
              </a:rPr>
              <a:t>A[p] ≤ A[p, hi)</a:t>
            </a:r>
            <a:endParaRPr lang="en-US" dirty="0" smtClean="0"/>
          </a:p>
        </p:txBody>
      </p:sp>
      <p:sp>
        <p:nvSpPr>
          <p:cNvPr id="6" name="Rectangle 7"/>
          <p:cNvSpPr>
            <a:spLocks/>
          </p:cNvSpPr>
          <p:nvPr/>
        </p:nvSpPr>
        <p:spPr bwMode="auto">
          <a:xfrm>
            <a:off x="6426200" y="4538602"/>
            <a:ext cx="625468" cy="595035"/>
          </a:xfrm>
          <a:prstGeom prst="rect">
            <a:avLst/>
          </a:prstGeom>
          <a:noFill/>
          <a:ln w="12700">
            <a:noFill/>
            <a:miter lim="400000"/>
            <a:headEnd/>
            <a:tailEnd/>
          </a:ln>
        </p:spPr>
        <p:txBody>
          <a:bodyPr wrap="square" lIns="50800" tIns="50800" rIns="50800" bIns="50800" anchor="ctr">
            <a:spAutoFit/>
          </a:bodyPr>
          <a:lstStyle/>
          <a:p>
            <a:r>
              <a:rPr lang="en-US" sz="3200" b="0" dirty="0" smtClean="0"/>
              <a:t>A:</a:t>
            </a:r>
            <a:endParaRPr lang="en-US" sz="3200" b="0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112000" y="4114799"/>
          <a:ext cx="5105401" cy="1050668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2355913"/>
                <a:gridCol w="539687"/>
                <a:gridCol w="1801491"/>
                <a:gridCol w="408310"/>
              </a:tblGrid>
              <a:tr h="439579">
                <a:tc>
                  <a:txBody>
                    <a:bodyPr/>
                    <a:lstStyle/>
                    <a:p>
                      <a:r>
                        <a:rPr lang="en-US" sz="1800" b="0" dirty="0" smtClean="0">
                          <a:solidFill>
                            <a:schemeClr val="tx1"/>
                          </a:solidFill>
                        </a:rPr>
                        <a:t>lo</a:t>
                      </a:r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rgbClr val="CD7923"/>
                          </a:solidFill>
                          <a:ea typeface="Menlo" charset="0"/>
                          <a:cs typeface="Menlo" charset="0"/>
                          <a:sym typeface="Menlo" charset="0"/>
                        </a:rPr>
                        <a:t>p</a:t>
                      </a:r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1" dirty="0" smtClean="0">
                          <a:solidFill>
                            <a:schemeClr val="tx1"/>
                          </a:solidFill>
                        </a:rPr>
                        <a:t>hi</a:t>
                      </a:r>
                      <a:endParaRPr lang="en-US" sz="18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611089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rgbClr val="0070C0"/>
                          </a:solidFill>
                        </a:rPr>
                        <a:t>SMALLER</a:t>
                      </a:r>
                      <a:endParaRPr lang="en-US" sz="1800" dirty="0">
                        <a:solidFill>
                          <a:srgbClr val="0070C0"/>
                        </a:solidFill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000" b="0" kern="1200" dirty="0" smtClean="0">
                          <a:solidFill>
                            <a:srgbClr val="CD7923"/>
                          </a:solidFill>
                          <a:latin typeface="+mn-lt"/>
                          <a:ea typeface="Menlo" charset="0"/>
                          <a:cs typeface="Menlo" charset="0"/>
                          <a:sym typeface="Menlo" charset="0"/>
                        </a:rPr>
                        <a:t>v</a:t>
                      </a:r>
                      <a:endParaRPr lang="en-US" sz="2000" b="0" kern="1200" dirty="0">
                        <a:solidFill>
                          <a:srgbClr val="CD7923"/>
                        </a:solidFill>
                        <a:latin typeface="+mn-lt"/>
                        <a:ea typeface="Menlo" charset="0"/>
                        <a:cs typeface="Menlo" charset="0"/>
                        <a:sym typeface="Menlo" charset="0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rgbClr val="FF0000"/>
                          </a:solidFill>
                        </a:rPr>
                        <a:t>BIGGER</a:t>
                      </a:r>
                      <a:endParaRPr lang="en-US" sz="1800" dirty="0">
                        <a:solidFill>
                          <a:srgbClr val="FF0000"/>
                        </a:solidFill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0" name="Rectangle 7"/>
          <p:cNvSpPr>
            <a:spLocks/>
          </p:cNvSpPr>
          <p:nvPr/>
        </p:nvSpPr>
        <p:spPr bwMode="auto">
          <a:xfrm>
            <a:off x="6426200" y="2630624"/>
            <a:ext cx="625468" cy="595035"/>
          </a:xfrm>
          <a:prstGeom prst="rect">
            <a:avLst/>
          </a:prstGeom>
          <a:noFill/>
          <a:ln w="12700">
            <a:noFill/>
            <a:miter lim="400000"/>
            <a:headEnd/>
            <a:tailEnd/>
          </a:ln>
        </p:spPr>
        <p:txBody>
          <a:bodyPr wrap="square" lIns="50800" tIns="50800" rIns="50800" bIns="50800" anchor="ctr">
            <a:spAutoFit/>
          </a:bodyPr>
          <a:lstStyle/>
          <a:p>
            <a:r>
              <a:rPr lang="en-US" sz="3200" b="0" dirty="0" smtClean="0"/>
              <a:t>A:</a:t>
            </a:r>
            <a:endParaRPr lang="en-US" sz="3200" b="0" dirty="0"/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7112000" y="2187712"/>
          <a:ext cx="5105400" cy="1069778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685800"/>
                <a:gridCol w="533400"/>
                <a:gridCol w="1136713"/>
                <a:gridCol w="2341177"/>
                <a:gridCol w="408310"/>
              </a:tblGrid>
              <a:tr h="458689">
                <a:tc gridSpan="3">
                  <a:txBody>
                    <a:bodyPr/>
                    <a:lstStyle/>
                    <a:p>
                      <a:r>
                        <a:rPr lang="en-US" sz="1800" b="0" dirty="0" smtClean="0">
                          <a:solidFill>
                            <a:schemeClr val="tx1"/>
                          </a:solidFill>
                        </a:rPr>
                        <a:t>lo</a:t>
                      </a:r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i="1" dirty="0" smtClean="0">
                          <a:solidFill>
                            <a:schemeClr val="tx1"/>
                          </a:solidFill>
                        </a:rPr>
                        <a:t>hi</a:t>
                      </a:r>
                      <a:endParaRPr lang="en-US" sz="18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611089"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v</a:t>
                      </a:r>
                      <a:endParaRPr lang="en-US" sz="1800" dirty="0"/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2" name="Curved Left Arrow 31"/>
          <p:cNvSpPr/>
          <p:nvPr/>
        </p:nvSpPr>
        <p:spPr bwMode="auto">
          <a:xfrm>
            <a:off x="11988800" y="3028890"/>
            <a:ext cx="609600" cy="1828800"/>
          </a:xfrm>
          <a:prstGeom prst="curvedLeftArrow">
            <a:avLst/>
          </a:prstGeom>
          <a:solidFill>
            <a:schemeClr val="accent1">
              <a:lumMod val="40000"/>
              <a:lumOff val="60000"/>
            </a:schemeClr>
          </a:solidFill>
          <a:ln w="127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7395534" y="5543490"/>
            <a:ext cx="17188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0" dirty="0" smtClean="0">
                <a:solidFill>
                  <a:srgbClr val="C00000"/>
                </a:solidFill>
              </a:rPr>
              <a:t>A[lo, p) ≤ A[p]</a:t>
            </a:r>
          </a:p>
        </p:txBody>
      </p:sp>
      <p:sp>
        <p:nvSpPr>
          <p:cNvPr id="40" name="Right Brace 39"/>
          <p:cNvSpPr/>
          <p:nvPr/>
        </p:nvSpPr>
        <p:spPr bwMode="auto">
          <a:xfrm rot="5400000">
            <a:off x="8131145" y="4219545"/>
            <a:ext cx="247710" cy="2286000"/>
          </a:xfrm>
          <a:prstGeom prst="rightBrace">
            <a:avLst/>
          </a:prstGeom>
          <a:noFill/>
          <a:ln w="38100" cap="flat" cmpd="sng" algn="ctr">
            <a:solidFill>
              <a:srgbClr val="C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50800" tIns="50800" rIns="5080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  <p:sp>
        <p:nvSpPr>
          <p:cNvPr id="41" name="Rectangle 40"/>
          <p:cNvSpPr>
            <a:spLocks/>
          </p:cNvSpPr>
          <p:nvPr/>
        </p:nvSpPr>
        <p:spPr bwMode="auto">
          <a:xfrm>
            <a:off x="1993294" y="6948607"/>
            <a:ext cx="7252306" cy="2031325"/>
          </a:xfrm>
          <a:prstGeom prst="rect">
            <a:avLst/>
          </a:prstGeom>
          <a:noFill/>
          <a:ln w="12700">
            <a:solidFill>
              <a:schemeClr val="tx2"/>
            </a:solidFill>
            <a:miter lim="400000"/>
            <a:headEnd/>
            <a:tailEnd/>
          </a:ln>
        </p:spPr>
        <p:txBody>
          <a:bodyPr wrap="none" tIns="91440" bIns="91440" anchor="ctr">
            <a:spAutoFit/>
          </a:bodyPr>
          <a:lstStyle/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err="1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b="0" dirty="0" smtClean="0">
                <a:solidFill>
                  <a:srgbClr val="5E34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partition 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(</a:t>
            </a:r>
            <a:r>
              <a:rPr lang="en-US" b="0" dirty="0" err="1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b="0" dirty="0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[]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b="0" dirty="0" smtClean="0">
                <a:solidFill>
                  <a:srgbClr val="CD7923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A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, </a:t>
            </a:r>
            <a:r>
              <a:rPr lang="en-US" b="0" dirty="0" err="1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b="0" dirty="0" smtClean="0">
                <a:solidFill>
                  <a:srgbClr val="CD7923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lo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, </a:t>
            </a:r>
            <a:r>
              <a:rPr lang="en-US" b="0" dirty="0" err="1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b="0" dirty="0" smtClean="0">
                <a:solidFill>
                  <a:srgbClr val="CD7923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hi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)</a:t>
            </a:r>
          </a:p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//@requires 0 &lt;= lo &amp;&amp; lo &lt;= hi  &amp;&amp; hi &lt;= \length(A);</a:t>
            </a:r>
          </a:p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//@ensures lo &lt;= \result &amp;&amp; \result &lt; hi;</a:t>
            </a:r>
          </a:p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//@ensures </a:t>
            </a:r>
            <a:r>
              <a:rPr lang="en-US" b="0" dirty="0" err="1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le_seg</a:t>
            </a:r>
            <a:r>
              <a:rPr lang="en-US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(A[\result], A, lo, \result);</a:t>
            </a:r>
          </a:p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//@ensures </a:t>
            </a:r>
            <a:r>
              <a:rPr lang="en-US" b="0" dirty="0" err="1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ge_seg</a:t>
            </a:r>
            <a:r>
              <a:rPr lang="en-US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(A[\result], A, \result, hi);</a:t>
            </a:r>
            <a:endParaRPr lang="en-US" b="0" dirty="0" smtClean="0">
              <a:solidFill>
                <a:schemeClr val="tx1"/>
              </a:solidFill>
              <a:latin typeface="Menlo" charset="0"/>
              <a:ea typeface="Menlo" charset="0"/>
              <a:cs typeface="Menlo" charset="0"/>
              <a:sym typeface="Menlo" charset="0"/>
            </a:endParaRPr>
          </a:p>
        </p:txBody>
      </p:sp>
      <p:cxnSp>
        <p:nvCxnSpPr>
          <p:cNvPr id="68" name="Straight Arrow Connector 67"/>
          <p:cNvCxnSpPr/>
          <p:nvPr/>
        </p:nvCxnSpPr>
        <p:spPr bwMode="auto">
          <a:xfrm rot="5400000">
            <a:off x="9973781" y="3843819"/>
            <a:ext cx="1752600" cy="8562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FF0000"/>
            </a:solidFill>
            <a:prstDash val="solid"/>
            <a:miter lim="400000"/>
            <a:headEnd type="oval" w="lg" len="lg"/>
            <a:tailEnd type="arrow"/>
          </a:ln>
          <a:effectLst/>
        </p:spPr>
      </p:cxnSp>
      <p:cxnSp>
        <p:nvCxnSpPr>
          <p:cNvPr id="71" name="Straight Arrow Connector 70"/>
          <p:cNvCxnSpPr/>
          <p:nvPr/>
        </p:nvCxnSpPr>
        <p:spPr bwMode="auto">
          <a:xfrm rot="5400000">
            <a:off x="8854831" y="3286369"/>
            <a:ext cx="1752600" cy="1123462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0070C0"/>
            </a:solidFill>
            <a:prstDash val="solid"/>
            <a:miter lim="400000"/>
            <a:headEnd type="oval" w="lg" len="lg"/>
            <a:tailEnd type="arrow"/>
          </a:ln>
          <a:effectLst/>
        </p:spPr>
      </p:cxnSp>
      <p:cxnSp>
        <p:nvCxnSpPr>
          <p:cNvPr id="74" name="Straight Arrow Connector 73"/>
          <p:cNvCxnSpPr/>
          <p:nvPr/>
        </p:nvCxnSpPr>
        <p:spPr bwMode="auto">
          <a:xfrm rot="16200000" flipH="1">
            <a:off x="8864832" y="3276832"/>
            <a:ext cx="1752600" cy="114254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FF0000"/>
            </a:solidFill>
            <a:prstDash val="solid"/>
            <a:miter lim="400000"/>
            <a:headEnd type="oval" w="lg" len="lg"/>
            <a:tailEnd type="arrow"/>
          </a:ln>
          <a:effectLst/>
        </p:spPr>
      </p:cxnSp>
      <p:cxnSp>
        <p:nvCxnSpPr>
          <p:cNvPr id="77" name="Straight Arrow Connector 76"/>
          <p:cNvCxnSpPr/>
          <p:nvPr/>
        </p:nvCxnSpPr>
        <p:spPr bwMode="auto">
          <a:xfrm rot="10800000" flipV="1">
            <a:off x="7493000" y="2971800"/>
            <a:ext cx="2238362" cy="175260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0070C0"/>
            </a:solidFill>
            <a:prstDash val="solid"/>
            <a:miter lim="400000"/>
            <a:headEnd type="oval" w="lg" len="lg"/>
            <a:tailEnd type="arrow"/>
          </a:ln>
          <a:effectLst/>
        </p:spPr>
      </p:cxnSp>
      <p:cxnSp>
        <p:nvCxnSpPr>
          <p:cNvPr id="80" name="Straight Arrow Connector 79"/>
          <p:cNvCxnSpPr/>
          <p:nvPr/>
        </p:nvCxnSpPr>
        <p:spPr bwMode="auto">
          <a:xfrm>
            <a:off x="8608362" y="2971802"/>
            <a:ext cx="2847038" cy="1752598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FF0000"/>
            </a:solidFill>
            <a:prstDash val="solid"/>
            <a:miter lim="400000"/>
            <a:headEnd type="oval" w="lg" len="lg"/>
            <a:tailEnd type="arrow"/>
          </a:ln>
          <a:effectLst/>
        </p:spPr>
      </p:cxnSp>
      <p:cxnSp>
        <p:nvCxnSpPr>
          <p:cNvPr id="83" name="Straight Arrow Connector 82"/>
          <p:cNvCxnSpPr/>
          <p:nvPr/>
        </p:nvCxnSpPr>
        <p:spPr bwMode="auto">
          <a:xfrm rot="16200000" flipH="1">
            <a:off x="7884231" y="2982031"/>
            <a:ext cx="1981200" cy="1655938"/>
          </a:xfrm>
          <a:prstGeom prst="straightConnector1">
            <a:avLst/>
          </a:prstGeom>
          <a:solidFill>
            <a:schemeClr val="accent1"/>
          </a:solidFill>
          <a:ln w="57150" cap="flat" cmpd="sng" algn="ctr">
            <a:solidFill>
              <a:schemeClr val="tx1"/>
            </a:solidFill>
            <a:prstDash val="solid"/>
            <a:miter lim="400000"/>
            <a:headEnd type="oval" w="lg" len="lg"/>
            <a:tailEnd type="arrow"/>
          </a:ln>
          <a:effectLst/>
        </p:spPr>
      </p:cxnSp>
      <p:cxnSp>
        <p:nvCxnSpPr>
          <p:cNvPr id="86" name="Straight Arrow Connector 85"/>
          <p:cNvCxnSpPr/>
          <p:nvPr/>
        </p:nvCxnSpPr>
        <p:spPr bwMode="auto">
          <a:xfrm rot="16200000" flipH="1">
            <a:off x="6917684" y="3539484"/>
            <a:ext cx="1752594" cy="617238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0070C0"/>
            </a:solidFill>
            <a:prstDash val="solid"/>
            <a:miter lim="400000"/>
            <a:headEnd type="oval" w="lg" len="lg"/>
            <a:tailEnd type="arrow"/>
          </a:ln>
          <a:effectLst/>
        </p:spPr>
      </p:cxnSp>
      <p:sp>
        <p:nvSpPr>
          <p:cNvPr id="22" name="TextBox 21"/>
          <p:cNvSpPr txBox="1"/>
          <p:nvPr/>
        </p:nvSpPr>
        <p:spPr>
          <a:xfrm>
            <a:off x="9733758" y="5543490"/>
            <a:ext cx="177657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0" dirty="0" smtClean="0">
                <a:solidFill>
                  <a:srgbClr val="C00000"/>
                </a:solidFill>
              </a:rPr>
              <a:t>A[p] ≤ A[p, hi)</a:t>
            </a:r>
          </a:p>
        </p:txBody>
      </p:sp>
      <p:sp>
        <p:nvSpPr>
          <p:cNvPr id="24" name="Right Brace 23"/>
          <p:cNvSpPr/>
          <p:nvPr/>
        </p:nvSpPr>
        <p:spPr bwMode="auto">
          <a:xfrm rot="5400000">
            <a:off x="10493345" y="4219545"/>
            <a:ext cx="247710" cy="2286000"/>
          </a:xfrm>
          <a:prstGeom prst="rightBrace">
            <a:avLst/>
          </a:prstGeom>
          <a:noFill/>
          <a:ln w="38100" cap="flat" cmpd="sng" algn="ctr">
            <a:solidFill>
              <a:srgbClr val="C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50800" tIns="50800" rIns="5080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  <p:sp>
        <p:nvSpPr>
          <p:cNvPr id="25" name="Oval 24"/>
          <p:cNvSpPr>
            <a:spLocks noChangeArrowheads="1"/>
          </p:cNvSpPr>
          <p:nvPr/>
        </p:nvSpPr>
        <p:spPr bwMode="auto">
          <a:xfrm>
            <a:off x="6731000" y="7772400"/>
            <a:ext cx="381000" cy="381000"/>
          </a:xfrm>
          <a:prstGeom prst="ellipse">
            <a:avLst/>
          </a:prstGeom>
          <a:noFill/>
          <a:ln w="38100" algn="ctr">
            <a:solidFill>
              <a:srgbClr val="FF0000"/>
            </a:solidFill>
            <a:miter lim="400000"/>
            <a:headEnd/>
            <a:tailEnd/>
          </a:ln>
        </p:spPr>
        <p:txBody>
          <a:bodyPr lIns="45720" rIns="45720" anchor="ctr"/>
          <a:lstStyle/>
          <a:p>
            <a:endParaRPr lang="en-US" sz="2000" b="0"/>
          </a:p>
        </p:txBody>
      </p:sp>
      <p:sp>
        <p:nvSpPr>
          <p:cNvPr id="27" name="Oval 26"/>
          <p:cNvSpPr>
            <a:spLocks noChangeArrowheads="1"/>
          </p:cNvSpPr>
          <p:nvPr/>
        </p:nvSpPr>
        <p:spPr bwMode="auto">
          <a:xfrm>
            <a:off x="1778000" y="8001000"/>
            <a:ext cx="6705600" cy="990600"/>
          </a:xfrm>
          <a:prstGeom prst="ellipse">
            <a:avLst/>
          </a:prstGeom>
          <a:noFill/>
          <a:ln w="38100" algn="ctr">
            <a:solidFill>
              <a:srgbClr val="FF0000"/>
            </a:solidFill>
            <a:miter lim="400000"/>
            <a:headEnd/>
            <a:tailEnd/>
          </a:ln>
        </p:spPr>
        <p:txBody>
          <a:bodyPr lIns="45720" rIns="45720" anchor="ctr"/>
          <a:lstStyle/>
          <a:p>
            <a:endParaRPr lang="en-US" sz="2000" b="0"/>
          </a:p>
        </p:txBody>
      </p:sp>
      <p:sp>
        <p:nvSpPr>
          <p:cNvPr id="28" name="Rectangular Callout 27"/>
          <p:cNvSpPr/>
          <p:nvPr/>
        </p:nvSpPr>
        <p:spPr bwMode="auto">
          <a:xfrm>
            <a:off x="10083800" y="7162800"/>
            <a:ext cx="2568973" cy="1631216"/>
          </a:xfrm>
          <a:prstGeom prst="wedgeRectCallout">
            <a:avLst>
              <a:gd name="adj1" fmla="val -81854"/>
              <a:gd name="adj2" fmla="val -21682"/>
            </a:avLst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wrap="none" lIns="45720" rIns="45720" anchor="ctr">
            <a:spAutoFit/>
          </a:bodyPr>
          <a:lstStyle/>
          <a:p>
            <a:pPr>
              <a:defRPr/>
            </a:pPr>
            <a:r>
              <a:rPr lang="en-US" sz="2000" b="0" dirty="0" smtClean="0">
                <a:solidFill>
                  <a:srgbClr val="FF0000"/>
                </a:solidFill>
              </a:rPr>
              <a:t>DANGER!</a:t>
            </a:r>
          </a:p>
          <a:p>
            <a:pPr>
              <a:defRPr/>
            </a:pPr>
            <a:r>
              <a:rPr lang="en-US" sz="2000" b="0" dirty="0" smtClean="0"/>
              <a:t>this function is</a:t>
            </a:r>
            <a:br>
              <a:rPr lang="en-US" sz="2000" b="0" dirty="0" smtClean="0"/>
            </a:br>
            <a:r>
              <a:rPr lang="en-US" sz="2000" dirty="0" err="1" smtClean="0"/>
              <a:t>unimplementable</a:t>
            </a:r>
            <a:r>
              <a:rPr lang="en-US" sz="2000" b="0" dirty="0" smtClean="0"/>
              <a:t>!</a:t>
            </a:r>
            <a:br>
              <a:rPr lang="en-US" sz="2000" b="0" dirty="0" smtClean="0"/>
            </a:br>
            <a:r>
              <a:rPr lang="en-US" sz="2000" b="0" dirty="0" smtClean="0"/>
              <a:t>if </a:t>
            </a:r>
            <a:r>
              <a:rPr lang="en-US" sz="2000" b="0" dirty="0" smtClean="0">
                <a:solidFill>
                  <a:srgbClr val="C00000"/>
                </a:solidFill>
              </a:rPr>
              <a:t>hi==lo</a:t>
            </a:r>
            <a:r>
              <a:rPr lang="en-US" sz="2000" b="0" dirty="0" smtClean="0"/>
              <a:t>,</a:t>
            </a:r>
            <a:br>
              <a:rPr lang="en-US" sz="2000" b="0" dirty="0" smtClean="0"/>
            </a:br>
            <a:r>
              <a:rPr lang="en-US" sz="2000" b="0" dirty="0" smtClean="0"/>
              <a:t>then \result can’t exist</a:t>
            </a:r>
            <a:endParaRPr lang="en-US" sz="2000" b="0" i="1" dirty="0">
              <a:solidFill>
                <a:srgbClr val="7030A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4" name="Straight Arrow Connector 53"/>
          <p:cNvCxnSpPr/>
          <p:nvPr/>
        </p:nvCxnSpPr>
        <p:spPr bwMode="auto">
          <a:xfrm rot="10800000" flipV="1">
            <a:off x="8636001" y="2971796"/>
            <a:ext cx="2779867" cy="1752604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0070C0"/>
            </a:solidFill>
            <a:prstDash val="solid"/>
            <a:miter lim="400000"/>
            <a:headEnd type="oval" w="lg" len="lg"/>
            <a:tailEnd type="arrow"/>
          </a:ln>
          <a:effectLst/>
        </p:spPr>
      </p:cxn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Partition</a:t>
            </a:r>
            <a:endParaRPr lang="en-US" dirty="0"/>
          </a:p>
        </p:txBody>
      </p:sp>
      <p:sp>
        <p:nvSpPr>
          <p:cNvPr id="26" name="Content Placeholder 25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We must require that</a:t>
            </a:r>
            <a:br>
              <a:rPr lang="en-US" dirty="0" smtClean="0"/>
            </a:br>
            <a:r>
              <a:rPr lang="en-US" dirty="0" smtClean="0"/>
              <a:t>lo &lt; hi</a:t>
            </a:r>
          </a:p>
          <a:p>
            <a:pPr lvl="4"/>
            <a:endParaRPr lang="en-US" dirty="0" smtClean="0"/>
          </a:p>
          <a:p>
            <a:r>
              <a:rPr lang="en-US" dirty="0" smtClean="0"/>
              <a:t>Also, since </a:t>
            </a:r>
            <a:r>
              <a:rPr lang="en-US" dirty="0" smtClean="0">
                <a:solidFill>
                  <a:srgbClr val="C00000"/>
                </a:solidFill>
              </a:rPr>
              <a:t>\result &lt; hi</a:t>
            </a:r>
            <a:r>
              <a:rPr lang="en-US" dirty="0" smtClean="0"/>
              <a:t>,</a:t>
            </a:r>
            <a:br>
              <a:rPr lang="en-US" dirty="0" smtClean="0"/>
            </a:br>
            <a:r>
              <a:rPr lang="en-US" dirty="0" smtClean="0"/>
              <a:t>we can promise</a:t>
            </a:r>
          </a:p>
          <a:p>
            <a:pPr lvl="1">
              <a:buClr>
                <a:schemeClr val="tx1"/>
              </a:buClr>
            </a:pPr>
            <a:r>
              <a:rPr lang="en-US" dirty="0" smtClean="0">
                <a:solidFill>
                  <a:srgbClr val="C00000"/>
                </a:solidFill>
              </a:rPr>
              <a:t>A[lo, p) ≤ A[p]</a:t>
            </a:r>
          </a:p>
          <a:p>
            <a:pPr lvl="1">
              <a:buClr>
                <a:schemeClr val="tx1"/>
              </a:buClr>
            </a:pPr>
            <a:r>
              <a:rPr lang="en-US" dirty="0" smtClean="0">
                <a:solidFill>
                  <a:srgbClr val="C00000"/>
                </a:solidFill>
              </a:rPr>
              <a:t>A[p] ≤ A[p+1, hi)</a:t>
            </a:r>
          </a:p>
          <a:p>
            <a:endParaRPr lang="en-US" dirty="0" smtClean="0"/>
          </a:p>
          <a:p>
            <a:r>
              <a:rPr lang="en-US" dirty="0" smtClean="0"/>
              <a:t>pivot ends up between smaller and bigger elements</a:t>
            </a:r>
          </a:p>
        </p:txBody>
      </p:sp>
      <p:sp>
        <p:nvSpPr>
          <p:cNvPr id="6" name="Rectangle 7"/>
          <p:cNvSpPr>
            <a:spLocks/>
          </p:cNvSpPr>
          <p:nvPr/>
        </p:nvSpPr>
        <p:spPr bwMode="auto">
          <a:xfrm>
            <a:off x="6426200" y="4538602"/>
            <a:ext cx="625468" cy="595035"/>
          </a:xfrm>
          <a:prstGeom prst="rect">
            <a:avLst/>
          </a:prstGeom>
          <a:noFill/>
          <a:ln w="12700">
            <a:noFill/>
            <a:miter lim="400000"/>
            <a:headEnd/>
            <a:tailEnd/>
          </a:ln>
        </p:spPr>
        <p:txBody>
          <a:bodyPr wrap="square" lIns="50800" tIns="50800" rIns="50800" bIns="50800" anchor="ctr">
            <a:spAutoFit/>
          </a:bodyPr>
          <a:lstStyle/>
          <a:p>
            <a:r>
              <a:rPr lang="en-US" sz="3200" b="0" dirty="0" smtClean="0"/>
              <a:t>A:</a:t>
            </a:r>
            <a:endParaRPr lang="en-US" sz="3200" b="0" dirty="0"/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112000" y="4114799"/>
          <a:ext cx="5105401" cy="1050668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2355913"/>
                <a:gridCol w="539687"/>
                <a:gridCol w="1801491"/>
                <a:gridCol w="408310"/>
              </a:tblGrid>
              <a:tr h="439579">
                <a:tc>
                  <a:txBody>
                    <a:bodyPr/>
                    <a:lstStyle/>
                    <a:p>
                      <a:r>
                        <a:rPr lang="en-US" sz="1800" b="0" dirty="0" smtClean="0">
                          <a:solidFill>
                            <a:schemeClr val="tx1"/>
                          </a:solidFill>
                        </a:rPr>
                        <a:t>lo</a:t>
                      </a:r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r>
                        <a:rPr lang="en-US" b="0" dirty="0" smtClean="0">
                          <a:solidFill>
                            <a:srgbClr val="CD7923"/>
                          </a:solidFill>
                          <a:ea typeface="Menlo" charset="0"/>
                          <a:cs typeface="Menlo" charset="0"/>
                          <a:sym typeface="Menlo" charset="0"/>
                        </a:rPr>
                        <a:t>p</a:t>
                      </a:r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b="0" i="1" dirty="0" smtClean="0">
                          <a:solidFill>
                            <a:schemeClr val="tx1"/>
                          </a:solidFill>
                        </a:rPr>
                        <a:t>hi</a:t>
                      </a:r>
                      <a:endParaRPr lang="en-US" sz="18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611089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rgbClr val="0070C0"/>
                          </a:solidFill>
                        </a:rPr>
                        <a:t>SMALLER</a:t>
                      </a:r>
                      <a:endParaRPr lang="en-US" sz="1800" dirty="0">
                        <a:solidFill>
                          <a:srgbClr val="0070C0"/>
                        </a:solidFill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2000" b="0" kern="1200" dirty="0" smtClean="0">
                          <a:solidFill>
                            <a:srgbClr val="CD7923"/>
                          </a:solidFill>
                          <a:latin typeface="+mn-lt"/>
                          <a:ea typeface="Menlo" charset="0"/>
                          <a:cs typeface="Menlo" charset="0"/>
                          <a:sym typeface="Menlo" charset="0"/>
                        </a:rPr>
                        <a:t>v</a:t>
                      </a:r>
                      <a:endParaRPr lang="en-US" sz="2000" b="0" kern="1200" dirty="0">
                        <a:solidFill>
                          <a:srgbClr val="CD7923"/>
                        </a:solidFill>
                        <a:latin typeface="+mn-lt"/>
                        <a:ea typeface="Menlo" charset="0"/>
                        <a:cs typeface="Menlo" charset="0"/>
                        <a:sym typeface="Menlo" charset="0"/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rgbClr val="FF0000"/>
                          </a:solidFill>
                        </a:rPr>
                        <a:t>BIGGER</a:t>
                      </a:r>
                      <a:endParaRPr lang="en-US" sz="1800" dirty="0">
                        <a:solidFill>
                          <a:srgbClr val="FF0000"/>
                        </a:solidFill>
                      </a:endParaRPr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0" name="Rectangle 7"/>
          <p:cNvSpPr>
            <a:spLocks/>
          </p:cNvSpPr>
          <p:nvPr/>
        </p:nvSpPr>
        <p:spPr bwMode="auto">
          <a:xfrm>
            <a:off x="6426200" y="2630624"/>
            <a:ext cx="625468" cy="595035"/>
          </a:xfrm>
          <a:prstGeom prst="rect">
            <a:avLst/>
          </a:prstGeom>
          <a:noFill/>
          <a:ln w="12700">
            <a:noFill/>
            <a:miter lim="400000"/>
            <a:headEnd/>
            <a:tailEnd/>
          </a:ln>
        </p:spPr>
        <p:txBody>
          <a:bodyPr wrap="square" lIns="50800" tIns="50800" rIns="50800" bIns="50800" anchor="ctr">
            <a:spAutoFit/>
          </a:bodyPr>
          <a:lstStyle/>
          <a:p>
            <a:r>
              <a:rPr lang="en-US" sz="3200" b="0" dirty="0" smtClean="0"/>
              <a:t>A:</a:t>
            </a:r>
            <a:endParaRPr lang="en-US" sz="3200" b="0" dirty="0"/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7112000" y="2187712"/>
          <a:ext cx="5105400" cy="1069778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685800"/>
                <a:gridCol w="533400"/>
                <a:gridCol w="1136713"/>
                <a:gridCol w="2341177"/>
                <a:gridCol w="408310"/>
              </a:tblGrid>
              <a:tr h="458689">
                <a:tc gridSpan="3">
                  <a:txBody>
                    <a:bodyPr/>
                    <a:lstStyle/>
                    <a:p>
                      <a:r>
                        <a:rPr lang="en-US" sz="1800" b="0" dirty="0" smtClean="0">
                          <a:solidFill>
                            <a:schemeClr val="tx1"/>
                          </a:solidFill>
                        </a:rPr>
                        <a:t>lo</a:t>
                      </a:r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i="1" dirty="0" smtClean="0">
                          <a:solidFill>
                            <a:schemeClr val="tx1"/>
                          </a:solidFill>
                        </a:rPr>
                        <a:t>hi</a:t>
                      </a:r>
                      <a:endParaRPr lang="en-US" sz="18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611089"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v</a:t>
                      </a:r>
                      <a:endParaRPr lang="en-US" sz="1800" dirty="0"/>
                    </a:p>
                  </a:txBody>
                  <a:tcPr anchor="b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2" name="Curved Left Arrow 31"/>
          <p:cNvSpPr/>
          <p:nvPr/>
        </p:nvSpPr>
        <p:spPr bwMode="auto">
          <a:xfrm>
            <a:off x="11988800" y="3028890"/>
            <a:ext cx="609600" cy="1828800"/>
          </a:xfrm>
          <a:prstGeom prst="curvedLeftArrow">
            <a:avLst/>
          </a:prstGeom>
          <a:solidFill>
            <a:schemeClr val="accent1">
              <a:lumMod val="40000"/>
              <a:lumOff val="60000"/>
            </a:schemeClr>
          </a:solidFill>
          <a:ln w="127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7395534" y="5543490"/>
            <a:ext cx="171886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0" dirty="0" smtClean="0">
                <a:solidFill>
                  <a:srgbClr val="C00000"/>
                </a:solidFill>
              </a:rPr>
              <a:t>A[lo, p) ≤ A[p]</a:t>
            </a:r>
          </a:p>
        </p:txBody>
      </p:sp>
      <p:sp>
        <p:nvSpPr>
          <p:cNvPr id="40" name="Right Brace 39"/>
          <p:cNvSpPr/>
          <p:nvPr/>
        </p:nvSpPr>
        <p:spPr bwMode="auto">
          <a:xfrm rot="5400000">
            <a:off x="8131145" y="4219545"/>
            <a:ext cx="247710" cy="2286000"/>
          </a:xfrm>
          <a:prstGeom prst="rightBrace">
            <a:avLst/>
          </a:prstGeom>
          <a:noFill/>
          <a:ln w="38100" cap="flat" cmpd="sng" algn="ctr">
            <a:solidFill>
              <a:srgbClr val="C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50800" tIns="50800" rIns="5080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  <p:sp>
        <p:nvSpPr>
          <p:cNvPr id="41" name="Rectangle 40"/>
          <p:cNvSpPr>
            <a:spLocks/>
          </p:cNvSpPr>
          <p:nvPr/>
        </p:nvSpPr>
        <p:spPr bwMode="auto">
          <a:xfrm>
            <a:off x="1993294" y="6948607"/>
            <a:ext cx="7023706" cy="2031325"/>
          </a:xfrm>
          <a:prstGeom prst="rect">
            <a:avLst/>
          </a:prstGeom>
          <a:noFill/>
          <a:ln w="12700">
            <a:solidFill>
              <a:schemeClr val="tx2"/>
            </a:solidFill>
            <a:miter lim="400000"/>
            <a:headEnd/>
            <a:tailEnd/>
          </a:ln>
        </p:spPr>
        <p:txBody>
          <a:bodyPr wrap="square" tIns="91440" bIns="91440" anchor="ctr">
            <a:spAutoFit/>
          </a:bodyPr>
          <a:lstStyle/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err="1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b="0" dirty="0" smtClean="0">
                <a:solidFill>
                  <a:srgbClr val="5E34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partition 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(</a:t>
            </a:r>
            <a:r>
              <a:rPr lang="en-US" b="0" dirty="0" err="1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b="0" dirty="0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[]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b="0" dirty="0" smtClean="0">
                <a:solidFill>
                  <a:srgbClr val="CD7923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A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, </a:t>
            </a:r>
            <a:r>
              <a:rPr lang="en-US" b="0" dirty="0" err="1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b="0" dirty="0" smtClean="0">
                <a:solidFill>
                  <a:srgbClr val="CD7923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lo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, </a:t>
            </a:r>
            <a:r>
              <a:rPr lang="en-US" b="0" dirty="0" err="1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b="0" dirty="0" smtClean="0">
                <a:solidFill>
                  <a:srgbClr val="CD7923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hi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)</a:t>
            </a:r>
          </a:p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//@requires 0 &lt;= lo &amp;&amp; lo &lt; hi  &amp;&amp; hi &lt;= \length(A);</a:t>
            </a:r>
          </a:p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//@ensures lo &lt;= \result &amp;&amp; \result &lt; hi;</a:t>
            </a:r>
          </a:p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//@ensures </a:t>
            </a:r>
            <a:r>
              <a:rPr lang="en-US" b="0" dirty="0" err="1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le_seg</a:t>
            </a:r>
            <a:r>
              <a:rPr lang="en-US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(A[\result], A, lo, \result);</a:t>
            </a:r>
          </a:p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//@ensures </a:t>
            </a:r>
            <a:r>
              <a:rPr lang="en-US" b="0" dirty="0" err="1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ge_seg</a:t>
            </a:r>
            <a:r>
              <a:rPr lang="en-US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(A[\result], A, \result+1, hi);</a:t>
            </a:r>
            <a:endParaRPr lang="en-US" b="0" dirty="0" smtClean="0">
              <a:solidFill>
                <a:schemeClr val="tx1"/>
              </a:solidFill>
              <a:latin typeface="Menlo" charset="0"/>
              <a:ea typeface="Menlo" charset="0"/>
              <a:cs typeface="Menlo" charset="0"/>
              <a:sym typeface="Menlo" charset="0"/>
            </a:endParaRPr>
          </a:p>
        </p:txBody>
      </p:sp>
      <p:cxnSp>
        <p:nvCxnSpPr>
          <p:cNvPr id="68" name="Straight Arrow Connector 67"/>
          <p:cNvCxnSpPr/>
          <p:nvPr/>
        </p:nvCxnSpPr>
        <p:spPr bwMode="auto">
          <a:xfrm rot="5400000">
            <a:off x="9973781" y="3843819"/>
            <a:ext cx="1752600" cy="8562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FF0000"/>
            </a:solidFill>
            <a:prstDash val="solid"/>
            <a:miter lim="400000"/>
            <a:headEnd type="oval" w="lg" len="lg"/>
            <a:tailEnd type="arrow"/>
          </a:ln>
          <a:effectLst/>
        </p:spPr>
      </p:cxnSp>
      <p:cxnSp>
        <p:nvCxnSpPr>
          <p:cNvPr id="71" name="Straight Arrow Connector 70"/>
          <p:cNvCxnSpPr/>
          <p:nvPr/>
        </p:nvCxnSpPr>
        <p:spPr bwMode="auto">
          <a:xfrm rot="5400000">
            <a:off x="8854831" y="3286369"/>
            <a:ext cx="1752600" cy="1123462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0070C0"/>
            </a:solidFill>
            <a:prstDash val="solid"/>
            <a:miter lim="400000"/>
            <a:headEnd type="oval" w="lg" len="lg"/>
            <a:tailEnd type="arrow"/>
          </a:ln>
          <a:effectLst/>
        </p:spPr>
      </p:cxnSp>
      <p:cxnSp>
        <p:nvCxnSpPr>
          <p:cNvPr id="74" name="Straight Arrow Connector 73"/>
          <p:cNvCxnSpPr/>
          <p:nvPr/>
        </p:nvCxnSpPr>
        <p:spPr bwMode="auto">
          <a:xfrm rot="16200000" flipH="1">
            <a:off x="8864832" y="3276832"/>
            <a:ext cx="1752600" cy="114254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FF0000"/>
            </a:solidFill>
            <a:prstDash val="solid"/>
            <a:miter lim="400000"/>
            <a:headEnd type="oval" w="lg" len="lg"/>
            <a:tailEnd type="arrow"/>
          </a:ln>
          <a:effectLst/>
        </p:spPr>
      </p:cxnSp>
      <p:cxnSp>
        <p:nvCxnSpPr>
          <p:cNvPr id="77" name="Straight Arrow Connector 76"/>
          <p:cNvCxnSpPr/>
          <p:nvPr/>
        </p:nvCxnSpPr>
        <p:spPr bwMode="auto">
          <a:xfrm rot="10800000" flipV="1">
            <a:off x="7493000" y="2971800"/>
            <a:ext cx="2238362" cy="1752600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0070C0"/>
            </a:solidFill>
            <a:prstDash val="solid"/>
            <a:miter lim="400000"/>
            <a:headEnd type="oval" w="lg" len="lg"/>
            <a:tailEnd type="arrow"/>
          </a:ln>
          <a:effectLst/>
        </p:spPr>
      </p:cxnSp>
      <p:cxnSp>
        <p:nvCxnSpPr>
          <p:cNvPr id="80" name="Straight Arrow Connector 79"/>
          <p:cNvCxnSpPr/>
          <p:nvPr/>
        </p:nvCxnSpPr>
        <p:spPr bwMode="auto">
          <a:xfrm>
            <a:off x="8608362" y="2971802"/>
            <a:ext cx="2847038" cy="1752598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FF0000"/>
            </a:solidFill>
            <a:prstDash val="solid"/>
            <a:miter lim="400000"/>
            <a:headEnd type="oval" w="lg" len="lg"/>
            <a:tailEnd type="arrow"/>
          </a:ln>
          <a:effectLst/>
        </p:spPr>
      </p:cxnSp>
      <p:cxnSp>
        <p:nvCxnSpPr>
          <p:cNvPr id="83" name="Straight Arrow Connector 82"/>
          <p:cNvCxnSpPr/>
          <p:nvPr/>
        </p:nvCxnSpPr>
        <p:spPr bwMode="auto">
          <a:xfrm rot="16200000" flipH="1">
            <a:off x="7884231" y="2982031"/>
            <a:ext cx="1981200" cy="1655938"/>
          </a:xfrm>
          <a:prstGeom prst="straightConnector1">
            <a:avLst/>
          </a:prstGeom>
          <a:solidFill>
            <a:schemeClr val="accent1"/>
          </a:solidFill>
          <a:ln w="57150" cap="flat" cmpd="sng" algn="ctr">
            <a:solidFill>
              <a:schemeClr val="tx1"/>
            </a:solidFill>
            <a:prstDash val="solid"/>
            <a:miter lim="400000"/>
            <a:headEnd type="oval" w="lg" len="lg"/>
            <a:tailEnd type="arrow"/>
          </a:ln>
          <a:effectLst/>
        </p:spPr>
      </p:cxnSp>
      <p:cxnSp>
        <p:nvCxnSpPr>
          <p:cNvPr id="86" name="Straight Arrow Connector 85"/>
          <p:cNvCxnSpPr/>
          <p:nvPr/>
        </p:nvCxnSpPr>
        <p:spPr bwMode="auto">
          <a:xfrm rot="16200000" flipH="1">
            <a:off x="6917684" y="3539484"/>
            <a:ext cx="1752594" cy="617238"/>
          </a:xfrm>
          <a:prstGeom prst="straightConnector1">
            <a:avLst/>
          </a:prstGeom>
          <a:solidFill>
            <a:schemeClr val="accent1"/>
          </a:solidFill>
          <a:ln w="25400" cap="flat" cmpd="sng" algn="ctr">
            <a:solidFill>
              <a:srgbClr val="0070C0"/>
            </a:solidFill>
            <a:prstDash val="solid"/>
            <a:miter lim="400000"/>
            <a:headEnd type="oval" w="lg" len="lg"/>
            <a:tailEnd type="arrow"/>
          </a:ln>
          <a:effectLst/>
        </p:spPr>
      </p:cxnSp>
      <p:sp>
        <p:nvSpPr>
          <p:cNvPr id="22" name="TextBox 21"/>
          <p:cNvSpPr txBox="1"/>
          <p:nvPr/>
        </p:nvSpPr>
        <p:spPr>
          <a:xfrm>
            <a:off x="9876466" y="5543490"/>
            <a:ext cx="201061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0" dirty="0" smtClean="0">
                <a:solidFill>
                  <a:srgbClr val="C00000"/>
                </a:solidFill>
              </a:rPr>
              <a:t>A[p] ≤ A[p+1, hi)</a:t>
            </a:r>
          </a:p>
        </p:txBody>
      </p:sp>
      <p:sp>
        <p:nvSpPr>
          <p:cNvPr id="24" name="Right Brace 23"/>
          <p:cNvSpPr/>
          <p:nvPr/>
        </p:nvSpPr>
        <p:spPr bwMode="auto">
          <a:xfrm rot="5400000">
            <a:off x="10760045" y="4486245"/>
            <a:ext cx="247710" cy="1752600"/>
          </a:xfrm>
          <a:prstGeom prst="rightBrace">
            <a:avLst/>
          </a:prstGeom>
          <a:noFill/>
          <a:ln w="38100" cap="flat" cmpd="sng" algn="ctr">
            <a:solidFill>
              <a:srgbClr val="C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square" lIns="50800" tIns="50800" rIns="5080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  <p:sp>
        <p:nvSpPr>
          <p:cNvPr id="25" name="Oval 24"/>
          <p:cNvSpPr>
            <a:spLocks noChangeArrowheads="1"/>
          </p:cNvSpPr>
          <p:nvPr/>
        </p:nvSpPr>
        <p:spPr bwMode="auto">
          <a:xfrm>
            <a:off x="5511800" y="7391400"/>
            <a:ext cx="381000" cy="381000"/>
          </a:xfrm>
          <a:prstGeom prst="ellipse">
            <a:avLst/>
          </a:prstGeom>
          <a:noFill/>
          <a:ln w="38100" algn="ctr">
            <a:solidFill>
              <a:srgbClr val="FF0000"/>
            </a:solidFill>
            <a:miter lim="400000"/>
            <a:headEnd/>
            <a:tailEnd/>
          </a:ln>
        </p:spPr>
        <p:txBody>
          <a:bodyPr lIns="45720" rIns="45720" anchor="ctr"/>
          <a:lstStyle/>
          <a:p>
            <a:endParaRPr lang="en-US" sz="2000" b="0"/>
          </a:p>
        </p:txBody>
      </p:sp>
      <p:sp>
        <p:nvSpPr>
          <p:cNvPr id="29" name="Oval 28"/>
          <p:cNvSpPr>
            <a:spLocks noChangeArrowheads="1"/>
          </p:cNvSpPr>
          <p:nvPr/>
        </p:nvSpPr>
        <p:spPr bwMode="auto">
          <a:xfrm>
            <a:off x="2997200" y="4986668"/>
            <a:ext cx="838200" cy="609600"/>
          </a:xfrm>
          <a:prstGeom prst="ellipse">
            <a:avLst/>
          </a:prstGeom>
          <a:noFill/>
          <a:ln w="38100" algn="ctr">
            <a:solidFill>
              <a:srgbClr val="FF0000"/>
            </a:solidFill>
            <a:miter lim="400000"/>
            <a:headEnd/>
            <a:tailEnd/>
          </a:ln>
        </p:spPr>
        <p:txBody>
          <a:bodyPr lIns="45720" rIns="45720" anchor="ctr"/>
          <a:lstStyle/>
          <a:p>
            <a:endParaRPr lang="en-US" sz="2000" b="0"/>
          </a:p>
        </p:txBody>
      </p:sp>
      <p:sp>
        <p:nvSpPr>
          <p:cNvPr id="33" name="Oval 32"/>
          <p:cNvSpPr>
            <a:spLocks noChangeArrowheads="1"/>
          </p:cNvSpPr>
          <p:nvPr/>
        </p:nvSpPr>
        <p:spPr bwMode="auto">
          <a:xfrm>
            <a:off x="6426200" y="8436934"/>
            <a:ext cx="1414132" cy="533400"/>
          </a:xfrm>
          <a:prstGeom prst="ellipse">
            <a:avLst/>
          </a:prstGeom>
          <a:noFill/>
          <a:ln w="38100" algn="ctr">
            <a:solidFill>
              <a:srgbClr val="FF0000"/>
            </a:solidFill>
            <a:miter lim="400000"/>
            <a:headEnd/>
            <a:tailEnd/>
          </a:ln>
        </p:spPr>
        <p:txBody>
          <a:bodyPr lIns="45720" rIns="45720" anchor="ctr"/>
          <a:lstStyle/>
          <a:p>
            <a:endParaRPr lang="en-US" sz="2000" b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52500" y="254000"/>
            <a:ext cx="6540500" cy="1498600"/>
          </a:xfrm>
        </p:spPr>
        <p:txBody>
          <a:bodyPr/>
          <a:lstStyle/>
          <a:p>
            <a:r>
              <a:rPr lang="en-US" dirty="0" err="1" smtClean="0"/>
              <a:t>Quicksort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This algorithm is called </a:t>
            </a:r>
            <a:r>
              <a:rPr lang="en-US" b="1" dirty="0" err="1" smtClean="0"/>
              <a:t>quicksort</a:t>
            </a:r>
            <a:endParaRPr lang="en-US" b="1" dirty="0" smtClean="0"/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6" name="Rectangle 5"/>
          <p:cNvSpPr>
            <a:spLocks/>
          </p:cNvSpPr>
          <p:nvPr/>
        </p:nvSpPr>
        <p:spPr bwMode="auto">
          <a:xfrm>
            <a:off x="7553659" y="106740"/>
            <a:ext cx="5349541" cy="1569660"/>
          </a:xfrm>
          <a:prstGeom prst="rect">
            <a:avLst/>
          </a:prstGeom>
          <a:noFill/>
          <a:ln w="12700">
            <a:solidFill>
              <a:schemeClr val="tx2"/>
            </a:solidFill>
            <a:miter lim="400000"/>
            <a:headEnd/>
            <a:tailEnd/>
          </a:ln>
        </p:spPr>
        <p:txBody>
          <a:bodyPr wrap="none" tIns="91440" bIns="91440" anchor="ctr">
            <a:spAutoFit/>
          </a:bodyPr>
          <a:lstStyle/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err="1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sz="1800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sz="1800" b="0" dirty="0" smtClean="0">
                <a:solidFill>
                  <a:srgbClr val="5E34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partition </a:t>
            </a:r>
            <a:r>
              <a:rPr lang="en-US" sz="1800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(</a:t>
            </a:r>
            <a:r>
              <a:rPr lang="en-US" sz="1800" b="0" dirty="0" err="1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sz="1800" b="0" dirty="0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[]</a:t>
            </a:r>
            <a:r>
              <a:rPr lang="en-US" sz="1800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sz="1800" b="0" dirty="0" smtClean="0">
                <a:solidFill>
                  <a:srgbClr val="CD7923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A</a:t>
            </a:r>
            <a:r>
              <a:rPr lang="en-US" sz="1800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, </a:t>
            </a:r>
            <a:r>
              <a:rPr lang="en-US" sz="1800" b="0" dirty="0" err="1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sz="1800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sz="1800" b="0" dirty="0" smtClean="0">
                <a:solidFill>
                  <a:srgbClr val="CD7923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lo</a:t>
            </a:r>
            <a:r>
              <a:rPr lang="en-US" sz="1800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, </a:t>
            </a:r>
            <a:r>
              <a:rPr lang="en-US" sz="1800" b="0" dirty="0" err="1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sz="1800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sz="1800" b="0" dirty="0" smtClean="0">
                <a:solidFill>
                  <a:srgbClr val="CD7923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hi</a:t>
            </a:r>
            <a:r>
              <a:rPr lang="en-US" sz="1800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)</a:t>
            </a:r>
          </a:p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//@requires 0 &lt;= lo &amp;&amp; lo &lt; hi  &amp;&amp; hi &lt;= \length(A);</a:t>
            </a:r>
          </a:p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//@ensures lo &lt;= \result &amp;&amp; \result &lt; hi;</a:t>
            </a:r>
          </a:p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//@ensures </a:t>
            </a:r>
            <a:r>
              <a:rPr lang="en-US" sz="1800" b="0" dirty="0" err="1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le_seg</a:t>
            </a:r>
            <a:r>
              <a:rPr lang="en-US" sz="1800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(A[\result], A, lo, \result);</a:t>
            </a:r>
          </a:p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//@ensures </a:t>
            </a:r>
            <a:r>
              <a:rPr lang="en-US" sz="1800" b="0" dirty="0" err="1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ge_seg</a:t>
            </a:r>
            <a:r>
              <a:rPr lang="en-US" sz="1800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(A[\result], A, \result, hi);</a:t>
            </a:r>
            <a:endParaRPr lang="en-US" sz="1800" b="0" dirty="0" smtClean="0">
              <a:solidFill>
                <a:schemeClr val="tx1"/>
              </a:solidFill>
              <a:latin typeface="Menlo" charset="0"/>
              <a:ea typeface="Menlo" charset="0"/>
              <a:cs typeface="Menlo" charset="0"/>
              <a:sym typeface="Menlo" charset="0"/>
            </a:endParaRPr>
          </a:p>
        </p:txBody>
      </p:sp>
      <p:sp>
        <p:nvSpPr>
          <p:cNvPr id="7" name="Rectangle 6"/>
          <p:cNvSpPr>
            <a:spLocks/>
          </p:cNvSpPr>
          <p:nvPr/>
        </p:nvSpPr>
        <p:spPr bwMode="auto">
          <a:xfrm>
            <a:off x="1397000" y="3276600"/>
            <a:ext cx="7239000" cy="4062651"/>
          </a:xfrm>
          <a:prstGeom prst="rect">
            <a:avLst/>
          </a:prstGeom>
          <a:noFill/>
          <a:ln w="12700">
            <a:solidFill>
              <a:schemeClr val="tx2"/>
            </a:solidFill>
            <a:miter lim="400000"/>
            <a:headEnd/>
            <a:tailEnd/>
          </a:ln>
        </p:spPr>
        <p:txBody>
          <a:bodyPr wrap="square" tIns="91440" bIns="91440" anchor="ctr">
            <a:spAutoFit/>
          </a:bodyPr>
          <a:lstStyle/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void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b="0" dirty="0" err="1" smtClean="0">
                <a:solidFill>
                  <a:srgbClr val="5E34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quicksort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(</a:t>
            </a:r>
            <a:r>
              <a:rPr lang="en-US" b="0" dirty="0" err="1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b="0" dirty="0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[]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b="0" dirty="0" smtClean="0">
                <a:solidFill>
                  <a:srgbClr val="CD7923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A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, </a:t>
            </a:r>
            <a:r>
              <a:rPr lang="en-US" b="0" dirty="0" err="1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b="0" dirty="0" smtClean="0">
                <a:solidFill>
                  <a:srgbClr val="CD7923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lo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, </a:t>
            </a:r>
            <a:r>
              <a:rPr lang="en-US" b="0" dirty="0" err="1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b="0" dirty="0" smtClean="0">
                <a:solidFill>
                  <a:srgbClr val="CD7923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hi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)</a:t>
            </a:r>
          </a:p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//@requires 0 &lt;= lo &amp;&amp; lo &lt;= hi  &amp;&amp; hi &lt;= \length(A);</a:t>
            </a:r>
          </a:p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//@ensures </a:t>
            </a:r>
            <a:r>
              <a:rPr lang="en-US" b="0" dirty="0" err="1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is_sorted</a:t>
            </a:r>
            <a:r>
              <a:rPr lang="en-US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(A, lo, hi);</a:t>
            </a:r>
            <a:endParaRPr lang="en-US" b="0" dirty="0" smtClean="0">
              <a:solidFill>
                <a:schemeClr val="tx1"/>
              </a:solidFill>
              <a:latin typeface="Menlo" charset="0"/>
              <a:ea typeface="Menlo" charset="0"/>
              <a:cs typeface="Menlo" charset="0"/>
              <a:sym typeface="Menlo" charset="0"/>
            </a:endParaRPr>
          </a:p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solidFill>
                  <a:schemeClr val="tx1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{</a:t>
            </a:r>
          </a:p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solidFill>
                  <a:schemeClr val="tx1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  </a:t>
            </a:r>
            <a:r>
              <a:rPr lang="en-US" b="0" dirty="0" smtClean="0">
                <a:solidFill>
                  <a:srgbClr val="D03B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if 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(hi - lo &lt;= 1) </a:t>
            </a:r>
            <a:r>
              <a:rPr lang="en-US" b="0" dirty="0" smtClean="0">
                <a:solidFill>
                  <a:srgbClr val="D03B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return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;</a:t>
            </a:r>
          </a:p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endParaRPr lang="en-US" sz="1200" b="0" dirty="0" smtClean="0">
              <a:solidFill>
                <a:schemeClr val="tx1"/>
              </a:solidFill>
              <a:latin typeface="Menlo" charset="0"/>
              <a:ea typeface="Menlo" charset="0"/>
              <a:cs typeface="Menlo" charset="0"/>
              <a:sym typeface="Menlo" charset="0"/>
            </a:endParaRPr>
          </a:p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 </a:t>
            </a:r>
            <a:r>
              <a:rPr lang="en-US" b="0" dirty="0" err="1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b="0" dirty="0" smtClean="0">
                <a:solidFill>
                  <a:srgbClr val="CD7923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p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= partition(A, lo, hi);</a:t>
            </a:r>
          </a:p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  //@assert  lo &lt;= p &amp;&amp; p &lt; hi;</a:t>
            </a:r>
          </a:p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 </a:t>
            </a:r>
            <a:r>
              <a:rPr lang="en-US" b="0" dirty="0" err="1" smtClean="0">
                <a:latin typeface="Menlo" charset="0"/>
                <a:ea typeface="Menlo" charset="0"/>
                <a:cs typeface="Menlo" charset="0"/>
                <a:sym typeface="Menlo" charset="0"/>
              </a:rPr>
              <a:t>quicksort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(A, lo, p);</a:t>
            </a:r>
            <a:endParaRPr lang="en-US" b="0" dirty="0" smtClean="0">
              <a:solidFill>
                <a:srgbClr val="C00000"/>
              </a:solidFill>
              <a:latin typeface="Menlo" charset="0"/>
              <a:ea typeface="Menlo" charset="0"/>
              <a:cs typeface="Menlo" charset="0"/>
              <a:sym typeface="Menlo" charset="0"/>
            </a:endParaRPr>
          </a:p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 </a:t>
            </a:r>
            <a:r>
              <a:rPr lang="en-US" b="0" dirty="0" err="1" smtClean="0">
                <a:latin typeface="Menlo" charset="0"/>
                <a:ea typeface="Menlo" charset="0"/>
                <a:cs typeface="Menlo" charset="0"/>
                <a:sym typeface="Menlo" charset="0"/>
              </a:rPr>
              <a:t>quicksort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(A, p+1, hi);</a:t>
            </a:r>
            <a:endParaRPr lang="en-US" b="0" dirty="0" smtClean="0">
              <a:solidFill>
                <a:srgbClr val="C00000"/>
              </a:solidFill>
              <a:latin typeface="Menlo" charset="0"/>
              <a:ea typeface="Menlo" charset="0"/>
              <a:cs typeface="Menlo" charset="0"/>
              <a:sym typeface="Menlo" charset="0"/>
            </a:endParaRPr>
          </a:p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solidFill>
                  <a:schemeClr val="tx1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}</a:t>
            </a:r>
            <a:endParaRPr lang="en-US" dirty="0" smtClean="0">
              <a:solidFill>
                <a:schemeClr val="tx1"/>
              </a:solidFill>
              <a:latin typeface="Menlo" charset="0"/>
              <a:ea typeface="Menlo" charset="0"/>
              <a:cs typeface="Menlo" charset="0"/>
              <a:sym typeface="Menlo" charset="0"/>
            </a:endParaRPr>
          </a:p>
        </p:txBody>
      </p:sp>
      <p:sp>
        <p:nvSpPr>
          <p:cNvPr id="10" name="Rectangular Callout 9"/>
          <p:cNvSpPr/>
          <p:nvPr/>
        </p:nvSpPr>
        <p:spPr bwMode="auto">
          <a:xfrm>
            <a:off x="7080984" y="7772400"/>
            <a:ext cx="1631216" cy="1015663"/>
          </a:xfrm>
          <a:prstGeom prst="wedgeRectCallout">
            <a:avLst>
              <a:gd name="adj1" fmla="val -262052"/>
              <a:gd name="adj2" fmla="val -142546"/>
            </a:avLst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wrap="none" lIns="45720" rIns="45720" anchor="ctr">
            <a:spAutoFit/>
          </a:bodyPr>
          <a:lstStyle/>
          <a:p>
            <a:pPr>
              <a:defRPr/>
            </a:pPr>
            <a:r>
              <a:rPr lang="en-US" sz="2000" b="0" dirty="0" smtClean="0"/>
              <a:t>pivot A[p] is</a:t>
            </a:r>
            <a:br>
              <a:rPr lang="en-US" sz="2000" b="0" dirty="0" smtClean="0"/>
            </a:br>
            <a:r>
              <a:rPr lang="en-US" sz="2000" b="0" dirty="0" smtClean="0"/>
              <a:t>already in the</a:t>
            </a:r>
            <a:br>
              <a:rPr lang="en-US" sz="2000" b="0" dirty="0" smtClean="0"/>
            </a:br>
            <a:r>
              <a:rPr lang="en-US" sz="2000" b="0" dirty="0" smtClean="0"/>
              <a:t>right place</a:t>
            </a:r>
            <a:endParaRPr lang="en-US" sz="2000" b="0" i="1" dirty="0">
              <a:solidFill>
                <a:srgbClr val="7030A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52500" y="254000"/>
            <a:ext cx="6540500" cy="1498600"/>
          </a:xfrm>
        </p:spPr>
        <p:txBody>
          <a:bodyPr/>
          <a:lstStyle/>
          <a:p>
            <a:r>
              <a:rPr lang="en-US" dirty="0" err="1" smtClean="0"/>
              <a:t>Quicksort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Is it safe?</a:t>
            </a:r>
            <a:endParaRPr lang="en-US" b="1" dirty="0" smtClean="0"/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6" name="Rectangle 5"/>
          <p:cNvSpPr>
            <a:spLocks/>
          </p:cNvSpPr>
          <p:nvPr/>
        </p:nvSpPr>
        <p:spPr bwMode="auto">
          <a:xfrm>
            <a:off x="7553659" y="106740"/>
            <a:ext cx="5349541" cy="1569660"/>
          </a:xfrm>
          <a:prstGeom prst="rect">
            <a:avLst/>
          </a:prstGeom>
          <a:noFill/>
          <a:ln w="12700">
            <a:solidFill>
              <a:schemeClr val="tx2"/>
            </a:solidFill>
            <a:miter lim="400000"/>
            <a:headEnd/>
            <a:tailEnd/>
          </a:ln>
        </p:spPr>
        <p:txBody>
          <a:bodyPr wrap="none" tIns="91440" bIns="91440" anchor="ctr">
            <a:spAutoFit/>
          </a:bodyPr>
          <a:lstStyle/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err="1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sz="1800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sz="1800" b="0" dirty="0" smtClean="0">
                <a:solidFill>
                  <a:srgbClr val="5E34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partition </a:t>
            </a:r>
            <a:r>
              <a:rPr lang="en-US" sz="1800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(</a:t>
            </a:r>
            <a:r>
              <a:rPr lang="en-US" sz="1800" b="0" dirty="0" err="1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sz="1800" b="0" dirty="0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[]</a:t>
            </a:r>
            <a:r>
              <a:rPr lang="en-US" sz="1800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sz="1800" b="0" dirty="0" smtClean="0">
                <a:solidFill>
                  <a:srgbClr val="CD7923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A</a:t>
            </a:r>
            <a:r>
              <a:rPr lang="en-US" sz="1800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, </a:t>
            </a:r>
            <a:r>
              <a:rPr lang="en-US" sz="1800" b="0" dirty="0" err="1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sz="1800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sz="1800" b="0" dirty="0" smtClean="0">
                <a:solidFill>
                  <a:srgbClr val="CD7923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lo</a:t>
            </a:r>
            <a:r>
              <a:rPr lang="en-US" sz="1800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, </a:t>
            </a:r>
            <a:r>
              <a:rPr lang="en-US" sz="1800" b="0" dirty="0" err="1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sz="1800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sz="1800" b="0" dirty="0" smtClean="0">
                <a:solidFill>
                  <a:srgbClr val="CD7923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hi</a:t>
            </a:r>
            <a:r>
              <a:rPr lang="en-US" sz="1800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)</a:t>
            </a:r>
          </a:p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//@requires 0 &lt;= lo &amp;&amp; lo &lt; hi  &amp;&amp; hi &lt;= \length(A);</a:t>
            </a:r>
          </a:p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//@ensures lo &lt;= \result &amp;&amp; \result &lt; hi;</a:t>
            </a:r>
          </a:p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//@ensures </a:t>
            </a:r>
            <a:r>
              <a:rPr lang="en-US" sz="1800" b="0" dirty="0" err="1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le_seg</a:t>
            </a:r>
            <a:r>
              <a:rPr lang="en-US" sz="1800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(A[\result], A, lo, \result);</a:t>
            </a:r>
          </a:p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//@ensures </a:t>
            </a:r>
            <a:r>
              <a:rPr lang="en-US" sz="1800" b="0" dirty="0" err="1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ge_seg</a:t>
            </a:r>
            <a:r>
              <a:rPr lang="en-US" sz="1800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(A[\result], A, \result+1, hi);</a:t>
            </a:r>
            <a:endParaRPr lang="en-US" sz="1800" b="0" dirty="0" smtClean="0">
              <a:solidFill>
                <a:schemeClr val="tx1"/>
              </a:solidFill>
              <a:latin typeface="Menlo" charset="0"/>
              <a:ea typeface="Menlo" charset="0"/>
              <a:cs typeface="Menlo" charset="0"/>
              <a:sym typeface="Menlo" charset="0"/>
            </a:endParaRPr>
          </a:p>
        </p:txBody>
      </p:sp>
      <p:sp>
        <p:nvSpPr>
          <p:cNvPr id="7" name="Rectangle 6"/>
          <p:cNvSpPr>
            <a:spLocks/>
          </p:cNvSpPr>
          <p:nvPr/>
        </p:nvSpPr>
        <p:spPr bwMode="auto">
          <a:xfrm>
            <a:off x="1092200" y="3276600"/>
            <a:ext cx="7543800" cy="4062651"/>
          </a:xfrm>
          <a:prstGeom prst="rect">
            <a:avLst/>
          </a:prstGeom>
          <a:noFill/>
          <a:ln w="12700">
            <a:solidFill>
              <a:schemeClr val="tx2"/>
            </a:solidFill>
            <a:miter lim="400000"/>
            <a:headEnd/>
            <a:tailEnd/>
          </a:ln>
        </p:spPr>
        <p:txBody>
          <a:bodyPr wrap="square" tIns="91440" bIns="91440" anchor="ctr">
            <a:spAutoFit/>
          </a:bodyPr>
          <a:lstStyle/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buFont typeface="+mj-lt"/>
              <a:buAutoNum type="arabicPeriod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void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b="0" dirty="0" err="1" smtClean="0">
                <a:solidFill>
                  <a:srgbClr val="5E34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quicksort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(</a:t>
            </a:r>
            <a:r>
              <a:rPr lang="en-US" b="0" dirty="0" err="1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b="0" dirty="0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[]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b="0" dirty="0" smtClean="0">
                <a:solidFill>
                  <a:srgbClr val="CD7923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A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, </a:t>
            </a:r>
            <a:r>
              <a:rPr lang="en-US" b="0" dirty="0" err="1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b="0" dirty="0" smtClean="0">
                <a:solidFill>
                  <a:srgbClr val="CD7923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lo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, </a:t>
            </a:r>
            <a:r>
              <a:rPr lang="en-US" b="0" dirty="0" err="1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b="0" dirty="0" smtClean="0">
                <a:solidFill>
                  <a:srgbClr val="CD7923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hi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)</a:t>
            </a:r>
          </a:p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buFont typeface="+mj-lt"/>
              <a:buAutoNum type="arabicPeriod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//@requires 0 &lt;= lo &amp;&amp; lo &lt;= hi  &amp;&amp; hi &lt;= \length(A);</a:t>
            </a:r>
          </a:p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buFont typeface="+mj-lt"/>
              <a:buAutoNum type="arabicPeriod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//@ensures </a:t>
            </a:r>
            <a:r>
              <a:rPr lang="en-US" b="0" dirty="0" err="1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is_sorted</a:t>
            </a:r>
            <a:r>
              <a:rPr lang="en-US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(A, lo, hi);</a:t>
            </a:r>
            <a:endParaRPr lang="en-US" b="0" dirty="0" smtClean="0">
              <a:solidFill>
                <a:schemeClr val="tx1"/>
              </a:solidFill>
              <a:latin typeface="Menlo" charset="0"/>
              <a:ea typeface="Menlo" charset="0"/>
              <a:cs typeface="Menlo" charset="0"/>
              <a:sym typeface="Menlo" charset="0"/>
            </a:endParaRPr>
          </a:p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buFont typeface="+mj-lt"/>
              <a:buAutoNum type="arabicPeriod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solidFill>
                  <a:schemeClr val="tx1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{</a:t>
            </a:r>
          </a:p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buFont typeface="+mj-lt"/>
              <a:buAutoNum type="arabicPeriod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solidFill>
                  <a:schemeClr val="tx1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  </a:t>
            </a:r>
            <a:r>
              <a:rPr lang="en-US" b="0" dirty="0" smtClean="0">
                <a:solidFill>
                  <a:srgbClr val="D03B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if 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(hi - lo &lt;= 1) </a:t>
            </a:r>
            <a:r>
              <a:rPr lang="en-US" b="0" dirty="0" smtClean="0">
                <a:solidFill>
                  <a:srgbClr val="D03B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return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;</a:t>
            </a:r>
          </a:p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buFont typeface="+mj-lt"/>
              <a:buAutoNum type="arabicPeriod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endParaRPr lang="en-US" sz="1200" b="0" dirty="0" smtClean="0">
              <a:solidFill>
                <a:schemeClr val="tx1"/>
              </a:solidFill>
              <a:latin typeface="Menlo" charset="0"/>
              <a:ea typeface="Menlo" charset="0"/>
              <a:cs typeface="Menlo" charset="0"/>
              <a:sym typeface="Menlo" charset="0"/>
            </a:endParaRPr>
          </a:p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buFont typeface="+mj-lt"/>
              <a:buAutoNum type="arabicPeriod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 </a:t>
            </a:r>
            <a:r>
              <a:rPr lang="en-US" b="0" dirty="0" err="1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b="0" dirty="0" smtClean="0">
                <a:solidFill>
                  <a:srgbClr val="CD7923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p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= partition(A, lo, hi);</a:t>
            </a:r>
          </a:p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buFont typeface="+mj-lt"/>
              <a:buAutoNum type="arabicPeriod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  //@assert  lo &lt;= p &amp;&amp; p &lt; hi;</a:t>
            </a:r>
          </a:p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buFont typeface="+mj-lt"/>
              <a:buAutoNum type="arabicPeriod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 </a:t>
            </a:r>
            <a:r>
              <a:rPr lang="en-US" b="0" dirty="0" err="1" smtClean="0">
                <a:latin typeface="Menlo" charset="0"/>
                <a:ea typeface="Menlo" charset="0"/>
                <a:cs typeface="Menlo" charset="0"/>
                <a:sym typeface="Menlo" charset="0"/>
              </a:rPr>
              <a:t>quicksort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(A, lo, p);</a:t>
            </a:r>
            <a:endParaRPr lang="en-US" b="0" dirty="0" smtClean="0">
              <a:solidFill>
                <a:srgbClr val="C00000"/>
              </a:solidFill>
              <a:latin typeface="Menlo" charset="0"/>
              <a:ea typeface="Menlo" charset="0"/>
              <a:cs typeface="Menlo" charset="0"/>
              <a:sym typeface="Menlo" charset="0"/>
            </a:endParaRPr>
          </a:p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buFont typeface="+mj-lt"/>
              <a:buAutoNum type="arabicPeriod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 </a:t>
            </a:r>
            <a:r>
              <a:rPr lang="en-US" b="0" dirty="0" err="1" smtClean="0">
                <a:latin typeface="Menlo" charset="0"/>
                <a:ea typeface="Menlo" charset="0"/>
                <a:cs typeface="Menlo" charset="0"/>
                <a:sym typeface="Menlo" charset="0"/>
              </a:rPr>
              <a:t>quicksort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(A, p+1, hi);</a:t>
            </a:r>
            <a:endParaRPr lang="en-US" b="0" dirty="0" smtClean="0">
              <a:solidFill>
                <a:srgbClr val="C00000"/>
              </a:solidFill>
              <a:latin typeface="Menlo" charset="0"/>
              <a:ea typeface="Menlo" charset="0"/>
              <a:cs typeface="Menlo" charset="0"/>
              <a:sym typeface="Menlo" charset="0"/>
            </a:endParaRPr>
          </a:p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buFont typeface="+mj-lt"/>
              <a:buAutoNum type="arabicPeriod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solidFill>
                  <a:schemeClr val="tx1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}</a:t>
            </a:r>
            <a:endParaRPr lang="en-US" dirty="0" smtClean="0">
              <a:solidFill>
                <a:schemeClr val="tx1"/>
              </a:solidFill>
              <a:latin typeface="Menlo" charset="0"/>
              <a:ea typeface="Menlo" charset="0"/>
              <a:cs typeface="Menlo" charset="0"/>
              <a:sym typeface="Menlo" charset="0"/>
            </a:endParaRPr>
          </a:p>
        </p:txBody>
      </p:sp>
      <p:sp>
        <p:nvSpPr>
          <p:cNvPr id="8" name="Rectangular Callout 7"/>
          <p:cNvSpPr/>
          <p:nvPr/>
        </p:nvSpPr>
        <p:spPr bwMode="auto">
          <a:xfrm>
            <a:off x="8788400" y="3733800"/>
            <a:ext cx="3763274" cy="1631216"/>
          </a:xfrm>
          <a:prstGeom prst="wedgeRectCallout">
            <a:avLst>
              <a:gd name="adj1" fmla="val -150336"/>
              <a:gd name="adj2" fmla="val 56841"/>
            </a:avLst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wrap="none" lIns="45720" rIns="45720" anchor="ctr">
            <a:spAutoFit/>
          </a:bodyPr>
          <a:lstStyle/>
          <a:p>
            <a:pPr algn="l">
              <a:defRPr/>
            </a:pPr>
            <a:r>
              <a:rPr lang="en-US" sz="2000" dirty="0" smtClean="0"/>
              <a:t>To show</a:t>
            </a:r>
            <a:r>
              <a:rPr lang="en-US" sz="2000" b="0" dirty="0" smtClean="0">
                <a:solidFill>
                  <a:schemeClr val="tx1"/>
                </a:solidFill>
              </a:rPr>
              <a:t>:</a:t>
            </a:r>
            <a:r>
              <a:rPr lang="en-US" sz="2000" b="0" dirty="0" smtClean="0">
                <a:solidFill>
                  <a:srgbClr val="C00000"/>
                </a:solidFill>
              </a:rPr>
              <a:t> 0 ≤ lo &lt; hi ≤ \length(A)</a:t>
            </a:r>
          </a:p>
          <a:p>
            <a:pPr marL="169863" indent="-169863" algn="l">
              <a:buClr>
                <a:schemeClr val="tx1"/>
              </a:buClr>
              <a:buSzPct val="125000"/>
              <a:buFont typeface="Arial" pitchFamily="34" charset="0"/>
              <a:buChar char="•"/>
              <a:tabLst>
                <a:tab pos="2168525" algn="l"/>
              </a:tabLst>
              <a:defRPr/>
            </a:pPr>
            <a:r>
              <a:rPr lang="en-US" sz="2000" b="0" dirty="0" smtClean="0">
                <a:solidFill>
                  <a:srgbClr val="C00000"/>
                </a:solidFill>
              </a:rPr>
              <a:t>0 ≤ lo</a:t>
            </a:r>
            <a:r>
              <a:rPr lang="en-US" sz="2000" b="0" dirty="0" smtClean="0"/>
              <a:t>	by line 2</a:t>
            </a:r>
          </a:p>
          <a:p>
            <a:pPr marL="169863" indent="-169863" algn="l">
              <a:buClr>
                <a:schemeClr val="tx1"/>
              </a:buClr>
              <a:buSzPct val="125000"/>
              <a:buFont typeface="Arial" pitchFamily="34" charset="0"/>
              <a:buChar char="•"/>
              <a:tabLst>
                <a:tab pos="2168525" algn="l"/>
              </a:tabLst>
              <a:defRPr/>
            </a:pPr>
            <a:r>
              <a:rPr lang="en-US" sz="2000" b="0" dirty="0" smtClean="0">
                <a:solidFill>
                  <a:srgbClr val="C00000"/>
                </a:solidFill>
              </a:rPr>
              <a:t>lo ≤ hi+1 </a:t>
            </a:r>
            <a:r>
              <a:rPr lang="en-US" sz="2000" b="0" dirty="0" smtClean="0"/>
              <a:t>	by line 7</a:t>
            </a:r>
            <a:br>
              <a:rPr lang="en-US" sz="2000" b="0" dirty="0" smtClean="0"/>
            </a:br>
            <a:r>
              <a:rPr lang="en-US" sz="2000" b="0" dirty="0" smtClean="0">
                <a:solidFill>
                  <a:srgbClr val="C00000"/>
                </a:solidFill>
              </a:rPr>
              <a:t>lo &lt; hi </a:t>
            </a:r>
            <a:r>
              <a:rPr lang="en-US" sz="2000" b="0" dirty="0" smtClean="0"/>
              <a:t>	by math</a:t>
            </a:r>
          </a:p>
          <a:p>
            <a:pPr marL="169863" indent="-169863" algn="l">
              <a:buClr>
                <a:schemeClr val="tx1"/>
              </a:buClr>
              <a:buSzPct val="125000"/>
              <a:buFont typeface="Arial" pitchFamily="34" charset="0"/>
              <a:buChar char="•"/>
              <a:tabLst>
                <a:tab pos="2168525" algn="l"/>
              </a:tabLst>
              <a:defRPr/>
            </a:pPr>
            <a:r>
              <a:rPr lang="en-US" sz="2000" b="0" dirty="0" smtClean="0">
                <a:solidFill>
                  <a:srgbClr val="C00000"/>
                </a:solidFill>
              </a:rPr>
              <a:t>hi ≤ \length(A)</a:t>
            </a:r>
            <a:r>
              <a:rPr lang="en-US" sz="2000" b="0" dirty="0" smtClean="0"/>
              <a:t>	by line 2</a:t>
            </a:r>
            <a:endParaRPr lang="en-US" sz="2000" b="0" dirty="0"/>
          </a:p>
        </p:txBody>
      </p:sp>
      <p:sp>
        <p:nvSpPr>
          <p:cNvPr id="9" name="Rectangular Callout 8"/>
          <p:cNvSpPr/>
          <p:nvPr/>
        </p:nvSpPr>
        <p:spPr bwMode="auto">
          <a:xfrm>
            <a:off x="8788400" y="7086600"/>
            <a:ext cx="3989297" cy="707886"/>
          </a:xfrm>
          <a:prstGeom prst="wedgeRectCallout">
            <a:avLst>
              <a:gd name="adj1" fmla="val -167779"/>
              <a:gd name="adj2" fmla="val -112392"/>
            </a:avLst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wrap="none" lIns="45720" rIns="45720" anchor="ctr">
            <a:spAutoFit/>
          </a:bodyPr>
          <a:lstStyle/>
          <a:p>
            <a:pPr algn="l">
              <a:defRPr/>
            </a:pPr>
            <a:r>
              <a:rPr lang="en-US" sz="2000" dirty="0" smtClean="0"/>
              <a:t>To show</a:t>
            </a:r>
            <a:r>
              <a:rPr lang="en-US" sz="2000" b="0" dirty="0" smtClean="0">
                <a:solidFill>
                  <a:schemeClr val="tx1"/>
                </a:solidFill>
              </a:rPr>
              <a:t>:</a:t>
            </a:r>
            <a:r>
              <a:rPr lang="en-US" sz="2000" b="0" dirty="0" smtClean="0">
                <a:solidFill>
                  <a:srgbClr val="C00000"/>
                </a:solidFill>
              </a:rPr>
              <a:t> 0 ≤ p+1 ≤ hi ≤ \length(A)</a:t>
            </a:r>
            <a:br>
              <a:rPr lang="en-US" sz="2000" b="0" dirty="0" smtClean="0">
                <a:solidFill>
                  <a:srgbClr val="C00000"/>
                </a:solidFill>
              </a:rPr>
            </a:br>
            <a:r>
              <a:rPr lang="en-US" sz="2000" b="0" i="1" dirty="0" smtClean="0">
                <a:solidFill>
                  <a:schemeClr val="tx1"/>
                </a:solidFill>
              </a:rPr>
              <a:t>Left as exercise</a:t>
            </a:r>
          </a:p>
        </p:txBody>
      </p:sp>
      <p:sp>
        <p:nvSpPr>
          <p:cNvPr id="10" name="Rectangular Callout 9"/>
          <p:cNvSpPr/>
          <p:nvPr/>
        </p:nvSpPr>
        <p:spPr bwMode="auto">
          <a:xfrm>
            <a:off x="8788400" y="6172200"/>
            <a:ext cx="3697551" cy="707886"/>
          </a:xfrm>
          <a:prstGeom prst="wedgeRectCallout">
            <a:avLst>
              <a:gd name="adj1" fmla="val -175196"/>
              <a:gd name="adj2" fmla="val -26110"/>
            </a:avLst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wrap="none" lIns="45720" rIns="45720" anchor="ctr">
            <a:spAutoFit/>
          </a:bodyPr>
          <a:lstStyle/>
          <a:p>
            <a:pPr algn="l">
              <a:defRPr/>
            </a:pPr>
            <a:r>
              <a:rPr lang="en-US" sz="2000" dirty="0" smtClean="0"/>
              <a:t>To show</a:t>
            </a:r>
            <a:r>
              <a:rPr lang="en-US" sz="2000" b="0" dirty="0" smtClean="0">
                <a:solidFill>
                  <a:schemeClr val="tx1"/>
                </a:solidFill>
              </a:rPr>
              <a:t>:</a:t>
            </a:r>
            <a:r>
              <a:rPr lang="en-US" sz="2000" b="0" dirty="0" smtClean="0">
                <a:solidFill>
                  <a:srgbClr val="C00000"/>
                </a:solidFill>
              </a:rPr>
              <a:t> 0 ≤ lo ≤ p ≤ \length(A)</a:t>
            </a:r>
          </a:p>
          <a:p>
            <a:pPr marL="169863" indent="-169863" algn="l">
              <a:buClr>
                <a:schemeClr val="tx1"/>
              </a:buClr>
              <a:buSzPct val="125000"/>
              <a:tabLst>
                <a:tab pos="2168525" algn="l"/>
              </a:tabLst>
              <a:defRPr/>
            </a:pPr>
            <a:r>
              <a:rPr lang="en-US" sz="2000" b="0" i="1" dirty="0" smtClean="0">
                <a:solidFill>
                  <a:schemeClr val="tx1"/>
                </a:solidFill>
              </a:rPr>
              <a:t>Like </a:t>
            </a:r>
            <a:r>
              <a:rPr lang="en-US" sz="2000" b="0" i="1" dirty="0" err="1" smtClean="0">
                <a:solidFill>
                  <a:schemeClr val="tx1"/>
                </a:solidFill>
              </a:rPr>
              <a:t>mergesort</a:t>
            </a:r>
            <a:endParaRPr lang="en-US" sz="2000" b="0" dirty="0"/>
          </a:p>
        </p:txBody>
      </p:sp>
      <p:sp>
        <p:nvSpPr>
          <p:cNvPr id="12" name="TextBox 11"/>
          <p:cNvSpPr txBox="1"/>
          <p:nvPr/>
        </p:nvSpPr>
        <p:spPr>
          <a:xfrm>
            <a:off x="6596715" y="8002250"/>
            <a:ext cx="1048685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800" dirty="0" smtClean="0">
                <a:solidFill>
                  <a:srgbClr val="00B050"/>
                </a:solidFill>
                <a:sym typeface="Wingdings 2"/>
              </a:rPr>
              <a:t></a:t>
            </a:r>
            <a:endParaRPr lang="en-US" sz="8800" dirty="0">
              <a:solidFill>
                <a:srgbClr val="00B05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>
          <a:xfrm>
            <a:off x="952500" y="254000"/>
            <a:ext cx="6540500" cy="1498600"/>
          </a:xfrm>
        </p:spPr>
        <p:txBody>
          <a:bodyPr/>
          <a:lstStyle/>
          <a:p>
            <a:r>
              <a:rPr lang="en-US" dirty="0" err="1" smtClean="0"/>
              <a:t>Quicksort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Is it correct?</a:t>
            </a:r>
            <a:endParaRPr lang="en-US" b="1" dirty="0" smtClean="0"/>
          </a:p>
          <a:p>
            <a:endParaRPr lang="en-US" dirty="0" smtClean="0"/>
          </a:p>
          <a:p>
            <a:endParaRPr lang="en-US" dirty="0"/>
          </a:p>
        </p:txBody>
      </p:sp>
      <p:sp>
        <p:nvSpPr>
          <p:cNvPr id="6" name="Rectangle 5"/>
          <p:cNvSpPr>
            <a:spLocks/>
          </p:cNvSpPr>
          <p:nvPr/>
        </p:nvSpPr>
        <p:spPr bwMode="auto">
          <a:xfrm>
            <a:off x="7553659" y="106740"/>
            <a:ext cx="5349541" cy="1569660"/>
          </a:xfrm>
          <a:prstGeom prst="rect">
            <a:avLst/>
          </a:prstGeom>
          <a:noFill/>
          <a:ln w="12700">
            <a:solidFill>
              <a:schemeClr val="tx2"/>
            </a:solidFill>
            <a:miter lim="400000"/>
            <a:headEnd/>
            <a:tailEnd/>
          </a:ln>
        </p:spPr>
        <p:txBody>
          <a:bodyPr wrap="none" tIns="91440" bIns="91440" anchor="ctr">
            <a:spAutoFit/>
          </a:bodyPr>
          <a:lstStyle/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err="1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sz="1800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sz="1800" b="0" dirty="0" smtClean="0">
                <a:solidFill>
                  <a:srgbClr val="5E34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partition </a:t>
            </a:r>
            <a:r>
              <a:rPr lang="en-US" sz="1800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(</a:t>
            </a:r>
            <a:r>
              <a:rPr lang="en-US" sz="1800" b="0" dirty="0" err="1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sz="1800" b="0" dirty="0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[]</a:t>
            </a:r>
            <a:r>
              <a:rPr lang="en-US" sz="1800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sz="1800" b="0" dirty="0" smtClean="0">
                <a:solidFill>
                  <a:srgbClr val="CD7923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A</a:t>
            </a:r>
            <a:r>
              <a:rPr lang="en-US" sz="1800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, </a:t>
            </a:r>
            <a:r>
              <a:rPr lang="en-US" sz="1800" b="0" dirty="0" err="1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sz="1800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sz="1800" b="0" dirty="0" smtClean="0">
                <a:solidFill>
                  <a:srgbClr val="CD7923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lo</a:t>
            </a:r>
            <a:r>
              <a:rPr lang="en-US" sz="1800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, </a:t>
            </a:r>
            <a:r>
              <a:rPr lang="en-US" sz="1800" b="0" dirty="0" err="1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sz="1800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sz="1800" b="0" dirty="0" smtClean="0">
                <a:solidFill>
                  <a:srgbClr val="CD7923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hi</a:t>
            </a:r>
            <a:r>
              <a:rPr lang="en-US" sz="1800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)</a:t>
            </a:r>
          </a:p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//@requires 0 &lt;= lo &amp;&amp; lo &lt; hi  &amp;&amp; hi &lt;= \length(A);</a:t>
            </a:r>
          </a:p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//@ensures lo &lt;= \result &amp;&amp; \result &lt; hi;</a:t>
            </a:r>
          </a:p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//@ensures </a:t>
            </a:r>
            <a:r>
              <a:rPr lang="en-US" sz="1800" b="0" dirty="0" err="1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le_seg</a:t>
            </a:r>
            <a:r>
              <a:rPr lang="en-US" sz="1800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(A[\result], A, lo, \result);</a:t>
            </a:r>
          </a:p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//@ensures </a:t>
            </a:r>
            <a:r>
              <a:rPr lang="en-US" sz="1800" b="0" dirty="0" err="1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ge_seg</a:t>
            </a:r>
            <a:r>
              <a:rPr lang="en-US" sz="1800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(A[\result], A, \result+1, hi);</a:t>
            </a:r>
            <a:endParaRPr lang="en-US" sz="1800" b="0" dirty="0" smtClean="0">
              <a:solidFill>
                <a:schemeClr val="tx1"/>
              </a:solidFill>
              <a:latin typeface="Menlo" charset="0"/>
              <a:ea typeface="Menlo" charset="0"/>
              <a:cs typeface="Menlo" charset="0"/>
              <a:sym typeface="Menlo" charset="0"/>
            </a:endParaRPr>
          </a:p>
        </p:txBody>
      </p:sp>
      <p:sp>
        <p:nvSpPr>
          <p:cNvPr id="7" name="Rectangle 6"/>
          <p:cNvSpPr>
            <a:spLocks/>
          </p:cNvSpPr>
          <p:nvPr/>
        </p:nvSpPr>
        <p:spPr bwMode="auto">
          <a:xfrm>
            <a:off x="1092200" y="3276600"/>
            <a:ext cx="7772400" cy="4801314"/>
          </a:xfrm>
          <a:prstGeom prst="rect">
            <a:avLst/>
          </a:prstGeom>
          <a:noFill/>
          <a:ln w="12700">
            <a:solidFill>
              <a:schemeClr val="tx2"/>
            </a:solidFill>
            <a:miter lim="400000"/>
            <a:headEnd/>
            <a:tailEnd/>
          </a:ln>
        </p:spPr>
        <p:txBody>
          <a:bodyPr wrap="square" tIns="91440" bIns="91440" anchor="ctr">
            <a:spAutoFit/>
          </a:bodyPr>
          <a:lstStyle/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buFont typeface="+mj-lt"/>
              <a:buAutoNum type="arabicPeriod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void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b="0" dirty="0" err="1" smtClean="0">
                <a:solidFill>
                  <a:srgbClr val="5E34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quicksort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(</a:t>
            </a:r>
            <a:r>
              <a:rPr lang="en-US" b="0" dirty="0" err="1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b="0" dirty="0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[]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b="0" dirty="0" smtClean="0">
                <a:solidFill>
                  <a:srgbClr val="CD7923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A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, </a:t>
            </a:r>
            <a:r>
              <a:rPr lang="en-US" b="0" dirty="0" err="1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b="0" dirty="0" smtClean="0">
                <a:solidFill>
                  <a:srgbClr val="CD7923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lo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, </a:t>
            </a:r>
            <a:r>
              <a:rPr lang="en-US" b="0" dirty="0" err="1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b="0" dirty="0" smtClean="0">
                <a:solidFill>
                  <a:srgbClr val="CD7923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hi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)</a:t>
            </a:r>
          </a:p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buFont typeface="+mj-lt"/>
              <a:buAutoNum type="arabicPeriod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//@requires 0 &lt;= lo &amp;&amp; lo &lt;= hi  &amp;&amp; hi &lt;= \length(A);</a:t>
            </a:r>
          </a:p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buFont typeface="+mj-lt"/>
              <a:buAutoNum type="arabicPeriod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//@ensures </a:t>
            </a:r>
            <a:r>
              <a:rPr lang="en-US" b="0" dirty="0" err="1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is_sorted</a:t>
            </a:r>
            <a:r>
              <a:rPr lang="en-US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(A, lo, hi);</a:t>
            </a:r>
            <a:endParaRPr lang="en-US" b="0" dirty="0" smtClean="0">
              <a:solidFill>
                <a:schemeClr val="tx1"/>
              </a:solidFill>
              <a:latin typeface="Menlo" charset="0"/>
              <a:ea typeface="Menlo" charset="0"/>
              <a:cs typeface="Menlo" charset="0"/>
              <a:sym typeface="Menlo" charset="0"/>
            </a:endParaRPr>
          </a:p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buFont typeface="+mj-lt"/>
              <a:buAutoNum type="arabicPeriod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solidFill>
                  <a:schemeClr val="tx1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{</a:t>
            </a:r>
          </a:p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buFont typeface="+mj-lt"/>
              <a:buAutoNum type="arabicPeriod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solidFill>
                  <a:schemeClr val="tx1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  </a:t>
            </a:r>
            <a:r>
              <a:rPr lang="en-US" b="0" dirty="0" smtClean="0">
                <a:solidFill>
                  <a:srgbClr val="D03B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if 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(hi - lo &lt;= 1) </a:t>
            </a:r>
            <a:r>
              <a:rPr lang="en-US" b="0" dirty="0" smtClean="0">
                <a:solidFill>
                  <a:srgbClr val="D03B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return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;</a:t>
            </a:r>
          </a:p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buFont typeface="+mj-lt"/>
              <a:buAutoNum type="arabicPeriod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endParaRPr lang="en-US" sz="1200" b="0" dirty="0" smtClean="0">
              <a:solidFill>
                <a:schemeClr val="tx1"/>
              </a:solidFill>
              <a:latin typeface="Menlo" charset="0"/>
              <a:ea typeface="Menlo" charset="0"/>
              <a:cs typeface="Menlo" charset="0"/>
              <a:sym typeface="Menlo" charset="0"/>
            </a:endParaRPr>
          </a:p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buFont typeface="+mj-lt"/>
              <a:buAutoNum type="arabicPeriod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 </a:t>
            </a:r>
            <a:r>
              <a:rPr lang="en-US" b="0" dirty="0" err="1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b="0" dirty="0" smtClean="0">
                <a:solidFill>
                  <a:srgbClr val="CD7923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p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= partition(A, lo, hi);</a:t>
            </a:r>
          </a:p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buFont typeface="+mj-lt"/>
              <a:buAutoNum type="arabicPeriod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  //@assert  lo &lt;= p &amp;&amp; p &lt; hi;</a:t>
            </a:r>
          </a:p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buFont typeface="+mj-lt"/>
              <a:buAutoNum type="arabicPeriod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  //@assert </a:t>
            </a:r>
            <a:r>
              <a:rPr lang="en-US" b="0" dirty="0" err="1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le_seg</a:t>
            </a:r>
            <a:r>
              <a:rPr lang="en-US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(A[p], A, lo, p);</a:t>
            </a:r>
          </a:p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buFont typeface="+mj-lt"/>
              <a:buAutoNum type="arabicPeriod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  //@assert </a:t>
            </a:r>
            <a:r>
              <a:rPr lang="en-US" b="0" dirty="0" err="1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ge_seg</a:t>
            </a:r>
            <a:r>
              <a:rPr lang="en-US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(A[p], A, p+1, hi);</a:t>
            </a:r>
          </a:p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buFont typeface="+mj-lt"/>
              <a:buAutoNum type="arabicPeriod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 </a:t>
            </a:r>
            <a:r>
              <a:rPr lang="en-US" b="0" dirty="0" err="1" smtClean="0">
                <a:latin typeface="Menlo" charset="0"/>
                <a:ea typeface="Menlo" charset="0"/>
                <a:cs typeface="Menlo" charset="0"/>
                <a:sym typeface="Menlo" charset="0"/>
              </a:rPr>
              <a:t>quicksort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(A, lo, p);     </a:t>
            </a:r>
            <a:r>
              <a:rPr lang="en-US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//@assert </a:t>
            </a:r>
            <a:r>
              <a:rPr lang="en-US" b="0" dirty="0" err="1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is_sorted</a:t>
            </a:r>
            <a:r>
              <a:rPr lang="en-US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(A, lo, p);</a:t>
            </a:r>
          </a:p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buFont typeface="+mj-lt"/>
              <a:buAutoNum type="arabicPeriod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 </a:t>
            </a:r>
            <a:r>
              <a:rPr lang="en-US" b="0" dirty="0" err="1" smtClean="0">
                <a:latin typeface="Menlo" charset="0"/>
                <a:ea typeface="Menlo" charset="0"/>
                <a:cs typeface="Menlo" charset="0"/>
                <a:sym typeface="Menlo" charset="0"/>
              </a:rPr>
              <a:t>quicksort</a:t>
            </a:r>
            <a:r>
              <a:rPr lang="en-US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(A, p+1, hi); </a:t>
            </a:r>
            <a:r>
              <a:rPr lang="en-US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//@assert </a:t>
            </a:r>
            <a:r>
              <a:rPr lang="en-US" b="0" dirty="0" err="1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is_sorted</a:t>
            </a:r>
            <a:r>
              <a:rPr lang="en-US" b="0" dirty="0" smtClean="0">
                <a:solidFill>
                  <a:srgbClr val="C00000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(A, p+1, hi);</a:t>
            </a:r>
          </a:p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buFont typeface="+mj-lt"/>
              <a:buAutoNum type="arabicPeriod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b="0" dirty="0" smtClean="0">
                <a:solidFill>
                  <a:schemeClr val="tx1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}</a:t>
            </a:r>
            <a:endParaRPr lang="en-US" dirty="0" smtClean="0">
              <a:solidFill>
                <a:schemeClr val="tx1"/>
              </a:solidFill>
              <a:latin typeface="Menlo" charset="0"/>
              <a:ea typeface="Menlo" charset="0"/>
              <a:cs typeface="Menlo" charset="0"/>
              <a:sym typeface="Menlo" charset="0"/>
            </a:endParaRPr>
          </a:p>
        </p:txBody>
      </p:sp>
      <p:sp>
        <p:nvSpPr>
          <p:cNvPr id="8" name="Rectangular Callout 7"/>
          <p:cNvSpPr/>
          <p:nvPr/>
        </p:nvSpPr>
        <p:spPr bwMode="auto">
          <a:xfrm>
            <a:off x="9451396" y="7357408"/>
            <a:ext cx="3375604" cy="1938992"/>
          </a:xfrm>
          <a:prstGeom prst="wedgeRectCallout">
            <a:avLst>
              <a:gd name="adj1" fmla="val -276959"/>
              <a:gd name="adj2" fmla="val -34185"/>
            </a:avLst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wrap="none" lIns="45720" rIns="45720" anchor="ctr">
            <a:spAutoFit/>
          </a:bodyPr>
          <a:lstStyle/>
          <a:p>
            <a:pPr algn="l">
              <a:defRPr/>
            </a:pPr>
            <a:r>
              <a:rPr lang="en-US" sz="2000" dirty="0" smtClean="0"/>
              <a:t>To show</a:t>
            </a:r>
            <a:r>
              <a:rPr lang="en-US" sz="2000" b="0" dirty="0" smtClean="0">
                <a:solidFill>
                  <a:schemeClr val="tx1"/>
                </a:solidFill>
              </a:rPr>
              <a:t>:</a:t>
            </a:r>
            <a:r>
              <a:rPr lang="en-US" sz="2000" b="0" dirty="0" smtClean="0">
                <a:solidFill>
                  <a:srgbClr val="C00000"/>
                </a:solidFill>
              </a:rPr>
              <a:t> A[lo, hi) sorted</a:t>
            </a:r>
          </a:p>
          <a:p>
            <a:pPr marL="233363" indent="-233363" algn="l">
              <a:buClr>
                <a:schemeClr val="tx1"/>
              </a:buClr>
              <a:buSzPct val="80000"/>
              <a:buFont typeface="+mj-lt"/>
              <a:buAutoNum type="alphaUcPeriod"/>
              <a:tabLst>
                <a:tab pos="2233613" algn="l"/>
              </a:tabLst>
              <a:defRPr/>
            </a:pPr>
            <a:r>
              <a:rPr lang="en-US" sz="2000" b="0" dirty="0" smtClean="0">
                <a:solidFill>
                  <a:srgbClr val="C00000"/>
                </a:solidFill>
              </a:rPr>
              <a:t>A[lo, p) ≤ A[p]</a:t>
            </a:r>
            <a:r>
              <a:rPr lang="en-US" sz="2000" b="0" dirty="0" smtClean="0"/>
              <a:t>	by line 7</a:t>
            </a:r>
          </a:p>
          <a:p>
            <a:pPr marL="233363" indent="-233363" algn="l">
              <a:buClr>
                <a:schemeClr val="tx1"/>
              </a:buClr>
              <a:buSzPct val="80000"/>
              <a:buFont typeface="+mj-lt"/>
              <a:buAutoNum type="alphaUcPeriod"/>
              <a:tabLst>
                <a:tab pos="2233613" algn="l"/>
              </a:tabLst>
              <a:defRPr/>
            </a:pPr>
            <a:r>
              <a:rPr lang="en-US" sz="2000" b="0" dirty="0" smtClean="0">
                <a:solidFill>
                  <a:srgbClr val="C00000"/>
                </a:solidFill>
              </a:rPr>
              <a:t>A[p] ≤ A[p+1, hi) </a:t>
            </a:r>
            <a:r>
              <a:rPr lang="en-US" sz="2000" b="0" dirty="0" smtClean="0"/>
              <a:t>	by line 8</a:t>
            </a:r>
          </a:p>
          <a:p>
            <a:pPr marL="233363" indent="-233363" algn="l">
              <a:buClr>
                <a:schemeClr val="tx1"/>
              </a:buClr>
              <a:buSzPct val="80000"/>
              <a:buFont typeface="+mj-lt"/>
              <a:buAutoNum type="alphaUcPeriod"/>
              <a:tabLst>
                <a:tab pos="2233613" algn="l"/>
              </a:tabLst>
              <a:defRPr/>
            </a:pPr>
            <a:r>
              <a:rPr lang="en-US" sz="2000" b="0" dirty="0" smtClean="0">
                <a:solidFill>
                  <a:srgbClr val="C00000"/>
                </a:solidFill>
              </a:rPr>
              <a:t>A[lo, p) sorted</a:t>
            </a:r>
            <a:r>
              <a:rPr lang="en-US" sz="2000" b="0" dirty="0" smtClean="0"/>
              <a:t>	by line10</a:t>
            </a:r>
          </a:p>
          <a:p>
            <a:pPr marL="233363" indent="-233363" algn="l">
              <a:buClr>
                <a:schemeClr val="tx1"/>
              </a:buClr>
              <a:buSzPct val="80000"/>
              <a:buFont typeface="+mj-lt"/>
              <a:buAutoNum type="alphaUcPeriod"/>
              <a:tabLst>
                <a:tab pos="2233613" algn="l"/>
              </a:tabLst>
              <a:defRPr/>
            </a:pPr>
            <a:r>
              <a:rPr lang="en-US" sz="2000" b="0" dirty="0" smtClean="0">
                <a:solidFill>
                  <a:srgbClr val="C00000"/>
                </a:solidFill>
              </a:rPr>
              <a:t>A[p+1, hi) sorted</a:t>
            </a:r>
            <a:r>
              <a:rPr lang="en-US" sz="2000" b="0" dirty="0" smtClean="0"/>
              <a:t>	by line11</a:t>
            </a:r>
          </a:p>
          <a:p>
            <a:pPr marL="233363" indent="-233363" algn="l">
              <a:buClr>
                <a:schemeClr val="tx1"/>
              </a:buClr>
              <a:buSzPct val="80000"/>
              <a:buFont typeface="+mj-lt"/>
              <a:buAutoNum type="alphaUcPeriod"/>
              <a:tabLst>
                <a:tab pos="2233613" algn="l"/>
              </a:tabLst>
              <a:defRPr/>
            </a:pPr>
            <a:r>
              <a:rPr lang="en-US" sz="2000" b="0" dirty="0" smtClean="0">
                <a:solidFill>
                  <a:srgbClr val="C00000"/>
                </a:solidFill>
              </a:rPr>
              <a:t>A[lo, hi) sorted</a:t>
            </a:r>
            <a:r>
              <a:rPr lang="en-US" sz="2000" b="0" dirty="0" smtClean="0"/>
              <a:t>	by A-D</a:t>
            </a:r>
            <a:endParaRPr lang="en-US" sz="2000" b="0" dirty="0"/>
          </a:p>
        </p:txBody>
      </p:sp>
      <p:sp>
        <p:nvSpPr>
          <p:cNvPr id="12" name="TextBox 11"/>
          <p:cNvSpPr txBox="1"/>
          <p:nvPr/>
        </p:nvSpPr>
        <p:spPr>
          <a:xfrm>
            <a:off x="2159000" y="8230850"/>
            <a:ext cx="1048685" cy="144655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8800" dirty="0" smtClean="0">
                <a:solidFill>
                  <a:srgbClr val="00B050"/>
                </a:solidFill>
                <a:sym typeface="Wingdings 2"/>
              </a:rPr>
              <a:t></a:t>
            </a:r>
            <a:endParaRPr lang="en-US" sz="8800" dirty="0">
              <a:solidFill>
                <a:srgbClr val="00B050"/>
              </a:solidFill>
            </a:endParaRPr>
          </a:p>
        </p:txBody>
      </p:sp>
      <p:sp>
        <p:nvSpPr>
          <p:cNvPr id="11" name="Rectangular Callout 10"/>
          <p:cNvSpPr/>
          <p:nvPr/>
        </p:nvSpPr>
        <p:spPr bwMode="auto">
          <a:xfrm>
            <a:off x="9506734" y="4876800"/>
            <a:ext cx="2939266" cy="1015663"/>
          </a:xfrm>
          <a:prstGeom prst="wedgeRectCallout">
            <a:avLst>
              <a:gd name="adj1" fmla="val -218357"/>
              <a:gd name="adj2" fmla="val -29998"/>
            </a:avLst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wrap="none" lIns="45720" rIns="45720" anchor="ctr">
            <a:spAutoFit/>
          </a:bodyPr>
          <a:lstStyle/>
          <a:p>
            <a:pPr algn="l">
              <a:defRPr/>
            </a:pPr>
            <a:r>
              <a:rPr lang="en-US" sz="2000" dirty="0" smtClean="0"/>
              <a:t>To show</a:t>
            </a:r>
            <a:r>
              <a:rPr lang="en-US" sz="2000" b="0" dirty="0" smtClean="0">
                <a:solidFill>
                  <a:schemeClr val="tx1"/>
                </a:solidFill>
              </a:rPr>
              <a:t>:</a:t>
            </a:r>
            <a:r>
              <a:rPr lang="en-US" sz="2000" b="0" dirty="0" smtClean="0">
                <a:solidFill>
                  <a:srgbClr val="C00000"/>
                </a:solidFill>
              </a:rPr>
              <a:t> A[lo, hi) sorted</a:t>
            </a:r>
          </a:p>
          <a:p>
            <a:pPr marL="233363" indent="-233363" algn="l">
              <a:buClr>
                <a:schemeClr val="tx1"/>
              </a:buClr>
              <a:buSzPct val="80000"/>
              <a:tabLst>
                <a:tab pos="2233613" algn="l"/>
              </a:tabLst>
              <a:defRPr/>
            </a:pPr>
            <a:r>
              <a:rPr lang="en-US" sz="2000" b="0" dirty="0" smtClean="0">
                <a:solidFill>
                  <a:schemeClr val="tx1"/>
                </a:solidFill>
              </a:rPr>
              <a:t>All arrays of length 0 or 1</a:t>
            </a:r>
            <a:br>
              <a:rPr lang="en-US" sz="2000" b="0" dirty="0" smtClean="0">
                <a:solidFill>
                  <a:schemeClr val="tx1"/>
                </a:solidFill>
              </a:rPr>
            </a:br>
            <a:r>
              <a:rPr lang="en-US" sz="2000" b="0" dirty="0" smtClean="0">
                <a:solidFill>
                  <a:schemeClr val="tx1"/>
                </a:solidFill>
              </a:rPr>
              <a:t>are sorted</a:t>
            </a:r>
            <a:endParaRPr lang="en-US" sz="2000" b="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to partition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52500" y="5334000"/>
            <a:ext cx="11099800" cy="4191000"/>
          </a:xfrm>
        </p:spPr>
        <p:txBody>
          <a:bodyPr/>
          <a:lstStyle/>
          <a:p>
            <a:r>
              <a:rPr lang="en-US" dirty="0" smtClean="0"/>
              <a:t>Create a temporary array, TMP, the same size as A[lo, hi)</a:t>
            </a:r>
          </a:p>
          <a:p>
            <a:r>
              <a:rPr lang="en-US" dirty="0" smtClean="0"/>
              <a:t>Pick the pivot in the array</a:t>
            </a:r>
          </a:p>
          <a:p>
            <a:r>
              <a:rPr lang="en-US" dirty="0" smtClean="0"/>
              <a:t>Put all other elements at either end of TMP</a:t>
            </a:r>
          </a:p>
          <a:p>
            <a:pPr lvl="1"/>
            <a:r>
              <a:rPr lang="en-US" dirty="0" smtClean="0"/>
              <a:t>smaller on the left, larger on the right</a:t>
            </a:r>
          </a:p>
          <a:p>
            <a:r>
              <a:rPr lang="en-US" dirty="0" smtClean="0"/>
              <a:t>Put pivot in the one spot left</a:t>
            </a:r>
          </a:p>
          <a:p>
            <a:r>
              <a:rPr lang="en-US" dirty="0" smtClean="0"/>
              <a:t>Copy TMP back into A[lo, hi)</a:t>
            </a:r>
          </a:p>
          <a:p>
            <a:r>
              <a:rPr lang="en-US" dirty="0" smtClean="0"/>
              <a:t>Return the index where the pivot ends up</a:t>
            </a:r>
            <a:endParaRPr lang="en-US" dirty="0"/>
          </a:p>
        </p:txBody>
      </p:sp>
      <p:sp>
        <p:nvSpPr>
          <p:cNvPr id="4" name="Rectangle 7"/>
          <p:cNvSpPr>
            <a:spLocks/>
          </p:cNvSpPr>
          <p:nvPr/>
        </p:nvSpPr>
        <p:spPr bwMode="auto">
          <a:xfrm>
            <a:off x="3225800" y="2043112"/>
            <a:ext cx="625468" cy="595035"/>
          </a:xfrm>
          <a:prstGeom prst="rect">
            <a:avLst/>
          </a:prstGeom>
          <a:noFill/>
          <a:ln w="12700">
            <a:noFill/>
            <a:miter lim="400000"/>
            <a:headEnd/>
            <a:tailEnd/>
          </a:ln>
        </p:spPr>
        <p:txBody>
          <a:bodyPr wrap="square" lIns="50800" tIns="50800" rIns="50800" bIns="50800" anchor="ctr">
            <a:spAutoFit/>
          </a:bodyPr>
          <a:lstStyle/>
          <a:p>
            <a:r>
              <a:rPr lang="en-US" sz="3200" b="0" dirty="0" smtClean="0"/>
              <a:t>A:</a:t>
            </a:r>
            <a:endParaRPr lang="en-US" sz="3200" b="0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911600" y="1600200"/>
          <a:ext cx="5105400" cy="1069778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2355913"/>
                <a:gridCol w="2341177"/>
                <a:gridCol w="408310"/>
              </a:tblGrid>
              <a:tr h="458689">
                <a:tc>
                  <a:txBody>
                    <a:bodyPr/>
                    <a:lstStyle/>
                    <a:p>
                      <a:r>
                        <a:rPr lang="en-US" sz="1800" b="0" dirty="0" smtClean="0">
                          <a:solidFill>
                            <a:schemeClr val="tx1"/>
                          </a:solidFill>
                        </a:rPr>
                        <a:t>lo</a:t>
                      </a:r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i="1" dirty="0" smtClean="0">
                          <a:solidFill>
                            <a:schemeClr val="tx1"/>
                          </a:solidFill>
                        </a:rPr>
                        <a:t>hi</a:t>
                      </a:r>
                      <a:endParaRPr lang="en-US" sz="18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611089">
                <a:tc gridSpan="2"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6" name="Up Arrow 5"/>
          <p:cNvSpPr/>
          <p:nvPr/>
        </p:nvSpPr>
        <p:spPr bwMode="auto">
          <a:xfrm flipV="1">
            <a:off x="3911600" y="3505200"/>
            <a:ext cx="304800" cy="304800"/>
          </a:xfrm>
          <a:prstGeom prst="upArrow">
            <a:avLst/>
          </a:prstGeom>
          <a:noFill/>
          <a:ln w="25400" cap="flat" cmpd="sng" algn="ctr">
            <a:solidFill>
              <a:schemeClr val="bg1">
                <a:lumMod val="85000"/>
              </a:schemeClr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  <p:sp>
        <p:nvSpPr>
          <p:cNvPr id="7" name="Up Arrow 6"/>
          <p:cNvSpPr/>
          <p:nvPr/>
        </p:nvSpPr>
        <p:spPr bwMode="auto">
          <a:xfrm flipV="1">
            <a:off x="4140200" y="3505200"/>
            <a:ext cx="304800" cy="304800"/>
          </a:xfrm>
          <a:prstGeom prst="upArrow">
            <a:avLst/>
          </a:prstGeom>
          <a:noFill/>
          <a:ln w="25400" cap="flat" cmpd="sng" algn="ctr">
            <a:solidFill>
              <a:schemeClr val="bg1">
                <a:lumMod val="50000"/>
              </a:schemeClr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  <p:sp>
        <p:nvSpPr>
          <p:cNvPr id="8" name="Up Arrow 7"/>
          <p:cNvSpPr/>
          <p:nvPr/>
        </p:nvSpPr>
        <p:spPr bwMode="auto">
          <a:xfrm flipV="1">
            <a:off x="4368800" y="3505200"/>
            <a:ext cx="304800" cy="304800"/>
          </a:xfrm>
          <a:prstGeom prst="upArrow">
            <a:avLst/>
          </a:prstGeom>
          <a:noFill/>
          <a:ln w="254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  <p:sp>
        <p:nvSpPr>
          <p:cNvPr id="9" name="Up Arrow 8"/>
          <p:cNvSpPr/>
          <p:nvPr/>
        </p:nvSpPr>
        <p:spPr bwMode="auto">
          <a:xfrm flipV="1">
            <a:off x="8255000" y="3505200"/>
            <a:ext cx="304800" cy="304800"/>
          </a:xfrm>
          <a:prstGeom prst="upArrow">
            <a:avLst/>
          </a:prstGeom>
          <a:noFill/>
          <a:ln w="25400" cap="flat" cmpd="sng" algn="ctr">
            <a:solidFill>
              <a:schemeClr val="bg1">
                <a:lumMod val="85000"/>
              </a:schemeClr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  <p:sp>
        <p:nvSpPr>
          <p:cNvPr id="10" name="Up Arrow 9"/>
          <p:cNvSpPr/>
          <p:nvPr/>
        </p:nvSpPr>
        <p:spPr bwMode="auto">
          <a:xfrm flipV="1">
            <a:off x="8026400" y="3505200"/>
            <a:ext cx="304800" cy="304800"/>
          </a:xfrm>
          <a:prstGeom prst="upArrow">
            <a:avLst/>
          </a:prstGeom>
          <a:noFill/>
          <a:ln w="25400" cap="flat" cmpd="sng" algn="ctr">
            <a:solidFill>
              <a:schemeClr val="bg1">
                <a:lumMod val="50000"/>
              </a:schemeClr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  <p:sp>
        <p:nvSpPr>
          <p:cNvPr id="11" name="Up Arrow 10"/>
          <p:cNvSpPr/>
          <p:nvPr/>
        </p:nvSpPr>
        <p:spPr bwMode="auto">
          <a:xfrm flipV="1">
            <a:off x="7797800" y="3505200"/>
            <a:ext cx="304800" cy="304800"/>
          </a:xfrm>
          <a:prstGeom prst="upArrow">
            <a:avLst/>
          </a:prstGeom>
          <a:noFill/>
          <a:ln w="254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911600" y="3426022"/>
          <a:ext cx="5105400" cy="1069778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2438400"/>
                <a:gridCol w="2258690"/>
                <a:gridCol w="408310"/>
              </a:tblGrid>
              <a:tr h="458689">
                <a:tc>
                  <a:txBody>
                    <a:bodyPr/>
                    <a:lstStyle/>
                    <a:p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611089">
                <a:tc>
                  <a:txBody>
                    <a:bodyPr/>
                    <a:lstStyle/>
                    <a:p>
                      <a:pPr algn="l"/>
                      <a:r>
                        <a:rPr lang="en-US" sz="1800" dirty="0" smtClean="0">
                          <a:solidFill>
                            <a:srgbClr val="0070C0"/>
                          </a:solidFill>
                        </a:rPr>
                        <a:t>SMALLER</a:t>
                      </a:r>
                      <a:endParaRPr lang="en-US" sz="1800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dirty="0" smtClean="0">
                          <a:solidFill>
                            <a:srgbClr val="FF0000"/>
                          </a:solidFill>
                        </a:rPr>
                        <a:t>BIGGER</a:t>
                      </a:r>
                      <a:endParaRPr lang="en-US" sz="1800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3" name="Rectangle 7"/>
          <p:cNvSpPr>
            <a:spLocks/>
          </p:cNvSpPr>
          <p:nvPr/>
        </p:nvSpPr>
        <p:spPr bwMode="auto">
          <a:xfrm>
            <a:off x="2616200" y="3900765"/>
            <a:ext cx="1235068" cy="595035"/>
          </a:xfrm>
          <a:prstGeom prst="rect">
            <a:avLst/>
          </a:prstGeom>
          <a:noFill/>
          <a:ln w="12700">
            <a:noFill/>
            <a:miter lim="400000"/>
            <a:headEnd/>
            <a:tailEnd/>
          </a:ln>
        </p:spPr>
        <p:txBody>
          <a:bodyPr wrap="square" lIns="50800" tIns="50800" rIns="50800" bIns="50800" anchor="ctr">
            <a:spAutoFit/>
          </a:bodyPr>
          <a:lstStyle/>
          <a:p>
            <a:pPr algn="r"/>
            <a:r>
              <a:rPr lang="en-US" sz="3200" b="0" dirty="0" smtClean="0"/>
              <a:t>TMP:</a:t>
            </a:r>
            <a:endParaRPr lang="en-US" sz="3200" b="0" dirty="0"/>
          </a:p>
        </p:txBody>
      </p:sp>
      <p:sp>
        <p:nvSpPr>
          <p:cNvPr id="14" name="Up Arrow 13"/>
          <p:cNvSpPr/>
          <p:nvPr/>
        </p:nvSpPr>
        <p:spPr bwMode="auto">
          <a:xfrm>
            <a:off x="3911600" y="2743200"/>
            <a:ext cx="304800" cy="304800"/>
          </a:xfrm>
          <a:prstGeom prst="upArrow">
            <a:avLst/>
          </a:prstGeom>
          <a:noFill/>
          <a:ln w="25400" cap="flat" cmpd="sng" algn="ctr">
            <a:solidFill>
              <a:schemeClr val="bg1">
                <a:lumMod val="95000"/>
              </a:schemeClr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  <p:sp>
        <p:nvSpPr>
          <p:cNvPr id="15" name="Up Arrow 14"/>
          <p:cNvSpPr/>
          <p:nvPr/>
        </p:nvSpPr>
        <p:spPr bwMode="auto">
          <a:xfrm>
            <a:off x="4140200" y="2743200"/>
            <a:ext cx="304800" cy="304800"/>
          </a:xfrm>
          <a:prstGeom prst="upArrow">
            <a:avLst/>
          </a:prstGeom>
          <a:noFill/>
          <a:ln w="25400" cap="flat" cmpd="sng" algn="ctr">
            <a:solidFill>
              <a:schemeClr val="bg1">
                <a:lumMod val="75000"/>
              </a:schemeClr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  <p:sp>
        <p:nvSpPr>
          <p:cNvPr id="16" name="Up Arrow 15"/>
          <p:cNvSpPr/>
          <p:nvPr/>
        </p:nvSpPr>
        <p:spPr bwMode="auto">
          <a:xfrm>
            <a:off x="4368800" y="2743200"/>
            <a:ext cx="304800" cy="304800"/>
          </a:xfrm>
          <a:prstGeom prst="upArrow">
            <a:avLst/>
          </a:prstGeom>
          <a:noFill/>
          <a:ln w="25400" cap="flat" cmpd="sng" algn="ctr">
            <a:solidFill>
              <a:schemeClr val="bg1">
                <a:lumMod val="50000"/>
              </a:schemeClr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  <p:sp>
        <p:nvSpPr>
          <p:cNvPr id="17" name="Up Arrow 16"/>
          <p:cNvSpPr/>
          <p:nvPr/>
        </p:nvSpPr>
        <p:spPr bwMode="auto">
          <a:xfrm>
            <a:off x="4597400" y="2743200"/>
            <a:ext cx="304800" cy="304800"/>
          </a:xfrm>
          <a:prstGeom prst="upArrow">
            <a:avLst/>
          </a:prstGeom>
          <a:noFill/>
          <a:ln w="2540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  <p:sp>
        <p:nvSpPr>
          <p:cNvPr id="18" name="Up Arrow 17"/>
          <p:cNvSpPr/>
          <p:nvPr/>
        </p:nvSpPr>
        <p:spPr bwMode="auto">
          <a:xfrm>
            <a:off x="4826000" y="2743200"/>
            <a:ext cx="304800" cy="304800"/>
          </a:xfrm>
          <a:prstGeom prst="upArrow">
            <a:avLst/>
          </a:prstGeom>
          <a:noFill/>
          <a:ln w="254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  <p:sp>
        <p:nvSpPr>
          <p:cNvPr id="19" name="Up Arrow 18"/>
          <p:cNvSpPr/>
          <p:nvPr/>
        </p:nvSpPr>
        <p:spPr bwMode="auto">
          <a:xfrm>
            <a:off x="5054600" y="2743200"/>
            <a:ext cx="304800" cy="304800"/>
          </a:xfrm>
          <a:prstGeom prst="upArrow">
            <a:avLst/>
          </a:prstGeom>
          <a:noFill/>
          <a:ln w="254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 rot="5400000">
            <a:off x="9893300" y="2324100"/>
            <a:ext cx="5410200" cy="762000"/>
          </a:xfrm>
        </p:spPr>
        <p:txBody>
          <a:bodyPr/>
          <a:lstStyle/>
          <a:p>
            <a:r>
              <a:rPr lang="en-US" dirty="0" smtClean="0"/>
              <a:t>Example partition</a:t>
            </a:r>
            <a:endParaRPr lang="en-US" dirty="0"/>
          </a:p>
        </p:txBody>
      </p:sp>
      <p:sp>
        <p:nvSpPr>
          <p:cNvPr id="8" name="Up Arrow 7"/>
          <p:cNvSpPr/>
          <p:nvPr/>
        </p:nvSpPr>
        <p:spPr bwMode="auto">
          <a:xfrm>
            <a:off x="1473200" y="1219200"/>
            <a:ext cx="304800" cy="304800"/>
          </a:xfrm>
          <a:prstGeom prst="upArrow">
            <a:avLst/>
          </a:prstGeom>
          <a:noFill/>
          <a:ln w="254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  <p:sp>
        <p:nvSpPr>
          <p:cNvPr id="19" name="Up Arrow 18"/>
          <p:cNvSpPr/>
          <p:nvPr/>
        </p:nvSpPr>
        <p:spPr bwMode="auto">
          <a:xfrm flipV="1">
            <a:off x="8026400" y="304800"/>
            <a:ext cx="304800" cy="304800"/>
          </a:xfrm>
          <a:prstGeom prst="upArrow">
            <a:avLst/>
          </a:prstGeom>
          <a:noFill/>
          <a:ln w="25400" cap="flat" cmpd="sng" algn="ctr">
            <a:solidFill>
              <a:srgbClr val="0070C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1320800" y="228600"/>
          <a:ext cx="4467225" cy="917378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638175"/>
                <a:gridCol w="638175"/>
                <a:gridCol w="638175"/>
                <a:gridCol w="638175"/>
                <a:gridCol w="638175"/>
                <a:gridCol w="638175"/>
                <a:gridCol w="638175"/>
              </a:tblGrid>
              <a:tr h="458689">
                <a:tc>
                  <a:txBody>
                    <a:bodyPr/>
                    <a:lstStyle/>
                    <a:p>
                      <a:r>
                        <a:rPr lang="en-US" sz="1400" b="0" i="1" dirty="0" smtClean="0">
                          <a:solidFill>
                            <a:schemeClr val="tx1"/>
                          </a:solidFill>
                        </a:rPr>
                        <a:t>lo</a:t>
                      </a:r>
                      <a:endParaRPr lang="en-US" sz="14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i="1" dirty="0" smtClean="0">
                          <a:solidFill>
                            <a:schemeClr val="tx1"/>
                          </a:solidFill>
                        </a:rPr>
                        <a:t>hi</a:t>
                      </a:r>
                      <a:endParaRPr lang="en-US" sz="14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58689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6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2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5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7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2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3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2" name="Rectangle 7"/>
          <p:cNvSpPr>
            <a:spLocks/>
          </p:cNvSpPr>
          <p:nvPr/>
        </p:nvSpPr>
        <p:spPr bwMode="auto">
          <a:xfrm>
            <a:off x="695332" y="609521"/>
            <a:ext cx="625468" cy="533479"/>
          </a:xfrm>
          <a:prstGeom prst="rect">
            <a:avLst/>
          </a:prstGeom>
          <a:noFill/>
          <a:ln w="12700">
            <a:noFill/>
            <a:miter lim="400000"/>
            <a:headEnd/>
            <a:tailEnd/>
          </a:ln>
        </p:spPr>
        <p:txBody>
          <a:bodyPr wrap="square" lIns="50800" tIns="50800" rIns="50800" bIns="50800" anchor="ctr">
            <a:spAutoFit/>
          </a:bodyPr>
          <a:lstStyle/>
          <a:p>
            <a:r>
              <a:rPr lang="en-US" sz="2800" b="0" dirty="0" smtClean="0"/>
              <a:t>A:</a:t>
            </a:r>
            <a:endParaRPr lang="en-US" sz="2800" b="0" dirty="0"/>
          </a:p>
        </p:txBody>
      </p:sp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7826375" y="228600"/>
          <a:ext cx="4467225" cy="917378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638175"/>
                <a:gridCol w="638175"/>
                <a:gridCol w="638175"/>
                <a:gridCol w="638175"/>
                <a:gridCol w="638175"/>
                <a:gridCol w="638175"/>
                <a:gridCol w="638175"/>
              </a:tblGrid>
              <a:tr h="458689">
                <a:tc>
                  <a:txBody>
                    <a:bodyPr/>
                    <a:lstStyle/>
                    <a:p>
                      <a:endParaRPr lang="en-US" sz="14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58689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24" name="Rectangle 7"/>
          <p:cNvSpPr>
            <a:spLocks/>
          </p:cNvSpPr>
          <p:nvPr/>
        </p:nvSpPr>
        <p:spPr bwMode="auto">
          <a:xfrm>
            <a:off x="6654800" y="609600"/>
            <a:ext cx="1158868" cy="533479"/>
          </a:xfrm>
          <a:prstGeom prst="rect">
            <a:avLst/>
          </a:prstGeom>
          <a:noFill/>
          <a:ln w="12700">
            <a:noFill/>
            <a:miter lim="400000"/>
            <a:headEnd/>
            <a:tailEnd/>
          </a:ln>
        </p:spPr>
        <p:txBody>
          <a:bodyPr wrap="square" lIns="50800" tIns="50800" rIns="50800" bIns="50800" anchor="ctr">
            <a:spAutoFit/>
          </a:bodyPr>
          <a:lstStyle/>
          <a:p>
            <a:pPr algn="r"/>
            <a:r>
              <a:rPr lang="en-US" sz="2800" b="0" dirty="0" smtClean="0"/>
              <a:t>TMP:</a:t>
            </a:r>
            <a:endParaRPr lang="en-US" sz="2800" b="0" dirty="0"/>
          </a:p>
        </p:txBody>
      </p:sp>
      <p:sp>
        <p:nvSpPr>
          <p:cNvPr id="25" name="Right Arrow 24"/>
          <p:cNvSpPr/>
          <p:nvPr/>
        </p:nvSpPr>
        <p:spPr bwMode="auto">
          <a:xfrm>
            <a:off x="5724532" y="609600"/>
            <a:ext cx="762000" cy="609600"/>
          </a:xfrm>
          <a:prstGeom prst="rightArrow">
            <a:avLst/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sz="1800" b="0" dirty="0" smtClean="0">
                <a:solidFill>
                  <a:srgbClr val="FF0000"/>
                </a:solidFill>
              </a:rPr>
              <a:t>6 &gt; 5</a:t>
            </a: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  <p:sp>
        <p:nvSpPr>
          <p:cNvPr id="26" name="Up Arrow 25"/>
          <p:cNvSpPr/>
          <p:nvPr/>
        </p:nvSpPr>
        <p:spPr bwMode="auto">
          <a:xfrm>
            <a:off x="2137734" y="2590800"/>
            <a:ext cx="304800" cy="304800"/>
          </a:xfrm>
          <a:prstGeom prst="upArrow">
            <a:avLst/>
          </a:prstGeom>
          <a:noFill/>
          <a:ln w="254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  <p:graphicFrame>
        <p:nvGraphicFramePr>
          <p:cNvPr id="29" name="Table 28"/>
          <p:cNvGraphicFramePr>
            <a:graphicFrameLocks noGrp="1"/>
          </p:cNvGraphicFramePr>
          <p:nvPr/>
        </p:nvGraphicFramePr>
        <p:xfrm>
          <a:off x="1336668" y="1600200"/>
          <a:ext cx="4467225" cy="917378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638175"/>
                <a:gridCol w="638175"/>
                <a:gridCol w="638175"/>
                <a:gridCol w="638175"/>
                <a:gridCol w="638175"/>
                <a:gridCol w="638175"/>
                <a:gridCol w="638175"/>
              </a:tblGrid>
              <a:tr h="458689">
                <a:tc>
                  <a:txBody>
                    <a:bodyPr/>
                    <a:lstStyle/>
                    <a:p>
                      <a:r>
                        <a:rPr lang="en-US" sz="1400" b="0" i="1" dirty="0" smtClean="0">
                          <a:solidFill>
                            <a:schemeClr val="tx1"/>
                          </a:solidFill>
                        </a:rPr>
                        <a:t>lo</a:t>
                      </a:r>
                      <a:endParaRPr lang="en-US" sz="14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i="1" dirty="0" smtClean="0">
                          <a:solidFill>
                            <a:schemeClr val="tx1"/>
                          </a:solidFill>
                        </a:rPr>
                        <a:t>hi</a:t>
                      </a:r>
                      <a:endParaRPr lang="en-US" sz="14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58689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6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2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5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7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2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3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0" name="Rectangle 7"/>
          <p:cNvSpPr>
            <a:spLocks/>
          </p:cNvSpPr>
          <p:nvPr/>
        </p:nvSpPr>
        <p:spPr bwMode="auto">
          <a:xfrm>
            <a:off x="711200" y="1981121"/>
            <a:ext cx="625468" cy="533479"/>
          </a:xfrm>
          <a:prstGeom prst="rect">
            <a:avLst/>
          </a:prstGeom>
          <a:noFill/>
          <a:ln w="12700">
            <a:noFill/>
            <a:miter lim="400000"/>
            <a:headEnd/>
            <a:tailEnd/>
          </a:ln>
        </p:spPr>
        <p:txBody>
          <a:bodyPr wrap="square" lIns="50800" tIns="50800" rIns="50800" bIns="50800" anchor="ctr">
            <a:spAutoFit/>
          </a:bodyPr>
          <a:lstStyle/>
          <a:p>
            <a:r>
              <a:rPr lang="en-US" sz="2800" b="0" dirty="0" smtClean="0"/>
              <a:t>A:</a:t>
            </a:r>
            <a:endParaRPr lang="en-US" sz="2800" b="0" dirty="0"/>
          </a:p>
        </p:txBody>
      </p:sp>
      <p:graphicFrame>
        <p:nvGraphicFramePr>
          <p:cNvPr id="31" name="Table 30"/>
          <p:cNvGraphicFramePr>
            <a:graphicFrameLocks noGrp="1"/>
          </p:cNvGraphicFramePr>
          <p:nvPr/>
        </p:nvGraphicFramePr>
        <p:xfrm>
          <a:off x="7842243" y="1600200"/>
          <a:ext cx="4467225" cy="917378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638175"/>
                <a:gridCol w="638175"/>
                <a:gridCol w="638175"/>
                <a:gridCol w="638175"/>
                <a:gridCol w="638175"/>
                <a:gridCol w="638175"/>
                <a:gridCol w="638175"/>
              </a:tblGrid>
              <a:tr h="458689">
                <a:tc>
                  <a:txBody>
                    <a:bodyPr/>
                    <a:lstStyle/>
                    <a:p>
                      <a:endParaRPr lang="en-US" sz="14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58689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2" name="Rectangle 7"/>
          <p:cNvSpPr>
            <a:spLocks/>
          </p:cNvSpPr>
          <p:nvPr/>
        </p:nvSpPr>
        <p:spPr bwMode="auto">
          <a:xfrm>
            <a:off x="6670668" y="1981200"/>
            <a:ext cx="1158868" cy="533479"/>
          </a:xfrm>
          <a:prstGeom prst="rect">
            <a:avLst/>
          </a:prstGeom>
          <a:noFill/>
          <a:ln w="12700">
            <a:noFill/>
            <a:miter lim="400000"/>
            <a:headEnd/>
            <a:tailEnd/>
          </a:ln>
        </p:spPr>
        <p:txBody>
          <a:bodyPr wrap="square" lIns="50800" tIns="50800" rIns="50800" bIns="50800" anchor="ctr">
            <a:spAutoFit/>
          </a:bodyPr>
          <a:lstStyle/>
          <a:p>
            <a:pPr algn="r"/>
            <a:r>
              <a:rPr lang="en-US" sz="2800" b="0" dirty="0" smtClean="0"/>
              <a:t>TMP:</a:t>
            </a:r>
            <a:endParaRPr lang="en-US" sz="2800" b="0" dirty="0"/>
          </a:p>
        </p:txBody>
      </p:sp>
      <p:sp>
        <p:nvSpPr>
          <p:cNvPr id="33" name="Right Arrow 32"/>
          <p:cNvSpPr/>
          <p:nvPr/>
        </p:nvSpPr>
        <p:spPr bwMode="auto">
          <a:xfrm>
            <a:off x="5740400" y="1981200"/>
            <a:ext cx="762000" cy="609600"/>
          </a:xfrm>
          <a:prstGeom prst="rightArrow">
            <a:avLst/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2</a:t>
            </a:r>
            <a:r>
              <a:rPr kumimoji="0" lang="en-US" sz="1800" b="0" i="0" u="none" strike="noStrike" cap="none" normalizeH="0" dirty="0" smtClean="0">
                <a:ln>
                  <a:noFill/>
                </a:ln>
                <a:solidFill>
                  <a:srgbClr val="0070C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 &lt; 5</a:t>
            </a: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rgbClr val="0070C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  <p:sp>
        <p:nvSpPr>
          <p:cNvPr id="35" name="Up Arrow 34"/>
          <p:cNvSpPr/>
          <p:nvPr/>
        </p:nvSpPr>
        <p:spPr bwMode="auto">
          <a:xfrm>
            <a:off x="3410099" y="3886200"/>
            <a:ext cx="304800" cy="304800"/>
          </a:xfrm>
          <a:prstGeom prst="upArrow">
            <a:avLst/>
          </a:prstGeom>
          <a:noFill/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  <p:graphicFrame>
        <p:nvGraphicFramePr>
          <p:cNvPr id="37" name="Table 36"/>
          <p:cNvGraphicFramePr>
            <a:graphicFrameLocks noGrp="1"/>
          </p:cNvGraphicFramePr>
          <p:nvPr/>
        </p:nvGraphicFramePr>
        <p:xfrm>
          <a:off x="1336668" y="2895600"/>
          <a:ext cx="4467225" cy="917378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638175"/>
                <a:gridCol w="638175"/>
                <a:gridCol w="638175"/>
                <a:gridCol w="638175"/>
                <a:gridCol w="638175"/>
                <a:gridCol w="638175"/>
                <a:gridCol w="638175"/>
              </a:tblGrid>
              <a:tr h="458689">
                <a:tc>
                  <a:txBody>
                    <a:bodyPr/>
                    <a:lstStyle/>
                    <a:p>
                      <a:r>
                        <a:rPr lang="en-US" sz="1400" b="0" i="1" dirty="0" smtClean="0">
                          <a:solidFill>
                            <a:schemeClr val="tx1"/>
                          </a:solidFill>
                        </a:rPr>
                        <a:t>lo</a:t>
                      </a:r>
                      <a:endParaRPr lang="en-US" sz="14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i="1" dirty="0" smtClean="0">
                          <a:solidFill>
                            <a:schemeClr val="tx1"/>
                          </a:solidFill>
                        </a:rPr>
                        <a:t>hi</a:t>
                      </a:r>
                      <a:endParaRPr lang="en-US" sz="14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58689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6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2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5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7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2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3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38" name="Rectangle 7"/>
          <p:cNvSpPr>
            <a:spLocks/>
          </p:cNvSpPr>
          <p:nvPr/>
        </p:nvSpPr>
        <p:spPr bwMode="auto">
          <a:xfrm>
            <a:off x="711200" y="3276521"/>
            <a:ext cx="625468" cy="533479"/>
          </a:xfrm>
          <a:prstGeom prst="rect">
            <a:avLst/>
          </a:prstGeom>
          <a:noFill/>
          <a:ln w="12700">
            <a:noFill/>
            <a:miter lim="400000"/>
            <a:headEnd/>
            <a:tailEnd/>
          </a:ln>
        </p:spPr>
        <p:txBody>
          <a:bodyPr wrap="square" lIns="50800" tIns="50800" rIns="50800" bIns="50800" anchor="ctr">
            <a:spAutoFit/>
          </a:bodyPr>
          <a:lstStyle/>
          <a:p>
            <a:r>
              <a:rPr lang="en-US" sz="2800" b="0" dirty="0" smtClean="0"/>
              <a:t>A:</a:t>
            </a:r>
            <a:endParaRPr lang="en-US" sz="2800" b="0" dirty="0"/>
          </a:p>
        </p:txBody>
      </p:sp>
      <p:graphicFrame>
        <p:nvGraphicFramePr>
          <p:cNvPr id="39" name="Table 38"/>
          <p:cNvGraphicFramePr>
            <a:graphicFrameLocks noGrp="1"/>
          </p:cNvGraphicFramePr>
          <p:nvPr/>
        </p:nvGraphicFramePr>
        <p:xfrm>
          <a:off x="7842243" y="2895600"/>
          <a:ext cx="4467225" cy="917378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638175"/>
                <a:gridCol w="638175"/>
                <a:gridCol w="638175"/>
                <a:gridCol w="638175"/>
                <a:gridCol w="638175"/>
                <a:gridCol w="638175"/>
                <a:gridCol w="638175"/>
              </a:tblGrid>
              <a:tr h="458689">
                <a:tc>
                  <a:txBody>
                    <a:bodyPr/>
                    <a:lstStyle/>
                    <a:p>
                      <a:endParaRPr lang="en-US" sz="14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58689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0" name="Rectangle 7"/>
          <p:cNvSpPr>
            <a:spLocks/>
          </p:cNvSpPr>
          <p:nvPr/>
        </p:nvSpPr>
        <p:spPr bwMode="auto">
          <a:xfrm>
            <a:off x="6670668" y="3276600"/>
            <a:ext cx="1158868" cy="533479"/>
          </a:xfrm>
          <a:prstGeom prst="rect">
            <a:avLst/>
          </a:prstGeom>
          <a:noFill/>
          <a:ln w="12700">
            <a:noFill/>
            <a:miter lim="400000"/>
            <a:headEnd/>
            <a:tailEnd/>
          </a:ln>
        </p:spPr>
        <p:txBody>
          <a:bodyPr wrap="square" lIns="50800" tIns="50800" rIns="50800" bIns="50800" anchor="ctr">
            <a:spAutoFit/>
          </a:bodyPr>
          <a:lstStyle/>
          <a:p>
            <a:pPr algn="r"/>
            <a:r>
              <a:rPr lang="en-US" sz="2800" b="0" dirty="0" smtClean="0"/>
              <a:t>TMP:</a:t>
            </a:r>
            <a:endParaRPr lang="en-US" sz="2800" b="0" dirty="0"/>
          </a:p>
        </p:txBody>
      </p:sp>
      <p:sp>
        <p:nvSpPr>
          <p:cNvPr id="41" name="Right Arrow 40"/>
          <p:cNvSpPr/>
          <p:nvPr/>
        </p:nvSpPr>
        <p:spPr bwMode="auto">
          <a:xfrm>
            <a:off x="5740400" y="3276600"/>
            <a:ext cx="762000" cy="609600"/>
          </a:xfrm>
          <a:prstGeom prst="rightArrow">
            <a:avLst/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7 &gt; 5</a:t>
            </a:r>
          </a:p>
        </p:txBody>
      </p:sp>
      <p:sp>
        <p:nvSpPr>
          <p:cNvPr id="42" name="Up Arrow 41"/>
          <p:cNvSpPr/>
          <p:nvPr/>
        </p:nvSpPr>
        <p:spPr bwMode="auto">
          <a:xfrm>
            <a:off x="4042734" y="5181600"/>
            <a:ext cx="304800" cy="304800"/>
          </a:xfrm>
          <a:prstGeom prst="upArrow">
            <a:avLst/>
          </a:prstGeom>
          <a:noFill/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  <p:graphicFrame>
        <p:nvGraphicFramePr>
          <p:cNvPr id="45" name="Table 44"/>
          <p:cNvGraphicFramePr>
            <a:graphicFrameLocks noGrp="1"/>
          </p:cNvGraphicFramePr>
          <p:nvPr/>
        </p:nvGraphicFramePr>
        <p:xfrm>
          <a:off x="1336668" y="4191000"/>
          <a:ext cx="4467225" cy="917378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638175"/>
                <a:gridCol w="638175"/>
                <a:gridCol w="638175"/>
                <a:gridCol w="638175"/>
                <a:gridCol w="638175"/>
                <a:gridCol w="638175"/>
                <a:gridCol w="638175"/>
              </a:tblGrid>
              <a:tr h="458689">
                <a:tc>
                  <a:txBody>
                    <a:bodyPr/>
                    <a:lstStyle/>
                    <a:p>
                      <a:r>
                        <a:rPr lang="en-US" sz="1400" b="0" i="1" dirty="0" smtClean="0">
                          <a:solidFill>
                            <a:schemeClr val="tx1"/>
                          </a:solidFill>
                        </a:rPr>
                        <a:t>lo</a:t>
                      </a:r>
                      <a:endParaRPr lang="en-US" sz="14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i="1" dirty="0" smtClean="0">
                          <a:solidFill>
                            <a:schemeClr val="tx1"/>
                          </a:solidFill>
                        </a:rPr>
                        <a:t>hi</a:t>
                      </a:r>
                      <a:endParaRPr lang="en-US" sz="14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58689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6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2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5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7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2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3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6" name="Rectangle 7"/>
          <p:cNvSpPr>
            <a:spLocks/>
          </p:cNvSpPr>
          <p:nvPr/>
        </p:nvSpPr>
        <p:spPr bwMode="auto">
          <a:xfrm>
            <a:off x="711200" y="4571921"/>
            <a:ext cx="625468" cy="533479"/>
          </a:xfrm>
          <a:prstGeom prst="rect">
            <a:avLst/>
          </a:prstGeom>
          <a:noFill/>
          <a:ln w="12700">
            <a:noFill/>
            <a:miter lim="400000"/>
            <a:headEnd/>
            <a:tailEnd/>
          </a:ln>
        </p:spPr>
        <p:txBody>
          <a:bodyPr wrap="square" lIns="50800" tIns="50800" rIns="50800" bIns="50800" anchor="ctr">
            <a:spAutoFit/>
          </a:bodyPr>
          <a:lstStyle/>
          <a:p>
            <a:r>
              <a:rPr lang="en-US" sz="2800" b="0" dirty="0" smtClean="0"/>
              <a:t>A:</a:t>
            </a:r>
            <a:endParaRPr lang="en-US" sz="2800" b="0" dirty="0"/>
          </a:p>
        </p:txBody>
      </p:sp>
      <p:graphicFrame>
        <p:nvGraphicFramePr>
          <p:cNvPr id="47" name="Table 46"/>
          <p:cNvGraphicFramePr>
            <a:graphicFrameLocks noGrp="1"/>
          </p:cNvGraphicFramePr>
          <p:nvPr/>
        </p:nvGraphicFramePr>
        <p:xfrm>
          <a:off x="7842243" y="4191000"/>
          <a:ext cx="4467225" cy="917378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638175"/>
                <a:gridCol w="638175"/>
                <a:gridCol w="638175"/>
                <a:gridCol w="638175"/>
                <a:gridCol w="638175"/>
                <a:gridCol w="638175"/>
                <a:gridCol w="638175"/>
              </a:tblGrid>
              <a:tr h="458689">
                <a:tc>
                  <a:txBody>
                    <a:bodyPr/>
                    <a:lstStyle/>
                    <a:p>
                      <a:endParaRPr lang="en-US" sz="14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58689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48" name="Rectangle 7"/>
          <p:cNvSpPr>
            <a:spLocks/>
          </p:cNvSpPr>
          <p:nvPr/>
        </p:nvSpPr>
        <p:spPr bwMode="auto">
          <a:xfrm>
            <a:off x="6670668" y="4572000"/>
            <a:ext cx="1158868" cy="533479"/>
          </a:xfrm>
          <a:prstGeom prst="rect">
            <a:avLst/>
          </a:prstGeom>
          <a:noFill/>
          <a:ln w="12700">
            <a:noFill/>
            <a:miter lim="400000"/>
            <a:headEnd/>
            <a:tailEnd/>
          </a:ln>
        </p:spPr>
        <p:txBody>
          <a:bodyPr wrap="square" lIns="50800" tIns="50800" rIns="50800" bIns="50800" anchor="ctr">
            <a:spAutoFit/>
          </a:bodyPr>
          <a:lstStyle/>
          <a:p>
            <a:pPr algn="r"/>
            <a:r>
              <a:rPr lang="en-US" sz="2800" b="0" dirty="0" smtClean="0"/>
              <a:t>TMP:</a:t>
            </a:r>
            <a:endParaRPr lang="en-US" sz="2800" b="0" dirty="0"/>
          </a:p>
        </p:txBody>
      </p:sp>
      <p:sp>
        <p:nvSpPr>
          <p:cNvPr id="49" name="Right Arrow 48"/>
          <p:cNvSpPr/>
          <p:nvPr/>
        </p:nvSpPr>
        <p:spPr bwMode="auto">
          <a:xfrm>
            <a:off x="5740400" y="4572000"/>
            <a:ext cx="762000" cy="609600"/>
          </a:xfrm>
          <a:prstGeom prst="rightArrow">
            <a:avLst/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2 &lt; 5</a:t>
            </a:r>
          </a:p>
        </p:txBody>
      </p:sp>
      <p:graphicFrame>
        <p:nvGraphicFramePr>
          <p:cNvPr id="53" name="Table 52"/>
          <p:cNvGraphicFramePr>
            <a:graphicFrameLocks noGrp="1"/>
          </p:cNvGraphicFramePr>
          <p:nvPr/>
        </p:nvGraphicFramePr>
        <p:xfrm>
          <a:off x="1336668" y="5486400"/>
          <a:ext cx="4467225" cy="917378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638175"/>
                <a:gridCol w="638175"/>
                <a:gridCol w="638175"/>
                <a:gridCol w="638175"/>
                <a:gridCol w="638175"/>
                <a:gridCol w="638175"/>
                <a:gridCol w="638175"/>
              </a:tblGrid>
              <a:tr h="458689">
                <a:tc>
                  <a:txBody>
                    <a:bodyPr/>
                    <a:lstStyle/>
                    <a:p>
                      <a:r>
                        <a:rPr lang="en-US" sz="1400" b="0" i="1" dirty="0" smtClean="0">
                          <a:solidFill>
                            <a:schemeClr val="tx1"/>
                          </a:solidFill>
                        </a:rPr>
                        <a:t>lo</a:t>
                      </a:r>
                      <a:endParaRPr lang="en-US" sz="14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i="1" dirty="0" smtClean="0">
                          <a:solidFill>
                            <a:schemeClr val="tx1"/>
                          </a:solidFill>
                        </a:rPr>
                        <a:t>hi</a:t>
                      </a:r>
                      <a:endParaRPr lang="en-US" sz="14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58689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6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2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5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7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2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3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4" name="Rectangle 7"/>
          <p:cNvSpPr>
            <a:spLocks/>
          </p:cNvSpPr>
          <p:nvPr/>
        </p:nvSpPr>
        <p:spPr bwMode="auto">
          <a:xfrm>
            <a:off x="711200" y="5867321"/>
            <a:ext cx="625468" cy="533479"/>
          </a:xfrm>
          <a:prstGeom prst="rect">
            <a:avLst/>
          </a:prstGeom>
          <a:noFill/>
          <a:ln w="12700">
            <a:noFill/>
            <a:miter lim="400000"/>
            <a:headEnd/>
            <a:tailEnd/>
          </a:ln>
        </p:spPr>
        <p:txBody>
          <a:bodyPr wrap="square" lIns="50800" tIns="50800" rIns="50800" bIns="50800" anchor="ctr">
            <a:spAutoFit/>
          </a:bodyPr>
          <a:lstStyle/>
          <a:p>
            <a:r>
              <a:rPr lang="en-US" sz="2800" b="0" dirty="0" smtClean="0"/>
              <a:t>A:</a:t>
            </a:r>
            <a:endParaRPr lang="en-US" sz="2800" b="0" dirty="0"/>
          </a:p>
        </p:txBody>
      </p:sp>
      <p:graphicFrame>
        <p:nvGraphicFramePr>
          <p:cNvPr id="55" name="Table 54"/>
          <p:cNvGraphicFramePr>
            <a:graphicFrameLocks noGrp="1"/>
          </p:cNvGraphicFramePr>
          <p:nvPr/>
        </p:nvGraphicFramePr>
        <p:xfrm>
          <a:off x="7842243" y="5486400"/>
          <a:ext cx="4467225" cy="917378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638175"/>
                <a:gridCol w="638175"/>
                <a:gridCol w="638175"/>
                <a:gridCol w="638175"/>
                <a:gridCol w="638175"/>
                <a:gridCol w="638175"/>
                <a:gridCol w="638175"/>
              </a:tblGrid>
              <a:tr h="458689">
                <a:tc>
                  <a:txBody>
                    <a:bodyPr/>
                    <a:lstStyle/>
                    <a:p>
                      <a:endParaRPr lang="en-US" sz="14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58689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56" name="Rectangle 7"/>
          <p:cNvSpPr>
            <a:spLocks/>
          </p:cNvSpPr>
          <p:nvPr/>
        </p:nvSpPr>
        <p:spPr bwMode="auto">
          <a:xfrm>
            <a:off x="6670668" y="5867400"/>
            <a:ext cx="1158868" cy="533479"/>
          </a:xfrm>
          <a:prstGeom prst="rect">
            <a:avLst/>
          </a:prstGeom>
          <a:noFill/>
          <a:ln w="12700">
            <a:noFill/>
            <a:miter lim="400000"/>
            <a:headEnd/>
            <a:tailEnd/>
          </a:ln>
        </p:spPr>
        <p:txBody>
          <a:bodyPr wrap="square" lIns="50800" tIns="50800" rIns="50800" bIns="50800" anchor="ctr">
            <a:spAutoFit/>
          </a:bodyPr>
          <a:lstStyle/>
          <a:p>
            <a:pPr algn="r"/>
            <a:r>
              <a:rPr lang="en-US" sz="2800" b="0" dirty="0" smtClean="0"/>
              <a:t>TMP:</a:t>
            </a:r>
            <a:endParaRPr lang="en-US" sz="2800" b="0" dirty="0"/>
          </a:p>
        </p:txBody>
      </p:sp>
      <p:sp>
        <p:nvSpPr>
          <p:cNvPr id="57" name="Right Arrow 56"/>
          <p:cNvSpPr/>
          <p:nvPr/>
        </p:nvSpPr>
        <p:spPr bwMode="auto">
          <a:xfrm>
            <a:off x="5740400" y="5867400"/>
            <a:ext cx="762000" cy="609600"/>
          </a:xfrm>
          <a:prstGeom prst="rightArrow">
            <a:avLst/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rgbClr val="0070C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3</a:t>
            </a:r>
            <a:r>
              <a:rPr kumimoji="0" lang="en-US" sz="1800" b="0" i="0" u="none" strike="noStrike" cap="none" normalizeH="0" dirty="0" smtClean="0">
                <a:ln>
                  <a:noFill/>
                </a:ln>
                <a:solidFill>
                  <a:srgbClr val="0070C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 &lt; 5</a:t>
            </a: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rgbClr val="0070C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  <p:sp>
        <p:nvSpPr>
          <p:cNvPr id="59" name="Up Arrow 58"/>
          <p:cNvSpPr/>
          <p:nvPr/>
        </p:nvSpPr>
        <p:spPr bwMode="auto">
          <a:xfrm>
            <a:off x="5054600" y="7848600"/>
            <a:ext cx="304800" cy="304800"/>
          </a:xfrm>
          <a:prstGeom prst="upArrow">
            <a:avLst/>
          </a:prstGeom>
          <a:noFill/>
          <a:ln w="25400" cap="flat" cmpd="sng" algn="ctr">
            <a:solidFill>
              <a:schemeClr val="bg1">
                <a:lumMod val="85000"/>
              </a:schemeClr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  <p:graphicFrame>
        <p:nvGraphicFramePr>
          <p:cNvPr id="61" name="Table 60"/>
          <p:cNvGraphicFramePr>
            <a:graphicFrameLocks noGrp="1"/>
          </p:cNvGraphicFramePr>
          <p:nvPr/>
        </p:nvGraphicFramePr>
        <p:xfrm>
          <a:off x="1336668" y="6858000"/>
          <a:ext cx="4467225" cy="917378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638175"/>
                <a:gridCol w="638175"/>
                <a:gridCol w="638175"/>
                <a:gridCol w="638175"/>
                <a:gridCol w="638175"/>
                <a:gridCol w="638175"/>
                <a:gridCol w="638175"/>
              </a:tblGrid>
              <a:tr h="458689">
                <a:tc>
                  <a:txBody>
                    <a:bodyPr/>
                    <a:lstStyle/>
                    <a:p>
                      <a:r>
                        <a:rPr lang="en-US" sz="1400" b="0" i="1" dirty="0" smtClean="0">
                          <a:solidFill>
                            <a:schemeClr val="tx1"/>
                          </a:solidFill>
                        </a:rPr>
                        <a:t>lo</a:t>
                      </a:r>
                      <a:endParaRPr lang="en-US" sz="14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i="1" dirty="0" smtClean="0">
                          <a:solidFill>
                            <a:schemeClr val="tx1"/>
                          </a:solidFill>
                        </a:rPr>
                        <a:t>hi</a:t>
                      </a:r>
                      <a:endParaRPr lang="en-US" sz="14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58689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6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2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5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7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2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/>
                        <a:t>3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62" name="Rectangle 7"/>
          <p:cNvSpPr>
            <a:spLocks/>
          </p:cNvSpPr>
          <p:nvPr/>
        </p:nvSpPr>
        <p:spPr bwMode="auto">
          <a:xfrm>
            <a:off x="711200" y="7238921"/>
            <a:ext cx="625468" cy="533479"/>
          </a:xfrm>
          <a:prstGeom prst="rect">
            <a:avLst/>
          </a:prstGeom>
          <a:noFill/>
          <a:ln w="12700">
            <a:noFill/>
            <a:miter lim="400000"/>
            <a:headEnd/>
            <a:tailEnd/>
          </a:ln>
        </p:spPr>
        <p:txBody>
          <a:bodyPr wrap="square" lIns="50800" tIns="50800" rIns="50800" bIns="50800" anchor="ctr">
            <a:spAutoFit/>
          </a:bodyPr>
          <a:lstStyle/>
          <a:p>
            <a:r>
              <a:rPr lang="en-US" sz="2800" b="0" dirty="0" smtClean="0"/>
              <a:t>A:</a:t>
            </a:r>
            <a:endParaRPr lang="en-US" sz="2800" b="0" dirty="0"/>
          </a:p>
        </p:txBody>
      </p:sp>
      <p:graphicFrame>
        <p:nvGraphicFramePr>
          <p:cNvPr id="63" name="Table 62"/>
          <p:cNvGraphicFramePr>
            <a:graphicFrameLocks noGrp="1"/>
          </p:cNvGraphicFramePr>
          <p:nvPr/>
        </p:nvGraphicFramePr>
        <p:xfrm>
          <a:off x="7842243" y="6858000"/>
          <a:ext cx="4467225" cy="917378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638175"/>
                <a:gridCol w="638175"/>
                <a:gridCol w="638175"/>
                <a:gridCol w="638175"/>
                <a:gridCol w="638175"/>
                <a:gridCol w="638175"/>
                <a:gridCol w="638175"/>
              </a:tblGrid>
              <a:tr h="458689">
                <a:tc>
                  <a:txBody>
                    <a:bodyPr/>
                    <a:lstStyle/>
                    <a:p>
                      <a:endParaRPr lang="en-US" sz="14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58689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64" name="Rectangle 7"/>
          <p:cNvSpPr>
            <a:spLocks/>
          </p:cNvSpPr>
          <p:nvPr/>
        </p:nvSpPr>
        <p:spPr bwMode="auto">
          <a:xfrm>
            <a:off x="6670668" y="7239000"/>
            <a:ext cx="1158868" cy="533479"/>
          </a:xfrm>
          <a:prstGeom prst="rect">
            <a:avLst/>
          </a:prstGeom>
          <a:noFill/>
          <a:ln w="12700">
            <a:noFill/>
            <a:miter lim="400000"/>
            <a:headEnd/>
            <a:tailEnd/>
          </a:ln>
        </p:spPr>
        <p:txBody>
          <a:bodyPr wrap="square" lIns="50800" tIns="50800" rIns="50800" bIns="50800" anchor="ctr">
            <a:spAutoFit/>
          </a:bodyPr>
          <a:lstStyle/>
          <a:p>
            <a:pPr algn="r"/>
            <a:r>
              <a:rPr lang="en-US" sz="2800" b="0" dirty="0" smtClean="0"/>
              <a:t>TMP:</a:t>
            </a:r>
            <a:endParaRPr lang="en-US" sz="2800" b="0" dirty="0"/>
          </a:p>
        </p:txBody>
      </p:sp>
      <p:sp>
        <p:nvSpPr>
          <p:cNvPr id="65" name="Right Arrow 64"/>
          <p:cNvSpPr/>
          <p:nvPr/>
        </p:nvSpPr>
        <p:spPr bwMode="auto">
          <a:xfrm>
            <a:off x="5740400" y="7239000"/>
            <a:ext cx="762000" cy="609600"/>
          </a:xfrm>
          <a:prstGeom prst="rightArrow">
            <a:avLst/>
          </a:prstGeom>
          <a:solidFill>
            <a:schemeClr val="accent2">
              <a:lumMod val="20000"/>
              <a:lumOff val="80000"/>
            </a:schemeClr>
          </a:solidFill>
          <a:ln w="127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800" b="0" i="0" u="none" strike="noStrike" cap="none" normalizeH="0" baseline="0" dirty="0" smtClean="0">
                <a:ln>
                  <a:noFill/>
                </a:ln>
                <a:solidFill>
                  <a:srgbClr val="00B05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5</a:t>
            </a:r>
          </a:p>
        </p:txBody>
      </p:sp>
      <p:graphicFrame>
        <p:nvGraphicFramePr>
          <p:cNvPr id="67" name="Table 66"/>
          <p:cNvGraphicFramePr>
            <a:graphicFrameLocks noGrp="1"/>
          </p:cNvGraphicFramePr>
          <p:nvPr/>
        </p:nvGraphicFramePr>
        <p:xfrm>
          <a:off x="1336668" y="8458200"/>
          <a:ext cx="4467225" cy="917378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638175"/>
                <a:gridCol w="638175"/>
                <a:gridCol w="638175"/>
                <a:gridCol w="638175"/>
                <a:gridCol w="638175"/>
                <a:gridCol w="638175"/>
                <a:gridCol w="638175"/>
              </a:tblGrid>
              <a:tr h="458689">
                <a:tc>
                  <a:txBody>
                    <a:bodyPr/>
                    <a:lstStyle/>
                    <a:p>
                      <a:r>
                        <a:rPr lang="en-US" sz="1400" b="0" i="1" dirty="0" smtClean="0">
                          <a:solidFill>
                            <a:schemeClr val="tx1"/>
                          </a:solidFill>
                        </a:rPr>
                        <a:t>lo</a:t>
                      </a:r>
                      <a:endParaRPr lang="en-US" sz="14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kern="1200" dirty="0" smtClean="0">
                          <a:solidFill>
                            <a:srgbClr val="CD7923"/>
                          </a:solidFill>
                          <a:latin typeface="+mn-lt"/>
                          <a:ea typeface="Menlo" charset="0"/>
                          <a:cs typeface="Menlo" charset="0"/>
                          <a:sym typeface="Menlo" charset="0"/>
                        </a:rPr>
                        <a:t>p</a:t>
                      </a:r>
                      <a:endParaRPr lang="en-US" sz="2000" b="0" kern="1200" dirty="0">
                        <a:solidFill>
                          <a:srgbClr val="CD7923"/>
                        </a:solidFill>
                        <a:latin typeface="+mn-lt"/>
                        <a:ea typeface="Menlo" charset="0"/>
                        <a:cs typeface="Menlo" charset="0"/>
                        <a:sym typeface="Menlo" charset="0"/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400" b="0" i="1" dirty="0" smtClean="0">
                          <a:solidFill>
                            <a:schemeClr val="tx1"/>
                          </a:solidFill>
                        </a:rPr>
                        <a:t>hi</a:t>
                      </a:r>
                      <a:endParaRPr lang="en-US" sz="14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58689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68" name="Rectangle 7"/>
          <p:cNvSpPr>
            <a:spLocks/>
          </p:cNvSpPr>
          <p:nvPr/>
        </p:nvSpPr>
        <p:spPr bwMode="auto">
          <a:xfrm>
            <a:off x="711200" y="8839121"/>
            <a:ext cx="625468" cy="533479"/>
          </a:xfrm>
          <a:prstGeom prst="rect">
            <a:avLst/>
          </a:prstGeom>
          <a:noFill/>
          <a:ln w="12700">
            <a:noFill/>
            <a:miter lim="400000"/>
            <a:headEnd/>
            <a:tailEnd/>
          </a:ln>
        </p:spPr>
        <p:txBody>
          <a:bodyPr wrap="square" lIns="50800" tIns="50800" rIns="50800" bIns="50800" anchor="ctr">
            <a:spAutoFit/>
          </a:bodyPr>
          <a:lstStyle/>
          <a:p>
            <a:r>
              <a:rPr lang="en-US" sz="2800" b="0" dirty="0" smtClean="0"/>
              <a:t>A:</a:t>
            </a:r>
            <a:endParaRPr lang="en-US" sz="2800" b="0" dirty="0"/>
          </a:p>
        </p:txBody>
      </p:sp>
      <p:graphicFrame>
        <p:nvGraphicFramePr>
          <p:cNvPr id="69" name="Table 68"/>
          <p:cNvGraphicFramePr>
            <a:graphicFrameLocks noGrp="1"/>
          </p:cNvGraphicFramePr>
          <p:nvPr/>
        </p:nvGraphicFramePr>
        <p:xfrm>
          <a:off x="7842243" y="8458200"/>
          <a:ext cx="4467225" cy="917378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638175"/>
                <a:gridCol w="638175"/>
                <a:gridCol w="638175"/>
                <a:gridCol w="638175"/>
                <a:gridCol w="638175"/>
                <a:gridCol w="638175"/>
                <a:gridCol w="638175"/>
              </a:tblGrid>
              <a:tr h="458689">
                <a:tc>
                  <a:txBody>
                    <a:bodyPr/>
                    <a:lstStyle/>
                    <a:p>
                      <a:endParaRPr lang="en-US" sz="14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4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458689"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2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3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5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7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/>
                        <a:t>6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70" name="Rectangle 7"/>
          <p:cNvSpPr>
            <a:spLocks/>
          </p:cNvSpPr>
          <p:nvPr/>
        </p:nvSpPr>
        <p:spPr bwMode="auto">
          <a:xfrm>
            <a:off x="6670668" y="8839200"/>
            <a:ext cx="1158868" cy="533479"/>
          </a:xfrm>
          <a:prstGeom prst="rect">
            <a:avLst/>
          </a:prstGeom>
          <a:noFill/>
          <a:ln w="12700">
            <a:noFill/>
            <a:miter lim="400000"/>
            <a:headEnd/>
            <a:tailEnd/>
          </a:ln>
        </p:spPr>
        <p:txBody>
          <a:bodyPr wrap="square" lIns="50800" tIns="50800" rIns="50800" bIns="50800" anchor="ctr">
            <a:spAutoFit/>
          </a:bodyPr>
          <a:lstStyle/>
          <a:p>
            <a:pPr algn="r"/>
            <a:r>
              <a:rPr lang="en-US" sz="2800" b="0" dirty="0" smtClean="0"/>
              <a:t>TMP:</a:t>
            </a:r>
            <a:endParaRPr lang="en-US" sz="2800" b="0" dirty="0"/>
          </a:p>
        </p:txBody>
      </p:sp>
      <p:sp>
        <p:nvSpPr>
          <p:cNvPr id="71" name="Striped Right Arrow 70"/>
          <p:cNvSpPr/>
          <p:nvPr/>
        </p:nvSpPr>
        <p:spPr bwMode="auto">
          <a:xfrm flipH="1">
            <a:off x="5645150" y="8686800"/>
            <a:ext cx="1085850" cy="965200"/>
          </a:xfrm>
          <a:prstGeom prst="stripedRightArrow">
            <a:avLst/>
          </a:prstGeom>
          <a:solidFill>
            <a:srgbClr val="0070C0"/>
          </a:solidFill>
          <a:ln w="127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  <p:sp>
        <p:nvSpPr>
          <p:cNvPr id="66" name="Up Arrow 65"/>
          <p:cNvSpPr/>
          <p:nvPr/>
        </p:nvSpPr>
        <p:spPr bwMode="auto">
          <a:xfrm flipV="1">
            <a:off x="11173635" y="304800"/>
            <a:ext cx="304800" cy="304800"/>
          </a:xfrm>
          <a:prstGeom prst="upArrow">
            <a:avLst/>
          </a:prstGeom>
          <a:noFill/>
          <a:ln w="25400" cap="flat" cmpd="sng" algn="ctr">
            <a:solidFill>
              <a:srgbClr val="FF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  <p:sp>
        <p:nvSpPr>
          <p:cNvPr id="72" name="Oval 71"/>
          <p:cNvSpPr>
            <a:spLocks noChangeArrowheads="1"/>
          </p:cNvSpPr>
          <p:nvPr/>
        </p:nvSpPr>
        <p:spPr bwMode="auto">
          <a:xfrm>
            <a:off x="2692400" y="685800"/>
            <a:ext cx="457200" cy="457200"/>
          </a:xfrm>
          <a:prstGeom prst="ellipse">
            <a:avLst/>
          </a:prstGeom>
          <a:noFill/>
          <a:ln w="38100" algn="ctr">
            <a:solidFill>
              <a:srgbClr val="00B050"/>
            </a:solidFill>
            <a:miter lim="400000"/>
            <a:headEnd/>
            <a:tailEnd/>
          </a:ln>
        </p:spPr>
        <p:txBody>
          <a:bodyPr lIns="45720" rIns="45720" anchor="ctr"/>
          <a:lstStyle/>
          <a:p>
            <a:endParaRPr lang="en-US" sz="2000" b="0"/>
          </a:p>
        </p:txBody>
      </p:sp>
      <p:sp>
        <p:nvSpPr>
          <p:cNvPr id="73" name="TextBox 72"/>
          <p:cNvSpPr txBox="1"/>
          <p:nvPr/>
        </p:nvSpPr>
        <p:spPr>
          <a:xfrm>
            <a:off x="2540000" y="224135"/>
            <a:ext cx="8354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dirty="0" smtClean="0">
                <a:solidFill>
                  <a:srgbClr val="00B050"/>
                </a:solidFill>
              </a:rPr>
              <a:t>pivot</a:t>
            </a:r>
          </a:p>
        </p:txBody>
      </p:sp>
      <p:sp>
        <p:nvSpPr>
          <p:cNvPr id="74" name="Up Arrow 73"/>
          <p:cNvSpPr/>
          <p:nvPr/>
        </p:nvSpPr>
        <p:spPr bwMode="auto">
          <a:xfrm flipV="1">
            <a:off x="8026400" y="1676400"/>
            <a:ext cx="304800" cy="304800"/>
          </a:xfrm>
          <a:prstGeom prst="upArrow">
            <a:avLst/>
          </a:prstGeom>
          <a:noFill/>
          <a:ln w="25400" cap="flat" cmpd="sng" algn="ctr">
            <a:solidFill>
              <a:srgbClr val="0070C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  <p:sp>
        <p:nvSpPr>
          <p:cNvPr id="75" name="Up Arrow 74"/>
          <p:cNvSpPr/>
          <p:nvPr/>
        </p:nvSpPr>
        <p:spPr bwMode="auto">
          <a:xfrm flipV="1">
            <a:off x="10553402" y="1676400"/>
            <a:ext cx="304800" cy="304800"/>
          </a:xfrm>
          <a:prstGeom prst="upArrow">
            <a:avLst/>
          </a:prstGeom>
          <a:noFill/>
          <a:ln w="25400" cap="flat" cmpd="sng" algn="ctr">
            <a:solidFill>
              <a:srgbClr val="FF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  <p:sp>
        <p:nvSpPr>
          <p:cNvPr id="76" name="Oval 75"/>
          <p:cNvSpPr>
            <a:spLocks noChangeArrowheads="1"/>
          </p:cNvSpPr>
          <p:nvPr/>
        </p:nvSpPr>
        <p:spPr bwMode="auto">
          <a:xfrm>
            <a:off x="2692400" y="2061865"/>
            <a:ext cx="457200" cy="457200"/>
          </a:xfrm>
          <a:prstGeom prst="ellipse">
            <a:avLst/>
          </a:prstGeom>
          <a:noFill/>
          <a:ln w="38100" algn="ctr">
            <a:solidFill>
              <a:srgbClr val="00B050"/>
            </a:solidFill>
            <a:miter lim="400000"/>
            <a:headEnd/>
            <a:tailEnd/>
          </a:ln>
        </p:spPr>
        <p:txBody>
          <a:bodyPr lIns="45720" rIns="45720" anchor="ctr"/>
          <a:lstStyle/>
          <a:p>
            <a:endParaRPr lang="en-US" sz="2000" b="0"/>
          </a:p>
        </p:txBody>
      </p:sp>
      <p:sp>
        <p:nvSpPr>
          <p:cNvPr id="77" name="TextBox 76"/>
          <p:cNvSpPr txBox="1"/>
          <p:nvPr/>
        </p:nvSpPr>
        <p:spPr>
          <a:xfrm>
            <a:off x="2540000" y="1600200"/>
            <a:ext cx="8354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dirty="0" smtClean="0">
                <a:solidFill>
                  <a:srgbClr val="00B050"/>
                </a:solidFill>
              </a:rPr>
              <a:t>pivot</a:t>
            </a:r>
          </a:p>
        </p:txBody>
      </p:sp>
      <p:sp>
        <p:nvSpPr>
          <p:cNvPr id="78" name="Oval 77"/>
          <p:cNvSpPr>
            <a:spLocks noChangeArrowheads="1"/>
          </p:cNvSpPr>
          <p:nvPr/>
        </p:nvSpPr>
        <p:spPr bwMode="auto">
          <a:xfrm>
            <a:off x="2692400" y="3352800"/>
            <a:ext cx="457200" cy="457200"/>
          </a:xfrm>
          <a:prstGeom prst="ellipse">
            <a:avLst/>
          </a:prstGeom>
          <a:noFill/>
          <a:ln w="38100" algn="ctr">
            <a:solidFill>
              <a:srgbClr val="00B050"/>
            </a:solidFill>
            <a:miter lim="400000"/>
            <a:headEnd/>
            <a:tailEnd/>
          </a:ln>
        </p:spPr>
        <p:txBody>
          <a:bodyPr lIns="45720" rIns="45720" anchor="ctr"/>
          <a:lstStyle/>
          <a:p>
            <a:endParaRPr lang="en-US" sz="2000" b="0"/>
          </a:p>
        </p:txBody>
      </p:sp>
      <p:sp>
        <p:nvSpPr>
          <p:cNvPr id="79" name="TextBox 78"/>
          <p:cNvSpPr txBox="1"/>
          <p:nvPr/>
        </p:nvSpPr>
        <p:spPr>
          <a:xfrm>
            <a:off x="2540000" y="2891135"/>
            <a:ext cx="8354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dirty="0" smtClean="0">
                <a:solidFill>
                  <a:srgbClr val="00B050"/>
                </a:solidFill>
              </a:rPr>
              <a:t>pivot</a:t>
            </a:r>
          </a:p>
        </p:txBody>
      </p:sp>
      <p:sp>
        <p:nvSpPr>
          <p:cNvPr id="80" name="Oval 79"/>
          <p:cNvSpPr>
            <a:spLocks noChangeArrowheads="1"/>
          </p:cNvSpPr>
          <p:nvPr/>
        </p:nvSpPr>
        <p:spPr bwMode="auto">
          <a:xfrm>
            <a:off x="2692400" y="4652665"/>
            <a:ext cx="457200" cy="457200"/>
          </a:xfrm>
          <a:prstGeom prst="ellipse">
            <a:avLst/>
          </a:prstGeom>
          <a:noFill/>
          <a:ln w="38100" algn="ctr">
            <a:solidFill>
              <a:srgbClr val="00B050"/>
            </a:solidFill>
            <a:miter lim="400000"/>
            <a:headEnd/>
            <a:tailEnd/>
          </a:ln>
        </p:spPr>
        <p:txBody>
          <a:bodyPr lIns="45720" rIns="45720" anchor="ctr"/>
          <a:lstStyle/>
          <a:p>
            <a:endParaRPr lang="en-US" sz="2000" b="0"/>
          </a:p>
        </p:txBody>
      </p:sp>
      <p:sp>
        <p:nvSpPr>
          <p:cNvPr id="81" name="TextBox 80"/>
          <p:cNvSpPr txBox="1"/>
          <p:nvPr/>
        </p:nvSpPr>
        <p:spPr>
          <a:xfrm>
            <a:off x="2540000" y="4191000"/>
            <a:ext cx="8354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dirty="0" smtClean="0">
                <a:solidFill>
                  <a:srgbClr val="00B050"/>
                </a:solidFill>
              </a:rPr>
              <a:t>pivot</a:t>
            </a:r>
          </a:p>
        </p:txBody>
      </p:sp>
      <p:sp>
        <p:nvSpPr>
          <p:cNvPr id="82" name="Oval 81"/>
          <p:cNvSpPr>
            <a:spLocks noChangeArrowheads="1"/>
          </p:cNvSpPr>
          <p:nvPr/>
        </p:nvSpPr>
        <p:spPr bwMode="auto">
          <a:xfrm>
            <a:off x="2692400" y="5943600"/>
            <a:ext cx="457200" cy="457200"/>
          </a:xfrm>
          <a:prstGeom prst="ellipse">
            <a:avLst/>
          </a:prstGeom>
          <a:noFill/>
          <a:ln w="38100" algn="ctr">
            <a:solidFill>
              <a:srgbClr val="00B050"/>
            </a:solidFill>
            <a:miter lim="400000"/>
            <a:headEnd/>
            <a:tailEnd/>
          </a:ln>
        </p:spPr>
        <p:txBody>
          <a:bodyPr lIns="45720" rIns="45720" anchor="ctr"/>
          <a:lstStyle/>
          <a:p>
            <a:endParaRPr lang="en-US" sz="2000" b="0"/>
          </a:p>
        </p:txBody>
      </p:sp>
      <p:sp>
        <p:nvSpPr>
          <p:cNvPr id="83" name="TextBox 82"/>
          <p:cNvSpPr txBox="1"/>
          <p:nvPr/>
        </p:nvSpPr>
        <p:spPr>
          <a:xfrm>
            <a:off x="2540000" y="5481935"/>
            <a:ext cx="8354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dirty="0" smtClean="0">
                <a:solidFill>
                  <a:srgbClr val="00B050"/>
                </a:solidFill>
              </a:rPr>
              <a:t>pivot</a:t>
            </a:r>
          </a:p>
        </p:txBody>
      </p:sp>
      <p:sp>
        <p:nvSpPr>
          <p:cNvPr id="84" name="Oval 83"/>
          <p:cNvSpPr>
            <a:spLocks noChangeArrowheads="1"/>
          </p:cNvSpPr>
          <p:nvPr/>
        </p:nvSpPr>
        <p:spPr bwMode="auto">
          <a:xfrm>
            <a:off x="2692400" y="7319665"/>
            <a:ext cx="457200" cy="457200"/>
          </a:xfrm>
          <a:prstGeom prst="ellipse">
            <a:avLst/>
          </a:prstGeom>
          <a:noFill/>
          <a:ln w="38100" algn="ctr">
            <a:solidFill>
              <a:srgbClr val="00B050"/>
            </a:solidFill>
            <a:miter lim="400000"/>
            <a:headEnd/>
            <a:tailEnd/>
          </a:ln>
        </p:spPr>
        <p:txBody>
          <a:bodyPr lIns="45720" rIns="45720" anchor="ctr"/>
          <a:lstStyle/>
          <a:p>
            <a:endParaRPr lang="en-US" sz="2000" b="0"/>
          </a:p>
        </p:txBody>
      </p:sp>
      <p:sp>
        <p:nvSpPr>
          <p:cNvPr id="85" name="TextBox 84"/>
          <p:cNvSpPr txBox="1"/>
          <p:nvPr/>
        </p:nvSpPr>
        <p:spPr>
          <a:xfrm>
            <a:off x="2540000" y="6858000"/>
            <a:ext cx="8354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dirty="0" smtClean="0">
                <a:solidFill>
                  <a:srgbClr val="00B050"/>
                </a:solidFill>
              </a:rPr>
              <a:t>pivot</a:t>
            </a:r>
          </a:p>
        </p:txBody>
      </p:sp>
      <p:sp>
        <p:nvSpPr>
          <p:cNvPr id="86" name="Up Arrow 85"/>
          <p:cNvSpPr/>
          <p:nvPr/>
        </p:nvSpPr>
        <p:spPr bwMode="auto">
          <a:xfrm flipV="1">
            <a:off x="8646633" y="2971800"/>
            <a:ext cx="304800" cy="304800"/>
          </a:xfrm>
          <a:prstGeom prst="upArrow">
            <a:avLst/>
          </a:prstGeom>
          <a:noFill/>
          <a:ln w="25400" cap="flat" cmpd="sng" algn="ctr">
            <a:solidFill>
              <a:srgbClr val="0070C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  <p:sp>
        <p:nvSpPr>
          <p:cNvPr id="87" name="Up Arrow 86"/>
          <p:cNvSpPr/>
          <p:nvPr/>
        </p:nvSpPr>
        <p:spPr bwMode="auto">
          <a:xfrm flipV="1">
            <a:off x="10553402" y="2971800"/>
            <a:ext cx="304800" cy="304800"/>
          </a:xfrm>
          <a:prstGeom prst="upArrow">
            <a:avLst/>
          </a:prstGeom>
          <a:noFill/>
          <a:ln w="25400" cap="flat" cmpd="sng" algn="ctr">
            <a:solidFill>
              <a:srgbClr val="FF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  <p:sp>
        <p:nvSpPr>
          <p:cNvPr id="90" name="Up Arrow 89"/>
          <p:cNvSpPr/>
          <p:nvPr/>
        </p:nvSpPr>
        <p:spPr bwMode="auto">
          <a:xfrm flipV="1">
            <a:off x="8636000" y="4267200"/>
            <a:ext cx="304800" cy="304800"/>
          </a:xfrm>
          <a:prstGeom prst="upArrow">
            <a:avLst/>
          </a:prstGeom>
          <a:noFill/>
          <a:ln w="25400" cap="flat" cmpd="sng" algn="ctr">
            <a:solidFill>
              <a:srgbClr val="0070C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  <p:sp>
        <p:nvSpPr>
          <p:cNvPr id="91" name="Up Arrow 90"/>
          <p:cNvSpPr/>
          <p:nvPr/>
        </p:nvSpPr>
        <p:spPr bwMode="auto">
          <a:xfrm flipV="1">
            <a:off x="9931400" y="4267200"/>
            <a:ext cx="304800" cy="304800"/>
          </a:xfrm>
          <a:prstGeom prst="upArrow">
            <a:avLst/>
          </a:prstGeom>
          <a:noFill/>
          <a:ln w="25400" cap="flat" cmpd="sng" algn="ctr">
            <a:solidFill>
              <a:srgbClr val="FF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  <p:sp>
        <p:nvSpPr>
          <p:cNvPr id="92" name="Up Arrow 91"/>
          <p:cNvSpPr/>
          <p:nvPr/>
        </p:nvSpPr>
        <p:spPr bwMode="auto">
          <a:xfrm>
            <a:off x="4673600" y="6477000"/>
            <a:ext cx="304800" cy="304800"/>
          </a:xfrm>
          <a:prstGeom prst="upArrow">
            <a:avLst/>
          </a:prstGeom>
          <a:noFill/>
          <a:ln w="25400" cap="flat" cmpd="sng" algn="ctr">
            <a:solidFill>
              <a:schemeClr val="tx1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  <p:sp>
        <p:nvSpPr>
          <p:cNvPr id="93" name="Up Arrow 92"/>
          <p:cNvSpPr/>
          <p:nvPr/>
        </p:nvSpPr>
        <p:spPr bwMode="auto">
          <a:xfrm flipV="1">
            <a:off x="9277499" y="5562600"/>
            <a:ext cx="304800" cy="304800"/>
          </a:xfrm>
          <a:prstGeom prst="upArrow">
            <a:avLst/>
          </a:prstGeom>
          <a:noFill/>
          <a:ln w="25400" cap="flat" cmpd="sng" algn="ctr">
            <a:solidFill>
              <a:srgbClr val="0070C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  <p:sp>
        <p:nvSpPr>
          <p:cNvPr id="94" name="Up Arrow 93"/>
          <p:cNvSpPr/>
          <p:nvPr/>
        </p:nvSpPr>
        <p:spPr bwMode="auto">
          <a:xfrm flipV="1">
            <a:off x="9931400" y="5562600"/>
            <a:ext cx="304800" cy="304800"/>
          </a:xfrm>
          <a:prstGeom prst="upArrow">
            <a:avLst/>
          </a:prstGeom>
          <a:noFill/>
          <a:ln w="25400" cap="flat" cmpd="sng" algn="ctr">
            <a:solidFill>
              <a:srgbClr val="FF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  <p:sp>
        <p:nvSpPr>
          <p:cNvPr id="95" name="Up Arrow 94"/>
          <p:cNvSpPr/>
          <p:nvPr/>
        </p:nvSpPr>
        <p:spPr bwMode="auto">
          <a:xfrm flipV="1">
            <a:off x="9931400" y="6858000"/>
            <a:ext cx="304800" cy="304800"/>
          </a:xfrm>
          <a:prstGeom prst="upArrow">
            <a:avLst/>
          </a:prstGeom>
          <a:noFill/>
          <a:ln w="25400" cap="flat" cmpd="sng" algn="ctr">
            <a:solidFill>
              <a:srgbClr val="00B05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  <p:sp>
        <p:nvSpPr>
          <p:cNvPr id="96" name="Oval 95"/>
          <p:cNvSpPr>
            <a:spLocks noChangeArrowheads="1"/>
          </p:cNvSpPr>
          <p:nvPr/>
        </p:nvSpPr>
        <p:spPr bwMode="auto">
          <a:xfrm>
            <a:off x="3323266" y="8915400"/>
            <a:ext cx="457200" cy="457200"/>
          </a:xfrm>
          <a:prstGeom prst="ellipse">
            <a:avLst/>
          </a:prstGeom>
          <a:noFill/>
          <a:ln w="38100" algn="ctr">
            <a:solidFill>
              <a:srgbClr val="00B050"/>
            </a:solidFill>
            <a:miter lim="400000"/>
            <a:headEnd/>
            <a:tailEnd/>
          </a:ln>
        </p:spPr>
        <p:txBody>
          <a:bodyPr lIns="45720" rIns="45720" anchor="ctr"/>
          <a:lstStyle/>
          <a:p>
            <a:endParaRPr lang="en-US" sz="2000" b="0"/>
          </a:p>
        </p:txBody>
      </p:sp>
      <p:sp>
        <p:nvSpPr>
          <p:cNvPr id="97" name="TextBox 96"/>
          <p:cNvSpPr txBox="1"/>
          <p:nvPr/>
        </p:nvSpPr>
        <p:spPr>
          <a:xfrm>
            <a:off x="3170866" y="8153400"/>
            <a:ext cx="8354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dirty="0" smtClean="0">
                <a:solidFill>
                  <a:srgbClr val="00B050"/>
                </a:solidFill>
              </a:rPr>
              <a:t>pivot</a:t>
            </a:r>
          </a:p>
        </p:txBody>
      </p:sp>
      <p:sp>
        <p:nvSpPr>
          <p:cNvPr id="98" name="Oval 97"/>
          <p:cNvSpPr>
            <a:spLocks noChangeArrowheads="1"/>
          </p:cNvSpPr>
          <p:nvPr/>
        </p:nvSpPr>
        <p:spPr bwMode="auto">
          <a:xfrm>
            <a:off x="9844567" y="7315200"/>
            <a:ext cx="457200" cy="457200"/>
          </a:xfrm>
          <a:prstGeom prst="ellipse">
            <a:avLst/>
          </a:prstGeom>
          <a:noFill/>
          <a:ln w="38100" algn="ctr">
            <a:solidFill>
              <a:srgbClr val="00B050"/>
            </a:solidFill>
            <a:miter lim="400000"/>
            <a:headEnd/>
            <a:tailEnd/>
          </a:ln>
        </p:spPr>
        <p:txBody>
          <a:bodyPr lIns="45720" rIns="45720" anchor="ctr"/>
          <a:lstStyle/>
          <a:p>
            <a:endParaRPr lang="en-US" sz="2000" b="0"/>
          </a:p>
        </p:txBody>
      </p:sp>
      <p:sp>
        <p:nvSpPr>
          <p:cNvPr id="100" name="Oval 99"/>
          <p:cNvSpPr>
            <a:spLocks noChangeArrowheads="1"/>
          </p:cNvSpPr>
          <p:nvPr/>
        </p:nvSpPr>
        <p:spPr bwMode="auto">
          <a:xfrm>
            <a:off x="9833934" y="8915400"/>
            <a:ext cx="457200" cy="457200"/>
          </a:xfrm>
          <a:prstGeom prst="ellipse">
            <a:avLst/>
          </a:prstGeom>
          <a:noFill/>
          <a:ln w="38100" algn="ctr">
            <a:solidFill>
              <a:srgbClr val="00B050"/>
            </a:solidFill>
            <a:miter lim="400000"/>
            <a:headEnd/>
            <a:tailEnd/>
          </a:ln>
        </p:spPr>
        <p:txBody>
          <a:bodyPr lIns="45720" rIns="45720" anchor="ctr"/>
          <a:lstStyle/>
          <a:p>
            <a:endParaRPr lang="en-US" sz="2000" b="0"/>
          </a:p>
        </p:txBody>
      </p:sp>
      <p:sp>
        <p:nvSpPr>
          <p:cNvPr id="101" name="TextBox 100"/>
          <p:cNvSpPr txBox="1"/>
          <p:nvPr/>
        </p:nvSpPr>
        <p:spPr>
          <a:xfrm>
            <a:off x="9681534" y="8453735"/>
            <a:ext cx="8354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0" dirty="0" smtClean="0">
                <a:solidFill>
                  <a:srgbClr val="00B050"/>
                </a:solidFill>
              </a:rPr>
              <a:t>pivot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to partition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52500" y="5334000"/>
            <a:ext cx="11099800" cy="4191000"/>
          </a:xfrm>
        </p:spPr>
        <p:txBody>
          <a:bodyPr/>
          <a:lstStyle/>
          <a:p>
            <a:r>
              <a:rPr lang="en-US" dirty="0" smtClean="0"/>
              <a:t>Cost of partition?</a:t>
            </a:r>
          </a:p>
          <a:p>
            <a:pPr lvl="1"/>
            <a:r>
              <a:rPr lang="en-US" dirty="0" smtClean="0"/>
              <a:t>if </a:t>
            </a:r>
            <a:r>
              <a:rPr lang="en-US" i="1" dirty="0" smtClean="0"/>
              <a:t>A[lo, hi) </a:t>
            </a:r>
            <a:r>
              <a:rPr lang="en-US" dirty="0" smtClean="0"/>
              <a:t>has </a:t>
            </a:r>
            <a:r>
              <a:rPr lang="en-US" i="1" dirty="0" smtClean="0"/>
              <a:t>n</a:t>
            </a:r>
            <a:r>
              <a:rPr lang="en-US" dirty="0" smtClean="0"/>
              <a:t> elements,</a:t>
            </a:r>
          </a:p>
          <a:p>
            <a:pPr lvl="1"/>
            <a:r>
              <a:rPr lang="en-US" dirty="0" smtClean="0"/>
              <a:t>we copy one element to TMP at each step</a:t>
            </a:r>
          </a:p>
          <a:p>
            <a:pPr lvl="2"/>
            <a:r>
              <a:rPr lang="en-US" i="1" dirty="0" smtClean="0"/>
              <a:t>n</a:t>
            </a:r>
            <a:r>
              <a:rPr lang="en-US" dirty="0" smtClean="0"/>
              <a:t> steps</a:t>
            </a:r>
          </a:p>
          <a:p>
            <a:pPr lvl="1"/>
            <a:r>
              <a:rPr lang="en-US" dirty="0" smtClean="0"/>
              <a:t>we copy all </a:t>
            </a:r>
            <a:r>
              <a:rPr lang="en-US" i="1" dirty="0" smtClean="0"/>
              <a:t>n</a:t>
            </a:r>
            <a:r>
              <a:rPr lang="en-US" dirty="0" smtClean="0"/>
              <a:t> elements back to A at the end</a:t>
            </a:r>
          </a:p>
          <a:p>
            <a:pPr lvl="4"/>
            <a:endParaRPr lang="en-US" dirty="0" smtClean="0"/>
          </a:p>
          <a:p>
            <a:pPr algn="ctr">
              <a:buNone/>
            </a:pPr>
            <a:r>
              <a:rPr lang="en-US" b="1" i="1" dirty="0" smtClean="0"/>
              <a:t>O(n)</a:t>
            </a:r>
          </a:p>
          <a:p>
            <a:r>
              <a:rPr lang="en-US" dirty="0" smtClean="0"/>
              <a:t>Just like merge</a:t>
            </a:r>
          </a:p>
        </p:txBody>
      </p:sp>
      <p:sp>
        <p:nvSpPr>
          <p:cNvPr id="4" name="Rectangle 7"/>
          <p:cNvSpPr>
            <a:spLocks/>
          </p:cNvSpPr>
          <p:nvPr/>
        </p:nvSpPr>
        <p:spPr bwMode="auto">
          <a:xfrm>
            <a:off x="3225800" y="2043112"/>
            <a:ext cx="625468" cy="595035"/>
          </a:xfrm>
          <a:prstGeom prst="rect">
            <a:avLst/>
          </a:prstGeom>
          <a:noFill/>
          <a:ln w="12700">
            <a:noFill/>
            <a:miter lim="400000"/>
            <a:headEnd/>
            <a:tailEnd/>
          </a:ln>
        </p:spPr>
        <p:txBody>
          <a:bodyPr wrap="square" lIns="50800" tIns="50800" rIns="50800" bIns="50800" anchor="ctr">
            <a:spAutoFit/>
          </a:bodyPr>
          <a:lstStyle/>
          <a:p>
            <a:r>
              <a:rPr lang="en-US" sz="3200" b="0" dirty="0" smtClean="0"/>
              <a:t>A:</a:t>
            </a:r>
            <a:endParaRPr lang="en-US" sz="3200" b="0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911600" y="1600200"/>
          <a:ext cx="5105400" cy="1069778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2355913"/>
                <a:gridCol w="2341177"/>
                <a:gridCol w="408310"/>
              </a:tblGrid>
              <a:tr h="458689">
                <a:tc>
                  <a:txBody>
                    <a:bodyPr/>
                    <a:lstStyle/>
                    <a:p>
                      <a:r>
                        <a:rPr lang="en-US" sz="1800" b="0" dirty="0" smtClean="0">
                          <a:solidFill>
                            <a:schemeClr val="tx1"/>
                          </a:solidFill>
                        </a:rPr>
                        <a:t>lo</a:t>
                      </a:r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i="1" dirty="0" smtClean="0">
                          <a:solidFill>
                            <a:schemeClr val="tx1"/>
                          </a:solidFill>
                        </a:rPr>
                        <a:t>hi</a:t>
                      </a:r>
                      <a:endParaRPr lang="en-US" sz="18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611089">
                <a:tc gridSpan="2"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6" name="Up Arrow 5"/>
          <p:cNvSpPr/>
          <p:nvPr/>
        </p:nvSpPr>
        <p:spPr bwMode="auto">
          <a:xfrm flipV="1">
            <a:off x="3911600" y="3505200"/>
            <a:ext cx="304800" cy="304800"/>
          </a:xfrm>
          <a:prstGeom prst="upArrow">
            <a:avLst/>
          </a:prstGeom>
          <a:noFill/>
          <a:ln w="25400" cap="flat" cmpd="sng" algn="ctr">
            <a:solidFill>
              <a:schemeClr val="bg1">
                <a:lumMod val="85000"/>
              </a:schemeClr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  <p:sp>
        <p:nvSpPr>
          <p:cNvPr id="7" name="Up Arrow 6"/>
          <p:cNvSpPr/>
          <p:nvPr/>
        </p:nvSpPr>
        <p:spPr bwMode="auto">
          <a:xfrm flipV="1">
            <a:off x="4140200" y="3505200"/>
            <a:ext cx="304800" cy="304800"/>
          </a:xfrm>
          <a:prstGeom prst="upArrow">
            <a:avLst/>
          </a:prstGeom>
          <a:noFill/>
          <a:ln w="25400" cap="flat" cmpd="sng" algn="ctr">
            <a:solidFill>
              <a:schemeClr val="bg1">
                <a:lumMod val="50000"/>
              </a:schemeClr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  <p:sp>
        <p:nvSpPr>
          <p:cNvPr id="8" name="Up Arrow 7"/>
          <p:cNvSpPr/>
          <p:nvPr/>
        </p:nvSpPr>
        <p:spPr bwMode="auto">
          <a:xfrm flipV="1">
            <a:off x="4368800" y="3505200"/>
            <a:ext cx="304800" cy="304800"/>
          </a:xfrm>
          <a:prstGeom prst="upArrow">
            <a:avLst/>
          </a:prstGeom>
          <a:noFill/>
          <a:ln w="254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  <p:sp>
        <p:nvSpPr>
          <p:cNvPr id="9" name="Up Arrow 8"/>
          <p:cNvSpPr/>
          <p:nvPr/>
        </p:nvSpPr>
        <p:spPr bwMode="auto">
          <a:xfrm flipV="1">
            <a:off x="8255000" y="3505200"/>
            <a:ext cx="304800" cy="304800"/>
          </a:xfrm>
          <a:prstGeom prst="upArrow">
            <a:avLst/>
          </a:prstGeom>
          <a:noFill/>
          <a:ln w="25400" cap="flat" cmpd="sng" algn="ctr">
            <a:solidFill>
              <a:schemeClr val="bg1">
                <a:lumMod val="85000"/>
              </a:schemeClr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  <p:sp>
        <p:nvSpPr>
          <p:cNvPr id="10" name="Up Arrow 9"/>
          <p:cNvSpPr/>
          <p:nvPr/>
        </p:nvSpPr>
        <p:spPr bwMode="auto">
          <a:xfrm flipV="1">
            <a:off x="8026400" y="3505200"/>
            <a:ext cx="304800" cy="304800"/>
          </a:xfrm>
          <a:prstGeom prst="upArrow">
            <a:avLst/>
          </a:prstGeom>
          <a:noFill/>
          <a:ln w="25400" cap="flat" cmpd="sng" algn="ctr">
            <a:solidFill>
              <a:schemeClr val="bg1">
                <a:lumMod val="50000"/>
              </a:schemeClr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  <p:sp>
        <p:nvSpPr>
          <p:cNvPr id="11" name="Up Arrow 10"/>
          <p:cNvSpPr/>
          <p:nvPr/>
        </p:nvSpPr>
        <p:spPr bwMode="auto">
          <a:xfrm flipV="1">
            <a:off x="7797800" y="3505200"/>
            <a:ext cx="304800" cy="304800"/>
          </a:xfrm>
          <a:prstGeom prst="upArrow">
            <a:avLst/>
          </a:prstGeom>
          <a:noFill/>
          <a:ln w="254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911600" y="3426022"/>
          <a:ext cx="5105400" cy="1069778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2438400"/>
                <a:gridCol w="2258690"/>
                <a:gridCol w="408310"/>
              </a:tblGrid>
              <a:tr h="458689">
                <a:tc>
                  <a:txBody>
                    <a:bodyPr/>
                    <a:lstStyle/>
                    <a:p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611089">
                <a:tc>
                  <a:txBody>
                    <a:bodyPr/>
                    <a:lstStyle/>
                    <a:p>
                      <a:pPr algn="l"/>
                      <a:r>
                        <a:rPr lang="en-US" sz="1800" dirty="0" smtClean="0">
                          <a:solidFill>
                            <a:srgbClr val="0070C0"/>
                          </a:solidFill>
                        </a:rPr>
                        <a:t>SMALLER</a:t>
                      </a:r>
                      <a:endParaRPr lang="en-US" sz="1800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dirty="0" smtClean="0">
                          <a:solidFill>
                            <a:srgbClr val="FF0000"/>
                          </a:solidFill>
                        </a:rPr>
                        <a:t>BIGGER</a:t>
                      </a:r>
                      <a:endParaRPr lang="en-US" sz="1800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3" name="Rectangle 7"/>
          <p:cNvSpPr>
            <a:spLocks/>
          </p:cNvSpPr>
          <p:nvPr/>
        </p:nvSpPr>
        <p:spPr bwMode="auto">
          <a:xfrm>
            <a:off x="2616200" y="3900765"/>
            <a:ext cx="1235068" cy="595035"/>
          </a:xfrm>
          <a:prstGeom prst="rect">
            <a:avLst/>
          </a:prstGeom>
          <a:noFill/>
          <a:ln w="12700">
            <a:noFill/>
            <a:miter lim="400000"/>
            <a:headEnd/>
            <a:tailEnd/>
          </a:ln>
        </p:spPr>
        <p:txBody>
          <a:bodyPr wrap="square" lIns="50800" tIns="50800" rIns="50800" bIns="50800" anchor="ctr">
            <a:spAutoFit/>
          </a:bodyPr>
          <a:lstStyle/>
          <a:p>
            <a:pPr algn="r"/>
            <a:r>
              <a:rPr lang="en-US" sz="3200" b="0" dirty="0" smtClean="0"/>
              <a:t>TMP:</a:t>
            </a:r>
            <a:endParaRPr lang="en-US" sz="3200" b="0" dirty="0"/>
          </a:p>
        </p:txBody>
      </p:sp>
      <p:sp>
        <p:nvSpPr>
          <p:cNvPr id="14" name="Up Arrow 13"/>
          <p:cNvSpPr/>
          <p:nvPr/>
        </p:nvSpPr>
        <p:spPr bwMode="auto">
          <a:xfrm>
            <a:off x="3911600" y="2743200"/>
            <a:ext cx="304800" cy="304800"/>
          </a:xfrm>
          <a:prstGeom prst="upArrow">
            <a:avLst/>
          </a:prstGeom>
          <a:noFill/>
          <a:ln w="25400" cap="flat" cmpd="sng" algn="ctr">
            <a:solidFill>
              <a:schemeClr val="bg1">
                <a:lumMod val="95000"/>
              </a:schemeClr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  <p:sp>
        <p:nvSpPr>
          <p:cNvPr id="15" name="Up Arrow 14"/>
          <p:cNvSpPr/>
          <p:nvPr/>
        </p:nvSpPr>
        <p:spPr bwMode="auto">
          <a:xfrm>
            <a:off x="4140200" y="2743200"/>
            <a:ext cx="304800" cy="304800"/>
          </a:xfrm>
          <a:prstGeom prst="upArrow">
            <a:avLst/>
          </a:prstGeom>
          <a:noFill/>
          <a:ln w="25400" cap="flat" cmpd="sng" algn="ctr">
            <a:solidFill>
              <a:schemeClr val="bg1">
                <a:lumMod val="75000"/>
              </a:schemeClr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  <p:sp>
        <p:nvSpPr>
          <p:cNvPr id="16" name="Up Arrow 15"/>
          <p:cNvSpPr/>
          <p:nvPr/>
        </p:nvSpPr>
        <p:spPr bwMode="auto">
          <a:xfrm>
            <a:off x="4368800" y="2743200"/>
            <a:ext cx="304800" cy="304800"/>
          </a:xfrm>
          <a:prstGeom prst="upArrow">
            <a:avLst/>
          </a:prstGeom>
          <a:noFill/>
          <a:ln w="25400" cap="flat" cmpd="sng" algn="ctr">
            <a:solidFill>
              <a:schemeClr val="bg1">
                <a:lumMod val="50000"/>
              </a:schemeClr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  <p:sp>
        <p:nvSpPr>
          <p:cNvPr id="17" name="Up Arrow 16"/>
          <p:cNvSpPr/>
          <p:nvPr/>
        </p:nvSpPr>
        <p:spPr bwMode="auto">
          <a:xfrm>
            <a:off x="4597400" y="2743200"/>
            <a:ext cx="304800" cy="304800"/>
          </a:xfrm>
          <a:prstGeom prst="upArrow">
            <a:avLst/>
          </a:prstGeom>
          <a:noFill/>
          <a:ln w="2540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  <p:sp>
        <p:nvSpPr>
          <p:cNvPr id="18" name="Up Arrow 17"/>
          <p:cNvSpPr/>
          <p:nvPr/>
        </p:nvSpPr>
        <p:spPr bwMode="auto">
          <a:xfrm>
            <a:off x="4826000" y="2743200"/>
            <a:ext cx="304800" cy="304800"/>
          </a:xfrm>
          <a:prstGeom prst="upArrow">
            <a:avLst/>
          </a:prstGeom>
          <a:noFill/>
          <a:ln w="254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  <p:sp>
        <p:nvSpPr>
          <p:cNvPr id="19" name="Up Arrow 18"/>
          <p:cNvSpPr/>
          <p:nvPr/>
        </p:nvSpPr>
        <p:spPr bwMode="auto">
          <a:xfrm>
            <a:off x="5054600" y="2743200"/>
            <a:ext cx="304800" cy="304800"/>
          </a:xfrm>
          <a:prstGeom prst="upArrow">
            <a:avLst/>
          </a:prstGeom>
          <a:noFill/>
          <a:ln w="254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merge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52500" y="5105400"/>
            <a:ext cx="11099800" cy="3771900"/>
          </a:xfrm>
        </p:spPr>
        <p:txBody>
          <a:bodyPr/>
          <a:lstStyle/>
          <a:p>
            <a:r>
              <a:rPr lang="en-US" dirty="0" smtClean="0"/>
              <a:t>Cost of merge?</a:t>
            </a:r>
          </a:p>
          <a:p>
            <a:pPr lvl="1"/>
            <a:r>
              <a:rPr lang="en-US" dirty="0" smtClean="0"/>
              <a:t>if </a:t>
            </a:r>
            <a:r>
              <a:rPr lang="en-US" i="1" dirty="0" smtClean="0"/>
              <a:t>A[lo, hi) </a:t>
            </a:r>
            <a:r>
              <a:rPr lang="en-US" dirty="0" smtClean="0"/>
              <a:t>has </a:t>
            </a:r>
            <a:r>
              <a:rPr lang="en-US" i="1" dirty="0" smtClean="0"/>
              <a:t>n</a:t>
            </a:r>
            <a:r>
              <a:rPr lang="en-US" dirty="0" smtClean="0"/>
              <a:t> elements,</a:t>
            </a:r>
          </a:p>
          <a:p>
            <a:pPr lvl="1"/>
            <a:r>
              <a:rPr lang="en-US" dirty="0" smtClean="0"/>
              <a:t>we copy one element to TMP at each step</a:t>
            </a:r>
          </a:p>
          <a:p>
            <a:pPr lvl="2"/>
            <a:r>
              <a:rPr lang="en-US" i="1" dirty="0" smtClean="0"/>
              <a:t>n</a:t>
            </a:r>
            <a:r>
              <a:rPr lang="en-US" dirty="0" smtClean="0"/>
              <a:t> steps</a:t>
            </a:r>
          </a:p>
          <a:p>
            <a:pPr lvl="1"/>
            <a:r>
              <a:rPr lang="en-US" dirty="0" smtClean="0"/>
              <a:t>we copy all </a:t>
            </a:r>
            <a:r>
              <a:rPr lang="en-US" i="1" dirty="0" smtClean="0"/>
              <a:t>n</a:t>
            </a:r>
            <a:r>
              <a:rPr lang="en-US" dirty="0" smtClean="0"/>
              <a:t> elements back to A at the end</a:t>
            </a:r>
          </a:p>
          <a:p>
            <a:pPr lvl="4"/>
            <a:endParaRPr lang="en-US" dirty="0" smtClean="0"/>
          </a:p>
          <a:p>
            <a:r>
              <a:rPr lang="en-US" dirty="0" smtClean="0"/>
              <a:t>That’s cheaper then </a:t>
            </a:r>
            <a:r>
              <a:rPr lang="en-US" i="1" dirty="0" smtClean="0"/>
              <a:t>n</a:t>
            </a:r>
            <a:r>
              <a:rPr lang="en-US" i="1" baseline="30000" dirty="0" smtClean="0"/>
              <a:t>2</a:t>
            </a:r>
            <a:r>
              <a:rPr lang="en-US" i="1" dirty="0" smtClean="0"/>
              <a:t>/2</a:t>
            </a:r>
          </a:p>
        </p:txBody>
      </p:sp>
      <p:sp>
        <p:nvSpPr>
          <p:cNvPr id="4" name="Rectangle 7"/>
          <p:cNvSpPr>
            <a:spLocks/>
          </p:cNvSpPr>
          <p:nvPr/>
        </p:nvSpPr>
        <p:spPr bwMode="auto">
          <a:xfrm>
            <a:off x="3225800" y="2043112"/>
            <a:ext cx="625468" cy="595035"/>
          </a:xfrm>
          <a:prstGeom prst="rect">
            <a:avLst/>
          </a:prstGeom>
          <a:noFill/>
          <a:ln w="12700">
            <a:noFill/>
            <a:miter lim="400000"/>
            <a:headEnd/>
            <a:tailEnd/>
          </a:ln>
        </p:spPr>
        <p:txBody>
          <a:bodyPr wrap="square" lIns="50800" tIns="50800" rIns="50800" bIns="50800" anchor="ctr">
            <a:spAutoFit/>
          </a:bodyPr>
          <a:lstStyle/>
          <a:p>
            <a:r>
              <a:rPr lang="en-US" sz="3200" b="0" dirty="0" smtClean="0"/>
              <a:t>A:</a:t>
            </a:r>
            <a:endParaRPr lang="en-US" sz="3200" b="0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911600" y="1600200"/>
          <a:ext cx="5105400" cy="1069778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2355913"/>
                <a:gridCol w="2341177"/>
                <a:gridCol w="408310"/>
              </a:tblGrid>
              <a:tr h="458689">
                <a:tc>
                  <a:txBody>
                    <a:bodyPr/>
                    <a:lstStyle/>
                    <a:p>
                      <a:r>
                        <a:rPr lang="en-US" sz="1800" b="0" dirty="0" smtClean="0">
                          <a:solidFill>
                            <a:schemeClr val="tx1"/>
                          </a:solidFill>
                        </a:rPr>
                        <a:t>lo</a:t>
                      </a:r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dirty="0" smtClean="0">
                          <a:solidFill>
                            <a:schemeClr val="tx1"/>
                          </a:solidFill>
                        </a:rPr>
                        <a:t>mid</a:t>
                      </a:r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i="1" dirty="0" smtClean="0">
                          <a:solidFill>
                            <a:schemeClr val="tx1"/>
                          </a:solidFill>
                        </a:rPr>
                        <a:t>hi</a:t>
                      </a:r>
                      <a:endParaRPr lang="en-US" sz="18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611089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rgbClr val="C00000"/>
                          </a:solidFill>
                        </a:rPr>
                        <a:t>SORTED</a:t>
                      </a:r>
                      <a:endParaRPr lang="en-US" sz="1800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rgbClr val="C00000"/>
                          </a:solidFill>
                        </a:rPr>
                        <a:t>SORTED</a:t>
                      </a:r>
                      <a:endParaRPr lang="en-US" sz="1800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6" name="Up Arrow 5"/>
          <p:cNvSpPr/>
          <p:nvPr/>
        </p:nvSpPr>
        <p:spPr bwMode="auto">
          <a:xfrm>
            <a:off x="3911600" y="2743200"/>
            <a:ext cx="304800" cy="304800"/>
          </a:xfrm>
          <a:prstGeom prst="upArrow">
            <a:avLst/>
          </a:prstGeom>
          <a:noFill/>
          <a:ln w="25400" cap="flat" cmpd="sng" algn="ctr">
            <a:solidFill>
              <a:schemeClr val="bg1">
                <a:lumMod val="85000"/>
              </a:schemeClr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  <p:sp>
        <p:nvSpPr>
          <p:cNvPr id="7" name="Up Arrow 6"/>
          <p:cNvSpPr/>
          <p:nvPr/>
        </p:nvSpPr>
        <p:spPr bwMode="auto">
          <a:xfrm>
            <a:off x="4140200" y="2743200"/>
            <a:ext cx="304800" cy="304800"/>
          </a:xfrm>
          <a:prstGeom prst="upArrow">
            <a:avLst/>
          </a:prstGeom>
          <a:noFill/>
          <a:ln w="25400" cap="flat" cmpd="sng" algn="ctr">
            <a:solidFill>
              <a:schemeClr val="bg1">
                <a:lumMod val="50000"/>
              </a:schemeClr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  <p:sp>
        <p:nvSpPr>
          <p:cNvPr id="8" name="Up Arrow 7"/>
          <p:cNvSpPr/>
          <p:nvPr/>
        </p:nvSpPr>
        <p:spPr bwMode="auto">
          <a:xfrm>
            <a:off x="4368800" y="2743200"/>
            <a:ext cx="304800" cy="304800"/>
          </a:xfrm>
          <a:prstGeom prst="upArrow">
            <a:avLst/>
          </a:prstGeom>
          <a:noFill/>
          <a:ln w="254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  <p:sp>
        <p:nvSpPr>
          <p:cNvPr id="9" name="Up Arrow 8"/>
          <p:cNvSpPr/>
          <p:nvPr/>
        </p:nvSpPr>
        <p:spPr bwMode="auto">
          <a:xfrm>
            <a:off x="6273800" y="2743200"/>
            <a:ext cx="304800" cy="304800"/>
          </a:xfrm>
          <a:prstGeom prst="upArrow">
            <a:avLst/>
          </a:prstGeom>
          <a:noFill/>
          <a:ln w="25400" cap="flat" cmpd="sng" algn="ctr">
            <a:solidFill>
              <a:schemeClr val="bg1">
                <a:lumMod val="85000"/>
              </a:schemeClr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  <p:sp>
        <p:nvSpPr>
          <p:cNvPr id="10" name="Up Arrow 9"/>
          <p:cNvSpPr/>
          <p:nvPr/>
        </p:nvSpPr>
        <p:spPr bwMode="auto">
          <a:xfrm>
            <a:off x="6502400" y="2743200"/>
            <a:ext cx="304800" cy="304800"/>
          </a:xfrm>
          <a:prstGeom prst="upArrow">
            <a:avLst/>
          </a:prstGeom>
          <a:noFill/>
          <a:ln w="25400" cap="flat" cmpd="sng" algn="ctr">
            <a:solidFill>
              <a:schemeClr val="bg1">
                <a:lumMod val="50000"/>
              </a:schemeClr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  <p:sp>
        <p:nvSpPr>
          <p:cNvPr id="11" name="Up Arrow 10"/>
          <p:cNvSpPr/>
          <p:nvPr/>
        </p:nvSpPr>
        <p:spPr bwMode="auto">
          <a:xfrm>
            <a:off x="6731000" y="2743200"/>
            <a:ext cx="304800" cy="304800"/>
          </a:xfrm>
          <a:prstGeom prst="upArrow">
            <a:avLst/>
          </a:prstGeom>
          <a:noFill/>
          <a:ln w="254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911600" y="3426022"/>
          <a:ext cx="5105400" cy="1069778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1371600"/>
                <a:gridCol w="3325490"/>
                <a:gridCol w="408310"/>
              </a:tblGrid>
              <a:tr h="458689">
                <a:tc>
                  <a:txBody>
                    <a:bodyPr/>
                    <a:lstStyle/>
                    <a:p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611089">
                <a:tc>
                  <a:txBody>
                    <a:bodyPr/>
                    <a:lstStyle/>
                    <a:p>
                      <a:pPr algn="ctr"/>
                      <a:r>
                        <a:rPr lang="en-US" sz="1800" dirty="0" smtClean="0">
                          <a:solidFill>
                            <a:srgbClr val="C00000"/>
                          </a:solidFill>
                        </a:rPr>
                        <a:t>SORTED</a:t>
                      </a:r>
                      <a:endParaRPr lang="en-US" sz="1800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3" name="Rectangle 7"/>
          <p:cNvSpPr>
            <a:spLocks/>
          </p:cNvSpPr>
          <p:nvPr/>
        </p:nvSpPr>
        <p:spPr bwMode="auto">
          <a:xfrm>
            <a:off x="2616200" y="3900765"/>
            <a:ext cx="1235068" cy="595035"/>
          </a:xfrm>
          <a:prstGeom prst="rect">
            <a:avLst/>
          </a:prstGeom>
          <a:noFill/>
          <a:ln w="12700">
            <a:noFill/>
            <a:miter lim="400000"/>
            <a:headEnd/>
            <a:tailEnd/>
          </a:ln>
        </p:spPr>
        <p:txBody>
          <a:bodyPr wrap="square" lIns="50800" tIns="50800" rIns="50800" bIns="50800" anchor="ctr">
            <a:spAutoFit/>
          </a:bodyPr>
          <a:lstStyle/>
          <a:p>
            <a:pPr algn="r"/>
            <a:r>
              <a:rPr lang="en-US" sz="3200" b="0" dirty="0" smtClean="0"/>
              <a:t>TMP:</a:t>
            </a:r>
            <a:endParaRPr lang="en-US" sz="3200" b="0" dirty="0"/>
          </a:p>
        </p:txBody>
      </p:sp>
      <p:sp>
        <p:nvSpPr>
          <p:cNvPr id="14" name="Up Arrow 13"/>
          <p:cNvSpPr/>
          <p:nvPr/>
        </p:nvSpPr>
        <p:spPr bwMode="auto">
          <a:xfrm flipV="1">
            <a:off x="3911600" y="3505200"/>
            <a:ext cx="304800" cy="304800"/>
          </a:xfrm>
          <a:prstGeom prst="upArrow">
            <a:avLst/>
          </a:prstGeom>
          <a:noFill/>
          <a:ln w="25400" cap="flat" cmpd="sng" algn="ctr">
            <a:solidFill>
              <a:schemeClr val="bg1">
                <a:lumMod val="95000"/>
              </a:schemeClr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  <p:sp>
        <p:nvSpPr>
          <p:cNvPr id="15" name="Up Arrow 14"/>
          <p:cNvSpPr/>
          <p:nvPr/>
        </p:nvSpPr>
        <p:spPr bwMode="auto">
          <a:xfrm flipV="1">
            <a:off x="4140200" y="3505200"/>
            <a:ext cx="304800" cy="304800"/>
          </a:xfrm>
          <a:prstGeom prst="upArrow">
            <a:avLst/>
          </a:prstGeom>
          <a:noFill/>
          <a:ln w="25400" cap="flat" cmpd="sng" algn="ctr">
            <a:solidFill>
              <a:schemeClr val="bg1">
                <a:lumMod val="75000"/>
              </a:schemeClr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  <p:sp>
        <p:nvSpPr>
          <p:cNvPr id="16" name="Up Arrow 15"/>
          <p:cNvSpPr/>
          <p:nvPr/>
        </p:nvSpPr>
        <p:spPr bwMode="auto">
          <a:xfrm flipV="1">
            <a:off x="4368800" y="3505200"/>
            <a:ext cx="304800" cy="304800"/>
          </a:xfrm>
          <a:prstGeom prst="upArrow">
            <a:avLst/>
          </a:prstGeom>
          <a:noFill/>
          <a:ln w="25400" cap="flat" cmpd="sng" algn="ctr">
            <a:solidFill>
              <a:schemeClr val="bg1">
                <a:lumMod val="50000"/>
              </a:schemeClr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  <p:sp>
        <p:nvSpPr>
          <p:cNvPr id="17" name="Up Arrow 16"/>
          <p:cNvSpPr/>
          <p:nvPr/>
        </p:nvSpPr>
        <p:spPr bwMode="auto">
          <a:xfrm flipV="1">
            <a:off x="4597400" y="3505200"/>
            <a:ext cx="304800" cy="304800"/>
          </a:xfrm>
          <a:prstGeom prst="upArrow">
            <a:avLst/>
          </a:prstGeom>
          <a:noFill/>
          <a:ln w="2540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  <p:sp>
        <p:nvSpPr>
          <p:cNvPr id="18" name="Up Arrow 17"/>
          <p:cNvSpPr/>
          <p:nvPr/>
        </p:nvSpPr>
        <p:spPr bwMode="auto">
          <a:xfrm flipV="1">
            <a:off x="4826000" y="3505200"/>
            <a:ext cx="304800" cy="304800"/>
          </a:xfrm>
          <a:prstGeom prst="upArrow">
            <a:avLst/>
          </a:prstGeom>
          <a:noFill/>
          <a:ln w="254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  <p:sp>
        <p:nvSpPr>
          <p:cNvPr id="19" name="Up Arrow 18"/>
          <p:cNvSpPr/>
          <p:nvPr/>
        </p:nvSpPr>
        <p:spPr bwMode="auto">
          <a:xfrm flipV="1">
            <a:off x="5054600" y="3505200"/>
            <a:ext cx="304800" cy="304800"/>
          </a:xfrm>
          <a:prstGeom prst="upArrow">
            <a:avLst/>
          </a:prstGeom>
          <a:noFill/>
          <a:ln w="254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  <p:sp>
        <p:nvSpPr>
          <p:cNvPr id="21" name="Right Brace 20"/>
          <p:cNvSpPr/>
          <p:nvPr/>
        </p:nvSpPr>
        <p:spPr bwMode="auto">
          <a:xfrm>
            <a:off x="9169400" y="5867400"/>
            <a:ext cx="288310" cy="1752600"/>
          </a:xfrm>
          <a:prstGeom prst="rightBrace">
            <a:avLst/>
          </a:prstGeom>
          <a:noFill/>
          <a:ln w="254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none" lIns="50800" tIns="50800" rIns="50800" bIns="5080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9552169" y="6516836"/>
            <a:ext cx="81624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i="1" dirty="0" smtClean="0"/>
              <a:t>O(n)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How to partition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52500" y="5334000"/>
            <a:ext cx="11099800" cy="2857500"/>
          </a:xfrm>
        </p:spPr>
        <p:txBody>
          <a:bodyPr/>
          <a:lstStyle/>
          <a:p>
            <a:r>
              <a:rPr lang="en-US" dirty="0" smtClean="0"/>
              <a:t>Done this way, partition is </a:t>
            </a:r>
            <a:r>
              <a:rPr lang="en-US" b="1" dirty="0" smtClean="0"/>
              <a:t>not</a:t>
            </a:r>
            <a:r>
              <a:rPr lang="en-US" dirty="0" smtClean="0"/>
              <a:t> in-place</a:t>
            </a:r>
          </a:p>
          <a:p>
            <a:r>
              <a:rPr lang="en-US" dirty="0" smtClean="0"/>
              <a:t>With a little cleverness, this can be modified to be </a:t>
            </a:r>
            <a:r>
              <a:rPr lang="en-US" b="1" dirty="0" smtClean="0"/>
              <a:t>in-place</a:t>
            </a:r>
          </a:p>
          <a:p>
            <a:pPr lvl="1"/>
            <a:r>
              <a:rPr lang="en-US" dirty="0" smtClean="0"/>
              <a:t>Still </a:t>
            </a:r>
            <a:r>
              <a:rPr lang="en-US" b="1" i="1" dirty="0" smtClean="0"/>
              <a:t>O(n)</a:t>
            </a:r>
          </a:p>
          <a:p>
            <a:pPr lvl="1"/>
            <a:endParaRPr lang="en-US" dirty="0"/>
          </a:p>
        </p:txBody>
      </p:sp>
      <p:sp>
        <p:nvSpPr>
          <p:cNvPr id="4" name="Rectangle 7"/>
          <p:cNvSpPr>
            <a:spLocks/>
          </p:cNvSpPr>
          <p:nvPr/>
        </p:nvSpPr>
        <p:spPr bwMode="auto">
          <a:xfrm>
            <a:off x="3225800" y="2043112"/>
            <a:ext cx="625468" cy="595035"/>
          </a:xfrm>
          <a:prstGeom prst="rect">
            <a:avLst/>
          </a:prstGeom>
          <a:noFill/>
          <a:ln w="12700">
            <a:noFill/>
            <a:miter lim="400000"/>
            <a:headEnd/>
            <a:tailEnd/>
          </a:ln>
        </p:spPr>
        <p:txBody>
          <a:bodyPr wrap="square" lIns="50800" tIns="50800" rIns="50800" bIns="50800" anchor="ctr">
            <a:spAutoFit/>
          </a:bodyPr>
          <a:lstStyle/>
          <a:p>
            <a:r>
              <a:rPr lang="en-US" sz="3200" b="0" dirty="0" smtClean="0"/>
              <a:t>A:</a:t>
            </a:r>
            <a:endParaRPr lang="en-US" sz="3200" b="0" dirty="0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911600" y="1600200"/>
          <a:ext cx="5105400" cy="1069778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2355913"/>
                <a:gridCol w="2341177"/>
                <a:gridCol w="408310"/>
              </a:tblGrid>
              <a:tr h="458689">
                <a:tc>
                  <a:txBody>
                    <a:bodyPr/>
                    <a:lstStyle/>
                    <a:p>
                      <a:r>
                        <a:rPr lang="en-US" sz="1800" b="0" dirty="0" smtClean="0">
                          <a:solidFill>
                            <a:schemeClr val="tx1"/>
                          </a:solidFill>
                        </a:rPr>
                        <a:t>lo</a:t>
                      </a:r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0" i="1" dirty="0" smtClean="0">
                          <a:solidFill>
                            <a:schemeClr val="tx1"/>
                          </a:solidFill>
                        </a:rPr>
                        <a:t>hi</a:t>
                      </a:r>
                      <a:endParaRPr lang="en-US" sz="18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611089">
                <a:tc gridSpan="2"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6" name="Up Arrow 5"/>
          <p:cNvSpPr/>
          <p:nvPr/>
        </p:nvSpPr>
        <p:spPr bwMode="auto">
          <a:xfrm flipV="1">
            <a:off x="3911600" y="3505200"/>
            <a:ext cx="304800" cy="304800"/>
          </a:xfrm>
          <a:prstGeom prst="upArrow">
            <a:avLst/>
          </a:prstGeom>
          <a:noFill/>
          <a:ln w="25400" cap="flat" cmpd="sng" algn="ctr">
            <a:solidFill>
              <a:schemeClr val="bg1">
                <a:lumMod val="85000"/>
              </a:schemeClr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  <p:sp>
        <p:nvSpPr>
          <p:cNvPr id="7" name="Up Arrow 6"/>
          <p:cNvSpPr/>
          <p:nvPr/>
        </p:nvSpPr>
        <p:spPr bwMode="auto">
          <a:xfrm flipV="1">
            <a:off x="4140200" y="3505200"/>
            <a:ext cx="304800" cy="304800"/>
          </a:xfrm>
          <a:prstGeom prst="upArrow">
            <a:avLst/>
          </a:prstGeom>
          <a:noFill/>
          <a:ln w="25400" cap="flat" cmpd="sng" algn="ctr">
            <a:solidFill>
              <a:schemeClr val="bg1">
                <a:lumMod val="50000"/>
              </a:schemeClr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  <p:sp>
        <p:nvSpPr>
          <p:cNvPr id="8" name="Up Arrow 7"/>
          <p:cNvSpPr/>
          <p:nvPr/>
        </p:nvSpPr>
        <p:spPr bwMode="auto">
          <a:xfrm flipV="1">
            <a:off x="4368800" y="3505200"/>
            <a:ext cx="304800" cy="304800"/>
          </a:xfrm>
          <a:prstGeom prst="upArrow">
            <a:avLst/>
          </a:prstGeom>
          <a:noFill/>
          <a:ln w="254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  <p:sp>
        <p:nvSpPr>
          <p:cNvPr id="9" name="Up Arrow 8"/>
          <p:cNvSpPr/>
          <p:nvPr/>
        </p:nvSpPr>
        <p:spPr bwMode="auto">
          <a:xfrm flipV="1">
            <a:off x="8255000" y="3505200"/>
            <a:ext cx="304800" cy="304800"/>
          </a:xfrm>
          <a:prstGeom prst="upArrow">
            <a:avLst/>
          </a:prstGeom>
          <a:noFill/>
          <a:ln w="25400" cap="flat" cmpd="sng" algn="ctr">
            <a:solidFill>
              <a:schemeClr val="bg1">
                <a:lumMod val="85000"/>
              </a:schemeClr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  <p:sp>
        <p:nvSpPr>
          <p:cNvPr id="10" name="Up Arrow 9"/>
          <p:cNvSpPr/>
          <p:nvPr/>
        </p:nvSpPr>
        <p:spPr bwMode="auto">
          <a:xfrm flipV="1">
            <a:off x="8026400" y="3505200"/>
            <a:ext cx="304800" cy="304800"/>
          </a:xfrm>
          <a:prstGeom prst="upArrow">
            <a:avLst/>
          </a:prstGeom>
          <a:noFill/>
          <a:ln w="25400" cap="flat" cmpd="sng" algn="ctr">
            <a:solidFill>
              <a:schemeClr val="bg1">
                <a:lumMod val="50000"/>
              </a:schemeClr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  <p:sp>
        <p:nvSpPr>
          <p:cNvPr id="11" name="Up Arrow 10"/>
          <p:cNvSpPr/>
          <p:nvPr/>
        </p:nvSpPr>
        <p:spPr bwMode="auto">
          <a:xfrm flipV="1">
            <a:off x="7797800" y="3505200"/>
            <a:ext cx="304800" cy="304800"/>
          </a:xfrm>
          <a:prstGeom prst="upArrow">
            <a:avLst/>
          </a:prstGeom>
          <a:noFill/>
          <a:ln w="254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911600" y="3426022"/>
          <a:ext cx="5105400" cy="1069778"/>
        </p:xfrm>
        <a:graphic>
          <a:graphicData uri="http://schemas.openxmlformats.org/drawingml/2006/table">
            <a:tbl>
              <a:tblPr firstRow="1" bandRow="1">
                <a:effectLst/>
                <a:tableStyleId>{5C22544A-7EE6-4342-B048-85BDC9FD1C3A}</a:tableStyleId>
              </a:tblPr>
              <a:tblGrid>
                <a:gridCol w="2438400"/>
                <a:gridCol w="2258690"/>
                <a:gridCol w="408310"/>
              </a:tblGrid>
              <a:tr h="458689">
                <a:tc>
                  <a:txBody>
                    <a:bodyPr/>
                    <a:lstStyle/>
                    <a:p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800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b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611089">
                <a:tc>
                  <a:txBody>
                    <a:bodyPr/>
                    <a:lstStyle/>
                    <a:p>
                      <a:pPr algn="l"/>
                      <a:r>
                        <a:rPr lang="en-US" sz="1800" dirty="0" smtClean="0">
                          <a:solidFill>
                            <a:srgbClr val="0070C0"/>
                          </a:solidFill>
                        </a:rPr>
                        <a:t>SMALLER</a:t>
                      </a:r>
                      <a:endParaRPr lang="en-US" sz="1800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800" dirty="0" smtClean="0">
                          <a:solidFill>
                            <a:srgbClr val="FF0000"/>
                          </a:solidFill>
                        </a:rPr>
                        <a:t>BIGGER</a:t>
                      </a:r>
                      <a:endParaRPr lang="en-US" sz="1800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13" name="Rectangle 7"/>
          <p:cNvSpPr>
            <a:spLocks/>
          </p:cNvSpPr>
          <p:nvPr/>
        </p:nvSpPr>
        <p:spPr bwMode="auto">
          <a:xfrm>
            <a:off x="2616200" y="3900765"/>
            <a:ext cx="1235068" cy="595035"/>
          </a:xfrm>
          <a:prstGeom prst="rect">
            <a:avLst/>
          </a:prstGeom>
          <a:noFill/>
          <a:ln w="12700">
            <a:noFill/>
            <a:miter lim="400000"/>
            <a:headEnd/>
            <a:tailEnd/>
          </a:ln>
        </p:spPr>
        <p:txBody>
          <a:bodyPr wrap="square" lIns="50800" tIns="50800" rIns="50800" bIns="50800" anchor="ctr">
            <a:spAutoFit/>
          </a:bodyPr>
          <a:lstStyle/>
          <a:p>
            <a:pPr algn="r"/>
            <a:r>
              <a:rPr lang="en-US" sz="3200" b="0" dirty="0" smtClean="0"/>
              <a:t>TMP:</a:t>
            </a:r>
            <a:endParaRPr lang="en-US" sz="3200" b="0" dirty="0"/>
          </a:p>
        </p:txBody>
      </p:sp>
      <p:sp>
        <p:nvSpPr>
          <p:cNvPr id="14" name="Up Arrow 13"/>
          <p:cNvSpPr/>
          <p:nvPr/>
        </p:nvSpPr>
        <p:spPr bwMode="auto">
          <a:xfrm>
            <a:off x="3911600" y="2743200"/>
            <a:ext cx="304800" cy="304800"/>
          </a:xfrm>
          <a:prstGeom prst="upArrow">
            <a:avLst/>
          </a:prstGeom>
          <a:noFill/>
          <a:ln w="25400" cap="flat" cmpd="sng" algn="ctr">
            <a:solidFill>
              <a:schemeClr val="bg1">
                <a:lumMod val="95000"/>
              </a:schemeClr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  <p:sp>
        <p:nvSpPr>
          <p:cNvPr id="15" name="Up Arrow 14"/>
          <p:cNvSpPr/>
          <p:nvPr/>
        </p:nvSpPr>
        <p:spPr bwMode="auto">
          <a:xfrm>
            <a:off x="4140200" y="2743200"/>
            <a:ext cx="304800" cy="304800"/>
          </a:xfrm>
          <a:prstGeom prst="upArrow">
            <a:avLst/>
          </a:prstGeom>
          <a:noFill/>
          <a:ln w="25400" cap="flat" cmpd="sng" algn="ctr">
            <a:solidFill>
              <a:schemeClr val="bg1">
                <a:lumMod val="75000"/>
              </a:schemeClr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  <p:sp>
        <p:nvSpPr>
          <p:cNvPr id="16" name="Up Arrow 15"/>
          <p:cNvSpPr/>
          <p:nvPr/>
        </p:nvSpPr>
        <p:spPr bwMode="auto">
          <a:xfrm>
            <a:off x="4368800" y="2743200"/>
            <a:ext cx="304800" cy="304800"/>
          </a:xfrm>
          <a:prstGeom prst="upArrow">
            <a:avLst/>
          </a:prstGeom>
          <a:noFill/>
          <a:ln w="25400" cap="flat" cmpd="sng" algn="ctr">
            <a:solidFill>
              <a:schemeClr val="bg1">
                <a:lumMod val="50000"/>
              </a:schemeClr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  <p:sp>
        <p:nvSpPr>
          <p:cNvPr id="17" name="Up Arrow 16"/>
          <p:cNvSpPr/>
          <p:nvPr/>
        </p:nvSpPr>
        <p:spPr bwMode="auto">
          <a:xfrm>
            <a:off x="4597400" y="2743200"/>
            <a:ext cx="304800" cy="304800"/>
          </a:xfrm>
          <a:prstGeom prst="upArrow">
            <a:avLst/>
          </a:prstGeom>
          <a:noFill/>
          <a:ln w="25400" cap="flat" cmpd="sng" algn="ctr">
            <a:solidFill>
              <a:schemeClr val="tx1">
                <a:lumMod val="50000"/>
                <a:lumOff val="50000"/>
              </a:schemeClr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  <p:sp>
        <p:nvSpPr>
          <p:cNvPr id="18" name="Up Arrow 17"/>
          <p:cNvSpPr/>
          <p:nvPr/>
        </p:nvSpPr>
        <p:spPr bwMode="auto">
          <a:xfrm>
            <a:off x="4826000" y="2743200"/>
            <a:ext cx="304800" cy="304800"/>
          </a:xfrm>
          <a:prstGeom prst="upArrow">
            <a:avLst/>
          </a:prstGeom>
          <a:noFill/>
          <a:ln w="25400" cap="flat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  <p:sp>
        <p:nvSpPr>
          <p:cNvPr id="19" name="Up Arrow 18"/>
          <p:cNvSpPr/>
          <p:nvPr/>
        </p:nvSpPr>
        <p:spPr bwMode="auto">
          <a:xfrm>
            <a:off x="5054600" y="2743200"/>
            <a:ext cx="304800" cy="304800"/>
          </a:xfrm>
          <a:prstGeom prst="upArrow">
            <a:avLst/>
          </a:prstGeom>
          <a:noFill/>
          <a:ln w="254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  <p:sp>
        <p:nvSpPr>
          <p:cNvPr id="20" name="Rectangular Callout 19"/>
          <p:cNvSpPr/>
          <p:nvPr/>
        </p:nvSpPr>
        <p:spPr bwMode="auto">
          <a:xfrm>
            <a:off x="10083800" y="7543800"/>
            <a:ext cx="1175963" cy="707886"/>
          </a:xfrm>
          <a:prstGeom prst="wedgeRectCallout">
            <a:avLst>
              <a:gd name="adj1" fmla="val -183630"/>
              <a:gd name="adj2" fmla="val -201559"/>
            </a:avLst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wrap="none" lIns="45720" rIns="45720" anchor="ctr">
            <a:spAutoFit/>
          </a:bodyPr>
          <a:lstStyle/>
          <a:p>
            <a:pPr>
              <a:defRPr/>
            </a:pPr>
            <a:r>
              <a:rPr lang="en-US" sz="2000" b="0" dirty="0" smtClean="0"/>
              <a:t>See code</a:t>
            </a:r>
            <a:br>
              <a:rPr lang="en-US" sz="2000" b="0" dirty="0" smtClean="0"/>
            </a:br>
            <a:r>
              <a:rPr lang="en-US" sz="2000" b="0" dirty="0" smtClean="0"/>
              <a:t>online</a:t>
            </a:r>
            <a:endParaRPr lang="en-US" sz="2000" b="0" dirty="0" smtClean="0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2500" y="254000"/>
            <a:ext cx="8216900" cy="1498600"/>
          </a:xfrm>
        </p:spPr>
        <p:txBody>
          <a:bodyPr/>
          <a:lstStyle/>
          <a:p>
            <a:r>
              <a:rPr lang="en-US" dirty="0" smtClean="0"/>
              <a:t>Complexity of </a:t>
            </a:r>
            <a:r>
              <a:rPr lang="en-US" dirty="0" err="1" smtClean="0"/>
              <a:t>Quicksort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52500" y="1981200"/>
            <a:ext cx="11264900" cy="6896100"/>
          </a:xfrm>
        </p:spPr>
        <p:txBody>
          <a:bodyPr/>
          <a:lstStyle/>
          <a:p>
            <a:r>
              <a:rPr lang="en-US" dirty="0" smtClean="0"/>
              <a:t>If we pick the </a:t>
            </a:r>
            <a:r>
              <a:rPr lang="en-US" b="1" dirty="0" smtClean="0"/>
              <a:t>median</a:t>
            </a:r>
            <a:r>
              <a:rPr lang="en-US" dirty="0" smtClean="0"/>
              <a:t> of A[lo, hi) as the pivot, </a:t>
            </a:r>
          </a:p>
          <a:p>
            <a:pPr lvl="2"/>
            <a:r>
              <a:rPr lang="en-US" dirty="0" smtClean="0"/>
              <a:t>the median is the value such that half elements are larger and half smaller</a:t>
            </a:r>
          </a:p>
          <a:p>
            <a:pPr lvl="2"/>
            <a:r>
              <a:rPr lang="en-US" dirty="0" smtClean="0"/>
              <a:t>the pivot index is then the </a:t>
            </a:r>
            <a:r>
              <a:rPr lang="en-US" b="1" dirty="0" smtClean="0"/>
              <a:t>midpoint</a:t>
            </a:r>
            <a:r>
              <a:rPr lang="en-US" dirty="0" smtClean="0"/>
              <a:t>, </a:t>
            </a:r>
            <a:r>
              <a:rPr lang="en-US" i="1" dirty="0" smtClean="0"/>
              <a:t>(lo + hi)/2</a:t>
            </a:r>
          </a:p>
          <a:p>
            <a:pPr lvl="1">
              <a:buNone/>
            </a:pPr>
            <a:r>
              <a:rPr lang="en-US" dirty="0" smtClean="0"/>
              <a:t>then it’s like </a:t>
            </a:r>
            <a:r>
              <a:rPr lang="en-US" dirty="0" err="1" smtClean="0"/>
              <a:t>mergesort</a:t>
            </a:r>
            <a:endParaRPr lang="en-US" dirty="0" smtClean="0"/>
          </a:p>
          <a:p>
            <a:pPr lvl="2"/>
            <a:endParaRPr lang="en-US" dirty="0"/>
          </a:p>
        </p:txBody>
      </p:sp>
      <p:sp>
        <p:nvSpPr>
          <p:cNvPr id="4" name="Rectangle 3"/>
          <p:cNvSpPr>
            <a:spLocks/>
          </p:cNvSpPr>
          <p:nvPr/>
        </p:nvSpPr>
        <p:spPr bwMode="auto">
          <a:xfrm>
            <a:off x="9204752" y="76200"/>
            <a:ext cx="3698448" cy="1846659"/>
          </a:xfrm>
          <a:prstGeom prst="rect">
            <a:avLst/>
          </a:prstGeom>
          <a:noFill/>
          <a:ln w="12700">
            <a:solidFill>
              <a:schemeClr val="tx2"/>
            </a:solidFill>
            <a:miter lim="400000"/>
            <a:headEnd/>
            <a:tailEnd/>
          </a:ln>
        </p:spPr>
        <p:txBody>
          <a:bodyPr wrap="none" tIns="91440" bIns="91440" anchor="ctr">
            <a:spAutoFit/>
          </a:bodyPr>
          <a:lstStyle/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void</a:t>
            </a:r>
            <a:r>
              <a:rPr lang="en-US" sz="1800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sz="1800" b="0" dirty="0" err="1" smtClean="0">
                <a:solidFill>
                  <a:srgbClr val="5E34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quicksort</a:t>
            </a:r>
            <a:r>
              <a:rPr lang="en-US" sz="1800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(</a:t>
            </a:r>
            <a:r>
              <a:rPr lang="en-US" sz="1800" b="0" dirty="0" err="1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sz="1800" b="0" dirty="0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[]</a:t>
            </a:r>
            <a:r>
              <a:rPr lang="en-US" sz="1800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sz="1800" b="0" dirty="0" smtClean="0">
                <a:solidFill>
                  <a:srgbClr val="CD7923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A</a:t>
            </a:r>
            <a:r>
              <a:rPr lang="en-US" sz="1800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, </a:t>
            </a:r>
            <a:r>
              <a:rPr lang="en-US" sz="1800" b="0" dirty="0" err="1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sz="1800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sz="1800" b="0" dirty="0" smtClean="0">
                <a:solidFill>
                  <a:srgbClr val="CD7923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lo</a:t>
            </a:r>
            <a:r>
              <a:rPr lang="en-US" sz="1800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, </a:t>
            </a:r>
            <a:r>
              <a:rPr lang="en-US" sz="1800" b="0" dirty="0" err="1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sz="1800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sz="1800" b="0" dirty="0" smtClean="0">
                <a:solidFill>
                  <a:srgbClr val="CD7923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hi</a:t>
            </a:r>
            <a:r>
              <a:rPr lang="en-US" sz="1800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) </a:t>
            </a:r>
            <a:r>
              <a:rPr lang="en-US" sz="1800" b="0" dirty="0" smtClean="0">
                <a:solidFill>
                  <a:schemeClr val="tx1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{</a:t>
            </a:r>
          </a:p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solidFill>
                  <a:schemeClr val="tx1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  </a:t>
            </a:r>
            <a:r>
              <a:rPr lang="en-US" sz="1800" b="0" dirty="0" smtClean="0">
                <a:solidFill>
                  <a:srgbClr val="D03B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if </a:t>
            </a:r>
            <a:r>
              <a:rPr lang="en-US" sz="1800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(hi - lo &lt;= 1) </a:t>
            </a:r>
            <a:r>
              <a:rPr lang="en-US" sz="1800" b="0" dirty="0" smtClean="0">
                <a:solidFill>
                  <a:srgbClr val="D03B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return</a:t>
            </a:r>
            <a:r>
              <a:rPr lang="en-US" sz="1800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;        </a:t>
            </a:r>
            <a:r>
              <a:rPr lang="en-US" sz="1800" b="0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// O(1)</a:t>
            </a:r>
          </a:p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  </a:t>
            </a:r>
            <a:r>
              <a:rPr lang="en-US" sz="1800" b="0" dirty="0" err="1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sz="1800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sz="1800" b="0" dirty="0" smtClean="0">
                <a:solidFill>
                  <a:srgbClr val="CD7923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p</a:t>
            </a:r>
            <a:r>
              <a:rPr lang="en-US" sz="1800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= partition(A, lo, hi); </a:t>
            </a:r>
            <a:r>
              <a:rPr lang="en-US" sz="1600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 </a:t>
            </a:r>
            <a:r>
              <a:rPr lang="en-US" sz="1800" b="0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// O(n)</a:t>
            </a:r>
          </a:p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 </a:t>
            </a:r>
            <a:r>
              <a:rPr lang="en-US" sz="1800" b="0" dirty="0" err="1" smtClean="0">
                <a:latin typeface="Menlo" charset="0"/>
                <a:ea typeface="Menlo" charset="0"/>
                <a:cs typeface="Menlo" charset="0"/>
                <a:sym typeface="Menlo" charset="0"/>
              </a:rPr>
              <a:t>quicksort</a:t>
            </a:r>
            <a:r>
              <a:rPr lang="en-US" sz="1800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(A, lo, p);</a:t>
            </a:r>
            <a:endParaRPr lang="en-US" sz="1800" b="0" dirty="0" smtClean="0">
              <a:solidFill>
                <a:srgbClr val="C00000"/>
              </a:solidFill>
              <a:latin typeface="Menlo" charset="0"/>
              <a:ea typeface="Menlo" charset="0"/>
              <a:cs typeface="Menlo" charset="0"/>
              <a:sym typeface="Menlo" charset="0"/>
            </a:endParaRPr>
          </a:p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 </a:t>
            </a:r>
            <a:r>
              <a:rPr lang="en-US" sz="1800" b="0" dirty="0" err="1" smtClean="0">
                <a:latin typeface="Menlo" charset="0"/>
                <a:ea typeface="Menlo" charset="0"/>
                <a:cs typeface="Menlo" charset="0"/>
                <a:sym typeface="Menlo" charset="0"/>
              </a:rPr>
              <a:t>quicksort</a:t>
            </a:r>
            <a:r>
              <a:rPr lang="en-US" sz="1800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(A, p+1, hi);</a:t>
            </a:r>
            <a:endParaRPr lang="en-US" sz="1800" b="0" dirty="0" smtClean="0">
              <a:solidFill>
                <a:srgbClr val="C00000"/>
              </a:solidFill>
              <a:latin typeface="Menlo" charset="0"/>
              <a:ea typeface="Menlo" charset="0"/>
              <a:cs typeface="Menlo" charset="0"/>
              <a:sym typeface="Menlo" charset="0"/>
            </a:endParaRPr>
          </a:p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solidFill>
                  <a:schemeClr val="tx1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}</a:t>
            </a:r>
            <a:endParaRPr lang="en-US" sz="1800" dirty="0" smtClean="0">
              <a:solidFill>
                <a:schemeClr val="tx1"/>
              </a:solidFill>
              <a:latin typeface="Menlo" charset="0"/>
              <a:ea typeface="Menlo" charset="0"/>
              <a:cs typeface="Menlo" charset="0"/>
              <a:sym typeface="Menlo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55785" y="4724400"/>
          <a:ext cx="6172208" cy="33375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85763"/>
                <a:gridCol w="385763"/>
                <a:gridCol w="385763"/>
                <a:gridCol w="385763"/>
                <a:gridCol w="385763"/>
                <a:gridCol w="385763"/>
                <a:gridCol w="385763"/>
                <a:gridCol w="385763"/>
                <a:gridCol w="385763"/>
                <a:gridCol w="385763"/>
                <a:gridCol w="385763"/>
                <a:gridCol w="385763"/>
                <a:gridCol w="385763"/>
                <a:gridCol w="385763"/>
                <a:gridCol w="385763"/>
                <a:gridCol w="385763"/>
              </a:tblGrid>
              <a:tr h="370840">
                <a:tc gridSpan="16"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n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70840">
                <a:tc gridSpan="8"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n/2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8"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n/2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70840">
                <a:tc gridSpan="4"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n/4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n/4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n/4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n/4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…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kumimoji="0" lang="en-US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</a:rPr>
                        <a:t>…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…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…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…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…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…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…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1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1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1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1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1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1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1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1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1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1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1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1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1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1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1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1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49043" y="4498776"/>
            <a:ext cx="7537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solidFill>
                  <a:schemeClr val="tx1"/>
                </a:solidFill>
              </a:rPr>
              <a:t>level</a:t>
            </a:r>
          </a:p>
        </p:txBody>
      </p:sp>
      <p:sp>
        <p:nvSpPr>
          <p:cNvPr id="7" name="Curved Right Arrow 6"/>
          <p:cNvSpPr/>
          <p:nvPr/>
        </p:nvSpPr>
        <p:spPr bwMode="auto">
          <a:xfrm>
            <a:off x="2489089" y="5029200"/>
            <a:ext cx="152400" cy="533400"/>
          </a:xfrm>
          <a:prstGeom prst="curvedRightArrow">
            <a:avLst/>
          </a:prstGeom>
          <a:solidFill>
            <a:schemeClr val="accent1">
              <a:lumMod val="40000"/>
              <a:lumOff val="60000"/>
            </a:schemeClr>
          </a:solidFill>
          <a:ln w="127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355175" y="4191000"/>
            <a:ext cx="121058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solidFill>
                  <a:schemeClr val="tx1"/>
                </a:solidFill>
              </a:rPr>
              <a:t>calls to</a:t>
            </a:r>
            <a:br>
              <a:rPr lang="en-US" sz="2000" dirty="0" smtClean="0">
                <a:solidFill>
                  <a:schemeClr val="tx1"/>
                </a:solidFill>
              </a:rPr>
            </a:br>
            <a:r>
              <a:rPr lang="en-US" sz="2000" b="0" dirty="0" err="1" smtClean="0">
                <a:solidFill>
                  <a:srgbClr val="7030A0"/>
                </a:solidFill>
              </a:rPr>
              <a:t>quicksort</a:t>
            </a:r>
            <a:endParaRPr lang="en-US" sz="2000" b="0" dirty="0" smtClean="0">
              <a:solidFill>
                <a:srgbClr val="7030A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017000" y="4191000"/>
            <a:ext cx="109677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solidFill>
                  <a:schemeClr val="tx1"/>
                </a:solidFill>
              </a:rPr>
              <a:t>calls to</a:t>
            </a:r>
            <a:br>
              <a:rPr lang="en-US" sz="2000" dirty="0" smtClean="0">
                <a:solidFill>
                  <a:schemeClr val="tx1"/>
                </a:solidFill>
              </a:rPr>
            </a:br>
            <a:r>
              <a:rPr lang="en-US" sz="2000" b="0" dirty="0" smtClean="0">
                <a:solidFill>
                  <a:srgbClr val="7030A0"/>
                </a:solidFill>
              </a:rPr>
              <a:t>partition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4239" y="4191000"/>
            <a:ext cx="126669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solidFill>
                  <a:schemeClr val="tx1"/>
                </a:solidFill>
              </a:rPr>
              <a:t>cost of</a:t>
            </a:r>
            <a:br>
              <a:rPr lang="en-US" sz="2000" dirty="0" smtClean="0">
                <a:solidFill>
                  <a:schemeClr val="tx1"/>
                </a:solidFill>
              </a:rPr>
            </a:br>
            <a:r>
              <a:rPr lang="en-US" sz="2000" dirty="0" smtClean="0">
                <a:solidFill>
                  <a:schemeClr val="tx1"/>
                </a:solidFill>
              </a:rPr>
              <a:t>each call</a:t>
            </a:r>
          </a:p>
        </p:txBody>
      </p:sp>
      <p:sp>
        <p:nvSpPr>
          <p:cNvPr id="11" name="Curved Right Arrow 10"/>
          <p:cNvSpPr/>
          <p:nvPr/>
        </p:nvSpPr>
        <p:spPr bwMode="auto">
          <a:xfrm flipH="1">
            <a:off x="9042289" y="5013960"/>
            <a:ext cx="152400" cy="533400"/>
          </a:xfrm>
          <a:prstGeom prst="curvedRightArrow">
            <a:avLst/>
          </a:prstGeom>
          <a:solidFill>
            <a:schemeClr val="accent1">
              <a:lumMod val="40000"/>
              <a:lumOff val="60000"/>
            </a:schemeClr>
          </a:solidFill>
          <a:ln w="127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1645658" y="4191000"/>
            <a:ext cx="127951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solidFill>
                  <a:schemeClr val="tx1"/>
                </a:solidFill>
              </a:rPr>
              <a:t>cost at</a:t>
            </a:r>
            <a:br>
              <a:rPr lang="en-US" sz="2000" dirty="0" smtClean="0">
                <a:solidFill>
                  <a:schemeClr val="tx1"/>
                </a:solidFill>
              </a:rPr>
            </a:br>
            <a:r>
              <a:rPr lang="en-US" sz="2000" dirty="0" smtClean="0">
                <a:solidFill>
                  <a:schemeClr val="tx1"/>
                </a:solidFill>
              </a:rPr>
              <a:t>this level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010" y="5085169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dirty="0" smtClean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63175" y="5085169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dirty="0" smtClean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98709" y="5085169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dirty="0" smtClean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25299" y="5085169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dirty="0" smtClean="0">
                <a:solidFill>
                  <a:schemeClr val="tx1"/>
                </a:solidFill>
              </a:rPr>
              <a:t>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18165" y="5085169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dirty="0" smtClean="0">
                <a:solidFill>
                  <a:schemeClr val="tx1"/>
                </a:solidFill>
              </a:rPr>
              <a:t>n</a:t>
            </a:r>
          </a:p>
        </p:txBody>
      </p:sp>
      <p:sp>
        <p:nvSpPr>
          <p:cNvPr id="18" name="Curved Right Arrow 17"/>
          <p:cNvSpPr/>
          <p:nvPr/>
        </p:nvSpPr>
        <p:spPr bwMode="auto">
          <a:xfrm>
            <a:off x="2504018" y="5791200"/>
            <a:ext cx="152400" cy="533400"/>
          </a:xfrm>
          <a:prstGeom prst="curvedRightArrow">
            <a:avLst/>
          </a:prstGeom>
          <a:solidFill>
            <a:schemeClr val="accent1">
              <a:lumMod val="40000"/>
              <a:lumOff val="60000"/>
            </a:schemeClr>
          </a:solidFill>
          <a:ln w="127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  <p:sp>
        <p:nvSpPr>
          <p:cNvPr id="19" name="Curved Right Arrow 18"/>
          <p:cNvSpPr/>
          <p:nvPr/>
        </p:nvSpPr>
        <p:spPr bwMode="auto">
          <a:xfrm flipH="1">
            <a:off x="9057218" y="5775960"/>
            <a:ext cx="152400" cy="533400"/>
          </a:xfrm>
          <a:prstGeom prst="curvedRightArrow">
            <a:avLst/>
          </a:prstGeom>
          <a:solidFill>
            <a:schemeClr val="accent1">
              <a:lumMod val="40000"/>
              <a:lumOff val="60000"/>
            </a:schemeClr>
          </a:solidFill>
          <a:ln w="127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81939" y="5847169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dirty="0" smtClean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78104" y="5847169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dirty="0" smtClean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3638" y="5847169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dirty="0" smtClean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40228" y="5847169"/>
            <a:ext cx="5052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dirty="0" smtClean="0">
                <a:solidFill>
                  <a:schemeClr val="tx1"/>
                </a:solidFill>
              </a:rPr>
              <a:t>n/2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133094" y="5847169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dirty="0" smtClean="0">
                <a:solidFill>
                  <a:schemeClr val="tx1"/>
                </a:solidFill>
              </a:rPr>
              <a:t>n</a:t>
            </a:r>
          </a:p>
        </p:txBody>
      </p:sp>
      <p:sp>
        <p:nvSpPr>
          <p:cNvPr id="25" name="Curved Right Arrow 24"/>
          <p:cNvSpPr/>
          <p:nvPr/>
        </p:nvSpPr>
        <p:spPr bwMode="auto">
          <a:xfrm>
            <a:off x="2504018" y="6492240"/>
            <a:ext cx="152400" cy="533400"/>
          </a:xfrm>
          <a:prstGeom prst="curvedRightArrow">
            <a:avLst/>
          </a:prstGeom>
          <a:solidFill>
            <a:schemeClr val="accent1">
              <a:lumMod val="40000"/>
              <a:lumOff val="60000"/>
            </a:schemeClr>
          </a:solidFill>
          <a:ln w="127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  <p:sp>
        <p:nvSpPr>
          <p:cNvPr id="26" name="Curved Right Arrow 25"/>
          <p:cNvSpPr/>
          <p:nvPr/>
        </p:nvSpPr>
        <p:spPr bwMode="auto">
          <a:xfrm flipH="1">
            <a:off x="9057218" y="6477000"/>
            <a:ext cx="152400" cy="533400"/>
          </a:xfrm>
          <a:prstGeom prst="curvedRightArrow">
            <a:avLst/>
          </a:prstGeom>
          <a:solidFill>
            <a:schemeClr val="accent1">
              <a:lumMod val="40000"/>
              <a:lumOff val="60000"/>
            </a:schemeClr>
          </a:solidFill>
          <a:ln w="127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81939" y="6548209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dirty="0" smtClean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78104" y="6548209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dirty="0" smtClean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13638" y="6548209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dirty="0" smtClean="0">
                <a:solidFill>
                  <a:schemeClr val="tx1"/>
                </a:solidFill>
              </a:rPr>
              <a:t>4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40228" y="6548209"/>
            <a:ext cx="50526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dirty="0" smtClean="0">
                <a:solidFill>
                  <a:schemeClr val="tx1"/>
                </a:solidFill>
              </a:rPr>
              <a:t>n/4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133094" y="6548209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dirty="0" smtClean="0">
                <a:solidFill>
                  <a:schemeClr val="tx1"/>
                </a:solidFill>
              </a:rPr>
              <a:t>n</a:t>
            </a:r>
          </a:p>
        </p:txBody>
      </p:sp>
      <p:sp>
        <p:nvSpPr>
          <p:cNvPr id="32" name="Curved Right Arrow 31"/>
          <p:cNvSpPr/>
          <p:nvPr/>
        </p:nvSpPr>
        <p:spPr bwMode="auto">
          <a:xfrm>
            <a:off x="2504018" y="7315200"/>
            <a:ext cx="152400" cy="533400"/>
          </a:xfrm>
          <a:prstGeom prst="curvedRightArrow">
            <a:avLst/>
          </a:prstGeom>
          <a:solidFill>
            <a:schemeClr val="accent1">
              <a:lumMod val="40000"/>
              <a:lumOff val="60000"/>
            </a:schemeClr>
          </a:solidFill>
          <a:ln w="127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  <p:sp>
        <p:nvSpPr>
          <p:cNvPr id="33" name="Curved Right Arrow 32"/>
          <p:cNvSpPr/>
          <p:nvPr/>
        </p:nvSpPr>
        <p:spPr bwMode="auto">
          <a:xfrm flipH="1">
            <a:off x="9057218" y="7299960"/>
            <a:ext cx="152400" cy="533400"/>
          </a:xfrm>
          <a:prstGeom prst="curvedRightArrow">
            <a:avLst/>
          </a:prstGeom>
          <a:solidFill>
            <a:schemeClr val="accent1">
              <a:lumMod val="40000"/>
              <a:lumOff val="60000"/>
            </a:schemeClr>
          </a:solidFill>
          <a:ln w="127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490545" y="7371169"/>
            <a:ext cx="68480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dirty="0" smtClean="0">
                <a:solidFill>
                  <a:schemeClr val="tx1"/>
                </a:solidFill>
              </a:rPr>
              <a:t>log 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75466" y="7371169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dirty="0" smtClean="0">
                <a:solidFill>
                  <a:schemeClr val="tx1"/>
                </a:solidFill>
              </a:rPr>
              <a:t>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13638" y="7371169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dirty="0" smtClean="0">
                <a:solidFill>
                  <a:schemeClr val="tx1"/>
                </a:solidFill>
              </a:rPr>
              <a:t>n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40228" y="7371169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dirty="0" smtClean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133094" y="7371169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dirty="0" smtClean="0">
                <a:solidFill>
                  <a:schemeClr val="tx1"/>
                </a:solidFill>
              </a:rPr>
              <a:t>n</a:t>
            </a:r>
          </a:p>
        </p:txBody>
      </p:sp>
      <p:cxnSp>
        <p:nvCxnSpPr>
          <p:cNvPr id="40" name="Straight Connector 39"/>
          <p:cNvCxnSpPr/>
          <p:nvPr/>
        </p:nvCxnSpPr>
        <p:spPr bwMode="auto">
          <a:xfrm>
            <a:off x="11836400" y="8077200"/>
            <a:ext cx="914400" cy="158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sp>
        <p:nvSpPr>
          <p:cNvPr id="41" name="TextBox 40"/>
          <p:cNvSpPr txBox="1"/>
          <p:nvPr/>
        </p:nvSpPr>
        <p:spPr>
          <a:xfrm>
            <a:off x="10464800" y="8165068"/>
            <a:ext cx="22192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smtClean="0">
                <a:solidFill>
                  <a:schemeClr val="tx1"/>
                </a:solidFill>
              </a:rPr>
              <a:t>Total cost:   </a:t>
            </a:r>
            <a:r>
              <a:rPr lang="en-US" sz="1800" b="0" dirty="0" smtClean="0">
                <a:solidFill>
                  <a:schemeClr val="tx1"/>
                </a:solidFill>
              </a:rPr>
              <a:t>n log n</a:t>
            </a:r>
          </a:p>
        </p:txBody>
      </p:sp>
      <p:sp>
        <p:nvSpPr>
          <p:cNvPr id="42" name="Rectangular Callout 41"/>
          <p:cNvSpPr/>
          <p:nvPr/>
        </p:nvSpPr>
        <p:spPr bwMode="auto">
          <a:xfrm>
            <a:off x="9626600" y="8686800"/>
            <a:ext cx="1260923" cy="400110"/>
          </a:xfrm>
          <a:prstGeom prst="wedgeRectCallout">
            <a:avLst>
              <a:gd name="adj1" fmla="val -85711"/>
              <a:gd name="adj2" fmla="val -257832"/>
            </a:avLst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wrap="none" lIns="45720" rIns="45720" anchor="ctr">
            <a:spAutoFit/>
          </a:bodyPr>
          <a:lstStyle/>
          <a:p>
            <a:pPr>
              <a:defRPr/>
            </a:pPr>
            <a:r>
              <a:rPr lang="en-US" sz="2000" b="0" dirty="0" smtClean="0"/>
              <a:t>base case</a:t>
            </a:r>
            <a:endParaRPr lang="en-US" sz="2000" b="0" i="1" dirty="0"/>
          </a:p>
        </p:txBody>
      </p:sp>
      <p:sp>
        <p:nvSpPr>
          <p:cNvPr id="43" name="Rectangular Callout 42"/>
          <p:cNvSpPr/>
          <p:nvPr/>
        </p:nvSpPr>
        <p:spPr bwMode="auto">
          <a:xfrm>
            <a:off x="2510587" y="8686800"/>
            <a:ext cx="1799532" cy="400110"/>
          </a:xfrm>
          <a:prstGeom prst="wedgeRectCallout">
            <a:avLst>
              <a:gd name="adj1" fmla="val -74158"/>
              <a:gd name="adj2" fmla="val -292379"/>
            </a:avLst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wrap="none" lIns="45720" rIns="45720" anchor="ctr">
            <a:spAutoFit/>
          </a:bodyPr>
          <a:lstStyle/>
          <a:p>
            <a:pPr>
              <a:defRPr/>
            </a:pPr>
            <a:r>
              <a:rPr lang="en-US" sz="2000" b="0" dirty="0" smtClean="0"/>
              <a:t>(give or take 1)</a:t>
            </a:r>
            <a:endParaRPr lang="en-US" sz="2000" b="0" i="1" dirty="0"/>
          </a:p>
        </p:txBody>
      </p:sp>
      <p:sp>
        <p:nvSpPr>
          <p:cNvPr id="44" name="Rectangular Callout 43"/>
          <p:cNvSpPr/>
          <p:nvPr/>
        </p:nvSpPr>
        <p:spPr bwMode="auto">
          <a:xfrm>
            <a:off x="114209" y="8305800"/>
            <a:ext cx="2044791" cy="1323439"/>
          </a:xfrm>
          <a:prstGeom prst="wedgeRectCallout">
            <a:avLst>
              <a:gd name="adj1" fmla="val -14869"/>
              <a:gd name="adj2" fmla="val -90865"/>
            </a:avLst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wrap="none" lIns="45720" rIns="45720" anchor="ctr">
            <a:spAutoFit/>
          </a:bodyPr>
          <a:lstStyle/>
          <a:p>
            <a:pPr>
              <a:defRPr/>
            </a:pPr>
            <a:r>
              <a:rPr lang="en-US" sz="2000" b="0" dirty="0" smtClean="0"/>
              <a:t>At each level, we</a:t>
            </a:r>
            <a:br>
              <a:rPr lang="en-US" sz="2000" b="0" dirty="0" smtClean="0"/>
            </a:br>
            <a:r>
              <a:rPr lang="en-US" sz="2000" b="0" dirty="0" smtClean="0"/>
              <a:t>split array in half;</a:t>
            </a:r>
          </a:p>
          <a:p>
            <a:pPr>
              <a:defRPr/>
            </a:pPr>
            <a:r>
              <a:rPr lang="en-US" sz="2000" b="0" dirty="0" smtClean="0"/>
              <a:t>can be done only</a:t>
            </a:r>
            <a:br>
              <a:rPr lang="en-US" sz="2000" b="0" dirty="0" smtClean="0"/>
            </a:br>
            <a:r>
              <a:rPr lang="en-US" sz="2000" i="1" dirty="0" smtClean="0"/>
              <a:t>log n </a:t>
            </a:r>
            <a:r>
              <a:rPr lang="en-US" sz="2000" b="0" dirty="0" smtClean="0"/>
              <a:t>times</a:t>
            </a:r>
            <a:endParaRPr lang="en-US" sz="2000" b="0" dirty="0"/>
          </a:p>
        </p:txBody>
      </p:sp>
      <p:sp>
        <p:nvSpPr>
          <p:cNvPr id="45" name="TextBox 44"/>
          <p:cNvSpPr txBox="1"/>
          <p:nvPr/>
        </p:nvSpPr>
        <p:spPr>
          <a:xfrm>
            <a:off x="1320800" y="6945868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dirty="0" smtClean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46" name="Oval 45"/>
          <p:cNvSpPr>
            <a:spLocks noChangeArrowheads="1"/>
          </p:cNvSpPr>
          <p:nvPr/>
        </p:nvSpPr>
        <p:spPr bwMode="auto">
          <a:xfrm>
            <a:off x="11760200" y="8130365"/>
            <a:ext cx="990600" cy="457200"/>
          </a:xfrm>
          <a:prstGeom prst="ellipse">
            <a:avLst/>
          </a:prstGeom>
          <a:noFill/>
          <a:ln w="38100" algn="ctr">
            <a:solidFill>
              <a:srgbClr val="FF0000"/>
            </a:solidFill>
            <a:miter lim="400000"/>
            <a:headEnd/>
            <a:tailEnd/>
          </a:ln>
        </p:spPr>
        <p:txBody>
          <a:bodyPr lIns="45720" rIns="45720" anchor="ctr"/>
          <a:lstStyle/>
          <a:p>
            <a:endParaRPr lang="en-US" sz="2000" b="0"/>
          </a:p>
        </p:txBody>
      </p:sp>
      <p:sp>
        <p:nvSpPr>
          <p:cNvPr id="47" name="TextBox 46"/>
          <p:cNvSpPr txBox="1"/>
          <p:nvPr/>
        </p:nvSpPr>
        <p:spPr>
          <a:xfrm>
            <a:off x="5969000" y="8686800"/>
            <a:ext cx="200567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0" i="1" dirty="0" smtClean="0">
                <a:solidFill>
                  <a:schemeClr val="tx1"/>
                </a:solidFill>
              </a:rPr>
              <a:t>O(n log n)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Complexity of </a:t>
            </a:r>
            <a:r>
              <a:rPr lang="en-US" dirty="0" err="1" smtClean="0"/>
              <a:t>Quicksort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How do we find the median?</a:t>
            </a:r>
          </a:p>
          <a:p>
            <a:pPr lvl="1"/>
            <a:r>
              <a:rPr lang="en-US" dirty="0" smtClean="0"/>
              <a:t>sort the array pick the element at the midpoint …</a:t>
            </a:r>
          </a:p>
          <a:p>
            <a:pPr lvl="1"/>
            <a:r>
              <a:rPr lang="en-US" dirty="0" smtClean="0"/>
              <a:t>This defeats the purpose!</a:t>
            </a:r>
          </a:p>
          <a:p>
            <a:pPr lvl="1"/>
            <a:r>
              <a:rPr lang="en-US" dirty="0" smtClean="0"/>
              <a:t>And it costs </a:t>
            </a:r>
            <a:r>
              <a:rPr lang="en-US" i="1" dirty="0" smtClean="0"/>
              <a:t>O(n log n)</a:t>
            </a:r>
            <a:r>
              <a:rPr lang="en-US" dirty="0" smtClean="0"/>
              <a:t> -- using </a:t>
            </a:r>
            <a:r>
              <a:rPr lang="en-US" dirty="0" err="1" smtClean="0"/>
              <a:t>mergesort</a:t>
            </a:r>
            <a:endParaRPr lang="en-US" dirty="0" smtClean="0"/>
          </a:p>
          <a:p>
            <a:endParaRPr lang="en-US" dirty="0" smtClean="0"/>
          </a:p>
          <a:p>
            <a:r>
              <a:rPr lang="en-US" dirty="0" smtClean="0"/>
              <a:t>We want to spent at most </a:t>
            </a:r>
            <a:r>
              <a:rPr lang="en-US" i="1" dirty="0" smtClean="0"/>
              <a:t>O(n)</a:t>
            </a:r>
          </a:p>
          <a:p>
            <a:r>
              <a:rPr lang="en-US" dirty="0" smtClean="0"/>
              <a:t>No such algorithm for finding the median!</a:t>
            </a:r>
          </a:p>
          <a:p>
            <a:pPr lvl="1"/>
            <a:r>
              <a:rPr lang="en-US" dirty="0" smtClean="0"/>
              <a:t>Either </a:t>
            </a:r>
            <a:r>
              <a:rPr lang="en-US" i="1" dirty="0" smtClean="0"/>
              <a:t>O(n log n)</a:t>
            </a:r>
          </a:p>
          <a:p>
            <a:pPr lvl="1"/>
            <a:r>
              <a:rPr lang="en-US" dirty="0" smtClean="0"/>
              <a:t>Or </a:t>
            </a:r>
            <a:r>
              <a:rPr lang="en-US" i="1" dirty="0" smtClean="0"/>
              <a:t>O(n)</a:t>
            </a:r>
            <a:r>
              <a:rPr lang="en-US" dirty="0" smtClean="0"/>
              <a:t> for an approximate solution</a:t>
            </a:r>
          </a:p>
          <a:p>
            <a:pPr lvl="4"/>
            <a:r>
              <a:rPr lang="en-US" dirty="0" smtClean="0"/>
              <a:t>which may be an Ok compromise</a:t>
            </a:r>
          </a:p>
          <a:p>
            <a:endParaRPr lang="en-US" dirty="0" smtClean="0"/>
          </a:p>
          <a:p>
            <a:r>
              <a:rPr lang="en-US" dirty="0" smtClean="0"/>
              <a:t>So, </a:t>
            </a:r>
            <a:r>
              <a:rPr lang="en-US" b="1" i="1" dirty="0" smtClean="0"/>
              <a:t>if we are lucky</a:t>
            </a:r>
            <a:r>
              <a:rPr lang="en-US" dirty="0" smtClean="0"/>
              <a:t>, </a:t>
            </a:r>
            <a:r>
              <a:rPr lang="en-US" dirty="0" err="1" smtClean="0"/>
              <a:t>quicksort</a:t>
            </a:r>
            <a:r>
              <a:rPr lang="en-US" dirty="0" smtClean="0"/>
              <a:t> has cost O(n log n)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52500" y="254000"/>
            <a:ext cx="8216900" cy="1498600"/>
          </a:xfrm>
        </p:spPr>
        <p:txBody>
          <a:bodyPr/>
          <a:lstStyle/>
          <a:p>
            <a:r>
              <a:rPr lang="en-US" dirty="0" smtClean="0"/>
              <a:t>Complexity of </a:t>
            </a:r>
            <a:r>
              <a:rPr lang="en-US" dirty="0" err="1" smtClean="0"/>
              <a:t>Quicksort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52500" y="1981200"/>
            <a:ext cx="11264900" cy="6896100"/>
          </a:xfrm>
        </p:spPr>
        <p:txBody>
          <a:bodyPr/>
          <a:lstStyle/>
          <a:p>
            <a:r>
              <a:rPr lang="en-US" dirty="0" smtClean="0"/>
              <a:t>What if we are </a:t>
            </a:r>
            <a:r>
              <a:rPr lang="en-US" b="1" dirty="0" smtClean="0"/>
              <a:t>unlucky</a:t>
            </a:r>
            <a:r>
              <a:rPr lang="en-US" dirty="0" smtClean="0"/>
              <a:t>?</a:t>
            </a:r>
          </a:p>
          <a:p>
            <a:pPr lvl="1"/>
            <a:r>
              <a:rPr lang="en-US" dirty="0" smtClean="0"/>
              <a:t>Pick the </a:t>
            </a:r>
            <a:r>
              <a:rPr lang="en-US" b="1" dirty="0" smtClean="0"/>
              <a:t>smallest</a:t>
            </a:r>
            <a:r>
              <a:rPr lang="en-US" dirty="0" smtClean="0"/>
              <a:t> element each time </a:t>
            </a:r>
            <a:r>
              <a:rPr lang="en-US" i="1" dirty="0" smtClean="0"/>
              <a:t>(or the largest)</a:t>
            </a:r>
          </a:p>
        </p:txBody>
      </p:sp>
      <p:sp>
        <p:nvSpPr>
          <p:cNvPr id="4" name="Rectangle 3"/>
          <p:cNvSpPr>
            <a:spLocks/>
          </p:cNvSpPr>
          <p:nvPr/>
        </p:nvSpPr>
        <p:spPr bwMode="auto">
          <a:xfrm>
            <a:off x="9204752" y="76200"/>
            <a:ext cx="3698448" cy="1846659"/>
          </a:xfrm>
          <a:prstGeom prst="rect">
            <a:avLst/>
          </a:prstGeom>
          <a:noFill/>
          <a:ln w="12700">
            <a:solidFill>
              <a:schemeClr val="tx2"/>
            </a:solidFill>
            <a:miter lim="400000"/>
            <a:headEnd/>
            <a:tailEnd/>
          </a:ln>
        </p:spPr>
        <p:txBody>
          <a:bodyPr wrap="none" tIns="91440" bIns="91440" anchor="ctr">
            <a:spAutoFit/>
          </a:bodyPr>
          <a:lstStyle/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void</a:t>
            </a:r>
            <a:r>
              <a:rPr lang="en-US" sz="1800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sz="1800" b="0" dirty="0" err="1" smtClean="0">
                <a:solidFill>
                  <a:srgbClr val="5E34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quicksort</a:t>
            </a:r>
            <a:r>
              <a:rPr lang="en-US" sz="1800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(</a:t>
            </a:r>
            <a:r>
              <a:rPr lang="en-US" sz="1800" b="0" dirty="0" err="1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sz="1800" b="0" dirty="0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[]</a:t>
            </a:r>
            <a:r>
              <a:rPr lang="en-US" sz="1800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sz="1800" b="0" dirty="0" smtClean="0">
                <a:solidFill>
                  <a:srgbClr val="CD7923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A</a:t>
            </a:r>
            <a:r>
              <a:rPr lang="en-US" sz="1800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, </a:t>
            </a:r>
            <a:r>
              <a:rPr lang="en-US" sz="1800" b="0" dirty="0" err="1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sz="1800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sz="1800" b="0" dirty="0" smtClean="0">
                <a:solidFill>
                  <a:srgbClr val="CD7923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lo</a:t>
            </a:r>
            <a:r>
              <a:rPr lang="en-US" sz="1800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, </a:t>
            </a:r>
            <a:r>
              <a:rPr lang="en-US" sz="1800" b="0" dirty="0" err="1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sz="1800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sz="1800" b="0" dirty="0" smtClean="0">
                <a:solidFill>
                  <a:srgbClr val="CD7923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hi</a:t>
            </a:r>
            <a:r>
              <a:rPr lang="en-US" sz="1800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) </a:t>
            </a:r>
            <a:r>
              <a:rPr lang="en-US" sz="1800" b="0" dirty="0" smtClean="0">
                <a:solidFill>
                  <a:schemeClr val="tx1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{</a:t>
            </a:r>
          </a:p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solidFill>
                  <a:schemeClr val="tx1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  </a:t>
            </a:r>
            <a:r>
              <a:rPr lang="en-US" sz="1800" b="0" dirty="0" smtClean="0">
                <a:solidFill>
                  <a:srgbClr val="D03B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if </a:t>
            </a:r>
            <a:r>
              <a:rPr lang="en-US" sz="1800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(hi - lo &lt;= 1) </a:t>
            </a:r>
            <a:r>
              <a:rPr lang="en-US" sz="1800" b="0" dirty="0" smtClean="0">
                <a:solidFill>
                  <a:srgbClr val="D03BFF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return</a:t>
            </a:r>
            <a:r>
              <a:rPr lang="en-US" sz="1800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;        </a:t>
            </a:r>
            <a:r>
              <a:rPr lang="en-US" sz="1800" b="0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// O(1)</a:t>
            </a:r>
          </a:p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  </a:t>
            </a:r>
            <a:r>
              <a:rPr lang="en-US" sz="1800" b="0" dirty="0" err="1" smtClean="0">
                <a:solidFill>
                  <a:srgbClr val="34A327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int</a:t>
            </a:r>
            <a:r>
              <a:rPr lang="en-US" sz="1800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</a:t>
            </a:r>
            <a:r>
              <a:rPr lang="en-US" sz="1800" b="0" dirty="0" smtClean="0">
                <a:solidFill>
                  <a:srgbClr val="CD7923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p</a:t>
            </a:r>
            <a:r>
              <a:rPr lang="en-US" sz="1800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= partition(A, lo, hi); </a:t>
            </a:r>
            <a:r>
              <a:rPr lang="en-US" sz="1600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 </a:t>
            </a:r>
            <a:r>
              <a:rPr lang="en-US" sz="1800" b="0" dirty="0" smtClean="0">
                <a:solidFill>
                  <a:schemeClr val="accent1">
                    <a:lumMod val="60000"/>
                    <a:lumOff val="40000"/>
                  </a:schemeClr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// O(n)</a:t>
            </a:r>
          </a:p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 </a:t>
            </a:r>
            <a:r>
              <a:rPr lang="en-US" sz="1800" b="0" dirty="0" err="1" smtClean="0">
                <a:latin typeface="Menlo" charset="0"/>
                <a:ea typeface="Menlo" charset="0"/>
                <a:cs typeface="Menlo" charset="0"/>
                <a:sym typeface="Menlo" charset="0"/>
              </a:rPr>
              <a:t>quicksort</a:t>
            </a:r>
            <a:r>
              <a:rPr lang="en-US" sz="1800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(A, lo, p);</a:t>
            </a:r>
            <a:endParaRPr lang="en-US" sz="1800" b="0" dirty="0" smtClean="0">
              <a:solidFill>
                <a:srgbClr val="C00000"/>
              </a:solidFill>
              <a:latin typeface="Menlo" charset="0"/>
              <a:ea typeface="Menlo" charset="0"/>
              <a:cs typeface="Menlo" charset="0"/>
              <a:sym typeface="Menlo" charset="0"/>
            </a:endParaRPr>
          </a:p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  </a:t>
            </a:r>
            <a:r>
              <a:rPr lang="en-US" sz="1800" b="0" dirty="0" err="1" smtClean="0">
                <a:latin typeface="Menlo" charset="0"/>
                <a:ea typeface="Menlo" charset="0"/>
                <a:cs typeface="Menlo" charset="0"/>
                <a:sym typeface="Menlo" charset="0"/>
              </a:rPr>
              <a:t>quicksort</a:t>
            </a:r>
            <a:r>
              <a:rPr lang="en-US" sz="1800" b="0" dirty="0" smtClean="0">
                <a:latin typeface="Menlo" charset="0"/>
                <a:ea typeface="Menlo" charset="0"/>
                <a:cs typeface="Menlo" charset="0"/>
                <a:sym typeface="Menlo" charset="0"/>
              </a:rPr>
              <a:t>(A, p+1, hi);</a:t>
            </a:r>
            <a:endParaRPr lang="en-US" sz="1800" b="0" dirty="0" smtClean="0">
              <a:solidFill>
                <a:srgbClr val="C00000"/>
              </a:solidFill>
              <a:latin typeface="Menlo" charset="0"/>
              <a:ea typeface="Menlo" charset="0"/>
              <a:cs typeface="Menlo" charset="0"/>
              <a:sym typeface="Menlo" charset="0"/>
            </a:endParaRPr>
          </a:p>
          <a:p>
            <a:pPr marL="287338" indent="-287338" algn="l" defTabSz="12700">
              <a:buClr>
                <a:schemeClr val="bg1">
                  <a:lumMod val="50000"/>
                </a:schemeClr>
              </a:buClr>
              <a:buSzPct val="60000"/>
              <a:tabLst>
                <a:tab pos="711200" algn="l"/>
                <a:tab pos="1066800" algn="l"/>
                <a:tab pos="1422400" algn="l"/>
                <a:tab pos="1778000" algn="l"/>
                <a:tab pos="2133600" algn="l"/>
                <a:tab pos="2489200" algn="l"/>
                <a:tab pos="2844800" algn="l"/>
                <a:tab pos="3200400" algn="l"/>
                <a:tab pos="3556000" algn="l"/>
                <a:tab pos="3911600" algn="l"/>
                <a:tab pos="4267200" algn="l"/>
              </a:tabLst>
            </a:pPr>
            <a:r>
              <a:rPr lang="en-US" sz="1800" b="0" dirty="0" smtClean="0">
                <a:solidFill>
                  <a:schemeClr val="tx1"/>
                </a:solidFill>
                <a:latin typeface="Menlo" charset="0"/>
                <a:ea typeface="Menlo" charset="0"/>
                <a:cs typeface="Menlo" charset="0"/>
                <a:sym typeface="Menlo" charset="0"/>
              </a:rPr>
              <a:t>}</a:t>
            </a:r>
            <a:endParaRPr lang="en-US" sz="1800" dirty="0" smtClean="0">
              <a:solidFill>
                <a:schemeClr val="tx1"/>
              </a:solidFill>
              <a:latin typeface="Menlo" charset="0"/>
              <a:ea typeface="Menlo" charset="0"/>
              <a:cs typeface="Menlo" charset="0"/>
              <a:sym typeface="Menlo" charset="0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2755785" y="3886200"/>
          <a:ext cx="6172208" cy="33375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85763"/>
                <a:gridCol w="385763"/>
                <a:gridCol w="385763"/>
                <a:gridCol w="385763"/>
                <a:gridCol w="385763"/>
                <a:gridCol w="385763"/>
                <a:gridCol w="385763"/>
                <a:gridCol w="385763"/>
                <a:gridCol w="385763"/>
                <a:gridCol w="385763"/>
                <a:gridCol w="385763"/>
                <a:gridCol w="385763"/>
                <a:gridCol w="385763"/>
                <a:gridCol w="385763"/>
                <a:gridCol w="385763"/>
                <a:gridCol w="385763"/>
              </a:tblGrid>
              <a:tr h="370840">
                <a:tc gridSpan="16"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n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5"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n-1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14"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n-2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70840">
                <a:tc gridSpan="2"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…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kumimoji="0" lang="en-US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uLnTx/>
                          <a:uFillTx/>
                          <a:latin typeface="+mn-lt"/>
                        </a:rPr>
                        <a:t>…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…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…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…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…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…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…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600" dirty="0"/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/>
                        <a:t>1</a:t>
                      </a:r>
                      <a:endParaRPr lang="en-US" sz="16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449043" y="3660576"/>
            <a:ext cx="7537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solidFill>
                  <a:schemeClr val="tx1"/>
                </a:solidFill>
              </a:rPr>
              <a:t>level</a:t>
            </a:r>
          </a:p>
        </p:txBody>
      </p:sp>
      <p:sp>
        <p:nvSpPr>
          <p:cNvPr id="7" name="Curved Right Arrow 6"/>
          <p:cNvSpPr/>
          <p:nvPr/>
        </p:nvSpPr>
        <p:spPr bwMode="auto">
          <a:xfrm>
            <a:off x="2489089" y="4191000"/>
            <a:ext cx="152400" cy="533400"/>
          </a:xfrm>
          <a:prstGeom prst="curvedRightArrow">
            <a:avLst/>
          </a:prstGeom>
          <a:solidFill>
            <a:schemeClr val="accent1">
              <a:lumMod val="40000"/>
              <a:lumOff val="60000"/>
            </a:schemeClr>
          </a:solidFill>
          <a:ln w="127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355175" y="3352800"/>
            <a:ext cx="1210589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solidFill>
                  <a:schemeClr val="tx1"/>
                </a:solidFill>
              </a:rPr>
              <a:t>calls to</a:t>
            </a:r>
            <a:br>
              <a:rPr lang="en-US" sz="2000" dirty="0" smtClean="0">
                <a:solidFill>
                  <a:schemeClr val="tx1"/>
                </a:solidFill>
              </a:rPr>
            </a:br>
            <a:r>
              <a:rPr lang="en-US" sz="2000" b="0" dirty="0" err="1" smtClean="0">
                <a:solidFill>
                  <a:srgbClr val="7030A0"/>
                </a:solidFill>
              </a:rPr>
              <a:t>quicksort</a:t>
            </a:r>
            <a:endParaRPr lang="en-US" sz="2000" b="0" dirty="0" smtClean="0">
              <a:solidFill>
                <a:srgbClr val="7030A0"/>
              </a:solidFill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017000" y="3352800"/>
            <a:ext cx="1096775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solidFill>
                  <a:schemeClr val="tx1"/>
                </a:solidFill>
              </a:rPr>
              <a:t>calls to</a:t>
            </a:r>
            <a:br>
              <a:rPr lang="en-US" sz="2000" dirty="0" smtClean="0">
                <a:solidFill>
                  <a:schemeClr val="tx1"/>
                </a:solidFill>
              </a:rPr>
            </a:br>
            <a:r>
              <a:rPr lang="en-US" sz="2000" b="0" dirty="0" smtClean="0">
                <a:solidFill>
                  <a:srgbClr val="7030A0"/>
                </a:solidFill>
              </a:rPr>
              <a:t>partition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244239" y="3352800"/>
            <a:ext cx="1266693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solidFill>
                  <a:schemeClr val="tx1"/>
                </a:solidFill>
              </a:rPr>
              <a:t>cost of</a:t>
            </a:r>
            <a:br>
              <a:rPr lang="en-US" sz="2000" dirty="0" smtClean="0">
                <a:solidFill>
                  <a:schemeClr val="tx1"/>
                </a:solidFill>
              </a:rPr>
            </a:br>
            <a:r>
              <a:rPr lang="en-US" sz="2000" dirty="0" smtClean="0">
                <a:solidFill>
                  <a:schemeClr val="tx1"/>
                </a:solidFill>
              </a:rPr>
              <a:t>each call</a:t>
            </a:r>
          </a:p>
        </p:txBody>
      </p:sp>
      <p:sp>
        <p:nvSpPr>
          <p:cNvPr id="11" name="Curved Right Arrow 10"/>
          <p:cNvSpPr/>
          <p:nvPr/>
        </p:nvSpPr>
        <p:spPr bwMode="auto">
          <a:xfrm flipH="1">
            <a:off x="9042289" y="4175760"/>
            <a:ext cx="152400" cy="533400"/>
          </a:xfrm>
          <a:prstGeom prst="curvedRightArrow">
            <a:avLst/>
          </a:prstGeom>
          <a:solidFill>
            <a:schemeClr val="accent1">
              <a:lumMod val="40000"/>
              <a:lumOff val="60000"/>
            </a:schemeClr>
          </a:solidFill>
          <a:ln w="127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1645658" y="3352800"/>
            <a:ext cx="1279517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 smtClean="0">
                <a:solidFill>
                  <a:schemeClr val="tx1"/>
                </a:solidFill>
              </a:rPr>
              <a:t>cost at</a:t>
            </a:r>
            <a:br>
              <a:rPr lang="en-US" sz="2000" dirty="0" smtClean="0">
                <a:solidFill>
                  <a:schemeClr val="tx1"/>
                </a:solidFill>
              </a:rPr>
            </a:br>
            <a:r>
              <a:rPr lang="en-US" sz="2000" dirty="0" smtClean="0">
                <a:solidFill>
                  <a:schemeClr val="tx1"/>
                </a:solidFill>
              </a:rPr>
              <a:t>this level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010" y="4246969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dirty="0" smtClean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63175" y="4246969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dirty="0" smtClean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98709" y="4246969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dirty="0" smtClean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725299" y="4246969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dirty="0" smtClean="0">
                <a:solidFill>
                  <a:schemeClr val="tx1"/>
                </a:solidFill>
              </a:rPr>
              <a:t>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118165" y="4246969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dirty="0" smtClean="0">
                <a:solidFill>
                  <a:schemeClr val="tx1"/>
                </a:solidFill>
              </a:rPr>
              <a:t>n</a:t>
            </a:r>
          </a:p>
        </p:txBody>
      </p:sp>
      <p:sp>
        <p:nvSpPr>
          <p:cNvPr id="18" name="Curved Right Arrow 17"/>
          <p:cNvSpPr/>
          <p:nvPr/>
        </p:nvSpPr>
        <p:spPr bwMode="auto">
          <a:xfrm>
            <a:off x="2504018" y="4953000"/>
            <a:ext cx="152400" cy="533400"/>
          </a:xfrm>
          <a:prstGeom prst="curvedRightArrow">
            <a:avLst/>
          </a:prstGeom>
          <a:solidFill>
            <a:schemeClr val="accent1">
              <a:lumMod val="40000"/>
              <a:lumOff val="60000"/>
            </a:schemeClr>
          </a:solidFill>
          <a:ln w="127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  <p:sp>
        <p:nvSpPr>
          <p:cNvPr id="19" name="Curved Right Arrow 18"/>
          <p:cNvSpPr/>
          <p:nvPr/>
        </p:nvSpPr>
        <p:spPr bwMode="auto">
          <a:xfrm flipH="1">
            <a:off x="9057218" y="4937760"/>
            <a:ext cx="152400" cy="533400"/>
          </a:xfrm>
          <a:prstGeom prst="curvedRightArrow">
            <a:avLst/>
          </a:prstGeom>
          <a:solidFill>
            <a:schemeClr val="accent1">
              <a:lumMod val="40000"/>
              <a:lumOff val="60000"/>
            </a:schemeClr>
          </a:solidFill>
          <a:ln w="127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681939" y="5008969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dirty="0" smtClean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878104" y="5008969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dirty="0" smtClean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13638" y="5008969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dirty="0" smtClean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40228" y="5008969"/>
            <a:ext cx="5180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dirty="0" smtClean="0">
                <a:solidFill>
                  <a:schemeClr val="tx1"/>
                </a:solidFill>
              </a:rPr>
              <a:t>n-1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133094" y="5008969"/>
            <a:ext cx="5180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dirty="0" smtClean="0">
                <a:solidFill>
                  <a:schemeClr val="tx1"/>
                </a:solidFill>
              </a:rPr>
              <a:t>n-1</a:t>
            </a:r>
          </a:p>
        </p:txBody>
      </p:sp>
      <p:sp>
        <p:nvSpPr>
          <p:cNvPr id="25" name="Curved Right Arrow 24"/>
          <p:cNvSpPr/>
          <p:nvPr/>
        </p:nvSpPr>
        <p:spPr bwMode="auto">
          <a:xfrm>
            <a:off x="2504018" y="5654040"/>
            <a:ext cx="152400" cy="533400"/>
          </a:xfrm>
          <a:prstGeom prst="curvedRightArrow">
            <a:avLst/>
          </a:prstGeom>
          <a:solidFill>
            <a:schemeClr val="accent1">
              <a:lumMod val="40000"/>
              <a:lumOff val="60000"/>
            </a:schemeClr>
          </a:solidFill>
          <a:ln w="127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  <p:sp>
        <p:nvSpPr>
          <p:cNvPr id="26" name="Curved Right Arrow 25"/>
          <p:cNvSpPr/>
          <p:nvPr/>
        </p:nvSpPr>
        <p:spPr bwMode="auto">
          <a:xfrm flipH="1">
            <a:off x="9057218" y="5638800"/>
            <a:ext cx="152400" cy="533400"/>
          </a:xfrm>
          <a:prstGeom prst="curvedRightArrow">
            <a:avLst/>
          </a:prstGeom>
          <a:solidFill>
            <a:schemeClr val="accent1">
              <a:lumMod val="40000"/>
              <a:lumOff val="60000"/>
            </a:schemeClr>
          </a:solidFill>
          <a:ln w="127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681939" y="5710009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dirty="0" smtClean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878104" y="5710009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dirty="0" smtClean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413638" y="5710009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dirty="0" smtClean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740228" y="5710009"/>
            <a:ext cx="5180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dirty="0" smtClean="0">
                <a:solidFill>
                  <a:schemeClr val="tx1"/>
                </a:solidFill>
              </a:rPr>
              <a:t>n-2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2133094" y="5710009"/>
            <a:ext cx="5180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dirty="0" smtClean="0">
                <a:solidFill>
                  <a:schemeClr val="tx1"/>
                </a:solidFill>
              </a:rPr>
              <a:t>n-2</a:t>
            </a:r>
          </a:p>
        </p:txBody>
      </p:sp>
      <p:sp>
        <p:nvSpPr>
          <p:cNvPr id="32" name="Curved Right Arrow 31"/>
          <p:cNvSpPr/>
          <p:nvPr/>
        </p:nvSpPr>
        <p:spPr bwMode="auto">
          <a:xfrm>
            <a:off x="2504018" y="6477000"/>
            <a:ext cx="152400" cy="533400"/>
          </a:xfrm>
          <a:prstGeom prst="curvedRightArrow">
            <a:avLst/>
          </a:prstGeom>
          <a:solidFill>
            <a:schemeClr val="accent1">
              <a:lumMod val="40000"/>
              <a:lumOff val="60000"/>
            </a:schemeClr>
          </a:solidFill>
          <a:ln w="127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  <p:sp>
        <p:nvSpPr>
          <p:cNvPr id="33" name="Curved Right Arrow 32"/>
          <p:cNvSpPr/>
          <p:nvPr/>
        </p:nvSpPr>
        <p:spPr bwMode="auto">
          <a:xfrm flipH="1">
            <a:off x="9057218" y="6461760"/>
            <a:ext cx="152400" cy="533400"/>
          </a:xfrm>
          <a:prstGeom prst="curvedRightArrow">
            <a:avLst/>
          </a:prstGeom>
          <a:solidFill>
            <a:schemeClr val="accent1">
              <a:lumMod val="40000"/>
              <a:lumOff val="60000"/>
            </a:schemeClr>
          </a:solidFill>
          <a:ln w="127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1" i="0" u="none" strike="noStrike" cap="none" normalizeH="0" baseline="0" smtClean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703094" y="6532969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dirty="0" smtClean="0">
                <a:solidFill>
                  <a:schemeClr val="tx1"/>
                </a:solidFill>
              </a:rPr>
              <a:t>n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1875466" y="6532969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dirty="0" smtClean="0">
                <a:solidFill>
                  <a:schemeClr val="tx1"/>
                </a:solidFill>
              </a:rPr>
              <a:t>2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413638" y="6532969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dirty="0" smtClean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10740228" y="6532969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dirty="0" smtClean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2133094" y="6532969"/>
            <a:ext cx="3129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dirty="0" smtClean="0">
                <a:solidFill>
                  <a:schemeClr val="tx1"/>
                </a:solidFill>
              </a:rPr>
              <a:t>1</a:t>
            </a:r>
          </a:p>
        </p:txBody>
      </p:sp>
      <p:cxnSp>
        <p:nvCxnSpPr>
          <p:cNvPr id="40" name="Straight Connector 39"/>
          <p:cNvCxnSpPr/>
          <p:nvPr/>
        </p:nvCxnSpPr>
        <p:spPr bwMode="auto">
          <a:xfrm>
            <a:off x="11836400" y="7239000"/>
            <a:ext cx="914400" cy="1588"/>
          </a:xfrm>
          <a:prstGeom prst="line">
            <a:avLst/>
          </a:prstGeom>
          <a:solidFill>
            <a:schemeClr val="accent1"/>
          </a:solidFill>
          <a:ln w="254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</p:cxnSp>
      <p:sp>
        <p:nvSpPr>
          <p:cNvPr id="41" name="TextBox 40"/>
          <p:cNvSpPr txBox="1"/>
          <p:nvPr/>
        </p:nvSpPr>
        <p:spPr>
          <a:xfrm>
            <a:off x="10464800" y="7326868"/>
            <a:ext cx="239879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dirty="0" smtClean="0">
                <a:solidFill>
                  <a:schemeClr val="tx1"/>
                </a:solidFill>
              </a:rPr>
              <a:t>Total cost:   </a:t>
            </a:r>
            <a:r>
              <a:rPr lang="en-US" sz="1800" b="0" dirty="0" smtClean="0">
                <a:solidFill>
                  <a:schemeClr val="tx1"/>
                </a:solidFill>
              </a:rPr>
              <a:t>n(n-1)/2</a:t>
            </a:r>
          </a:p>
        </p:txBody>
      </p:sp>
      <p:sp>
        <p:nvSpPr>
          <p:cNvPr id="42" name="Rectangular Callout 41"/>
          <p:cNvSpPr/>
          <p:nvPr/>
        </p:nvSpPr>
        <p:spPr bwMode="auto">
          <a:xfrm>
            <a:off x="9508677" y="8001000"/>
            <a:ext cx="1260923" cy="400110"/>
          </a:xfrm>
          <a:prstGeom prst="wedgeRectCallout">
            <a:avLst>
              <a:gd name="adj1" fmla="val -85711"/>
              <a:gd name="adj2" fmla="val -257832"/>
            </a:avLst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wrap="none" lIns="45720" rIns="45720" anchor="ctr">
            <a:spAutoFit/>
          </a:bodyPr>
          <a:lstStyle/>
          <a:p>
            <a:pPr>
              <a:defRPr/>
            </a:pPr>
            <a:r>
              <a:rPr lang="en-US" sz="2000" b="0" dirty="0" smtClean="0"/>
              <a:t>base case</a:t>
            </a:r>
            <a:endParaRPr lang="en-US" sz="2000" b="0" i="1" dirty="0"/>
          </a:p>
        </p:txBody>
      </p:sp>
      <p:sp>
        <p:nvSpPr>
          <p:cNvPr id="43" name="Rectangular Callout 42"/>
          <p:cNvSpPr/>
          <p:nvPr/>
        </p:nvSpPr>
        <p:spPr bwMode="auto">
          <a:xfrm>
            <a:off x="2616200" y="7848600"/>
            <a:ext cx="1799532" cy="400110"/>
          </a:xfrm>
          <a:prstGeom prst="wedgeRectCallout">
            <a:avLst>
              <a:gd name="adj1" fmla="val -138561"/>
              <a:gd name="adj2" fmla="val -295037"/>
            </a:avLst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wrap="none" lIns="45720" rIns="45720" anchor="ctr">
            <a:spAutoFit/>
          </a:bodyPr>
          <a:lstStyle/>
          <a:p>
            <a:pPr>
              <a:defRPr/>
            </a:pPr>
            <a:r>
              <a:rPr lang="en-US" sz="2000" b="0" dirty="0" smtClean="0"/>
              <a:t>(give or take 1)</a:t>
            </a:r>
            <a:endParaRPr lang="en-US" sz="2000" b="0" i="1" dirty="0"/>
          </a:p>
        </p:txBody>
      </p:sp>
      <p:sp>
        <p:nvSpPr>
          <p:cNvPr id="44" name="Rectangular Callout 43"/>
          <p:cNvSpPr/>
          <p:nvPr/>
        </p:nvSpPr>
        <p:spPr bwMode="auto">
          <a:xfrm>
            <a:off x="114209" y="8305800"/>
            <a:ext cx="4308231" cy="1323439"/>
          </a:xfrm>
          <a:prstGeom prst="wedgeRectCallout">
            <a:avLst>
              <a:gd name="adj1" fmla="val -32073"/>
              <a:gd name="adj2" fmla="val -153482"/>
            </a:avLst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wrap="none" lIns="45720" rIns="45720" anchor="ctr">
            <a:spAutoFit/>
          </a:bodyPr>
          <a:lstStyle/>
          <a:p>
            <a:pPr>
              <a:defRPr/>
            </a:pPr>
            <a:r>
              <a:rPr lang="en-US" sz="2000" b="0" dirty="0" smtClean="0"/>
              <a:t>At level </a:t>
            </a:r>
            <a:r>
              <a:rPr lang="en-US" sz="2000" b="0" i="1" dirty="0" err="1" smtClean="0"/>
              <a:t>i</a:t>
            </a:r>
            <a:r>
              <a:rPr lang="en-US" sz="2000" b="0" dirty="0" smtClean="0"/>
              <a:t>, we make</a:t>
            </a:r>
            <a:br>
              <a:rPr lang="en-US" sz="2000" b="0" dirty="0" smtClean="0"/>
            </a:br>
            <a:r>
              <a:rPr lang="en-US" sz="2000" b="0" dirty="0" smtClean="0"/>
              <a:t>one recursive call on a 0-length array</a:t>
            </a:r>
            <a:br>
              <a:rPr lang="en-US" sz="2000" b="0" dirty="0" smtClean="0"/>
            </a:br>
            <a:r>
              <a:rPr lang="en-US" sz="2000" b="0" dirty="0" smtClean="0"/>
              <a:t>and one on an array of length </a:t>
            </a:r>
            <a:r>
              <a:rPr lang="en-US" sz="2000" b="0" i="1" dirty="0" smtClean="0"/>
              <a:t>i-1</a:t>
            </a:r>
            <a:r>
              <a:rPr lang="en-US" sz="2000" b="0" dirty="0" smtClean="0"/>
              <a:t>.</a:t>
            </a:r>
          </a:p>
          <a:p>
            <a:pPr>
              <a:defRPr/>
            </a:pPr>
            <a:r>
              <a:rPr lang="en-US" sz="2000" b="0" dirty="0" smtClean="0"/>
              <a:t>That’s </a:t>
            </a:r>
            <a:r>
              <a:rPr lang="en-US" sz="2000" b="0" i="1" dirty="0" smtClean="0"/>
              <a:t>n</a:t>
            </a:r>
            <a:r>
              <a:rPr lang="en-US" sz="2000" b="0" dirty="0" smtClean="0"/>
              <a:t> levels.</a:t>
            </a:r>
            <a:endParaRPr lang="en-US" sz="2000" b="0" dirty="0"/>
          </a:p>
        </p:txBody>
      </p:sp>
      <p:sp>
        <p:nvSpPr>
          <p:cNvPr id="45" name="TextBox 44"/>
          <p:cNvSpPr txBox="1"/>
          <p:nvPr/>
        </p:nvSpPr>
        <p:spPr>
          <a:xfrm>
            <a:off x="1320800" y="6107668"/>
            <a:ext cx="4154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800" b="0" dirty="0" smtClean="0">
                <a:solidFill>
                  <a:schemeClr val="tx1"/>
                </a:solidFill>
              </a:rPr>
              <a:t>…</a:t>
            </a:r>
          </a:p>
        </p:txBody>
      </p:sp>
      <p:sp>
        <p:nvSpPr>
          <p:cNvPr id="46" name="Oval 45"/>
          <p:cNvSpPr>
            <a:spLocks noChangeArrowheads="1"/>
          </p:cNvSpPr>
          <p:nvPr/>
        </p:nvSpPr>
        <p:spPr bwMode="auto">
          <a:xfrm>
            <a:off x="11760200" y="7292165"/>
            <a:ext cx="1066800" cy="457200"/>
          </a:xfrm>
          <a:prstGeom prst="ellipse">
            <a:avLst/>
          </a:prstGeom>
          <a:noFill/>
          <a:ln w="38100" algn="ctr">
            <a:solidFill>
              <a:srgbClr val="FF0000"/>
            </a:solidFill>
            <a:miter lim="400000"/>
            <a:headEnd/>
            <a:tailEnd/>
          </a:ln>
        </p:spPr>
        <p:txBody>
          <a:bodyPr lIns="45720" rIns="45720" anchor="ctr"/>
          <a:lstStyle/>
          <a:p>
            <a:endParaRPr lang="en-US" sz="2000" b="0"/>
          </a:p>
        </p:txBody>
      </p:sp>
      <p:sp>
        <p:nvSpPr>
          <p:cNvPr id="47" name="TextBox 46"/>
          <p:cNvSpPr txBox="1"/>
          <p:nvPr/>
        </p:nvSpPr>
        <p:spPr>
          <a:xfrm>
            <a:off x="5969000" y="7848600"/>
            <a:ext cx="1156086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0" i="1" dirty="0" smtClean="0">
                <a:solidFill>
                  <a:schemeClr val="tx1"/>
                </a:solidFill>
              </a:rPr>
              <a:t>O(n</a:t>
            </a:r>
            <a:r>
              <a:rPr lang="en-US" sz="3200" b="0" i="1" baseline="30000" dirty="0" smtClean="0">
                <a:solidFill>
                  <a:schemeClr val="tx1"/>
                </a:solidFill>
              </a:rPr>
              <a:t>2</a:t>
            </a:r>
            <a:r>
              <a:rPr lang="en-US" sz="3200" b="0" i="1" dirty="0" smtClean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48" name="Rectangle 47"/>
          <p:cNvSpPr/>
          <p:nvPr/>
        </p:nvSpPr>
        <p:spPr bwMode="auto">
          <a:xfrm>
            <a:off x="7721600" y="8686800"/>
            <a:ext cx="3733800" cy="8382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54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vert="horz" wrap="none" lIns="0" tIns="0" rIns="0" bIns="0" numCol="1" rtlCol="0" anchor="ctr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584200" rtl="0" eaLnBrk="1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2400" b="0" i="0" u="none" strike="noStrike" cap="none" normalizeH="0" baseline="0" dirty="0" smtClean="0">
                <a:ln>
                  <a:noFill/>
                </a:ln>
                <a:solidFill>
                  <a:srgbClr val="000000"/>
                </a:solidFill>
                <a:effectLst/>
                <a:latin typeface="Helvetica Neue" charset="0"/>
                <a:ea typeface="Helvetica Neue" charset="0"/>
                <a:cs typeface="Helvetica Neue" charset="0"/>
                <a:sym typeface="Helvetica Neue" charset="0"/>
              </a:rPr>
              <a:t>This is just selection sort!</a:t>
            </a:r>
            <a:endParaRPr kumimoji="0" lang="en-US" sz="2400" b="0" i="0" u="none" strike="noStrike" cap="none" normalizeH="0" baseline="0" dirty="0" smtClean="0">
              <a:ln>
                <a:noFill/>
              </a:ln>
              <a:solidFill>
                <a:srgbClr val="000000"/>
              </a:solidFill>
              <a:effectLst/>
              <a:latin typeface="Helvetica Neue" charset="0"/>
              <a:ea typeface="Helvetica Neue" charset="0"/>
              <a:cs typeface="Helvetica Neue" charset="0"/>
              <a:sym typeface="Helvetica Neue" charset="0"/>
            </a:endParaRP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Complexity of </a:t>
            </a:r>
            <a:r>
              <a:rPr lang="en-US" dirty="0" err="1" smtClean="0"/>
              <a:t>Quicksort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52500" y="1981200"/>
            <a:ext cx="11722100" cy="6896100"/>
          </a:xfrm>
        </p:spPr>
        <p:txBody>
          <a:bodyPr/>
          <a:lstStyle/>
          <a:p>
            <a:r>
              <a:rPr lang="en-US" dirty="0" smtClean="0"/>
              <a:t>Worst-case complexity is </a:t>
            </a:r>
            <a:r>
              <a:rPr lang="en-US" i="1" dirty="0" smtClean="0"/>
              <a:t>O(n</a:t>
            </a:r>
            <a:r>
              <a:rPr lang="en-US" i="1" baseline="30000" dirty="0" smtClean="0"/>
              <a:t>2</a:t>
            </a:r>
            <a:r>
              <a:rPr lang="en-US" i="1" dirty="0" smtClean="0"/>
              <a:t>)</a:t>
            </a:r>
          </a:p>
          <a:p>
            <a:pPr lvl="1"/>
            <a:r>
              <a:rPr lang="en-US" dirty="0" smtClean="0"/>
              <a:t>if array is (largely) already sorted</a:t>
            </a:r>
          </a:p>
          <a:p>
            <a:r>
              <a:rPr lang="en-US" dirty="0" smtClean="0"/>
              <a:t>Best case complexity is </a:t>
            </a:r>
            <a:r>
              <a:rPr lang="en-US" i="1" dirty="0" smtClean="0"/>
              <a:t>O(n log n)</a:t>
            </a:r>
          </a:p>
          <a:p>
            <a:pPr lvl="1"/>
            <a:r>
              <a:rPr lang="en-US" dirty="0" smtClean="0"/>
              <a:t>if we are so lucky to pick the median each time as the pivot</a:t>
            </a:r>
          </a:p>
          <a:p>
            <a:pPr marL="1720850" lvl="4" indent="-514350"/>
            <a:endParaRPr lang="en-US" dirty="0" smtClean="0"/>
          </a:p>
          <a:p>
            <a:r>
              <a:rPr lang="en-US" dirty="0" smtClean="0"/>
              <a:t>What happens on average?</a:t>
            </a:r>
          </a:p>
          <a:p>
            <a:pPr lvl="1"/>
            <a:r>
              <a:rPr lang="en-US" dirty="0" smtClean="0"/>
              <a:t>if we add up the cost for </a:t>
            </a:r>
            <a:r>
              <a:rPr lang="en-US" i="1" dirty="0" smtClean="0"/>
              <a:t>each possible input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and divided by the number of possible inputs</a:t>
            </a:r>
          </a:p>
          <a:p>
            <a:pPr algn="ctr">
              <a:buNone/>
            </a:pPr>
            <a:r>
              <a:rPr lang="en-US" b="1" i="1" dirty="0" smtClean="0"/>
              <a:t>O(n log n)</a:t>
            </a:r>
          </a:p>
          <a:p>
            <a:pPr lvl="1">
              <a:buNone/>
            </a:pPr>
            <a:r>
              <a:rPr lang="en-US" dirty="0" smtClean="0"/>
              <a:t>This is what we expect if the array contains values selected at random</a:t>
            </a:r>
          </a:p>
          <a:p>
            <a:pPr lvl="2"/>
            <a:r>
              <a:rPr lang="en-US" dirty="0" smtClean="0"/>
              <a:t>but we may be unlucky and get </a:t>
            </a:r>
            <a:r>
              <a:rPr lang="en-US" i="1" dirty="0" smtClean="0"/>
              <a:t>O(n</a:t>
            </a:r>
            <a:r>
              <a:rPr lang="en-US" i="1" baseline="30000" dirty="0" smtClean="0"/>
              <a:t>2</a:t>
            </a:r>
            <a:r>
              <a:rPr lang="en-US" i="1" dirty="0" smtClean="0"/>
              <a:t>)</a:t>
            </a:r>
            <a:r>
              <a:rPr lang="en-US" dirty="0" smtClean="0"/>
              <a:t> !</a:t>
            </a:r>
          </a:p>
          <a:p>
            <a:endParaRPr lang="en-US" dirty="0" smtClean="0"/>
          </a:p>
          <a:p>
            <a:r>
              <a:rPr lang="en-US" dirty="0" smtClean="0"/>
              <a:t>This is called </a:t>
            </a:r>
            <a:r>
              <a:rPr lang="en-US" b="1" dirty="0" smtClean="0"/>
              <a:t>average-case complexity</a:t>
            </a:r>
          </a:p>
          <a:p>
            <a:pPr lvl="1">
              <a:buNone/>
            </a:pPr>
            <a:endParaRPr lang="en-US" dirty="0"/>
          </a:p>
        </p:txBody>
      </p:sp>
      <p:sp>
        <p:nvSpPr>
          <p:cNvPr id="4" name="Rectangular Callout 3"/>
          <p:cNvSpPr/>
          <p:nvPr/>
        </p:nvSpPr>
        <p:spPr bwMode="auto">
          <a:xfrm>
            <a:off x="9855200" y="1524000"/>
            <a:ext cx="2088072" cy="1092607"/>
          </a:xfrm>
          <a:prstGeom prst="wedgeRectCallout">
            <a:avLst>
              <a:gd name="adj1" fmla="val -182939"/>
              <a:gd name="adj2" fmla="val 20390"/>
            </a:avLst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wrap="none" lIns="45720" rIns="45720" anchor="ctr">
            <a:spAutoFit/>
          </a:bodyPr>
          <a:lstStyle/>
          <a:p>
            <a:pPr>
              <a:defRPr/>
            </a:pPr>
            <a:r>
              <a:rPr lang="en-US" sz="2000" b="0" u="sng" dirty="0" err="1" smtClean="0"/>
              <a:t>QUICK</a:t>
            </a:r>
            <a:r>
              <a:rPr lang="en-US" sz="2000" b="0" dirty="0" err="1" smtClean="0"/>
              <a:t>sort</a:t>
            </a:r>
            <a:r>
              <a:rPr lang="en-US" sz="2000" b="0" dirty="0" smtClean="0"/>
              <a:t> ?!</a:t>
            </a:r>
          </a:p>
          <a:p>
            <a:pPr>
              <a:spcBef>
                <a:spcPts val="600"/>
              </a:spcBef>
              <a:defRPr/>
            </a:pPr>
            <a:r>
              <a:rPr lang="en-US" sz="2000" b="0" dirty="0" smtClean="0"/>
              <a:t>A blatant case of</a:t>
            </a:r>
            <a:br>
              <a:rPr lang="en-US" sz="2000" b="0" dirty="0" smtClean="0"/>
            </a:br>
            <a:r>
              <a:rPr lang="en-US" sz="2000" b="0" dirty="0" smtClean="0"/>
              <a:t>false advertising?</a:t>
            </a:r>
            <a:endParaRPr lang="en-US" sz="2000" b="0" dirty="0"/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Complexity of </a:t>
            </a:r>
            <a:r>
              <a:rPr lang="en-US" dirty="0" err="1" smtClean="0"/>
              <a:t>Quicksort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52500" y="1981200"/>
            <a:ext cx="11722100" cy="6896100"/>
          </a:xfrm>
        </p:spPr>
        <p:txBody>
          <a:bodyPr/>
          <a:lstStyle/>
          <a:p>
            <a:r>
              <a:rPr lang="en-US" dirty="0" smtClean="0"/>
              <a:t>Worst-case complexity is </a:t>
            </a:r>
            <a:r>
              <a:rPr lang="en-US" i="1" dirty="0" smtClean="0"/>
              <a:t>O(n</a:t>
            </a:r>
            <a:r>
              <a:rPr lang="en-US" i="1" baseline="30000" dirty="0" smtClean="0"/>
              <a:t>2</a:t>
            </a:r>
            <a:r>
              <a:rPr lang="en-US" i="1" dirty="0" smtClean="0"/>
              <a:t>)</a:t>
            </a:r>
          </a:p>
          <a:p>
            <a:pPr lvl="1"/>
            <a:r>
              <a:rPr lang="en-US" dirty="0" smtClean="0"/>
              <a:t>if array is (largely) already sorted</a:t>
            </a:r>
          </a:p>
          <a:p>
            <a:r>
              <a:rPr lang="en-US" dirty="0" smtClean="0"/>
              <a:t>Best case complexity is </a:t>
            </a:r>
            <a:r>
              <a:rPr lang="en-US" i="1" dirty="0" smtClean="0"/>
              <a:t>O(n log n)</a:t>
            </a:r>
          </a:p>
          <a:p>
            <a:pPr lvl="1"/>
            <a:r>
              <a:rPr lang="en-US" dirty="0" smtClean="0"/>
              <a:t>if we are so lucky to pick the median each time as the pivot</a:t>
            </a:r>
          </a:p>
          <a:p>
            <a:r>
              <a:rPr lang="en-US" dirty="0" smtClean="0"/>
              <a:t>Average-case complexity is </a:t>
            </a:r>
            <a:r>
              <a:rPr lang="en-US" i="1" dirty="0" smtClean="0"/>
              <a:t>O(n log n)</a:t>
            </a:r>
          </a:p>
          <a:p>
            <a:pPr lvl="1"/>
            <a:r>
              <a:rPr lang="en-US" b="1" dirty="0" smtClean="0"/>
              <a:t>if we are not too unlucky</a:t>
            </a:r>
          </a:p>
          <a:p>
            <a:endParaRPr lang="en-US" dirty="0" smtClean="0"/>
          </a:p>
          <a:p>
            <a:r>
              <a:rPr lang="en-US" dirty="0" smtClean="0"/>
              <a:t>In practice, </a:t>
            </a:r>
            <a:r>
              <a:rPr lang="en-US" dirty="0" err="1" smtClean="0"/>
              <a:t>quicksort</a:t>
            </a:r>
            <a:r>
              <a:rPr lang="en-US" dirty="0" smtClean="0"/>
              <a:t> is pretty fast,</a:t>
            </a:r>
          </a:p>
          <a:p>
            <a:pPr lvl="1"/>
            <a:r>
              <a:rPr lang="en-US" dirty="0" smtClean="0"/>
              <a:t>often outperforms </a:t>
            </a:r>
            <a:r>
              <a:rPr lang="en-US" dirty="0" err="1" smtClean="0"/>
              <a:t>mergesort</a:t>
            </a:r>
            <a:endParaRPr lang="en-US" dirty="0" smtClean="0"/>
          </a:p>
          <a:p>
            <a:pPr lvl="1"/>
            <a:r>
              <a:rPr lang="en-US" dirty="0" smtClean="0"/>
              <a:t>and it is in-place!</a:t>
            </a:r>
          </a:p>
        </p:txBody>
      </p:sp>
      <p:sp>
        <p:nvSpPr>
          <p:cNvPr id="4" name="Rectangular Callout 3"/>
          <p:cNvSpPr/>
          <p:nvPr/>
        </p:nvSpPr>
        <p:spPr bwMode="auto">
          <a:xfrm>
            <a:off x="10132534" y="5841593"/>
            <a:ext cx="2084866" cy="1092607"/>
          </a:xfrm>
          <a:prstGeom prst="wedgeRectCallout">
            <a:avLst>
              <a:gd name="adj1" fmla="val -166619"/>
              <a:gd name="adj2" fmla="val -21455"/>
            </a:avLst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wrap="none" lIns="45720" rIns="45720" anchor="ctr">
            <a:spAutoFit/>
          </a:bodyPr>
          <a:lstStyle/>
          <a:p>
            <a:pPr>
              <a:defRPr/>
            </a:pPr>
            <a:r>
              <a:rPr lang="en-US" sz="2000" b="0" u="sng" dirty="0" err="1" smtClean="0"/>
              <a:t>quick</a:t>
            </a:r>
            <a:r>
              <a:rPr lang="en-US" sz="2000" b="0" dirty="0" err="1" smtClean="0"/>
              <a:t>sort</a:t>
            </a:r>
            <a:r>
              <a:rPr lang="en-US" sz="2000" b="0" dirty="0" smtClean="0"/>
              <a:t> ?!</a:t>
            </a:r>
          </a:p>
          <a:p>
            <a:pPr>
              <a:spcBef>
                <a:spcPts val="600"/>
              </a:spcBef>
              <a:defRPr/>
            </a:pPr>
            <a:r>
              <a:rPr lang="en-US" sz="2000" b="0" dirty="0" smtClean="0"/>
              <a:t>Maybe there is</a:t>
            </a:r>
            <a:br>
              <a:rPr lang="en-US" sz="2000" b="0" dirty="0" smtClean="0"/>
            </a:br>
            <a:r>
              <a:rPr lang="en-US" sz="2000" b="0" dirty="0" smtClean="0"/>
              <a:t>something to it …</a:t>
            </a:r>
            <a:endParaRPr lang="en-US" sz="2000" b="0" dirty="0"/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Selecting the Pivot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How is the pivot chosen in practice?</a:t>
            </a:r>
          </a:p>
          <a:p>
            <a:endParaRPr lang="en-US" dirty="0" smtClean="0"/>
          </a:p>
          <a:p>
            <a:r>
              <a:rPr lang="en-US" dirty="0" smtClean="0"/>
              <a:t>Common ways:</a:t>
            </a:r>
          </a:p>
          <a:p>
            <a:pPr lvl="1"/>
            <a:r>
              <a:rPr lang="en-US" dirty="0" smtClean="0"/>
              <a:t>Pick A[lo]</a:t>
            </a:r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Choose an index </a:t>
            </a:r>
            <a:r>
              <a:rPr lang="en-US" dirty="0" err="1" smtClean="0"/>
              <a:t>i</a:t>
            </a:r>
            <a:r>
              <a:rPr lang="en-US" dirty="0" smtClean="0"/>
              <a:t> at random and pick A[</a:t>
            </a:r>
            <a:r>
              <a:rPr lang="en-US" dirty="0" err="1" smtClean="0"/>
              <a:t>i</a:t>
            </a:r>
            <a:r>
              <a:rPr lang="en-US" dirty="0" smtClean="0"/>
              <a:t>]</a:t>
            </a:r>
          </a:p>
          <a:p>
            <a:pPr lvl="1"/>
            <a:endParaRPr lang="en-US" dirty="0" smtClean="0"/>
          </a:p>
          <a:p>
            <a:pPr lvl="1"/>
            <a:r>
              <a:rPr lang="en-US" dirty="0" smtClean="0"/>
              <a:t>Choose 3 indices i1, i2 and i3,</a:t>
            </a:r>
            <a:br>
              <a:rPr lang="en-US" dirty="0" smtClean="0"/>
            </a:br>
            <a:r>
              <a:rPr lang="en-US" dirty="0" smtClean="0"/>
              <a:t>and pick the median of A[i1], A[i2] and A[i3]</a:t>
            </a:r>
            <a:endParaRPr lang="en-US" dirty="0"/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Comparing Sorting Algorithms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Three algorithms to solve the </a:t>
            </a:r>
            <a:r>
              <a:rPr lang="en-US" b="1" dirty="0" smtClean="0"/>
              <a:t>same problem</a:t>
            </a:r>
          </a:p>
          <a:p>
            <a:pPr lvl="2"/>
            <a:r>
              <a:rPr lang="en-US" dirty="0" smtClean="0"/>
              <a:t>and there are many more!</a:t>
            </a:r>
          </a:p>
          <a:p>
            <a:pPr lvl="1"/>
            <a:r>
              <a:rPr lang="en-US" dirty="0" err="1" smtClean="0"/>
              <a:t>mergesort</a:t>
            </a:r>
            <a:r>
              <a:rPr lang="en-US" dirty="0" smtClean="0"/>
              <a:t> is asymptotically faster: </a:t>
            </a:r>
            <a:r>
              <a:rPr lang="en-US" i="1" dirty="0" smtClean="0"/>
              <a:t>O(n log n)</a:t>
            </a:r>
            <a:r>
              <a:rPr lang="en-US" dirty="0" smtClean="0"/>
              <a:t> vs. </a:t>
            </a:r>
            <a:r>
              <a:rPr lang="en-US" i="1" dirty="0" smtClean="0"/>
              <a:t>O(n</a:t>
            </a:r>
            <a:r>
              <a:rPr lang="en-US" i="1" baseline="30000" dirty="0" smtClean="0"/>
              <a:t>2</a:t>
            </a:r>
            <a:r>
              <a:rPr lang="en-US" i="1" dirty="0" smtClean="0"/>
              <a:t>)</a:t>
            </a:r>
          </a:p>
          <a:p>
            <a:pPr lvl="1"/>
            <a:r>
              <a:rPr lang="en-US" dirty="0" smtClean="0"/>
              <a:t>selection sort and </a:t>
            </a:r>
            <a:r>
              <a:rPr lang="en-US" dirty="0" err="1" smtClean="0"/>
              <a:t>quicksort</a:t>
            </a:r>
            <a:r>
              <a:rPr lang="en-US" dirty="0" smtClean="0"/>
              <a:t> are in-place but merge sort is not</a:t>
            </a:r>
          </a:p>
          <a:p>
            <a:pPr lvl="1"/>
            <a:r>
              <a:rPr lang="en-US" dirty="0" err="1" smtClean="0"/>
              <a:t>quicksort</a:t>
            </a:r>
            <a:r>
              <a:rPr lang="en-US" dirty="0" smtClean="0"/>
              <a:t> is </a:t>
            </a:r>
            <a:r>
              <a:rPr lang="en-US" b="1" i="1" dirty="0" smtClean="0"/>
              <a:t>on average </a:t>
            </a:r>
            <a:r>
              <a:rPr lang="en-US" dirty="0" smtClean="0"/>
              <a:t>as fast as </a:t>
            </a:r>
            <a:r>
              <a:rPr lang="en-US" dirty="0" err="1" smtClean="0"/>
              <a:t>mergesort</a:t>
            </a:r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2"/>
            <a:endParaRPr lang="en-US" dirty="0" smtClean="0"/>
          </a:p>
          <a:p>
            <a:pPr lvl="2"/>
            <a:endParaRPr lang="en-US" dirty="0" smtClean="0"/>
          </a:p>
          <a:p>
            <a:pPr lvl="2"/>
            <a:endParaRPr lang="en-US" dirty="0" smtClean="0"/>
          </a:p>
          <a:p>
            <a:pPr lvl="2"/>
            <a:endParaRPr lang="en-US" dirty="0" smtClean="0"/>
          </a:p>
          <a:p>
            <a:r>
              <a:rPr lang="en-US" i="1" dirty="0" smtClean="0"/>
              <a:t>Exercises:</a:t>
            </a:r>
          </a:p>
          <a:p>
            <a:pPr lvl="1"/>
            <a:r>
              <a:rPr lang="en-US" i="1" dirty="0" smtClean="0"/>
              <a:t>Check that selection sort and </a:t>
            </a:r>
            <a:r>
              <a:rPr lang="en-US" i="1" dirty="0" err="1" smtClean="0"/>
              <a:t>mergesort</a:t>
            </a:r>
            <a:r>
              <a:rPr lang="en-US" i="1" dirty="0" smtClean="0"/>
              <a:t> have the given average-case complexity</a:t>
            </a:r>
          </a:p>
          <a:p>
            <a:pPr lvl="2"/>
            <a:r>
              <a:rPr lang="en-US" i="1" dirty="0" smtClean="0"/>
              <a:t>Hint: there is no luck involved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006600" y="4876800"/>
          <a:ext cx="8991600" cy="224028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76400"/>
                <a:gridCol w="2438400"/>
                <a:gridCol w="2457450"/>
                <a:gridCol w="2419350"/>
              </a:tblGrid>
              <a:tr h="370840">
                <a:tc>
                  <a:txBody>
                    <a:bodyPr/>
                    <a:lstStyle/>
                    <a:p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>
                          <a:solidFill>
                            <a:schemeClr val="tx1"/>
                          </a:solidFill>
                        </a:rPr>
                        <a:t>Selection</a:t>
                      </a:r>
                      <a:r>
                        <a:rPr lang="en-US" b="1" baseline="0" dirty="0" smtClean="0">
                          <a:solidFill>
                            <a:schemeClr val="tx1"/>
                          </a:solidFill>
                        </a:rPr>
                        <a:t> sort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 smtClean="0">
                          <a:solidFill>
                            <a:schemeClr val="tx1"/>
                          </a:solidFill>
                        </a:rPr>
                        <a:t>Mergesort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 smtClean="0">
                          <a:solidFill>
                            <a:schemeClr val="tx1"/>
                          </a:solidFill>
                        </a:rPr>
                        <a:t>Quicksort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chemeClr val="tx1"/>
                          </a:solidFill>
                        </a:rPr>
                        <a:t>Worst-case</a:t>
                      </a:r>
                      <a:r>
                        <a:rPr lang="en-US" b="1" baseline="0" dirty="0" smtClean="0">
                          <a:solidFill>
                            <a:schemeClr val="tx1"/>
                          </a:solidFill>
                        </a:rPr>
                        <a:t/>
                      </a:r>
                      <a:br>
                        <a:rPr lang="en-US" b="1" baseline="0" dirty="0" smtClean="0">
                          <a:solidFill>
                            <a:schemeClr val="tx1"/>
                          </a:solidFill>
                        </a:rPr>
                      </a:br>
                      <a:r>
                        <a:rPr lang="en-US" b="1" baseline="0" dirty="0" smtClean="0">
                          <a:solidFill>
                            <a:schemeClr val="tx1"/>
                          </a:solidFill>
                        </a:rPr>
                        <a:t>complexity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 smtClean="0">
                          <a:solidFill>
                            <a:schemeClr val="tx1"/>
                          </a:solidFill>
                        </a:rPr>
                        <a:t>O(n</a:t>
                      </a:r>
                      <a:r>
                        <a:rPr lang="en-US" b="0" i="1" baseline="300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en-US" b="0" i="1" dirty="0" smtClean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 smtClean="0">
                          <a:solidFill>
                            <a:schemeClr val="tx1"/>
                          </a:solidFill>
                        </a:rPr>
                        <a:t>O(n log n)</a:t>
                      </a:r>
                      <a:endParaRPr 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 smtClean="0">
                          <a:solidFill>
                            <a:schemeClr val="tx1"/>
                          </a:solidFill>
                        </a:rPr>
                        <a:t>O(n</a:t>
                      </a:r>
                      <a:r>
                        <a:rPr lang="en-US" b="0" i="1" baseline="300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en-US" b="0" i="1" dirty="0" smtClean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89280"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chemeClr val="tx1"/>
                          </a:solidFill>
                        </a:rPr>
                        <a:t>In-place?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Yes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No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Yes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chemeClr val="tx1"/>
                          </a:solidFill>
                        </a:rPr>
                        <a:t>Average-case</a:t>
                      </a:r>
                      <a:br>
                        <a:rPr lang="en-US" b="1" dirty="0" smtClean="0">
                          <a:solidFill>
                            <a:schemeClr val="tx1"/>
                          </a:solidFill>
                        </a:rPr>
                      </a:br>
                      <a:r>
                        <a:rPr lang="en-US" b="1" dirty="0" smtClean="0">
                          <a:solidFill>
                            <a:schemeClr val="tx1"/>
                          </a:solidFill>
                        </a:rPr>
                        <a:t>complexity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 smtClean="0">
                          <a:solidFill>
                            <a:schemeClr val="tx1"/>
                          </a:solidFill>
                        </a:rPr>
                        <a:t>O(n</a:t>
                      </a:r>
                      <a:r>
                        <a:rPr lang="en-US" b="0" i="1" baseline="300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en-US" b="0" i="1" dirty="0" smtClean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 smtClean="0">
                          <a:solidFill>
                            <a:schemeClr val="tx1"/>
                          </a:solidFill>
                        </a:rPr>
                        <a:t>O(n log n)</a:t>
                      </a:r>
                      <a:endParaRPr 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 smtClean="0">
                          <a:solidFill>
                            <a:schemeClr val="tx1"/>
                          </a:solidFill>
                        </a:rPr>
                        <a:t>O(n log n)</a:t>
                      </a:r>
                      <a:endParaRPr 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Stable Sorting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creenshot_2019-02-09 Gradescope Review Grad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02400" y="4495800"/>
            <a:ext cx="6086475" cy="4905375"/>
          </a:xfrm>
          <a:prstGeom prst="rect">
            <a:avLst/>
          </a:prstGeom>
          <a:ln w="12700">
            <a:solidFill>
              <a:schemeClr val="tx1"/>
            </a:solidFill>
            <a:prstDash val="lgDash"/>
          </a:ln>
        </p:spPr>
      </p:pic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Sorting in Practice</a:t>
            </a:r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We are not interested in sorting just numbers</a:t>
            </a:r>
          </a:p>
          <a:p>
            <a:pPr lvl="1"/>
            <a:r>
              <a:rPr lang="en-US" dirty="0" smtClean="0"/>
              <a:t>also strings, characters, etc</a:t>
            </a:r>
          </a:p>
          <a:p>
            <a:r>
              <a:rPr lang="en-US" dirty="0" smtClean="0"/>
              <a:t>and </a:t>
            </a:r>
            <a:r>
              <a:rPr lang="en-US" b="1" dirty="0" smtClean="0"/>
              <a:t>records</a:t>
            </a:r>
          </a:p>
          <a:p>
            <a:pPr lvl="1"/>
            <a:r>
              <a:rPr lang="en-US" dirty="0" smtClean="0"/>
              <a:t>e.g., student records</a:t>
            </a:r>
            <a:br>
              <a:rPr lang="en-US" dirty="0" smtClean="0"/>
            </a:br>
            <a:r>
              <a:rPr lang="en-US" dirty="0" smtClean="0"/>
              <a:t>in </a:t>
            </a:r>
            <a:r>
              <a:rPr lang="en-US" dirty="0" smtClean="0"/>
              <a:t>tabular form</a:t>
            </a:r>
            <a:endParaRPr lang="en-US" dirty="0" smtClean="0"/>
          </a:p>
        </p:txBody>
      </p:sp>
      <p:sp>
        <p:nvSpPr>
          <p:cNvPr id="7" name="Oval 6"/>
          <p:cNvSpPr>
            <a:spLocks noChangeArrowheads="1"/>
          </p:cNvSpPr>
          <p:nvPr/>
        </p:nvSpPr>
        <p:spPr bwMode="auto">
          <a:xfrm>
            <a:off x="7645400" y="4495800"/>
            <a:ext cx="381000" cy="381000"/>
          </a:xfrm>
          <a:prstGeom prst="ellipse">
            <a:avLst/>
          </a:prstGeom>
          <a:noFill/>
          <a:ln w="38100" algn="ctr">
            <a:solidFill>
              <a:srgbClr val="FF0000"/>
            </a:solidFill>
            <a:miter lim="400000"/>
            <a:headEnd/>
            <a:tailEnd/>
          </a:ln>
        </p:spPr>
        <p:txBody>
          <a:bodyPr lIns="45720" rIns="45720" anchor="ctr"/>
          <a:lstStyle/>
          <a:p>
            <a:endParaRPr lang="en-US" sz="2000" b="0"/>
          </a:p>
        </p:txBody>
      </p:sp>
      <p:sp>
        <p:nvSpPr>
          <p:cNvPr id="6" name="Rectangular Callout 5"/>
          <p:cNvSpPr/>
          <p:nvPr/>
        </p:nvSpPr>
        <p:spPr bwMode="auto">
          <a:xfrm>
            <a:off x="11150600" y="3124200"/>
            <a:ext cx="1147109" cy="707886"/>
          </a:xfrm>
          <a:prstGeom prst="wedgeRectCallout">
            <a:avLst>
              <a:gd name="adj1" fmla="val -40293"/>
              <a:gd name="adj2" fmla="val 141704"/>
            </a:avLst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wrap="none" lIns="45720" rIns="45720" anchor="ctr">
            <a:spAutoFit/>
          </a:bodyPr>
          <a:lstStyle/>
          <a:p>
            <a:pPr>
              <a:defRPr/>
            </a:pPr>
            <a:r>
              <a:rPr lang="en-US" sz="2000" b="0" dirty="0" smtClean="0"/>
              <a:t>sorting</a:t>
            </a:r>
            <a:br>
              <a:rPr lang="en-US" sz="2000" b="0" dirty="0" smtClean="0"/>
            </a:br>
            <a:r>
              <a:rPr lang="en-US" sz="2000" b="0" dirty="0" smtClean="0"/>
              <a:t>algorithm</a:t>
            </a:r>
            <a:endParaRPr lang="en-US" sz="2000" b="0" i="1" dirty="0"/>
          </a:p>
        </p:txBody>
      </p:sp>
      <p:sp>
        <p:nvSpPr>
          <p:cNvPr id="9" name="Oval 8"/>
          <p:cNvSpPr>
            <a:spLocks noChangeArrowheads="1"/>
          </p:cNvSpPr>
          <p:nvPr/>
        </p:nvSpPr>
        <p:spPr bwMode="auto">
          <a:xfrm>
            <a:off x="8636000" y="4495800"/>
            <a:ext cx="381000" cy="381000"/>
          </a:xfrm>
          <a:prstGeom prst="ellipse">
            <a:avLst/>
          </a:prstGeom>
          <a:noFill/>
          <a:ln w="38100" algn="ctr">
            <a:solidFill>
              <a:srgbClr val="FF0000"/>
            </a:solidFill>
            <a:miter lim="400000"/>
            <a:headEnd/>
            <a:tailEnd/>
          </a:ln>
        </p:spPr>
        <p:txBody>
          <a:bodyPr lIns="45720" rIns="45720" anchor="ctr"/>
          <a:lstStyle/>
          <a:p>
            <a:endParaRPr lang="en-US" sz="2000" b="0"/>
          </a:p>
        </p:txBody>
      </p:sp>
      <p:sp>
        <p:nvSpPr>
          <p:cNvPr id="10" name="Oval 9"/>
          <p:cNvSpPr>
            <a:spLocks noChangeArrowheads="1"/>
          </p:cNvSpPr>
          <p:nvPr/>
        </p:nvSpPr>
        <p:spPr bwMode="auto">
          <a:xfrm>
            <a:off x="9550400" y="4495800"/>
            <a:ext cx="381000" cy="381000"/>
          </a:xfrm>
          <a:prstGeom prst="ellipse">
            <a:avLst/>
          </a:prstGeom>
          <a:noFill/>
          <a:ln w="38100" algn="ctr">
            <a:solidFill>
              <a:srgbClr val="FF0000"/>
            </a:solidFill>
            <a:miter lim="400000"/>
            <a:headEnd/>
            <a:tailEnd/>
          </a:ln>
        </p:spPr>
        <p:txBody>
          <a:bodyPr lIns="45720" rIns="45720" anchor="ctr"/>
          <a:lstStyle/>
          <a:p>
            <a:endParaRPr lang="en-US" sz="2000" b="0"/>
          </a:p>
        </p:txBody>
      </p:sp>
      <p:sp>
        <p:nvSpPr>
          <p:cNvPr id="11" name="Oval 10"/>
          <p:cNvSpPr>
            <a:spLocks noChangeArrowheads="1"/>
          </p:cNvSpPr>
          <p:nvPr/>
        </p:nvSpPr>
        <p:spPr bwMode="auto">
          <a:xfrm>
            <a:off x="10312400" y="4495800"/>
            <a:ext cx="381000" cy="381000"/>
          </a:xfrm>
          <a:prstGeom prst="ellipse">
            <a:avLst/>
          </a:prstGeom>
          <a:noFill/>
          <a:ln w="38100" algn="ctr">
            <a:solidFill>
              <a:srgbClr val="FF0000"/>
            </a:solidFill>
            <a:miter lim="400000"/>
            <a:headEnd/>
            <a:tailEnd/>
          </a:ln>
        </p:spPr>
        <p:txBody>
          <a:bodyPr lIns="45720" rIns="45720" anchor="ctr"/>
          <a:lstStyle/>
          <a:p>
            <a:endParaRPr lang="en-US" sz="2000" dirty="0"/>
          </a:p>
        </p:txBody>
      </p:sp>
      <p:sp>
        <p:nvSpPr>
          <p:cNvPr id="12" name="Oval 11"/>
          <p:cNvSpPr>
            <a:spLocks noChangeArrowheads="1"/>
          </p:cNvSpPr>
          <p:nvPr/>
        </p:nvSpPr>
        <p:spPr bwMode="auto">
          <a:xfrm>
            <a:off x="11074400" y="4495800"/>
            <a:ext cx="381000" cy="381000"/>
          </a:xfrm>
          <a:prstGeom prst="ellipse">
            <a:avLst/>
          </a:prstGeom>
          <a:noFill/>
          <a:ln w="38100" algn="ctr">
            <a:solidFill>
              <a:srgbClr val="FF0000"/>
            </a:solidFill>
            <a:miter lim="400000"/>
            <a:headEnd/>
            <a:tailEnd/>
          </a:ln>
        </p:spPr>
        <p:txBody>
          <a:bodyPr lIns="45720" rIns="45720" anchor="ctr"/>
          <a:lstStyle/>
          <a:p>
            <a:endParaRPr lang="en-US" sz="2000" dirty="0"/>
          </a:p>
        </p:txBody>
      </p:sp>
      <p:sp>
        <p:nvSpPr>
          <p:cNvPr id="13" name="Rectangular Callout 12"/>
          <p:cNvSpPr/>
          <p:nvPr/>
        </p:nvSpPr>
        <p:spPr bwMode="auto">
          <a:xfrm>
            <a:off x="11150600" y="3124200"/>
            <a:ext cx="1147109" cy="707886"/>
          </a:xfrm>
          <a:prstGeom prst="wedgeRectCallout">
            <a:avLst>
              <a:gd name="adj1" fmla="val -95907"/>
              <a:gd name="adj2" fmla="val 141704"/>
            </a:avLst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wrap="none" lIns="45720" rIns="45720" anchor="ctr">
            <a:spAutoFit/>
          </a:bodyPr>
          <a:lstStyle/>
          <a:p>
            <a:pPr>
              <a:defRPr/>
            </a:pPr>
            <a:r>
              <a:rPr lang="en-US" sz="2000" b="0" dirty="0" smtClean="0"/>
              <a:t>sorting</a:t>
            </a:r>
            <a:br>
              <a:rPr lang="en-US" sz="2000" b="0" dirty="0" smtClean="0"/>
            </a:br>
            <a:r>
              <a:rPr lang="en-US" sz="2000" b="0" dirty="0" smtClean="0"/>
              <a:t>algorithm</a:t>
            </a:r>
            <a:endParaRPr lang="en-US" sz="2000" b="0" i="1" dirty="0"/>
          </a:p>
        </p:txBody>
      </p:sp>
      <p:sp>
        <p:nvSpPr>
          <p:cNvPr id="14" name="Rectangular Callout 13"/>
          <p:cNvSpPr/>
          <p:nvPr/>
        </p:nvSpPr>
        <p:spPr bwMode="auto">
          <a:xfrm>
            <a:off x="11150600" y="3124200"/>
            <a:ext cx="1147109" cy="707886"/>
          </a:xfrm>
          <a:prstGeom prst="wedgeRectCallout">
            <a:avLst>
              <a:gd name="adj1" fmla="val -160790"/>
              <a:gd name="adj2" fmla="val 147712"/>
            </a:avLst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wrap="none" lIns="45720" rIns="45720" anchor="ctr">
            <a:spAutoFit/>
          </a:bodyPr>
          <a:lstStyle/>
          <a:p>
            <a:pPr>
              <a:defRPr/>
            </a:pPr>
            <a:r>
              <a:rPr lang="en-US" sz="2000" b="0" dirty="0" smtClean="0"/>
              <a:t>sorting</a:t>
            </a:r>
            <a:br>
              <a:rPr lang="en-US" sz="2000" b="0" dirty="0" smtClean="0"/>
            </a:br>
            <a:r>
              <a:rPr lang="en-US" sz="2000" b="0" dirty="0" smtClean="0"/>
              <a:t>algorithm</a:t>
            </a:r>
            <a:endParaRPr lang="en-US" sz="2000" b="0" i="1" dirty="0"/>
          </a:p>
        </p:txBody>
      </p:sp>
      <p:sp>
        <p:nvSpPr>
          <p:cNvPr id="15" name="Rectangular Callout 14"/>
          <p:cNvSpPr/>
          <p:nvPr/>
        </p:nvSpPr>
        <p:spPr bwMode="auto">
          <a:xfrm>
            <a:off x="11150600" y="3124200"/>
            <a:ext cx="1147109" cy="707886"/>
          </a:xfrm>
          <a:prstGeom prst="wedgeRectCallout">
            <a:avLst>
              <a:gd name="adj1" fmla="val -239577"/>
              <a:gd name="adj2" fmla="val 144708"/>
            </a:avLst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wrap="none" lIns="45720" rIns="45720" anchor="ctr">
            <a:spAutoFit/>
          </a:bodyPr>
          <a:lstStyle/>
          <a:p>
            <a:pPr>
              <a:defRPr/>
            </a:pPr>
            <a:r>
              <a:rPr lang="en-US" sz="2000" b="0" dirty="0" smtClean="0"/>
              <a:t>sorting</a:t>
            </a:r>
            <a:br>
              <a:rPr lang="en-US" sz="2000" b="0" dirty="0" smtClean="0"/>
            </a:br>
            <a:r>
              <a:rPr lang="en-US" sz="2000" b="0" dirty="0" smtClean="0"/>
              <a:t>algorithm</a:t>
            </a:r>
            <a:endParaRPr lang="en-US" sz="2000" b="0" i="1" dirty="0"/>
          </a:p>
        </p:txBody>
      </p:sp>
      <p:sp>
        <p:nvSpPr>
          <p:cNvPr id="16" name="Rectangular Callout 15"/>
          <p:cNvSpPr/>
          <p:nvPr/>
        </p:nvSpPr>
        <p:spPr bwMode="auto">
          <a:xfrm>
            <a:off x="11150600" y="3124200"/>
            <a:ext cx="1147109" cy="707886"/>
          </a:xfrm>
          <a:prstGeom prst="wedgeRectCallout">
            <a:avLst>
              <a:gd name="adj1" fmla="val -322998"/>
              <a:gd name="adj2" fmla="val 149214"/>
            </a:avLst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wrap="none" lIns="45720" rIns="45720" anchor="ctr">
            <a:spAutoFit/>
          </a:bodyPr>
          <a:lstStyle/>
          <a:p>
            <a:pPr>
              <a:defRPr/>
            </a:pPr>
            <a:r>
              <a:rPr lang="en-US" sz="2000" b="0" dirty="0" smtClean="0"/>
              <a:t>sorting</a:t>
            </a:r>
            <a:br>
              <a:rPr lang="en-US" sz="2000" b="0" dirty="0" smtClean="0"/>
            </a:br>
            <a:r>
              <a:rPr lang="en-US" sz="2000" b="0" dirty="0" smtClean="0"/>
              <a:t>algorithm</a:t>
            </a:r>
            <a:endParaRPr lang="en-US" sz="2000" b="0" i="1" dirty="0"/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Stability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Say the </a:t>
            </a:r>
            <a:r>
              <a:rPr lang="en-US" dirty="0" smtClean="0"/>
              <a:t>table is </a:t>
            </a:r>
            <a:r>
              <a:rPr lang="en-US" dirty="0" smtClean="0"/>
              <a:t>already sorted by </a:t>
            </a:r>
            <a:r>
              <a:rPr lang="en-US" dirty="0" smtClean="0"/>
              <a:t>time,</a:t>
            </a:r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>and we sort it by </a:t>
            </a:r>
            <a:r>
              <a:rPr lang="en-US" dirty="0" smtClean="0"/>
              <a:t>score</a:t>
            </a:r>
            <a:endParaRPr lang="en-US" dirty="0" smtClean="0"/>
          </a:p>
          <a:p>
            <a:pPr lvl="4"/>
            <a:endParaRPr lang="en-US" dirty="0" smtClean="0"/>
          </a:p>
          <a:p>
            <a:r>
              <a:rPr lang="en-US" dirty="0" smtClean="0"/>
              <a:t>Two possible outcomes:</a:t>
            </a:r>
          </a:p>
          <a:p>
            <a:pPr marL="971550" lvl="1" indent="-514350">
              <a:buSzPct val="100000"/>
              <a:buFont typeface="+mj-lt"/>
              <a:buAutoNum type="alphaUcPeriod"/>
            </a:pPr>
            <a:r>
              <a:rPr lang="en-US" dirty="0" smtClean="0"/>
              <a:t>relative </a:t>
            </a:r>
            <a:r>
              <a:rPr lang="en-US" dirty="0" smtClean="0"/>
              <a:t>time order </a:t>
            </a:r>
            <a:r>
              <a:rPr lang="en-US" dirty="0" smtClean="0"/>
              <a:t>within each </a:t>
            </a:r>
            <a:r>
              <a:rPr lang="en-US" dirty="0" smtClean="0"/>
              <a:t>score is </a:t>
            </a:r>
            <a:r>
              <a:rPr lang="en-US" dirty="0" smtClean="0"/>
              <a:t>preserved</a:t>
            </a:r>
          </a:p>
          <a:p>
            <a:pPr marL="971550" lvl="1" indent="-514350">
              <a:buSzPct val="100000"/>
              <a:buFont typeface="+mj-lt"/>
              <a:buAutoNum type="alphaUcPeriod"/>
            </a:pPr>
            <a:r>
              <a:rPr lang="en-US" dirty="0" smtClean="0"/>
              <a:t>relative </a:t>
            </a:r>
            <a:r>
              <a:rPr lang="en-US" dirty="0" smtClean="0"/>
              <a:t>time order </a:t>
            </a:r>
            <a:r>
              <a:rPr lang="en-US" dirty="0" smtClean="0"/>
              <a:t>within each </a:t>
            </a:r>
            <a:r>
              <a:rPr lang="en-US" dirty="0" smtClean="0"/>
              <a:t>score is </a:t>
            </a:r>
            <a:r>
              <a:rPr lang="en-US" dirty="0" smtClean="0"/>
              <a:t>lost</a:t>
            </a:r>
          </a:p>
          <a:p>
            <a:pPr lvl="1"/>
            <a:endParaRPr lang="en-US" dirty="0" smtClean="0"/>
          </a:p>
          <a:p>
            <a:r>
              <a:rPr lang="en-US" dirty="0" smtClean="0"/>
              <a:t>A sorting algorithm that always does A is called </a:t>
            </a:r>
            <a:r>
              <a:rPr lang="en-US" b="1" dirty="0" smtClean="0"/>
              <a:t>stable</a:t>
            </a:r>
            <a:endParaRPr lang="en-US" dirty="0" smtClean="0"/>
          </a:p>
          <a:p>
            <a:pPr lvl="1"/>
            <a:r>
              <a:rPr lang="en-US" dirty="0" smtClean="0"/>
              <a:t>stable sorting is desirable for spreadsheets and other consumer-facing applications</a:t>
            </a:r>
          </a:p>
          <a:p>
            <a:pPr lvl="1"/>
            <a:r>
              <a:rPr lang="en-US" dirty="0" smtClean="0"/>
              <a:t>it is irrelevant for some other applications</a:t>
            </a:r>
          </a:p>
          <a:p>
            <a:pPr lvl="4"/>
            <a:endParaRPr lang="en-US" dirty="0" smtClean="0"/>
          </a:p>
          <a:p>
            <a:r>
              <a:rPr lang="en-US" dirty="0" smtClean="0"/>
              <a:t>New parameter to consider when choosing sorting algorithms</a:t>
            </a:r>
          </a:p>
        </p:txBody>
      </p:sp>
      <p:pic>
        <p:nvPicPr>
          <p:cNvPr id="4" name="Picture 3" descr="Screenshot_2019-02-09 Gradescope Review Grades(1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83600" y="152400"/>
            <a:ext cx="4419600" cy="3496328"/>
          </a:xfrm>
          <a:prstGeom prst="rect">
            <a:avLst/>
          </a:prstGeom>
          <a:ln w="12700">
            <a:solidFill>
              <a:schemeClr val="tx1"/>
            </a:solidFill>
            <a:prstDash val="lgDash"/>
          </a:ln>
        </p:spPr>
      </p:pic>
      <p:sp>
        <p:nvSpPr>
          <p:cNvPr id="5" name="Oval 4"/>
          <p:cNvSpPr>
            <a:spLocks noChangeArrowheads="1"/>
          </p:cNvSpPr>
          <p:nvPr/>
        </p:nvSpPr>
        <p:spPr bwMode="auto">
          <a:xfrm>
            <a:off x="9071934" y="131134"/>
            <a:ext cx="381000" cy="381000"/>
          </a:xfrm>
          <a:prstGeom prst="ellipse">
            <a:avLst/>
          </a:prstGeom>
          <a:noFill/>
          <a:ln w="38100" algn="ctr">
            <a:solidFill>
              <a:srgbClr val="FF0000"/>
            </a:solidFill>
            <a:miter lim="400000"/>
            <a:headEnd/>
            <a:tailEnd/>
          </a:ln>
        </p:spPr>
        <p:txBody>
          <a:bodyPr lIns="45720" rIns="45720" anchor="ctr"/>
          <a:lstStyle/>
          <a:p>
            <a:endParaRPr lang="en-US" sz="2000" b="0"/>
          </a:p>
        </p:txBody>
      </p:sp>
      <p:sp>
        <p:nvSpPr>
          <p:cNvPr id="6" name="TextBox 5"/>
          <p:cNvSpPr txBox="1"/>
          <p:nvPr/>
        </p:nvSpPr>
        <p:spPr>
          <a:xfrm>
            <a:off x="9931400" y="381000"/>
            <a:ext cx="1604928" cy="264687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600" b="0" dirty="0" smtClean="0">
                <a:solidFill>
                  <a:schemeClr val="tx1"/>
                </a:solidFill>
              </a:rPr>
              <a:t>A</a:t>
            </a:r>
            <a:endParaRPr lang="en-US" sz="16600" b="0" dirty="0" smtClean="0">
              <a:solidFill>
                <a:schemeClr val="tx1"/>
              </a:solidFill>
            </a:endParaRPr>
          </a:p>
        </p:txBody>
      </p:sp>
      <p:sp>
        <p:nvSpPr>
          <p:cNvPr id="7" name="Rectangular Callout 6"/>
          <p:cNvSpPr/>
          <p:nvPr/>
        </p:nvSpPr>
        <p:spPr bwMode="auto">
          <a:xfrm>
            <a:off x="11226800" y="4191000"/>
            <a:ext cx="1589538" cy="1323439"/>
          </a:xfrm>
          <a:prstGeom prst="wedgeRectCallout">
            <a:avLst>
              <a:gd name="adj1" fmla="val 20519"/>
              <a:gd name="adj2" fmla="val -90339"/>
            </a:avLst>
          </a:prstGeom>
          <a:solidFill>
            <a:schemeClr val="accent1">
              <a:lumMod val="20000"/>
              <a:lumOff val="80000"/>
            </a:schemeClr>
          </a:solidFill>
          <a:ln w="12700" cap="flat" cmpd="sng" algn="ctr">
            <a:solidFill>
              <a:srgbClr val="000000"/>
            </a:solidFill>
            <a:prstDash val="solid"/>
            <a:miter lim="400000"/>
            <a:headEnd type="none" w="med" len="med"/>
            <a:tailEnd type="none" w="med" len="med"/>
          </a:ln>
          <a:effectLst/>
        </p:spPr>
        <p:txBody>
          <a:bodyPr wrap="none" lIns="45720" rIns="45720" anchor="ctr">
            <a:spAutoFit/>
          </a:bodyPr>
          <a:lstStyle/>
          <a:p>
            <a:pPr>
              <a:defRPr/>
            </a:pPr>
            <a:r>
              <a:rPr lang="en-US" sz="2000" b="0" dirty="0" smtClean="0"/>
              <a:t>time ordering</a:t>
            </a:r>
            <a:r>
              <a:rPr lang="en-US" sz="2000" b="0" dirty="0" smtClean="0"/>
              <a:t/>
            </a:r>
            <a:br>
              <a:rPr lang="en-US" sz="2000" b="0" dirty="0" smtClean="0"/>
            </a:br>
            <a:r>
              <a:rPr lang="en-US" sz="2000" b="0" dirty="0" smtClean="0"/>
              <a:t>is </a:t>
            </a:r>
            <a:r>
              <a:rPr lang="en-US" sz="2000" dirty="0" smtClean="0"/>
              <a:t>preserved</a:t>
            </a:r>
            <a:r>
              <a:rPr lang="en-US" sz="2000" b="0" dirty="0" smtClean="0"/>
              <a:t/>
            </a:r>
            <a:br>
              <a:rPr lang="en-US" sz="2000" b="0" dirty="0" smtClean="0"/>
            </a:br>
            <a:r>
              <a:rPr lang="en-US" sz="2000" b="0" dirty="0" smtClean="0"/>
              <a:t>for any given</a:t>
            </a:r>
            <a:br>
              <a:rPr lang="en-US" sz="2000" b="0" dirty="0" smtClean="0"/>
            </a:br>
            <a:r>
              <a:rPr lang="en-US" sz="2000" b="0" dirty="0" smtClean="0"/>
              <a:t>score</a:t>
            </a:r>
            <a:endParaRPr lang="en-US" sz="2000" b="0" i="1" dirty="0"/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Comparing Sorting Algorithms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Three algorithms to solve the </a:t>
            </a:r>
            <a:r>
              <a:rPr lang="en-US" b="1" dirty="0" smtClean="0"/>
              <a:t>same problem</a:t>
            </a:r>
          </a:p>
          <a:p>
            <a:pPr lvl="1"/>
            <a:r>
              <a:rPr lang="en-US" dirty="0" err="1" smtClean="0"/>
              <a:t>mergesort</a:t>
            </a:r>
            <a:r>
              <a:rPr lang="en-US" dirty="0" smtClean="0"/>
              <a:t> is asymptotically faster: </a:t>
            </a:r>
            <a:r>
              <a:rPr lang="en-US" i="1" dirty="0" smtClean="0"/>
              <a:t>O(n log n)</a:t>
            </a:r>
            <a:r>
              <a:rPr lang="en-US" dirty="0" smtClean="0"/>
              <a:t> vs. </a:t>
            </a:r>
            <a:r>
              <a:rPr lang="en-US" i="1" dirty="0" smtClean="0"/>
              <a:t>O(n</a:t>
            </a:r>
            <a:r>
              <a:rPr lang="en-US" i="1" baseline="30000" dirty="0" smtClean="0"/>
              <a:t>2</a:t>
            </a:r>
            <a:r>
              <a:rPr lang="en-US" i="1" dirty="0" smtClean="0"/>
              <a:t>)</a:t>
            </a:r>
          </a:p>
          <a:p>
            <a:pPr lvl="1"/>
            <a:r>
              <a:rPr lang="en-US" dirty="0" smtClean="0"/>
              <a:t>selection sort and </a:t>
            </a:r>
            <a:r>
              <a:rPr lang="en-US" dirty="0" err="1" smtClean="0"/>
              <a:t>quicksort</a:t>
            </a:r>
            <a:r>
              <a:rPr lang="en-US" dirty="0" smtClean="0"/>
              <a:t> are in-place but merge sort is not</a:t>
            </a:r>
          </a:p>
          <a:p>
            <a:pPr lvl="1"/>
            <a:r>
              <a:rPr lang="en-US" dirty="0" err="1" smtClean="0"/>
              <a:t>quicksort</a:t>
            </a:r>
            <a:r>
              <a:rPr lang="en-US" dirty="0" smtClean="0"/>
              <a:t> is on average as fast as </a:t>
            </a:r>
            <a:r>
              <a:rPr lang="en-US" dirty="0" err="1" smtClean="0"/>
              <a:t>mergesort</a:t>
            </a:r>
            <a:endParaRPr lang="en-US" dirty="0" smtClean="0"/>
          </a:p>
          <a:p>
            <a:pPr lvl="1"/>
            <a:r>
              <a:rPr lang="en-US" dirty="0" err="1" smtClean="0"/>
              <a:t>mergesort</a:t>
            </a:r>
            <a:r>
              <a:rPr lang="en-US" dirty="0" smtClean="0"/>
              <a:t> is stable</a:t>
            </a:r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pPr lvl="1"/>
            <a:endParaRPr lang="en-US" dirty="0" smtClean="0"/>
          </a:p>
          <a:p>
            <a:r>
              <a:rPr lang="en-US" i="1" dirty="0" smtClean="0"/>
              <a:t>Exercises:</a:t>
            </a:r>
          </a:p>
          <a:p>
            <a:pPr lvl="1"/>
            <a:r>
              <a:rPr lang="en-US" i="1" dirty="0" smtClean="0"/>
              <a:t>check that </a:t>
            </a:r>
            <a:r>
              <a:rPr lang="en-US" i="1" dirty="0" err="1" smtClean="0"/>
              <a:t>mergesort</a:t>
            </a:r>
            <a:r>
              <a:rPr lang="en-US" i="1" dirty="0" smtClean="0"/>
              <a:t> is stable</a:t>
            </a:r>
          </a:p>
          <a:p>
            <a:pPr lvl="1"/>
            <a:r>
              <a:rPr lang="en-US" i="1" dirty="0" smtClean="0"/>
              <a:t>check that selection sort and </a:t>
            </a:r>
            <a:r>
              <a:rPr lang="en-US" i="1" dirty="0" err="1" smtClean="0"/>
              <a:t>quicksort</a:t>
            </a:r>
            <a:r>
              <a:rPr lang="en-US" i="1" dirty="0" smtClean="0"/>
              <a:t> are not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2006600" y="4800600"/>
          <a:ext cx="8991600" cy="2819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76400"/>
                <a:gridCol w="2438400"/>
                <a:gridCol w="2457450"/>
                <a:gridCol w="2419350"/>
              </a:tblGrid>
              <a:tr h="370840">
                <a:tc>
                  <a:txBody>
                    <a:bodyPr/>
                    <a:lstStyle/>
                    <a:p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smtClean="0">
                          <a:solidFill>
                            <a:schemeClr val="tx1"/>
                          </a:solidFill>
                        </a:rPr>
                        <a:t>Selection</a:t>
                      </a:r>
                      <a:r>
                        <a:rPr lang="en-US" b="1" baseline="0" dirty="0" smtClean="0">
                          <a:solidFill>
                            <a:schemeClr val="tx1"/>
                          </a:solidFill>
                        </a:rPr>
                        <a:t> sort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 smtClean="0">
                          <a:solidFill>
                            <a:schemeClr val="tx1"/>
                          </a:solidFill>
                        </a:rPr>
                        <a:t>Mergesort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 err="1" smtClean="0">
                          <a:solidFill>
                            <a:schemeClr val="tx1"/>
                          </a:solidFill>
                        </a:rPr>
                        <a:t>Quicksort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chemeClr val="tx1"/>
                          </a:solidFill>
                        </a:rPr>
                        <a:t>Worst-case</a:t>
                      </a:r>
                      <a:r>
                        <a:rPr lang="en-US" b="1" baseline="0" dirty="0" smtClean="0">
                          <a:solidFill>
                            <a:schemeClr val="tx1"/>
                          </a:solidFill>
                        </a:rPr>
                        <a:t/>
                      </a:r>
                      <a:br>
                        <a:rPr lang="en-US" b="1" baseline="0" dirty="0" smtClean="0">
                          <a:solidFill>
                            <a:schemeClr val="tx1"/>
                          </a:solidFill>
                        </a:rPr>
                      </a:br>
                      <a:r>
                        <a:rPr lang="en-US" b="1" baseline="0" dirty="0" smtClean="0">
                          <a:solidFill>
                            <a:schemeClr val="tx1"/>
                          </a:solidFill>
                        </a:rPr>
                        <a:t>complexity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 smtClean="0">
                          <a:solidFill>
                            <a:schemeClr val="tx1"/>
                          </a:solidFill>
                        </a:rPr>
                        <a:t>O(n</a:t>
                      </a:r>
                      <a:r>
                        <a:rPr lang="en-US" b="0" i="1" baseline="300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en-US" b="0" i="1" dirty="0" smtClean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 smtClean="0">
                          <a:solidFill>
                            <a:schemeClr val="tx1"/>
                          </a:solidFill>
                        </a:rPr>
                        <a:t>O(n log n)</a:t>
                      </a:r>
                      <a:endParaRPr 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 smtClean="0">
                          <a:solidFill>
                            <a:schemeClr val="tx1"/>
                          </a:solidFill>
                        </a:rPr>
                        <a:t>O(n</a:t>
                      </a:r>
                      <a:r>
                        <a:rPr lang="en-US" b="0" i="1" baseline="300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en-US" b="0" i="1" dirty="0" smtClean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89280"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chemeClr val="tx1"/>
                          </a:solidFill>
                        </a:rPr>
                        <a:t>In-place?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Yes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No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Yes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chemeClr val="tx1"/>
                          </a:solidFill>
                        </a:rPr>
                        <a:t>Average-case</a:t>
                      </a:r>
                      <a:br>
                        <a:rPr lang="en-US" b="1" dirty="0" smtClean="0">
                          <a:solidFill>
                            <a:schemeClr val="tx1"/>
                          </a:solidFill>
                        </a:rPr>
                      </a:br>
                      <a:r>
                        <a:rPr lang="en-US" b="1" dirty="0" smtClean="0">
                          <a:solidFill>
                            <a:schemeClr val="tx1"/>
                          </a:solidFill>
                        </a:rPr>
                        <a:t>complexity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 smtClean="0">
                          <a:solidFill>
                            <a:schemeClr val="tx1"/>
                          </a:solidFill>
                        </a:rPr>
                        <a:t>O(n</a:t>
                      </a:r>
                      <a:r>
                        <a:rPr lang="en-US" b="0" i="1" baseline="30000" dirty="0" smtClean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en-US" b="0" i="1" dirty="0" smtClean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 smtClean="0">
                          <a:solidFill>
                            <a:schemeClr val="tx1"/>
                          </a:solidFill>
                        </a:rPr>
                        <a:t>O(n log n)</a:t>
                      </a:r>
                      <a:endParaRPr 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0" i="1" dirty="0" smtClean="0">
                          <a:solidFill>
                            <a:schemeClr val="tx1"/>
                          </a:solidFill>
                        </a:rPr>
                        <a:t>O(n log n)</a:t>
                      </a:r>
                      <a:endParaRPr lang="en-US" b="0" i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  <a:tr h="579120">
                <a:tc>
                  <a:txBody>
                    <a:bodyPr/>
                    <a:lstStyle/>
                    <a:p>
                      <a:r>
                        <a:rPr lang="en-US" b="1" dirty="0" smtClean="0">
                          <a:solidFill>
                            <a:schemeClr val="tx1"/>
                          </a:solidFill>
                        </a:rPr>
                        <a:t>Stable?</a:t>
                      </a:r>
                      <a:endParaRPr lang="en-US" b="1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No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Yes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 smtClean="0">
                          <a:solidFill>
                            <a:schemeClr val="tx1"/>
                          </a:solidFill>
                        </a:rPr>
                        <a:t>No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White">
  <a:themeElements>
    <a:clrScheme name="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FFFFFF"/>
      </a:accent3>
      <a:accent4>
        <a:srgbClr val="000000"/>
      </a:accent4>
      <a:accent5>
        <a:srgbClr val="AACEFF"/>
      </a:accent5>
      <a:accent6>
        <a:srgbClr val="13D1BB"/>
      </a:accent6>
      <a:hlink>
        <a:srgbClr val="0000FF"/>
      </a:hlink>
      <a:folHlink>
        <a:srgbClr val="FF00FF"/>
      </a:folHlink>
    </a:clrScheme>
    <a:fontScheme name="White">
      <a:majorFont>
        <a:latin typeface="Helvetica Neue Medium"/>
        <a:ea typeface="Helvetica Neue Medium"/>
        <a:cs typeface="Helvetica Neue Medium"/>
      </a:majorFont>
      <a:minorFont>
        <a:latin typeface="Helvetica Neue"/>
        <a:ea typeface="Helvetica Neue"/>
        <a:cs typeface="Helvetica Neue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 w="25400" cap="flat" cmpd="sng" algn="ctr">
          <a:solidFill>
            <a:srgbClr val="000000"/>
          </a:solidFill>
          <a:prstDash val="solid"/>
          <a:miter lim="400000"/>
          <a:headEnd type="none" w="med" len="med"/>
          <a:tailEnd type="none" w="med" len="med"/>
        </a:ln>
        <a:effectLst/>
      </a:spPr>
      <a:bodyPr vert="horz" wrap="none" lIns="0" tIns="0" rIns="0" bIns="0" numCol="1" rtlCol="0" anchor="ctr" anchorCtr="0" compatLnSpc="1">
        <a:prstTxWarp prst="textNoShape">
          <a:avLst/>
        </a:prstTxWarp>
        <a:noAutofit/>
      </a:bodyPr>
      <a:lstStyle>
        <a:defPPr marL="0" marR="0" indent="0" algn="ctr" defTabSz="584200" rtl="0" eaLnBrk="1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sz="2400" b="1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Helvetica Neue" charset="0"/>
            <a:ea typeface="Helvetica Neue" charset="0"/>
            <a:cs typeface="Helvetica Neue" charset="0"/>
            <a:sym typeface="Helvetica Neue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25400" cap="flat" cmpd="sng" algn="ctr">
          <a:solidFill>
            <a:srgbClr val="000000"/>
          </a:solidFill>
          <a:prstDash val="solid"/>
          <a:miter lim="400000"/>
          <a:headEnd type="none" w="med" len="med"/>
          <a:tailEnd type="none" w="med" len="med"/>
        </a:ln>
        <a:effectLst/>
      </a:spPr>
      <a:bodyPr vert="horz" wrap="square" lIns="50800" tIns="50800" rIns="50800" bIns="50800" numCol="1" anchor="ctr" anchorCtr="0" compatLnSpc="1">
        <a:prstTxWarp prst="textNoShape">
          <a:avLst/>
        </a:prstTxWarp>
        <a:spAutoFit/>
      </a:bodyPr>
      <a:lstStyle>
        <a:defPPr marL="0" marR="0" indent="0" algn="ctr" defTabSz="584200" rtl="0" eaLnBrk="1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1" i="0" u="none" strike="noStrike" cap="none" normalizeH="0" baseline="0" smtClean="0">
            <a:ln>
              <a:noFill/>
            </a:ln>
            <a:solidFill>
              <a:srgbClr val="000000"/>
            </a:solidFill>
            <a:effectLst/>
            <a:latin typeface="Helvetica Neue" charset="0"/>
            <a:ea typeface="Helvetica Neue" charset="0"/>
            <a:cs typeface="Helvetica Neue" charset="0"/>
            <a:sym typeface="Helvetica Neue" charset="0"/>
          </a:defRPr>
        </a:defPPr>
      </a:lstStyle>
    </a:lnDef>
    <a:txDef>
      <a:spPr>
        <a:noFill/>
      </a:spPr>
      <a:bodyPr wrap="none" rtlCol="0">
        <a:spAutoFit/>
      </a:bodyPr>
      <a:lstStyle>
        <a:defPPr>
          <a:defRPr b="0" dirty="0" smtClean="0">
            <a:solidFill>
              <a:srgbClr val="C00000"/>
            </a:solidFill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5E5E5E"/>
      </a:dk2>
      <a:lt2>
        <a:srgbClr val="D6D5D5"/>
      </a:lt2>
      <a:accent1>
        <a:srgbClr val="00A2FF"/>
      </a:accent1>
      <a:accent2>
        <a:srgbClr val="16E7CF"/>
      </a:accent2>
      <a:accent3>
        <a:srgbClr val="FFFFFF"/>
      </a:accent3>
      <a:accent4>
        <a:srgbClr val="000000"/>
      </a:accent4>
      <a:accent5>
        <a:srgbClr val="AACEFF"/>
      </a:accent5>
      <a:accent6>
        <a:srgbClr val="13D1BB"/>
      </a:accent6>
      <a:hlink>
        <a:srgbClr val="0000FF"/>
      </a:hlink>
      <a:folHlink>
        <a:srgbClr val="FF00FF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4085</TotalTime>
  <Words>5569</Words>
  <PresentationFormat>Custom</PresentationFormat>
  <Paragraphs>1488</Paragraphs>
  <Slides>62</Slides>
  <Notes>0</Notes>
  <HiddenSlides>1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62</vt:i4>
      </vt:variant>
    </vt:vector>
  </HeadingPairs>
  <TitlesOfParts>
    <vt:vector size="63" baseType="lpstr">
      <vt:lpstr>White</vt:lpstr>
      <vt:lpstr>Sorting</vt:lpstr>
      <vt:lpstr>Slide 2</vt:lpstr>
      <vt:lpstr>Divide and Conquer</vt:lpstr>
      <vt:lpstr>Searching an n-element Array</vt:lpstr>
      <vt:lpstr>Sorting an n-element Array</vt:lpstr>
      <vt:lpstr>Sorting an n-element Array</vt:lpstr>
      <vt:lpstr>Recall Selection Sort</vt:lpstr>
      <vt:lpstr>Towards Mergesort</vt:lpstr>
      <vt:lpstr>Using Selection Sort</vt:lpstr>
      <vt:lpstr>Using Selection Sort Cleverly</vt:lpstr>
      <vt:lpstr>Using Selection Sort Cleverly</vt:lpstr>
      <vt:lpstr>Implementation</vt:lpstr>
      <vt:lpstr>Implementation</vt:lpstr>
      <vt:lpstr>Implementation</vt:lpstr>
      <vt:lpstr>Implementation</vt:lpstr>
      <vt:lpstr>Implementation</vt:lpstr>
      <vt:lpstr>Implementation</vt:lpstr>
      <vt:lpstr>Implementation</vt:lpstr>
      <vt:lpstr>merge</vt:lpstr>
      <vt:lpstr>Example merge</vt:lpstr>
      <vt:lpstr>merge</vt:lpstr>
      <vt:lpstr>merge</vt:lpstr>
      <vt:lpstr>Using Selection Sort Cleverly</vt:lpstr>
      <vt:lpstr>Mergesort</vt:lpstr>
      <vt:lpstr>Reflection</vt:lpstr>
      <vt:lpstr>A Recursive sort</vt:lpstr>
      <vt:lpstr>A Recursive sort</vt:lpstr>
      <vt:lpstr>A Recursive sort</vt:lpstr>
      <vt:lpstr>A Recursive sort</vt:lpstr>
      <vt:lpstr>A Recursive sort</vt:lpstr>
      <vt:lpstr>A Recursive sort</vt:lpstr>
      <vt:lpstr>Mergesort</vt:lpstr>
      <vt:lpstr>Complexity of Mergesort</vt:lpstr>
      <vt:lpstr>Complexity of Mergesort</vt:lpstr>
      <vt:lpstr>Comparing Sorting Algorithms</vt:lpstr>
      <vt:lpstr>Quicksort</vt:lpstr>
      <vt:lpstr>Reflections</vt:lpstr>
      <vt:lpstr>Reflections</vt:lpstr>
      <vt:lpstr>Reflections</vt:lpstr>
      <vt:lpstr>Partition</vt:lpstr>
      <vt:lpstr>Partition</vt:lpstr>
      <vt:lpstr>Partition</vt:lpstr>
      <vt:lpstr>Partition</vt:lpstr>
      <vt:lpstr>Quicksort</vt:lpstr>
      <vt:lpstr>Quicksort</vt:lpstr>
      <vt:lpstr>Quicksort</vt:lpstr>
      <vt:lpstr>How to partition</vt:lpstr>
      <vt:lpstr>Example partition</vt:lpstr>
      <vt:lpstr>How to partition</vt:lpstr>
      <vt:lpstr>merge</vt:lpstr>
      <vt:lpstr>How to partition</vt:lpstr>
      <vt:lpstr>Complexity of Quicksort</vt:lpstr>
      <vt:lpstr>Complexity of Quicksort</vt:lpstr>
      <vt:lpstr>Complexity of Quicksort</vt:lpstr>
      <vt:lpstr>Complexity of Quicksort</vt:lpstr>
      <vt:lpstr>Complexity of Quicksort</vt:lpstr>
      <vt:lpstr>Selecting the Pivot</vt:lpstr>
      <vt:lpstr>Comparing Sorting Algorithms</vt:lpstr>
      <vt:lpstr>Stable Sorting</vt:lpstr>
      <vt:lpstr>Sorting in Practice</vt:lpstr>
      <vt:lpstr>Stability</vt:lpstr>
      <vt:lpstr>Comparing Sorting Algorithms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Arrays</dc:title>
  <cp:lastModifiedBy>iliano</cp:lastModifiedBy>
  <cp:revision>375</cp:revision>
  <dcterms:modified xsi:type="dcterms:W3CDTF">2019-02-10T04:29:21Z</dcterms:modified>
</cp:coreProperties>
</file>