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8" r:id="rId2"/>
    <p:sldId id="275" r:id="rId3"/>
    <p:sldId id="277" r:id="rId4"/>
    <p:sldId id="282" r:id="rId5"/>
    <p:sldId id="279" r:id="rId6"/>
    <p:sldId id="280" r:id="rId7"/>
    <p:sldId id="281" r:id="rId8"/>
    <p:sldId id="260" r:id="rId9"/>
    <p:sldId id="283" r:id="rId10"/>
    <p:sldId id="284" r:id="rId11"/>
    <p:sldId id="285" r:id="rId12"/>
    <p:sldId id="294" r:id="rId13"/>
    <p:sldId id="293" r:id="rId14"/>
    <p:sldId id="295" r:id="rId15"/>
    <p:sldId id="287" r:id="rId16"/>
    <p:sldId id="288" r:id="rId17"/>
    <p:sldId id="289" r:id="rId18"/>
    <p:sldId id="290" r:id="rId19"/>
    <p:sldId id="291" r:id="rId20"/>
    <p:sldId id="29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>
        <p:scale>
          <a:sx n="100" d="100"/>
          <a:sy n="100" d="100"/>
        </p:scale>
        <p:origin x="-12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bincount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10221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b="1" dirty="0" smtClean="0">
                <a:latin typeface="Courier New"/>
                <a:cs typeface="Courier New"/>
              </a:rPr>
              <a:t>000000 000001 000010 000011 000100 000101 000110 000111 001000 </a:t>
            </a:r>
          </a:p>
        </p:txBody>
      </p:sp>
      <p:sp>
        <p:nvSpPr>
          <p:cNvPr id="6" name="Curved Up Arrow 5"/>
          <p:cNvSpPr/>
          <p:nvPr/>
        </p:nvSpPr>
        <p:spPr>
          <a:xfrm>
            <a:off x="903111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1925943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urved Up Arrow 7"/>
          <p:cNvSpPr/>
          <p:nvPr/>
        </p:nvSpPr>
        <p:spPr>
          <a:xfrm>
            <a:off x="2889955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rved Up Arrow 8"/>
          <p:cNvSpPr/>
          <p:nvPr/>
        </p:nvSpPr>
        <p:spPr>
          <a:xfrm>
            <a:off x="3849511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>
            <a:off x="4837288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>
            <a:off x="5754511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/>
          <p:cNvSpPr/>
          <p:nvPr/>
        </p:nvSpPr>
        <p:spPr>
          <a:xfrm>
            <a:off x="6742289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/>
          <p:cNvSpPr/>
          <p:nvPr/>
        </p:nvSpPr>
        <p:spPr>
          <a:xfrm>
            <a:off x="7701844" y="6541912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bincount0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72510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b="1" dirty="0" smtClean="0">
                <a:latin typeface="Courier New"/>
                <a:cs typeface="Courier New"/>
              </a:rPr>
              <a:t>000000 000001 000010 000011 000100 000101 000110 000111 001000 </a:t>
            </a:r>
          </a:p>
        </p:txBody>
      </p:sp>
      <p:sp>
        <p:nvSpPr>
          <p:cNvPr id="6" name="Curved Up Arrow 5"/>
          <p:cNvSpPr/>
          <p:nvPr/>
        </p:nvSpPr>
        <p:spPr>
          <a:xfrm>
            <a:off x="903111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1925943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urved Up Arrow 7"/>
          <p:cNvSpPr/>
          <p:nvPr/>
        </p:nvSpPr>
        <p:spPr>
          <a:xfrm>
            <a:off x="2889955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rved Up Arrow 8"/>
          <p:cNvSpPr/>
          <p:nvPr/>
        </p:nvSpPr>
        <p:spPr>
          <a:xfrm>
            <a:off x="3849511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>
            <a:off x="4837288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>
            <a:off x="5754511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/>
          <p:cNvSpPr/>
          <p:nvPr/>
        </p:nvSpPr>
        <p:spPr>
          <a:xfrm>
            <a:off x="6742289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/>
          <p:cNvSpPr/>
          <p:nvPr/>
        </p:nvSpPr>
        <p:spPr>
          <a:xfrm>
            <a:off x="7701844" y="6164808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320135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Flips:	</a:t>
            </a:r>
            <a:r>
              <a:rPr lang="en-US" b="1" dirty="0" smtClean="0">
                <a:latin typeface="Courier New"/>
                <a:cs typeface="Courier New"/>
              </a:rPr>
              <a:t> 1      2      1      3      1      2      1      </a:t>
            </a:r>
            <a:r>
              <a:rPr lang="en-US" b="1" smtClean="0">
                <a:latin typeface="Courier New"/>
                <a:cs typeface="Courier New"/>
              </a:rPr>
              <a:t>4        </a:t>
            </a:r>
            <a:endParaRPr lang="en-US" b="1" dirty="0" smtClean="0">
              <a:latin typeface="Courier New"/>
              <a:cs typeface="Courier New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bincount1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949509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b="1" dirty="0" smtClean="0">
                <a:latin typeface="Courier New"/>
                <a:cs typeface="Courier New"/>
              </a:rPr>
              <a:t>000000 000001 000010 000011 000100 000101 000110 000111 001000 </a:t>
            </a:r>
          </a:p>
        </p:txBody>
      </p:sp>
      <p:sp>
        <p:nvSpPr>
          <p:cNvPr id="6" name="Curved Up Arrow 5"/>
          <p:cNvSpPr/>
          <p:nvPr/>
        </p:nvSpPr>
        <p:spPr>
          <a:xfrm>
            <a:off x="903111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1925943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urved Up Arrow 7"/>
          <p:cNvSpPr/>
          <p:nvPr/>
        </p:nvSpPr>
        <p:spPr>
          <a:xfrm>
            <a:off x="2889955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rved Up Arrow 8"/>
          <p:cNvSpPr/>
          <p:nvPr/>
        </p:nvSpPr>
        <p:spPr>
          <a:xfrm>
            <a:off x="3849511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>
            <a:off x="4837288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>
            <a:off x="5754511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/>
          <p:cNvSpPr/>
          <p:nvPr/>
        </p:nvSpPr>
        <p:spPr>
          <a:xfrm>
            <a:off x="6742289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/>
          <p:cNvSpPr/>
          <p:nvPr/>
        </p:nvSpPr>
        <p:spPr>
          <a:xfrm>
            <a:off x="7701844" y="5389211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5544538"/>
            <a:ext cx="914400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Flips:	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en-US" b="1" dirty="0" smtClean="0">
                <a:latin typeface="Courier New"/>
                <a:cs typeface="Courier New"/>
              </a:rPr>
              <a:t>       1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r>
              <a:rPr lang="en-US" b="1" dirty="0" smtClean="0">
                <a:latin typeface="Courier New"/>
                <a:cs typeface="Courier New"/>
              </a:rPr>
              <a:t>      1      2      1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4</a:t>
            </a:r>
            <a:r>
              <a:rPr lang="en-US" b="1" dirty="0" smtClean="0">
                <a:latin typeface="Courier New"/>
                <a:cs typeface="Courier New"/>
              </a:rPr>
              <a:t>        </a:t>
            </a:r>
          </a:p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Total cost:	</a:t>
            </a:r>
            <a:r>
              <a:rPr lang="en-US" b="1" dirty="0" smtClean="0">
                <a:latin typeface="Courier New"/>
                <a:cs typeface="Courier New"/>
              </a:rPr>
              <a:t>   	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r>
              <a:rPr lang="en-US" b="1" dirty="0" smtClean="0">
                <a:latin typeface="Courier New"/>
                <a:cs typeface="Courier New"/>
              </a:rPr>
              <a:t>      4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7</a:t>
            </a:r>
            <a:r>
              <a:rPr lang="en-US" b="1" dirty="0" smtClean="0">
                <a:latin typeface="Courier New"/>
                <a:cs typeface="Courier New"/>
              </a:rPr>
              <a:t>      8      10     11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15</a:t>
            </a:r>
          </a:p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Total steps:	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3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4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5</a:t>
            </a:r>
            <a:r>
              <a:rPr lang="en-US" b="1" dirty="0" smtClean="0">
                <a:latin typeface="Courier New"/>
                <a:cs typeface="Courier New"/>
              </a:rPr>
              <a:t>      6      7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bincount2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98310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b="1" dirty="0" smtClean="0">
                <a:latin typeface="Courier New"/>
                <a:cs typeface="Courier New"/>
              </a:rPr>
              <a:t>000000 000001 000010 000011 000100 000101 000110 000111 001000 </a:t>
            </a:r>
          </a:p>
        </p:txBody>
      </p:sp>
      <p:sp>
        <p:nvSpPr>
          <p:cNvPr id="6" name="Curved Up Arrow 5"/>
          <p:cNvSpPr/>
          <p:nvPr/>
        </p:nvSpPr>
        <p:spPr>
          <a:xfrm>
            <a:off x="903111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1925943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urved Up Arrow 7"/>
          <p:cNvSpPr/>
          <p:nvPr/>
        </p:nvSpPr>
        <p:spPr>
          <a:xfrm>
            <a:off x="2889955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rved Up Arrow 8"/>
          <p:cNvSpPr/>
          <p:nvPr/>
        </p:nvSpPr>
        <p:spPr>
          <a:xfrm>
            <a:off x="3849511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>
            <a:off x="4837288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>
            <a:off x="5754511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Up Arrow 11"/>
          <p:cNvSpPr/>
          <p:nvPr/>
        </p:nvSpPr>
        <p:spPr>
          <a:xfrm>
            <a:off x="6742289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/>
          <p:cNvSpPr/>
          <p:nvPr/>
        </p:nvSpPr>
        <p:spPr>
          <a:xfrm>
            <a:off x="7701844" y="5422806"/>
            <a:ext cx="635000" cy="23988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5578133"/>
            <a:ext cx="914400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Total cost:	</a:t>
            </a:r>
            <a:r>
              <a:rPr lang="en-US" b="1" dirty="0" smtClean="0">
                <a:latin typeface="Courier New"/>
                <a:cs typeface="Courier New"/>
              </a:rPr>
              <a:t>   	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r>
              <a:rPr lang="en-US" b="1" dirty="0" smtClean="0">
                <a:latin typeface="Courier New"/>
                <a:cs typeface="Courier New"/>
              </a:rPr>
              <a:t>      4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7</a:t>
            </a:r>
            <a:r>
              <a:rPr lang="en-US" b="1" dirty="0" smtClean="0">
                <a:latin typeface="Courier New"/>
                <a:cs typeface="Courier New"/>
              </a:rPr>
              <a:t>      8      10     11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15</a:t>
            </a:r>
          </a:p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2 x #steps:	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en-US" b="1" dirty="0" smtClean="0">
                <a:latin typeface="Courier New"/>
                <a:cs typeface="Courier New"/>
              </a:rPr>
              <a:t> 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4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6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8</a:t>
            </a:r>
            <a:r>
              <a:rPr lang="en-US" b="1" dirty="0" smtClean="0">
                <a:latin typeface="Courier New"/>
                <a:cs typeface="Courier New"/>
              </a:rPr>
              <a:t>      10     12     14     16</a:t>
            </a:r>
            <a:endParaRPr lang="en-US" b="1" dirty="0" smtClean="0">
              <a:solidFill>
                <a:srgbClr val="FF0000"/>
              </a:solidFill>
              <a:latin typeface="Courier New"/>
              <a:cs typeface="Courier New"/>
            </a:endParaRPr>
          </a:p>
          <a:p>
            <a:pPr>
              <a:lnSpc>
                <a:spcPct val="140000"/>
              </a:lnSpc>
            </a:pPr>
            <a:r>
              <a:rPr lang="en-US" sz="1400" b="1" dirty="0" smtClean="0">
                <a:latin typeface="Arial"/>
                <a:cs typeface="Arial"/>
              </a:rPr>
              <a:t>Savings:		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 </a:t>
            </a:r>
            <a:r>
              <a:rPr lang="en-US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2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2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2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latin typeface="Courier New"/>
                <a:cs typeface="Courier New"/>
              </a:rPr>
              <a:t>3</a:t>
            </a:r>
            <a:r>
              <a:rPr lang="en-US" b="1" dirty="0" smtClean="0">
                <a:latin typeface="Courier New"/>
                <a:cs typeface="Courier New"/>
              </a:rPr>
              <a:t>     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endParaRPr lang="en-US" b="1" dirty="0" smtClean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bincount3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25" y="4800600"/>
            <a:ext cx="214614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3200" b="1" dirty="0" smtClean="0">
                <a:latin typeface="Courier New"/>
                <a:cs typeface="Courier New"/>
              </a:rPr>
              <a:t>…</a:t>
            </a:r>
            <a:r>
              <a:rPr lang="en-US" sz="3200" b="1" dirty="0" smtClean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en-US" sz="3200" b="1" dirty="0" smtClean="0">
                <a:solidFill>
                  <a:srgbClr val="0070C0"/>
                </a:solidFill>
                <a:latin typeface="Courier New"/>
                <a:cs typeface="Courier New"/>
              </a:rPr>
              <a:t>11…11</a:t>
            </a:r>
          </a:p>
        </p:txBody>
      </p:sp>
      <p:sp>
        <p:nvSpPr>
          <p:cNvPr id="17" name="Oval 16"/>
          <p:cNvSpPr/>
          <p:nvPr/>
        </p:nvSpPr>
        <p:spPr>
          <a:xfrm>
            <a:off x="716622" y="4810874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54226" y="5847913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07554" y="5854412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1737125" y="5436390"/>
            <a:ext cx="613128" cy="63503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161874" y="4800600"/>
            <a:ext cx="214614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3200" b="1" dirty="0" smtClean="0">
                <a:latin typeface="Courier New"/>
                <a:cs typeface="Courier New"/>
              </a:rPr>
              <a:t>…</a:t>
            </a:r>
            <a:r>
              <a:rPr lang="en-US" sz="3200" b="1" dirty="0" smtClean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en-US" sz="3200" b="1" dirty="0" smtClean="0">
                <a:solidFill>
                  <a:srgbClr val="0070C0"/>
                </a:solidFill>
                <a:latin typeface="Courier New"/>
                <a:cs typeface="Courier New"/>
              </a:rPr>
              <a:t>00…0</a:t>
            </a:r>
            <a:r>
              <a:rPr lang="en-US" sz="3200" b="1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endParaRPr lang="en-US" sz="3200" b="1" dirty="0" smtClean="0">
              <a:solidFill>
                <a:srgbClr val="0070C0"/>
              </a:solidFill>
              <a:latin typeface="Courier New"/>
              <a:cs typeface="Courier New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2501575" y="5847913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654903" y="5854412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/>
          <p:nvPr/>
        </p:nvSpPr>
        <p:spPr>
          <a:xfrm>
            <a:off x="3884474" y="5436390"/>
            <a:ext cx="613128" cy="63503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620728" y="4800600"/>
            <a:ext cx="214614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3200" b="1" dirty="0" smtClean="0">
                <a:latin typeface="Courier New"/>
                <a:cs typeface="Courier New"/>
              </a:rPr>
              <a:t>…</a:t>
            </a:r>
            <a:r>
              <a:rPr lang="en-US" sz="3200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sz="3200" b="1" dirty="0" smtClean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r>
              <a:rPr lang="en-US" sz="3200" b="1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r>
              <a:rPr lang="en-US" sz="3200" b="1" dirty="0" smtClean="0">
                <a:solidFill>
                  <a:srgbClr val="0070C0"/>
                </a:solidFill>
                <a:latin typeface="Courier New"/>
                <a:cs typeface="Courier New"/>
              </a:rPr>
              <a:t>…0</a:t>
            </a:r>
            <a:r>
              <a:rPr lang="en-US" sz="3200" b="1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endParaRPr lang="en-US" sz="3200" b="1" dirty="0" smtClean="0">
              <a:solidFill>
                <a:srgbClr val="0070C0"/>
              </a:solidFill>
              <a:latin typeface="Courier New"/>
              <a:cs typeface="Courier New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960429" y="5847913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>
            <a:off x="6343328" y="5436390"/>
            <a:ext cx="613128" cy="63503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782675" y="4800600"/>
            <a:ext cx="214614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3200" b="1" dirty="0" smtClean="0">
                <a:latin typeface="Courier New"/>
                <a:cs typeface="Courier New"/>
              </a:rPr>
              <a:t>…</a:t>
            </a:r>
            <a:r>
              <a:rPr lang="en-US" sz="3200" b="1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en-US" sz="3200" b="1" dirty="0" smtClean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r>
              <a:rPr lang="en-US" sz="3200" b="1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r>
              <a:rPr lang="en-US" sz="3200" b="1" dirty="0" smtClean="0">
                <a:solidFill>
                  <a:srgbClr val="0070C0"/>
                </a:solidFill>
                <a:latin typeface="Courier New"/>
                <a:cs typeface="Courier New"/>
              </a:rPr>
              <a:t>…0</a:t>
            </a:r>
            <a:r>
              <a:rPr lang="en-US" sz="3200" b="1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endParaRPr lang="en-US" sz="3200" b="1" dirty="0" smtClean="0">
              <a:solidFill>
                <a:srgbClr val="0070C0"/>
              </a:solidFill>
              <a:latin typeface="Courier New"/>
              <a:cs typeface="Courier New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240860" y="4810874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80326" y="4810874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459162" y="4810874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716224" y="4810874"/>
            <a:ext cx="20932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221444" y="6110243"/>
            <a:ext cx="1851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 stored tokens </a:t>
            </a:r>
            <a:br>
              <a:rPr lang="en-US" dirty="0" smtClean="0"/>
            </a:br>
            <a:r>
              <a:rPr lang="en-US" dirty="0" smtClean="0"/>
              <a:t>to flip </a:t>
            </a:r>
            <a:r>
              <a:rPr lang="en-US" b="1" dirty="0" smtClean="0">
                <a:latin typeface="Courier New"/>
                <a:cs typeface="Courier New"/>
              </a:rPr>
              <a:t>1</a:t>
            </a:r>
            <a:r>
              <a:rPr lang="en-US" dirty="0" smtClean="0"/>
              <a:t>s to </a:t>
            </a:r>
            <a:r>
              <a:rPr lang="en-US" b="1" dirty="0" smtClean="0">
                <a:latin typeface="Courier New"/>
                <a:cs typeface="Courier New"/>
              </a:rPr>
              <a:t>0</a:t>
            </a:r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3382121" y="6108846"/>
            <a:ext cx="196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 one new token</a:t>
            </a:r>
          </a:p>
          <a:p>
            <a:r>
              <a:rPr lang="en-US" dirty="0" smtClean="0"/>
              <a:t>to flip a </a:t>
            </a:r>
            <a:r>
              <a:rPr lang="en-US" b="1" dirty="0" smtClean="0">
                <a:latin typeface="Courier New"/>
                <a:cs typeface="Courier New"/>
              </a:rPr>
              <a:t>0</a:t>
            </a:r>
            <a:r>
              <a:rPr lang="en-US" dirty="0" smtClean="0"/>
              <a:t> to a </a:t>
            </a:r>
            <a:r>
              <a:rPr lang="en-US" b="1" dirty="0" smtClean="0">
                <a:latin typeface="Courier New"/>
                <a:cs typeface="Courier New"/>
              </a:rPr>
              <a:t>1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5680469" y="6110243"/>
            <a:ext cx="3259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store the second new token</a:t>
            </a:r>
          </a:p>
          <a:p>
            <a:r>
              <a:rPr lang="en-US" dirty="0" smtClean="0"/>
              <a:t>alongside the new </a:t>
            </a:r>
            <a:r>
              <a:rPr lang="en-US" b="1" dirty="0" smtClean="0">
                <a:latin typeface="Courier New"/>
                <a:cs typeface="Courier New"/>
              </a:rPr>
              <a:t>1</a:t>
            </a:r>
            <a:r>
              <a:rPr lang="en-US" dirty="0" smtClean="0"/>
              <a:t>, as required</a:t>
            </a:r>
            <a:endParaRPr lang="en-US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bincount4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Amortized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 flipV="1">
            <a:off x="1536700" y="2489200"/>
            <a:ext cx="5753100" cy="3962400"/>
          </a:xfrm>
          <a:prstGeom prst="line">
            <a:avLst/>
          </a:prstGeom>
          <a:ln w="190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1524000" y="2654300"/>
            <a:ext cx="5765800" cy="3784600"/>
          </a:xfrm>
          <a:custGeom>
            <a:avLst/>
            <a:gdLst>
              <a:gd name="connsiteX0" fmla="*/ 0 w 5765800"/>
              <a:gd name="connsiteY0" fmla="*/ 3784600 h 3784600"/>
              <a:gd name="connsiteX1" fmla="*/ 381000 w 5765800"/>
              <a:gd name="connsiteY1" fmla="*/ 3683000 h 3784600"/>
              <a:gd name="connsiteX2" fmla="*/ 736600 w 5765800"/>
              <a:gd name="connsiteY2" fmla="*/ 3416300 h 3784600"/>
              <a:gd name="connsiteX3" fmla="*/ 1092200 w 5765800"/>
              <a:gd name="connsiteY3" fmla="*/ 3302000 h 3784600"/>
              <a:gd name="connsiteX4" fmla="*/ 1435100 w 5765800"/>
              <a:gd name="connsiteY4" fmla="*/ 2933700 h 3784600"/>
              <a:gd name="connsiteX5" fmla="*/ 1790700 w 5765800"/>
              <a:gd name="connsiteY5" fmla="*/ 2806700 h 3784600"/>
              <a:gd name="connsiteX6" fmla="*/ 2171700 w 5765800"/>
              <a:gd name="connsiteY6" fmla="*/ 2565400 h 3784600"/>
              <a:gd name="connsiteX7" fmla="*/ 2514600 w 5765800"/>
              <a:gd name="connsiteY7" fmla="*/ 2413000 h 3784600"/>
              <a:gd name="connsiteX8" fmla="*/ 2882900 w 5765800"/>
              <a:gd name="connsiteY8" fmla="*/ 1943100 h 3784600"/>
              <a:gd name="connsiteX9" fmla="*/ 3238500 w 5765800"/>
              <a:gd name="connsiteY9" fmla="*/ 1816100 h 3784600"/>
              <a:gd name="connsiteX10" fmla="*/ 3581400 w 5765800"/>
              <a:gd name="connsiteY10" fmla="*/ 1562100 h 3784600"/>
              <a:gd name="connsiteX11" fmla="*/ 3949700 w 5765800"/>
              <a:gd name="connsiteY11" fmla="*/ 1435100 h 3784600"/>
              <a:gd name="connsiteX12" fmla="*/ 4318000 w 5765800"/>
              <a:gd name="connsiteY12" fmla="*/ 1066800 h 3784600"/>
              <a:gd name="connsiteX13" fmla="*/ 4673600 w 5765800"/>
              <a:gd name="connsiteY13" fmla="*/ 977900 h 3784600"/>
              <a:gd name="connsiteX14" fmla="*/ 5029200 w 5765800"/>
              <a:gd name="connsiteY14" fmla="*/ 723900 h 3784600"/>
              <a:gd name="connsiteX15" fmla="*/ 5384800 w 5765800"/>
              <a:gd name="connsiteY15" fmla="*/ 584200 h 3784600"/>
              <a:gd name="connsiteX16" fmla="*/ 5765800 w 5765800"/>
              <a:gd name="connsiteY16" fmla="*/ 0 h 378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65800" h="3784600">
                <a:moveTo>
                  <a:pt x="0" y="3784600"/>
                </a:moveTo>
                <a:lnTo>
                  <a:pt x="381000" y="3683000"/>
                </a:lnTo>
                <a:lnTo>
                  <a:pt x="736600" y="3416300"/>
                </a:lnTo>
                <a:lnTo>
                  <a:pt x="1092200" y="3302000"/>
                </a:lnTo>
                <a:lnTo>
                  <a:pt x="1435100" y="2933700"/>
                </a:lnTo>
                <a:lnTo>
                  <a:pt x="1790700" y="2806700"/>
                </a:lnTo>
                <a:lnTo>
                  <a:pt x="2171700" y="2565400"/>
                </a:lnTo>
                <a:lnTo>
                  <a:pt x="2514600" y="2413000"/>
                </a:lnTo>
                <a:lnTo>
                  <a:pt x="2882900" y="1943100"/>
                </a:lnTo>
                <a:lnTo>
                  <a:pt x="3238500" y="1816100"/>
                </a:lnTo>
                <a:lnTo>
                  <a:pt x="3581400" y="1562100"/>
                </a:lnTo>
                <a:lnTo>
                  <a:pt x="3949700" y="1435100"/>
                </a:lnTo>
                <a:lnTo>
                  <a:pt x="4318000" y="1066800"/>
                </a:lnTo>
                <a:lnTo>
                  <a:pt x="4673600" y="977900"/>
                </a:lnTo>
                <a:lnTo>
                  <a:pt x="5029200" y="723900"/>
                </a:lnTo>
                <a:lnTo>
                  <a:pt x="5384800" y="584200"/>
                </a:lnTo>
                <a:lnTo>
                  <a:pt x="5765800" y="0"/>
                </a:lnTo>
              </a:path>
            </a:pathLst>
          </a:custGeom>
          <a:ln w="190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1400" y="6007100"/>
            <a:ext cx="889000" cy="7747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371600" y="6438900"/>
            <a:ext cx="678180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36700" y="2082800"/>
            <a:ext cx="0" cy="4559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34627" y="6412468"/>
            <a:ext cx="441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# of times the counter has been incremented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 rot="16200000">
            <a:off x="401393" y="2787504"/>
            <a:ext cx="177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# of total bit flips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336600" y="2523867"/>
            <a:ext cx="3159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Budgeted by amortized analysis</a:t>
            </a:r>
            <a:br>
              <a:rPr lang="en-US" dirty="0" smtClean="0"/>
            </a:br>
            <a:r>
              <a:rPr lang="en-US" dirty="0" smtClean="0"/>
              <a:t>(2 flips per increment)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336600" y="3551608"/>
            <a:ext cx="15737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Actual number</a:t>
            </a:r>
          </a:p>
          <a:p>
            <a:r>
              <a:rPr lang="en-US" dirty="0" smtClean="0"/>
              <a:t>(will never be</a:t>
            </a:r>
            <a:br>
              <a:rPr lang="en-US" dirty="0" smtClean="0"/>
            </a:br>
            <a:r>
              <a:rPr lang="en-US" dirty="0" smtClean="0"/>
              <a:t>bigger than</a:t>
            </a:r>
            <a:br>
              <a:rPr lang="en-US" dirty="0" smtClean="0"/>
            </a:br>
            <a:r>
              <a:rPr lang="en-US" dirty="0" smtClean="0"/>
              <a:t>budget)</a:t>
            </a:r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 rot="2291810">
            <a:off x="5333999" y="2915415"/>
            <a:ext cx="785766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 rot="2291810">
            <a:off x="3530599" y="4374788"/>
            <a:ext cx="785766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bitflip</a:t>
            </a:r>
            <a:r>
              <a:rPr lang="en-US" dirty="0" smtClean="0"/>
              <a:t>-graph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431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loud Callout 106"/>
          <p:cNvSpPr/>
          <p:nvPr/>
        </p:nvSpPr>
        <p:spPr>
          <a:xfrm>
            <a:off x="5371475" y="2570030"/>
            <a:ext cx="3772525" cy="1824906"/>
          </a:xfrm>
          <a:prstGeom prst="cloudCallout">
            <a:avLst>
              <a:gd name="adj1" fmla="val -73460"/>
              <a:gd name="adj2" fmla="val 35300"/>
            </a:avLst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99362972"/>
              </p:ext>
            </p:extLst>
          </p:nvPr>
        </p:nvGraphicFramePr>
        <p:xfrm>
          <a:off x="1754669" y="3140461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45540829"/>
              </p:ext>
            </p:extLst>
          </p:nvPr>
        </p:nvGraphicFramePr>
        <p:xfrm>
          <a:off x="1286537" y="2278813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8" name="Straight Arrow Connector 57"/>
          <p:cNvCxnSpPr>
            <a:endCxn id="56" idx="1"/>
          </p:cNvCxnSpPr>
          <p:nvPr/>
        </p:nvCxnSpPr>
        <p:spPr>
          <a:xfrm rot="5400000">
            <a:off x="2035149" y="2470645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238778" y="3140461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56" idx="2"/>
          </p:cNvCxnSpPr>
          <p:nvPr/>
        </p:nvCxnSpPr>
        <p:spPr>
          <a:xfrm flipV="1">
            <a:off x="3253376" y="3140461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49768573"/>
              </p:ext>
            </p:extLst>
          </p:nvPr>
        </p:nvGraphicFramePr>
        <p:xfrm>
          <a:off x="0" y="3398876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1" name="Straight Arrow Connector 57"/>
          <p:cNvCxnSpPr/>
          <p:nvPr/>
        </p:nvCxnSpPr>
        <p:spPr>
          <a:xfrm rot="5400000" flipH="1" flipV="1">
            <a:off x="458703" y="2756463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7" name="Table 8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68263007"/>
              </p:ext>
            </p:extLst>
          </p:nvPr>
        </p:nvGraphicFramePr>
        <p:xfrm>
          <a:off x="5605040" y="3373788"/>
          <a:ext cx="8952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25"/>
                <a:gridCol w="5336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8" name="Straight Arrow Connector 57"/>
          <p:cNvCxnSpPr/>
          <p:nvPr/>
        </p:nvCxnSpPr>
        <p:spPr>
          <a:xfrm flipV="1">
            <a:off x="6204271" y="3117887"/>
            <a:ext cx="519244" cy="466410"/>
          </a:xfrm>
          <a:prstGeom prst="bentConnector3">
            <a:avLst>
              <a:gd name="adj1" fmla="val 69680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58556710"/>
              </p:ext>
            </p:extLst>
          </p:nvPr>
        </p:nvGraphicFramePr>
        <p:xfrm>
          <a:off x="6723515" y="2932464"/>
          <a:ext cx="17673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133"/>
                <a:gridCol w="589133"/>
                <a:gridCol w="5891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0" name="Down Arrow 89"/>
          <p:cNvSpPr/>
          <p:nvPr/>
        </p:nvSpPr>
        <p:spPr>
          <a:xfrm>
            <a:off x="262769" y="4267132"/>
            <a:ext cx="496342" cy="671566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46752" y="4296330"/>
            <a:ext cx="1622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arr_add</a:t>
            </a:r>
            <a:r>
              <a:rPr lang="en-US" dirty="0" smtClean="0"/>
              <a:t>(A, “d”)</a:t>
            </a:r>
            <a:endParaRPr lang="en-US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61228022"/>
              </p:ext>
            </p:extLst>
          </p:nvPr>
        </p:nvGraphicFramePr>
        <p:xfrm>
          <a:off x="1762151" y="6047361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61543035"/>
              </p:ext>
            </p:extLst>
          </p:nvPr>
        </p:nvGraphicFramePr>
        <p:xfrm>
          <a:off x="1294019" y="5185713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4" name="Straight Arrow Connector 57"/>
          <p:cNvCxnSpPr>
            <a:endCxn id="92" idx="1"/>
          </p:cNvCxnSpPr>
          <p:nvPr/>
        </p:nvCxnSpPr>
        <p:spPr>
          <a:xfrm rot="5400000">
            <a:off x="2042631" y="5377545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3759241" y="6047361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4246584" y="6047361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3773839" y="6047361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4272222" y="6047361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50395139"/>
              </p:ext>
            </p:extLst>
          </p:nvPr>
        </p:nvGraphicFramePr>
        <p:xfrm>
          <a:off x="7482" y="6305776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2" name="Straight Arrow Connector 57"/>
          <p:cNvCxnSpPr/>
          <p:nvPr/>
        </p:nvCxnSpPr>
        <p:spPr>
          <a:xfrm rot="5400000" flipH="1" flipV="1">
            <a:off x="466185" y="5663363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Cloud Callout 115"/>
          <p:cNvSpPr/>
          <p:nvPr/>
        </p:nvSpPr>
        <p:spPr>
          <a:xfrm>
            <a:off x="5371475" y="5033094"/>
            <a:ext cx="3772525" cy="1824906"/>
          </a:xfrm>
          <a:prstGeom prst="cloudCallout">
            <a:avLst>
              <a:gd name="adj1" fmla="val -69977"/>
              <a:gd name="adj2" fmla="val 44100"/>
            </a:avLst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7" name="Table 11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3713703"/>
              </p:ext>
            </p:extLst>
          </p:nvPr>
        </p:nvGraphicFramePr>
        <p:xfrm>
          <a:off x="5605040" y="5836852"/>
          <a:ext cx="8952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25"/>
                <a:gridCol w="5336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18" name="Straight Arrow Connector 57"/>
          <p:cNvCxnSpPr/>
          <p:nvPr/>
        </p:nvCxnSpPr>
        <p:spPr>
          <a:xfrm flipV="1">
            <a:off x="6204271" y="5580951"/>
            <a:ext cx="519244" cy="466410"/>
          </a:xfrm>
          <a:prstGeom prst="bentConnector3">
            <a:avLst>
              <a:gd name="adj1" fmla="val 69680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728122814"/>
              </p:ext>
            </p:extLst>
          </p:nvPr>
        </p:nvGraphicFramePr>
        <p:xfrm>
          <a:off x="6723515" y="5376529"/>
          <a:ext cx="211556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891"/>
                <a:gridCol w="528891"/>
                <a:gridCol w="528891"/>
                <a:gridCol w="5288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3759241" y="3149600"/>
            <a:ext cx="502172" cy="3617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61413" y="3149600"/>
            <a:ext cx="490670" cy="3617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748432" y="3149601"/>
            <a:ext cx="498152" cy="361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246584" y="3140462"/>
            <a:ext cx="502172" cy="3799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08649981"/>
              </p:ext>
            </p:extLst>
          </p:nvPr>
        </p:nvGraphicFramePr>
        <p:xfrm>
          <a:off x="1857306" y="3902600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87156823"/>
              </p:ext>
            </p:extLst>
          </p:nvPr>
        </p:nvGraphicFramePr>
        <p:xfrm>
          <a:off x="1389174" y="3040952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8" name="Straight Arrow Connector 57"/>
          <p:cNvCxnSpPr>
            <a:endCxn id="56" idx="1"/>
          </p:cNvCxnSpPr>
          <p:nvPr/>
        </p:nvCxnSpPr>
        <p:spPr>
          <a:xfrm rot="5400000">
            <a:off x="2137786" y="3232784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49768573"/>
              </p:ext>
            </p:extLst>
          </p:nvPr>
        </p:nvGraphicFramePr>
        <p:xfrm>
          <a:off x="102637" y="4161015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1" name="Straight Arrow Connector 57"/>
          <p:cNvCxnSpPr/>
          <p:nvPr/>
        </p:nvCxnSpPr>
        <p:spPr>
          <a:xfrm rot="5400000" flipH="1" flipV="1">
            <a:off x="561340" y="3518602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Down Arrow 89"/>
          <p:cNvSpPr/>
          <p:nvPr/>
        </p:nvSpPr>
        <p:spPr>
          <a:xfrm>
            <a:off x="1060067" y="4550804"/>
            <a:ext cx="496342" cy="671566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1444050" y="4580002"/>
            <a:ext cx="153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arr_add</a:t>
            </a:r>
            <a:r>
              <a:rPr lang="en-US" dirty="0" smtClean="0"/>
              <a:t>(</a:t>
            </a:r>
            <a:r>
              <a:rPr lang="en-US" dirty="0" err="1" smtClean="0"/>
              <a:t>A,“e</a:t>
            </a:r>
            <a:r>
              <a:rPr lang="en-US" dirty="0" smtClean="0"/>
              <a:t>”)</a:t>
            </a:r>
            <a:endParaRPr lang="en-US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09577070"/>
              </p:ext>
            </p:extLst>
          </p:nvPr>
        </p:nvGraphicFramePr>
        <p:xfrm>
          <a:off x="1864788" y="6152545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95086712"/>
              </p:ext>
            </p:extLst>
          </p:nvPr>
        </p:nvGraphicFramePr>
        <p:xfrm>
          <a:off x="1396656" y="5290897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4" name="Straight Arrow Connector 57"/>
          <p:cNvCxnSpPr>
            <a:endCxn id="92" idx="1"/>
          </p:cNvCxnSpPr>
          <p:nvPr/>
        </p:nvCxnSpPr>
        <p:spPr>
          <a:xfrm rot="5400000">
            <a:off x="2145268" y="5482729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96359143"/>
              </p:ext>
            </p:extLst>
          </p:nvPr>
        </p:nvGraphicFramePr>
        <p:xfrm>
          <a:off x="110119" y="6410960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2" name="Straight Arrow Connector 57"/>
          <p:cNvCxnSpPr/>
          <p:nvPr/>
        </p:nvCxnSpPr>
        <p:spPr>
          <a:xfrm rot="5400000" flipH="1" flipV="1">
            <a:off x="568822" y="5768547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3348897" y="3783966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457142" y="3783966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/>
          <p:nvPr/>
        </p:nvCxnSpPr>
        <p:spPr>
          <a:xfrm>
            <a:off x="3854396" y="3902600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4341739" y="3902600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V="1">
            <a:off x="3868994" y="3902600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4367377" y="3902600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4352779" y="6152545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V="1">
            <a:off x="4378417" y="6152545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3380661" y="6033911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3488906" y="6033911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3868994" y="6033911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3977239" y="6033911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token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08649981"/>
              </p:ext>
            </p:extLst>
          </p:nvPr>
        </p:nvGraphicFramePr>
        <p:xfrm>
          <a:off x="1857306" y="3902600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87156823"/>
              </p:ext>
            </p:extLst>
          </p:nvPr>
        </p:nvGraphicFramePr>
        <p:xfrm>
          <a:off x="1389174" y="3040952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8" name="Straight Arrow Connector 57"/>
          <p:cNvCxnSpPr>
            <a:endCxn id="56" idx="1"/>
          </p:cNvCxnSpPr>
          <p:nvPr/>
        </p:nvCxnSpPr>
        <p:spPr>
          <a:xfrm rot="5400000">
            <a:off x="2137786" y="3232784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49768573"/>
              </p:ext>
            </p:extLst>
          </p:nvPr>
        </p:nvGraphicFramePr>
        <p:xfrm>
          <a:off x="102637" y="4161015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1" name="Straight Arrow Connector 57"/>
          <p:cNvCxnSpPr/>
          <p:nvPr/>
        </p:nvCxnSpPr>
        <p:spPr>
          <a:xfrm rot="5400000" flipH="1" flipV="1">
            <a:off x="561340" y="3518602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Down Arrow 89"/>
          <p:cNvSpPr/>
          <p:nvPr/>
        </p:nvSpPr>
        <p:spPr>
          <a:xfrm>
            <a:off x="1060067" y="4550804"/>
            <a:ext cx="496342" cy="671566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1444050" y="4580002"/>
            <a:ext cx="153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arr_add</a:t>
            </a:r>
            <a:r>
              <a:rPr lang="en-US" dirty="0" smtClean="0"/>
              <a:t>(</a:t>
            </a:r>
            <a:r>
              <a:rPr lang="en-US" dirty="0" err="1" smtClean="0"/>
              <a:t>A,“e</a:t>
            </a:r>
            <a:r>
              <a:rPr lang="en-US" dirty="0" smtClean="0"/>
              <a:t>”)</a:t>
            </a:r>
            <a:endParaRPr lang="en-US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09577070"/>
              </p:ext>
            </p:extLst>
          </p:nvPr>
        </p:nvGraphicFramePr>
        <p:xfrm>
          <a:off x="1864788" y="6152545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95086712"/>
              </p:ext>
            </p:extLst>
          </p:nvPr>
        </p:nvGraphicFramePr>
        <p:xfrm>
          <a:off x="1396656" y="5290897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4" name="Straight Arrow Connector 57"/>
          <p:cNvCxnSpPr>
            <a:endCxn id="92" idx="1"/>
          </p:cNvCxnSpPr>
          <p:nvPr/>
        </p:nvCxnSpPr>
        <p:spPr>
          <a:xfrm rot="5400000">
            <a:off x="2145268" y="5482729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96359143"/>
              </p:ext>
            </p:extLst>
          </p:nvPr>
        </p:nvGraphicFramePr>
        <p:xfrm>
          <a:off x="110119" y="6410960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2" name="Straight Arrow Connector 57"/>
          <p:cNvCxnSpPr/>
          <p:nvPr/>
        </p:nvCxnSpPr>
        <p:spPr>
          <a:xfrm rot="5400000" flipH="1" flipV="1">
            <a:off x="568822" y="5768547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1981200" y="3763418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505200" y="3763418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/>
          <p:nvPr/>
        </p:nvCxnSpPr>
        <p:spPr>
          <a:xfrm>
            <a:off x="3854396" y="3902600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4341739" y="3902600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V="1">
            <a:off x="3868994" y="3902600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4367377" y="3902600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4352779" y="6152545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V="1">
            <a:off x="4378417" y="6152545"/>
            <a:ext cx="498383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2000476" y="6013363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3505200" y="6013363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2514600" y="6013363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4002224" y="6013363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tokenB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125901" y="4270245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smtClean="0"/>
              <a:t>limit/2</a:t>
            </a:r>
            <a:endParaRPr lang="en-US" sz="1100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3125901" y="6523385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smtClean="0"/>
              <a:t>limit/2</a:t>
            </a:r>
            <a:endParaRPr lang="en-US" sz="1100" i="1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08649981"/>
              </p:ext>
            </p:extLst>
          </p:nvPr>
        </p:nvGraphicFramePr>
        <p:xfrm>
          <a:off x="1864788" y="3977584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“f”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87156823"/>
              </p:ext>
            </p:extLst>
          </p:nvPr>
        </p:nvGraphicFramePr>
        <p:xfrm>
          <a:off x="1396656" y="3115936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8" name="Straight Arrow Connector 57"/>
          <p:cNvCxnSpPr>
            <a:endCxn id="56" idx="1"/>
          </p:cNvCxnSpPr>
          <p:nvPr/>
        </p:nvCxnSpPr>
        <p:spPr>
          <a:xfrm rot="5400000">
            <a:off x="2145268" y="3307768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49768573"/>
              </p:ext>
            </p:extLst>
          </p:nvPr>
        </p:nvGraphicFramePr>
        <p:xfrm>
          <a:off x="110119" y="4235999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1" name="Straight Arrow Connector 57"/>
          <p:cNvCxnSpPr/>
          <p:nvPr/>
        </p:nvCxnSpPr>
        <p:spPr>
          <a:xfrm rot="5400000" flipH="1" flipV="1">
            <a:off x="568822" y="3593586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Down Arrow 89"/>
          <p:cNvSpPr/>
          <p:nvPr/>
        </p:nvSpPr>
        <p:spPr>
          <a:xfrm>
            <a:off x="1067549" y="4625788"/>
            <a:ext cx="496342" cy="671566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1451532" y="4654986"/>
            <a:ext cx="1381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arr_resize</a:t>
            </a:r>
            <a:r>
              <a:rPr lang="en-US" dirty="0" smtClean="0"/>
              <a:t>(A)</a:t>
            </a:r>
            <a:endParaRPr lang="en-US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09577070"/>
              </p:ext>
            </p:extLst>
          </p:nvPr>
        </p:nvGraphicFramePr>
        <p:xfrm>
          <a:off x="1872270" y="6227529"/>
          <a:ext cx="599846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“f”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95086712"/>
              </p:ext>
            </p:extLst>
          </p:nvPr>
        </p:nvGraphicFramePr>
        <p:xfrm>
          <a:off x="1404138" y="5365881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4" name="Straight Arrow Connector 57"/>
          <p:cNvCxnSpPr>
            <a:endCxn id="92" idx="1"/>
          </p:cNvCxnSpPr>
          <p:nvPr/>
        </p:nvCxnSpPr>
        <p:spPr>
          <a:xfrm rot="5400000">
            <a:off x="2152750" y="5557713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96359143"/>
              </p:ext>
            </p:extLst>
          </p:nvPr>
        </p:nvGraphicFramePr>
        <p:xfrm>
          <a:off x="117601" y="6485944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2" name="Straight Arrow Connector 57"/>
          <p:cNvCxnSpPr/>
          <p:nvPr/>
        </p:nvCxnSpPr>
        <p:spPr>
          <a:xfrm rot="5400000" flipH="1" flipV="1">
            <a:off x="576304" y="5843531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3356379" y="3858950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464624" y="3858950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/>
          <p:cNvCxnSpPr/>
          <p:nvPr/>
        </p:nvCxnSpPr>
        <p:spPr>
          <a:xfrm>
            <a:off x="4862202" y="6223331"/>
            <a:ext cx="506567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V="1">
            <a:off x="4871690" y="6223331"/>
            <a:ext cx="499714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itle 25"/>
          <p:cNvSpPr>
            <a:spLocks noGrp="1"/>
          </p:cNvSpPr>
          <p:nvPr>
            <p:ph type="title"/>
          </p:nvPr>
        </p:nvSpPr>
        <p:spPr>
          <a:xfrm>
            <a:off x="464682" y="349622"/>
            <a:ext cx="8229600" cy="1143000"/>
          </a:xfrm>
        </p:spPr>
        <p:txBody>
          <a:bodyPr/>
          <a:lstStyle/>
          <a:p>
            <a:r>
              <a:rPr lang="en-US" dirty="0" smtClean="0"/>
              <a:t>double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3880913" y="3884984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989158" y="3884984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338113" y="3884984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446358" y="3884984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5371404" y="6225540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355502" y="6227529"/>
            <a:ext cx="503478" cy="368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863497" y="6223331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874882" y="6223331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67809" y="6227529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6383711" y="6223331"/>
            <a:ext cx="499714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867523" y="6223331"/>
            <a:ext cx="503478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6867523" y="6227529"/>
            <a:ext cx="503478" cy="368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371001" y="6223331"/>
            <a:ext cx="491782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7378952" y="6227529"/>
            <a:ext cx="483831" cy="3666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08649981"/>
              </p:ext>
            </p:extLst>
          </p:nvPr>
        </p:nvGraphicFramePr>
        <p:xfrm>
          <a:off x="1864788" y="3909648"/>
          <a:ext cx="299741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69"/>
                <a:gridCol w="499569"/>
                <a:gridCol w="499569"/>
                <a:gridCol w="499569"/>
                <a:gridCol w="499569"/>
                <a:gridCol w="4995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“f”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87156823"/>
              </p:ext>
            </p:extLst>
          </p:nvPr>
        </p:nvGraphicFramePr>
        <p:xfrm>
          <a:off x="1396656" y="3048000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8" name="Straight Arrow Connector 57"/>
          <p:cNvCxnSpPr>
            <a:endCxn id="56" idx="1"/>
          </p:cNvCxnSpPr>
          <p:nvPr/>
        </p:nvCxnSpPr>
        <p:spPr>
          <a:xfrm rot="5400000">
            <a:off x="2145268" y="3239832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49768573"/>
              </p:ext>
            </p:extLst>
          </p:nvPr>
        </p:nvGraphicFramePr>
        <p:xfrm>
          <a:off x="110119" y="4168063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1" name="Straight Arrow Connector 57"/>
          <p:cNvCxnSpPr/>
          <p:nvPr/>
        </p:nvCxnSpPr>
        <p:spPr>
          <a:xfrm rot="5400000" flipH="1" flipV="1">
            <a:off x="568822" y="3525650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Down Arrow 89"/>
          <p:cNvSpPr/>
          <p:nvPr/>
        </p:nvSpPr>
        <p:spPr>
          <a:xfrm>
            <a:off x="1067549" y="4557852"/>
            <a:ext cx="496342" cy="671566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1451532" y="4587050"/>
            <a:ext cx="1381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arr_resize</a:t>
            </a:r>
            <a:r>
              <a:rPr lang="en-US" dirty="0" smtClean="0"/>
              <a:t>(A)</a:t>
            </a:r>
            <a:endParaRPr lang="en-US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09577070"/>
              </p:ext>
            </p:extLst>
          </p:nvPr>
        </p:nvGraphicFramePr>
        <p:xfrm>
          <a:off x="1872270" y="6159593"/>
          <a:ext cx="599846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  <a:gridCol w="4998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“b”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“c”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“f”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95086712"/>
              </p:ext>
            </p:extLst>
          </p:nvPr>
        </p:nvGraphicFramePr>
        <p:xfrm>
          <a:off x="1404138" y="5297945"/>
          <a:ext cx="1952241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747"/>
                <a:gridCol w="650747"/>
                <a:gridCol w="650747"/>
              </a:tblGrid>
              <a:tr h="14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limit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4" name="Straight Arrow Connector 57"/>
          <p:cNvCxnSpPr>
            <a:endCxn id="92" idx="1"/>
          </p:cNvCxnSpPr>
          <p:nvPr/>
        </p:nvCxnSpPr>
        <p:spPr>
          <a:xfrm rot="5400000">
            <a:off x="2152750" y="5489777"/>
            <a:ext cx="574756" cy="1135716"/>
          </a:xfrm>
          <a:prstGeom prst="bentConnector4">
            <a:avLst>
              <a:gd name="adj1" fmla="val 51651"/>
              <a:gd name="adj2" fmla="val 120128"/>
            </a:avLst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96359143"/>
              </p:ext>
            </p:extLst>
          </p:nvPr>
        </p:nvGraphicFramePr>
        <p:xfrm>
          <a:off x="117601" y="6418008"/>
          <a:ext cx="7591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64"/>
                <a:gridCol w="4525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2" name="Straight Arrow Connector 57"/>
          <p:cNvCxnSpPr/>
          <p:nvPr/>
        </p:nvCxnSpPr>
        <p:spPr>
          <a:xfrm rot="5400000" flipH="1" flipV="1">
            <a:off x="576304" y="5775595"/>
            <a:ext cx="894669" cy="760999"/>
          </a:xfrm>
          <a:prstGeom prst="bentConnector2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1999068" y="3754348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474898" y="3754348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/>
          <p:cNvCxnSpPr/>
          <p:nvPr/>
        </p:nvCxnSpPr>
        <p:spPr>
          <a:xfrm>
            <a:off x="4862202" y="6155395"/>
            <a:ext cx="506567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V="1">
            <a:off x="4871690" y="6155395"/>
            <a:ext cx="499714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itle 25"/>
          <p:cNvSpPr>
            <a:spLocks noGrp="1"/>
          </p:cNvSpPr>
          <p:nvPr>
            <p:ph type="title"/>
          </p:nvPr>
        </p:nvSpPr>
        <p:spPr>
          <a:xfrm>
            <a:off x="464682" y="349622"/>
            <a:ext cx="8229600" cy="1143000"/>
          </a:xfrm>
        </p:spPr>
        <p:txBody>
          <a:bodyPr/>
          <a:lstStyle/>
          <a:p>
            <a:r>
              <a:rPr lang="en-US" dirty="0" err="1" smtClean="0"/>
              <a:t>doubleB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2523602" y="3754348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989158" y="3754348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992348" y="3754348"/>
            <a:ext cx="237744" cy="23726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515076" y="3754348"/>
            <a:ext cx="237744" cy="23726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5371404" y="6157604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355502" y="6159593"/>
            <a:ext cx="503478" cy="368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863497" y="6155395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874882" y="6155395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67809" y="6159593"/>
            <a:ext cx="512981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6383711" y="6155395"/>
            <a:ext cx="499714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867523" y="6155395"/>
            <a:ext cx="503478" cy="370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6867523" y="6159593"/>
            <a:ext cx="503478" cy="368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371001" y="6155395"/>
            <a:ext cx="491782" cy="375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7378952" y="6159593"/>
            <a:ext cx="483831" cy="3666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25901" y="4275464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smtClean="0"/>
              <a:t>limit/2</a:t>
            </a:r>
            <a:endParaRPr lang="en-US" sz="1100" i="1" dirty="0"/>
          </a:p>
        </p:txBody>
      </p:sp>
      <p:sp>
        <p:nvSpPr>
          <p:cNvPr id="36" name="TextBox 35"/>
          <p:cNvSpPr txBox="1"/>
          <p:nvPr/>
        </p:nvSpPr>
        <p:spPr>
          <a:xfrm>
            <a:off x="4592977" y="6526235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smtClean="0"/>
              <a:t>limit/2</a:t>
            </a:r>
            <a:endParaRPr lang="en-US" sz="1100" i="1" dirty="0"/>
          </a:p>
        </p:txBody>
      </p:sp>
    </p:spTree>
    <p:extLst>
      <p:ext uri="{BB962C8B-B14F-4D97-AF65-F5344CB8AC3E}">
        <p14:creationId xmlns="" xmlns:p14="http://schemas.microsoft.com/office/powerpoint/2010/main" val="497639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Ubarray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38200" y="6041628"/>
          <a:ext cx="2590800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7700"/>
                <a:gridCol w="647700"/>
                <a:gridCol w="647700"/>
                <a:gridCol w="647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0" name="Straight Connector 39"/>
          <p:cNvCxnSpPr/>
          <p:nvPr/>
        </p:nvCxnSpPr>
        <p:spPr>
          <a:xfrm rot="5400000">
            <a:off x="2933700" y="62321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68350" y="6412468"/>
            <a:ext cx="68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</a:t>
            </a:r>
            <a:r>
              <a:rPr lang="en-US" baseline="-25000" dirty="0" smtClean="0"/>
              <a:t>0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68350" y="5672296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07580" y="56722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86560" y="56722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09800" y="56722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81960" y="56722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ubarray1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38200" y="4212828"/>
          <a:ext cx="2590800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7700"/>
                <a:gridCol w="647700"/>
                <a:gridCol w="647700"/>
                <a:gridCol w="647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0" name="Straight Connector 39"/>
          <p:cNvCxnSpPr/>
          <p:nvPr/>
        </p:nvCxnSpPr>
        <p:spPr>
          <a:xfrm rot="5400000">
            <a:off x="2933700" y="44033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68350" y="4583668"/>
            <a:ext cx="68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</a:t>
            </a:r>
            <a:r>
              <a:rPr lang="en-US" baseline="-25000" dirty="0" smtClean="0"/>
              <a:t>0</a:t>
            </a:r>
            <a:endParaRPr lang="en-US" dirty="0"/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38994" y="5813028"/>
          <a:ext cx="5180808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7601"/>
                <a:gridCol w="647601"/>
                <a:gridCol w="647601"/>
                <a:gridCol w="647601"/>
                <a:gridCol w="647601"/>
                <a:gridCol w="647601"/>
                <a:gridCol w="647601"/>
                <a:gridCol w="6476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Straight Connector 42"/>
          <p:cNvCxnSpPr/>
          <p:nvPr/>
        </p:nvCxnSpPr>
        <p:spPr>
          <a:xfrm rot="5400000">
            <a:off x="2934494" y="60035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469144" y="6183868"/>
            <a:ext cx="68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</a:t>
            </a:r>
            <a:r>
              <a:rPr lang="en-US" baseline="-25000" dirty="0" smtClean="0"/>
              <a:t>0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 rot="5400000">
            <a:off x="5525296" y="60035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21390" y="6151602"/>
            <a:ext cx="9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2*limit</a:t>
            </a:r>
            <a:r>
              <a:rPr lang="en-US" baseline="-25000" dirty="0" smtClean="0"/>
              <a:t>0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2895600" y="38434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2209800" y="38434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600200" y="38434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900760" y="3843496"/>
            <a:ext cx="47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 rot="5400000">
            <a:off x="527526" y="5197554"/>
            <a:ext cx="1229360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>
            <a:off x="1214914" y="5197554"/>
            <a:ext cx="1229360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5400000">
            <a:off x="1900714" y="5197554"/>
            <a:ext cx="1229360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rot="5400000">
            <a:off x="2510314" y="5197554"/>
            <a:ext cx="1229360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7452" y="5443696"/>
            <a:ext cx="80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 $ $ $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469144" y="3843496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469144" y="5443696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ubarray2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28600" y="5965428"/>
          <a:ext cx="4037808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Straight Connector 42"/>
          <p:cNvCxnSpPr/>
          <p:nvPr/>
        </p:nvCxnSpPr>
        <p:spPr>
          <a:xfrm rot="5400000">
            <a:off x="1789114" y="6209506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83620" y="5596096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 rot="5400000">
            <a:off x="3771902" y="61559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315092" y="6336268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 = 2*size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354448" y="5596096"/>
            <a:ext cx="521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</a:t>
            </a:r>
            <a:r>
              <a:rPr lang="en-US" dirty="0" smtClean="0"/>
              <a:t>*$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ubarray3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28600" y="6041628"/>
          <a:ext cx="4037808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e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f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g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h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Straight Connector 42"/>
          <p:cNvCxnSpPr/>
          <p:nvPr/>
        </p:nvCxnSpPr>
        <p:spPr>
          <a:xfrm rot="5400000">
            <a:off x="1789114" y="6285706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83620" y="6412468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 rot="5400000">
            <a:off x="3771902" y="62321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315092" y="6412468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 = 2*size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315092" y="5672296"/>
            <a:ext cx="521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</a:t>
            </a:r>
            <a:r>
              <a:rPr lang="en-US" dirty="0" smtClean="0"/>
              <a:t>*$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23754" y="5672296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12393" y="5672296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14354" y="5672296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09208" y="5672296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ubarray4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34192" y="4310856"/>
          <a:ext cx="4037808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e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f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g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h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Straight Connector 42"/>
          <p:cNvCxnSpPr/>
          <p:nvPr/>
        </p:nvCxnSpPr>
        <p:spPr>
          <a:xfrm rot="5400000">
            <a:off x="2094706" y="4554934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589212" y="4681696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 rot="5400000">
            <a:off x="4077494" y="4501356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20684" y="4681696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 = 2*size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800600" y="4006850"/>
            <a:ext cx="521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</a:t>
            </a:r>
            <a:r>
              <a:rPr lang="en-US" dirty="0" smtClean="0"/>
              <a:t>*$</a:t>
            </a:r>
            <a:endParaRPr lang="en-US" dirty="0"/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534192" y="6041628"/>
          <a:ext cx="4037808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“a”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b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c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d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e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f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g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h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9" name="Straight Connector 68"/>
          <p:cNvCxnSpPr/>
          <p:nvPr/>
        </p:nvCxnSpPr>
        <p:spPr>
          <a:xfrm rot="5400000">
            <a:off x="2094706" y="6285706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589212" y="6412468"/>
            <a:ext cx="52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size</a:t>
            </a:r>
            <a:endParaRPr lang="en-US" dirty="0"/>
          </a:p>
        </p:txBody>
      </p:sp>
      <p:cxnSp>
        <p:nvCxnSpPr>
          <p:cNvPr id="71" name="Straight Connector 70"/>
          <p:cNvCxnSpPr/>
          <p:nvPr/>
        </p:nvCxnSpPr>
        <p:spPr>
          <a:xfrm rot="5400000">
            <a:off x="4077494" y="62321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620684" y="6412468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limit = 2*size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4800600" y="5552956"/>
            <a:ext cx="521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</a:t>
            </a:r>
            <a:r>
              <a:rPr lang="en-US" dirty="0" smtClean="0"/>
              <a:t>*$</a:t>
            </a:r>
            <a:endParaRPr lang="en-US" dirty="0"/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4573588" y="6041628"/>
          <a:ext cx="4037808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  <a:gridCol w="504726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5" name="Straight Connector 74"/>
          <p:cNvCxnSpPr/>
          <p:nvPr/>
        </p:nvCxnSpPr>
        <p:spPr>
          <a:xfrm rot="5400000">
            <a:off x="8116890" y="6232128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114800" y="3908028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3619946" y="3908028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3048000" y="3908028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629346" y="3908028"/>
            <a:ext cx="41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$$</a:t>
            </a:r>
            <a:endParaRPr lang="en-US" dirty="0"/>
          </a:p>
        </p:txBody>
      </p:sp>
      <p:cxnSp>
        <p:nvCxnSpPr>
          <p:cNvPr id="81" name="Straight Arrow Connector 80"/>
          <p:cNvCxnSpPr/>
          <p:nvPr/>
        </p:nvCxnSpPr>
        <p:spPr>
          <a:xfrm rot="5400000">
            <a:off x="140116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rot="5400000">
            <a:off x="675898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5400000">
            <a:off x="1133098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5400000">
            <a:off x="1666498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>
            <a:off x="2199898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5400000">
            <a:off x="2733298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5400000">
            <a:off x="3190498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rot="5400000">
            <a:off x="3722310" y="5365730"/>
            <a:ext cx="124059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ubarray5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584</Words>
  <Application>Microsoft Macintosh PowerPoint</Application>
  <PresentationFormat>On-screen Show (4:3)</PresentationFormat>
  <Paragraphs>252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Pictures for this Lecture</vt:lpstr>
      <vt:lpstr>bincount</vt:lpstr>
      <vt:lpstr>bincount0</vt:lpstr>
      <vt:lpstr>bincount1</vt:lpstr>
      <vt:lpstr>bincount2</vt:lpstr>
      <vt:lpstr>bincount3</vt:lpstr>
      <vt:lpstr>bincount4</vt:lpstr>
      <vt:lpstr>Amortized</vt:lpstr>
      <vt:lpstr>bitflip-graph</vt:lpstr>
      <vt:lpstr>views</vt:lpstr>
      <vt:lpstr>token</vt:lpstr>
      <vt:lpstr>tokenB</vt:lpstr>
      <vt:lpstr>double</vt:lpstr>
      <vt:lpstr>doubleB</vt:lpstr>
      <vt:lpstr>Ubarray</vt:lpstr>
      <vt:lpstr>ubarray1</vt:lpstr>
      <vt:lpstr>ubarray2</vt:lpstr>
      <vt:lpstr>ubarray3</vt:lpstr>
      <vt:lpstr>ubarray4</vt:lpstr>
      <vt:lpstr>ubarray5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41</cp:revision>
  <dcterms:created xsi:type="dcterms:W3CDTF">2011-02-11T13:14:12Z</dcterms:created>
  <dcterms:modified xsi:type="dcterms:W3CDTF">2017-10-08T19:19:23Z</dcterms:modified>
</cp:coreProperties>
</file>