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48"/>
  </p:notesMasterIdLst>
  <p:handoutMasterIdLst>
    <p:handoutMasterId r:id="rId49"/>
  </p:handoutMasterIdLst>
  <p:sldIdLst>
    <p:sldId id="256" r:id="rId2"/>
    <p:sldId id="257" r:id="rId3"/>
    <p:sldId id="293" r:id="rId4"/>
    <p:sldId id="330" r:id="rId5"/>
    <p:sldId id="331" r:id="rId6"/>
    <p:sldId id="262" r:id="rId7"/>
    <p:sldId id="393" r:id="rId8"/>
    <p:sldId id="394" r:id="rId9"/>
    <p:sldId id="395" r:id="rId10"/>
    <p:sldId id="396" r:id="rId11"/>
    <p:sldId id="374" r:id="rId12"/>
    <p:sldId id="332" r:id="rId13"/>
    <p:sldId id="357" r:id="rId14"/>
    <p:sldId id="358" r:id="rId15"/>
    <p:sldId id="392" r:id="rId16"/>
    <p:sldId id="361" r:id="rId17"/>
    <p:sldId id="359" r:id="rId18"/>
    <p:sldId id="362" r:id="rId19"/>
    <p:sldId id="360" r:id="rId20"/>
    <p:sldId id="363" r:id="rId21"/>
    <p:sldId id="365" r:id="rId22"/>
    <p:sldId id="366" r:id="rId23"/>
    <p:sldId id="367" r:id="rId24"/>
    <p:sldId id="369" r:id="rId25"/>
    <p:sldId id="368" r:id="rId26"/>
    <p:sldId id="370" r:id="rId27"/>
    <p:sldId id="371" r:id="rId28"/>
    <p:sldId id="372" r:id="rId29"/>
    <p:sldId id="364" r:id="rId30"/>
    <p:sldId id="375" r:id="rId31"/>
    <p:sldId id="373" r:id="rId32"/>
    <p:sldId id="376" r:id="rId33"/>
    <p:sldId id="378" r:id="rId34"/>
    <p:sldId id="379" r:id="rId35"/>
    <p:sldId id="380" r:id="rId36"/>
    <p:sldId id="381" r:id="rId37"/>
    <p:sldId id="382" r:id="rId38"/>
    <p:sldId id="383" r:id="rId39"/>
    <p:sldId id="384" r:id="rId40"/>
    <p:sldId id="385" r:id="rId41"/>
    <p:sldId id="386" r:id="rId42"/>
    <p:sldId id="387" r:id="rId43"/>
    <p:sldId id="388" r:id="rId44"/>
    <p:sldId id="389" r:id="rId45"/>
    <p:sldId id="390" r:id="rId46"/>
    <p:sldId id="377" r:id="rId47"/>
  </p:sldIdLst>
  <p:sldSz cx="13004800" cy="9753600"/>
  <p:notesSz cx="7007225" cy="9296400"/>
  <p:defaultTextStyle>
    <a:defPPr>
      <a:defRPr lang="en-US"/>
    </a:defPPr>
    <a:lvl1pPr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marL="457200" indent="-2286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marL="914400" indent="-4572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marL="1371600" indent="-6858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marL="1828800" indent="-9144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6pPr>
    <a:lvl7pPr marL="27432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7pPr>
    <a:lvl8pPr marL="32004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8pPr>
    <a:lvl9pPr marL="36576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 autoAdjust="0"/>
  </p:normalViewPr>
  <p:slideViewPr>
    <p:cSldViewPr>
      <p:cViewPr varScale="1">
        <p:scale>
          <a:sx n="77" d="100"/>
          <a:sy n="77" d="100"/>
        </p:scale>
        <p:origin x="-624" y="-102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82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8750" y="0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sz="1200"/>
            </a:lvl1pPr>
          </a:lstStyle>
          <a:p>
            <a:pPr>
              <a:defRPr/>
            </a:pPr>
            <a:fld id="{231B3D12-EB5E-4DBD-B1D2-B9BE0915A721}" type="datetimeFigureOut">
              <a:rPr lang="en-US"/>
              <a:pPr>
                <a:defRPr/>
              </a:pPr>
              <a:t>2/13/2019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8750" y="8829675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sz="1200"/>
            </a:lvl1pPr>
          </a:lstStyle>
          <a:p>
            <a:pPr>
              <a:defRPr/>
            </a:pPr>
            <a:fld id="{9689D15F-4C94-4BB4-A061-5F06739A46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79513" y="696913"/>
            <a:ext cx="4648200" cy="3486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50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35038" y="4416425"/>
            <a:ext cx="5137150" cy="418306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159" tIns="46580" rIns="93159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noProof="0" smtClean="0">
                <a:sym typeface="Helvetica Neue" charset="0"/>
              </a:rPr>
              <a:t>Second level</a:t>
            </a:r>
          </a:p>
          <a:p>
            <a:pPr lvl="2"/>
            <a:r>
              <a:rPr lang="en-US" noProof="0" smtClean="0">
                <a:sym typeface="Helvetica Neue" charset="0"/>
              </a:rPr>
              <a:t>Third level</a:t>
            </a:r>
          </a:p>
          <a:p>
            <a:pPr lvl="3"/>
            <a:r>
              <a:rPr lang="en-US" noProof="0" smtClean="0">
                <a:sym typeface="Helvetica Neue" charset="0"/>
              </a:rPr>
              <a:t>Fourth level</a:t>
            </a:r>
          </a:p>
          <a:p>
            <a:pPr lvl="4"/>
            <a:r>
              <a:rPr lang="en-US" noProof="0" smtClean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50179" name="Rectangle 2"/>
          <p:cNvSpPr>
            <a:spLocks noGrp="1" noChangeArrowheads="1"/>
          </p:cNvSpPr>
          <p:nvPr>
            <p:ph type="body" sz="quarter" idx="1"/>
          </p:nvPr>
        </p:nvSpPr>
        <p:spPr>
          <a:noFill/>
          <a:ln/>
        </p:spPr>
        <p:txBody>
          <a:bodyPr/>
          <a:lstStyle/>
          <a:p>
            <a:pPr eaLnBrk="1"/>
            <a:r>
              <a:rPr lang="en-US" smtClean="0"/>
              <a:t>String gives the illusion of a small type</a:t>
            </a:r>
          </a:p>
          <a:p>
            <a:pPr eaLnBrk="1"/>
            <a:r>
              <a:rPr lang="en-US" smtClean="0"/>
              <a:t>Examples: int[], char[] …</a:t>
            </a:r>
          </a:p>
          <a:p>
            <a:pPr eaLnBrk="1"/>
            <a:r>
              <a:rPr lang="en-US" smtClean="0"/>
              <a:t>Use coin on some examples then recap with the following slides</a:t>
            </a:r>
          </a:p>
          <a:p>
            <a:pPr eaLnBrk="1"/>
            <a:r>
              <a:rPr lang="en-US" smtClean="0"/>
              <a:t>Note the differences from Python arrays such as a static size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1BF73-A674-4D7B-B1DA-2178CF8CE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99800" cy="1498600"/>
          </a:xfrm>
        </p:spPr>
        <p:txBody>
          <a:bodyPr/>
          <a:lstStyle>
            <a:lvl1pPr>
              <a:defRPr sz="48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099800" cy="6896100"/>
          </a:xfrm>
        </p:spPr>
        <p:txBody>
          <a:bodyPr anchor="t"/>
          <a:lstStyle>
            <a:lvl1pPr marL="457200" indent="-457200">
              <a:spcBef>
                <a:spcPts val="800"/>
              </a:spcBef>
              <a:buSzPct val="100000"/>
              <a:buFont typeface="Wingdings" pitchFamily="2" charset="2"/>
              <a:buChar char="l"/>
              <a:defRPr/>
            </a:lvl1pPr>
            <a:lvl2pPr marL="800100" indent="-342900">
              <a:spcBef>
                <a:spcPts val="700"/>
              </a:spcBef>
              <a:buSzPct val="125000"/>
              <a:buFont typeface="Courier New" pitchFamily="49" charset="0"/>
              <a:buChar char="o"/>
              <a:defRPr sz="2800"/>
            </a:lvl2pPr>
            <a:lvl3pPr marL="1092200" indent="-292100" defTabSz="622300">
              <a:spcBef>
                <a:spcPts val="600"/>
              </a:spcBef>
              <a:buSzPct val="100000"/>
              <a:buFont typeface="Wingdings" pitchFamily="2" charset="2"/>
              <a:buChar char="Ø"/>
              <a:defRPr sz="2400"/>
            </a:lvl3pPr>
            <a:lvl4pPr marL="1435100" indent="-342900">
              <a:spcBef>
                <a:spcPts val="480"/>
              </a:spcBef>
              <a:buSzPct val="90000"/>
              <a:buFont typeface="Wingdings" pitchFamily="2" charset="2"/>
              <a:buChar char="q"/>
              <a:defRPr sz="2000"/>
            </a:lvl4pPr>
            <a:lvl5pPr marL="1663700" indent="-228600">
              <a:spcBef>
                <a:spcPts val="480"/>
              </a:spcBef>
              <a:buSzPct val="100000"/>
              <a:buFont typeface="Wingdings" pitchFamily="2" charset="2"/>
              <a:buChar char="§"/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4083050"/>
            <a:ext cx="11053762" cy="1936750"/>
          </a:xfrm>
        </p:spPr>
        <p:txBody>
          <a:bodyPr anchor="t"/>
          <a:lstStyle>
            <a:lvl1pPr algn="ctr">
              <a:defRPr sz="44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594360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500" y="2590800"/>
            <a:ext cx="5473700" cy="628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590800"/>
            <a:ext cx="5473700" cy="628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FB8B4-07D6-4010-AB0B-CBD0D8E2D7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2C210-B940-4792-8C46-1EE289A7C9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804A6F-6B50-4A70-90D5-CDD606E1E1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E4FFF-F21E-4CEF-A104-7D137C108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7C558-6DD2-4120-9354-832E35A407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Helvetica Neue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E213-355E-4C6F-897A-F8E85C236A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DD4EB-4B13-4170-839C-985C8BDD15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0" y="254000"/>
            <a:ext cx="2774950" cy="8623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500" y="254000"/>
            <a:ext cx="8172450" cy="8623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B3AAA-8235-41AC-B2BA-B48EA47201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 bwMode="auto">
          <a:xfrm>
            <a:off x="952500" y="254000"/>
            <a:ext cx="11099800" cy="215900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Medium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 idx="1"/>
          </p:nvPr>
        </p:nvSpPr>
        <p:spPr bwMode="auto">
          <a:xfrm>
            <a:off x="952500" y="2590800"/>
            <a:ext cx="11099800" cy="628650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" charset="0"/>
              </a:rPr>
              <a:t>Second level</a:t>
            </a:r>
          </a:p>
          <a:p>
            <a:pPr lvl="2"/>
            <a:r>
              <a:rPr lang="en-US" smtClean="0">
                <a:sym typeface="Helvetica Neue" charset="0"/>
              </a:rPr>
              <a:t>Third level</a:t>
            </a:r>
          </a:p>
          <a:p>
            <a:pPr lvl="3"/>
            <a:r>
              <a:rPr lang="en-US" smtClean="0">
                <a:sym typeface="Helvetica Neue" charset="0"/>
              </a:rPr>
              <a:t>Fourth level</a:t>
            </a:r>
          </a:p>
          <a:p>
            <a:pPr lvl="4"/>
            <a:r>
              <a:rPr lang="en-US" smtClean="0">
                <a:sym typeface="Helvetica Neue" charset="0"/>
              </a:rPr>
              <a:t>Fifth level</a:t>
            </a:r>
          </a:p>
        </p:txBody>
      </p:sp>
      <p:sp>
        <p:nvSpPr>
          <p:cNvPr id="2" name="Rectangle 3"/>
          <p:cNvSpPr>
            <a:spLocks noGrp="1"/>
          </p:cNvSpPr>
          <p:nvPr>
            <p:ph type="sldNum" sz="quarter" idx="2"/>
          </p:nvPr>
        </p:nvSpPr>
        <p:spPr bwMode="auto">
          <a:xfrm>
            <a:off x="6327775" y="9296400"/>
            <a:ext cx="341313" cy="323850"/>
          </a:xfrm>
          <a:prstGeom prst="rect">
            <a:avLst/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anchor="t" anchorCtr="0" compatLnSpc="1">
            <a:prstTxWarp prst="textNoShape">
              <a:avLst/>
            </a:prstTxWarp>
          </a:bodyPr>
          <a:lstStyle>
            <a:lvl1pPr>
              <a:defRPr sz="1600" b="0">
                <a:latin typeface="Helvetica Neue Light" charset="0"/>
                <a:ea typeface="Helvetica Neue Light" charset="0"/>
                <a:cs typeface="Helvetica Neue Light" charset="0"/>
                <a:sym typeface="Helvetica Neue Light" charset="0"/>
              </a:defRPr>
            </a:lvl1pPr>
          </a:lstStyle>
          <a:p>
            <a:pPr>
              <a:defRPr/>
            </a:pPr>
            <a:fld id="{25C490D4-7A1B-45D2-B551-E1B1E148D9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4" r:id="rId2"/>
    <p:sldLayoutId id="214748368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+mj-lt"/>
          <a:ea typeface="+mj-ea"/>
          <a:cs typeface="+mj-cs"/>
          <a:sym typeface="Helvetica Neue Medium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9pPr>
    </p:titleStyle>
    <p:bodyStyle>
      <a:lvl1pPr marL="4445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marL="8890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marL="13335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marL="17780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marL="22225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6797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6pPr>
      <a:lvl7pPr marL="31369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7pPr>
      <a:lvl8pPr marL="35941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8pPr>
      <a:lvl9pPr marL="40513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reprog.wordpress.com/2010/04/19/are-you-one-of-the-10-percent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gif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ai.googleblog.com/2006/06/extra-extra-read-all-about-it-nearly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envisage-project.eu/proving-android-java-and-python-sorting-algorithm-is-broken-and-how-to-fix-it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12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12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12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12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"/>
          <p:cNvSpPr>
            <a:spLocks noGrp="1" noChangeArrowheads="1"/>
          </p:cNvSpPr>
          <p:nvPr>
            <p:ph type="ctrTitle"/>
          </p:nvPr>
        </p:nvSpPr>
        <p:spPr>
          <a:xfrm>
            <a:off x="1270000" y="1638300"/>
            <a:ext cx="10464800" cy="3302000"/>
          </a:xfrm>
        </p:spPr>
        <p:txBody>
          <a:bodyPr anchor="b"/>
          <a:lstStyle/>
          <a:p>
            <a:pPr eaLnBrk="1"/>
            <a:r>
              <a:rPr lang="en-US" dirty="0" smtClean="0"/>
              <a:t>Binary Search</a:t>
            </a:r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0000" y="5041900"/>
            <a:ext cx="10464800" cy="1130300"/>
          </a:xfrm>
        </p:spPr>
        <p:txBody>
          <a:bodyPr anchor="t"/>
          <a:lstStyle/>
          <a:p>
            <a:pPr eaLnBrk="1">
              <a:spcBef>
                <a:spcPct val="0"/>
              </a:spcBef>
              <a:buSzTx/>
            </a:pPr>
            <a:endParaRPr lang="en-US" sz="3700" smtClean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1211263" y="2589213"/>
            <a:ext cx="2654573" cy="4042132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lang="en-US" sz="3200" dirty="0"/>
              <a:t>LAST</a:t>
            </a:r>
          </a:p>
          <a:p>
            <a:pPr algn="l"/>
            <a:endParaRPr lang="en-US" sz="3200" dirty="0"/>
          </a:p>
          <a:p>
            <a:pPr algn="l"/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Cost</a:t>
            </a:r>
          </a:p>
          <a:p>
            <a:pPr marL="282575" indent="-282575" algn="l">
              <a:buFont typeface="Arial" pitchFamily="34" charset="0"/>
              <a:buChar char="•"/>
            </a:pP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Big-O</a:t>
            </a:r>
          </a:p>
          <a:p>
            <a:pPr marL="282575" indent="-282575" algn="l">
              <a:buFont typeface="Arial" pitchFamily="34" charset="0"/>
              <a:buChar char="•"/>
            </a:pP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Complexity</a:t>
            </a:r>
            <a:b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</a:b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Classes</a:t>
            </a:r>
          </a:p>
          <a:p>
            <a:pPr algn="l">
              <a:buFont typeface="Arial" pitchFamily="34" charset="0"/>
              <a:buChar char="•"/>
            </a:pPr>
            <a:endParaRPr lang="en-US" sz="3200" b="0" dirty="0" smtClean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  <a:p>
            <a:pPr algn="l"/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Selection Sort</a:t>
            </a:r>
            <a:endParaRPr lang="en-US" sz="32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5207000" y="2570163"/>
            <a:ext cx="3332644" cy="4042132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lang="en-US" sz="3200" dirty="0"/>
              <a:t>TODAY</a:t>
            </a:r>
          </a:p>
          <a:p>
            <a:pPr algn="l"/>
            <a:endParaRPr lang="en-US" sz="3200" dirty="0"/>
          </a:p>
          <a:p>
            <a:pPr algn="l"/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Divide</a:t>
            </a:r>
            <a:b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</a:b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	(and Conquer)</a:t>
            </a:r>
            <a:endParaRPr lang="en-US" sz="32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  <a:p>
            <a:pPr marL="282575" indent="-282575" algn="l">
              <a:buFont typeface="Arial" pitchFamily="34" charset="0"/>
              <a:buChar char="•"/>
            </a:pP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Binary Search</a:t>
            </a:r>
            <a:endParaRPr lang="en-US" sz="32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  <a:p>
            <a:pPr algn="l"/>
            <a:endParaRPr lang="en-US" sz="3200" b="0" dirty="0" smtClean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  <a:p>
            <a:pPr algn="l"/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Logarithmic</a:t>
            </a:r>
            <a:b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</a:b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complexity</a:t>
            </a:r>
            <a:endParaRPr lang="en-US" sz="32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099" name="Rectangle 3"/>
          <p:cNvSpPr>
            <a:spLocks/>
          </p:cNvSpPr>
          <p:nvPr/>
        </p:nvSpPr>
        <p:spPr bwMode="auto">
          <a:xfrm>
            <a:off x="9306117" y="2582863"/>
            <a:ext cx="2606483" cy="157992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pPr algn="l"/>
            <a:r>
              <a:rPr lang="en-US" sz="3200" dirty="0"/>
              <a:t>NEXT</a:t>
            </a:r>
          </a:p>
          <a:p>
            <a:pPr algn="l"/>
            <a:endParaRPr lang="en-US" sz="3200" dirty="0"/>
          </a:p>
          <a:p>
            <a:pPr algn="l"/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Faster sorting</a:t>
            </a:r>
            <a:endParaRPr lang="en-US" sz="32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" grpId="0" autoUpdateAnimBg="0"/>
      <p:bldP spid="4098" grpId="0" autoUpdateAnimBg="0"/>
      <p:bldP spid="4099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/>
            <a:r>
              <a:rPr lang="en-US" dirty="0" smtClean="0"/>
              <a:t>Searching an Array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Search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0960100" cy="7315200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>
                <a:solidFill>
                  <a:schemeClr val="tx1"/>
                </a:solidFill>
              </a:rPr>
              <a:t>Go through the array position by position until we find x</a:t>
            </a: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 smtClean="0">
                <a:solidFill>
                  <a:schemeClr val="tx1"/>
                </a:solidFill>
              </a:rPr>
              <a:t>Worst case complexity: </a:t>
            </a:r>
            <a:r>
              <a:rPr lang="en-US" b="1" i="1" dirty="0" smtClean="0">
                <a:solidFill>
                  <a:schemeClr val="tx1"/>
                </a:solidFill>
              </a:rPr>
              <a:t>O(n)</a:t>
            </a:r>
          </a:p>
        </p:txBody>
      </p:sp>
      <p:sp>
        <p:nvSpPr>
          <p:cNvPr id="12" name="Rectangle 4"/>
          <p:cNvSpPr>
            <a:spLocks/>
          </p:cNvSpPr>
          <p:nvPr/>
        </p:nvSpPr>
        <p:spPr bwMode="auto">
          <a:xfrm>
            <a:off x="2441124" y="2895600"/>
            <a:ext cx="8790099" cy="387798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search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/*@ensures (\result  == -1 &amp;&amp; !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(x, A, 0, n))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                || (0 &lt;= \result &amp;&amp; \result &lt; n &amp;&amp; A[\result] == x); @*/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for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0;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&lt; n;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++)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(A[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] == x)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9" name="Rectangular Callout 8"/>
          <p:cNvSpPr/>
          <p:nvPr/>
        </p:nvSpPr>
        <p:spPr bwMode="auto">
          <a:xfrm>
            <a:off x="7188200" y="6019800"/>
            <a:ext cx="1831592" cy="707886"/>
          </a:xfrm>
          <a:prstGeom prst="wedgeRectCallout">
            <a:avLst>
              <a:gd name="adj1" fmla="val -132156"/>
              <a:gd name="adj2" fmla="val -17256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Loop invariants</a:t>
            </a:r>
            <a:br>
              <a:rPr lang="en-US" sz="2000" b="0" dirty="0" smtClean="0"/>
            </a:br>
            <a:r>
              <a:rPr lang="en-US" sz="2000" b="0" dirty="0" smtClean="0"/>
              <a:t>omitted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 Search on </a:t>
            </a:r>
            <a:r>
              <a:rPr lang="en-US" i="1" dirty="0" smtClean="0"/>
              <a:t>Sorted</a:t>
            </a:r>
            <a:r>
              <a:rPr lang="en-US" dirty="0" smtClean="0"/>
              <a:t> Arrays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>
                <a:solidFill>
                  <a:schemeClr val="tx1"/>
                </a:solidFill>
              </a:rPr>
              <a:t>Stop early if we find an element greater than x</a:t>
            </a: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 lvl="2"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lvl="4"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r>
              <a:rPr lang="en-US" dirty="0" smtClean="0">
                <a:solidFill>
                  <a:schemeClr val="tx1"/>
                </a:solidFill>
              </a:rPr>
              <a:t>Worst case complexity: still </a:t>
            </a:r>
            <a:r>
              <a:rPr lang="en-US" b="1" i="1" dirty="0" smtClean="0">
                <a:solidFill>
                  <a:schemeClr val="tx1"/>
                </a:solidFill>
              </a:rPr>
              <a:t>O(n)</a:t>
            </a:r>
            <a:endParaRPr lang="en-US" dirty="0" smtClean="0">
              <a:solidFill>
                <a:schemeClr val="tx1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chemeClr val="tx1"/>
                </a:solidFill>
              </a:rPr>
              <a:t>e.g., if x is larger than any element in A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2441124" y="2895600"/>
            <a:ext cx="8790099" cy="4985980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search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/*@ensures (\result  == -1 &amp;&amp; !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(x, A, 0, n))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                || (0 &lt;= \result &amp;&amp; \result &lt; n &amp;&amp; A[\result] == x); @*/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for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0;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&lt; n;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++)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(A[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] == x)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(x &lt; A[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])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  //@assert A[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] &lt; x;</a:t>
            </a:r>
            <a:endParaRPr lang="en-US" b="0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2311400" y="3657600"/>
            <a:ext cx="4572000" cy="609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" name="Rectangular Callout 6"/>
          <p:cNvSpPr/>
          <p:nvPr/>
        </p:nvSpPr>
        <p:spPr bwMode="auto">
          <a:xfrm>
            <a:off x="7264400" y="6477000"/>
            <a:ext cx="1831592" cy="707886"/>
          </a:xfrm>
          <a:prstGeom prst="wedgeRectCallout">
            <a:avLst>
              <a:gd name="adj1" fmla="val -132156"/>
              <a:gd name="adj2" fmla="val -17256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Loop invariants</a:t>
            </a:r>
            <a:br>
              <a:rPr lang="en-US" sz="2000" b="0" dirty="0" smtClean="0"/>
            </a:br>
            <a:r>
              <a:rPr lang="en-US" sz="2000" b="0" dirty="0" smtClean="0"/>
              <a:t>omitted</a:t>
            </a:r>
            <a:endParaRPr lang="en-US" sz="2000" b="0" dirty="0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2463800" y="5791200"/>
            <a:ext cx="3505200" cy="990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/>
            <a:r>
              <a:rPr lang="en-US" dirty="0" smtClean="0"/>
              <a:t>Can we do Better on </a:t>
            </a:r>
            <a:r>
              <a:rPr lang="en-US" i="1" dirty="0" smtClean="0"/>
              <a:t>Sorted</a:t>
            </a:r>
            <a:r>
              <a:rPr lang="en-US" dirty="0" smtClean="0"/>
              <a:t> Arrays?</a:t>
            </a:r>
          </a:p>
        </p:txBody>
      </p:sp>
      <p:sp>
        <p:nvSpPr>
          <p:cNvPr id="11266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Look in the middle!</a:t>
            </a:r>
          </a:p>
          <a:p>
            <a:pPr lvl="1"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compare midpoint element with x</a:t>
            </a:r>
          </a:p>
          <a:p>
            <a:pPr lvl="1"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if found, great!</a:t>
            </a:r>
          </a:p>
          <a:p>
            <a:pPr lvl="1"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if x is smaller, look for x in the lower half</a:t>
            </a:r>
          </a:p>
          <a:p>
            <a:pPr lvl="1"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if x is bigger, look for x in the upper half</a:t>
            </a:r>
          </a:p>
          <a:p>
            <a:pPr lvl="1" eaLnBrk="1">
              <a:defRPr/>
            </a:pPr>
            <a:endParaRPr lang="en-US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This is</a:t>
            </a:r>
          </a:p>
          <a:p>
            <a:pPr algn="ctr" eaLnBrk="1">
              <a:buNone/>
              <a:defRPr/>
            </a:pPr>
            <a:r>
              <a:rPr lang="en-US" sz="4000" b="1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Binary Search</a:t>
            </a:r>
          </a:p>
          <a:p>
            <a:pPr eaLnBrk="1">
              <a:buNone/>
              <a:defRPr/>
            </a:pPr>
            <a:endParaRPr lang="en-US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514350" indent="-514350"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Why better?</a:t>
            </a:r>
          </a:p>
          <a:p>
            <a:pPr marL="795338" lvl="1" indent="-452438"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we are throwing out half of the array each time!</a:t>
            </a:r>
          </a:p>
          <a:p>
            <a:pPr marL="1149350" lvl="2" indent="-354013"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with linear search, we were throwing out just one element!</a:t>
            </a:r>
          </a:p>
          <a:p>
            <a:pPr marL="795338" lvl="1" indent="-452438" eaLnBrk="1">
              <a:defRPr/>
            </a:pP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if array has length </a:t>
            </a:r>
            <a:r>
              <a:rPr lang="en-US" i="1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we can halve it only </a:t>
            </a:r>
            <a:r>
              <a:rPr lang="en-US" i="1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log n</a:t>
            </a: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times</a:t>
            </a:r>
          </a:p>
        </p:txBody>
      </p:sp>
      <p:sp>
        <p:nvSpPr>
          <p:cNvPr id="4" name="Rectangular Callout 3"/>
          <p:cNvSpPr/>
          <p:nvPr/>
        </p:nvSpPr>
        <p:spPr bwMode="auto">
          <a:xfrm>
            <a:off x="9702800" y="2133600"/>
            <a:ext cx="1701748" cy="400110"/>
          </a:xfrm>
          <a:prstGeom prst="wedgeRectCallout">
            <a:avLst>
              <a:gd name="adj1" fmla="val -96321"/>
              <a:gd name="adj2" fmla="val 22733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Piece of cake!</a:t>
            </a:r>
            <a:endParaRPr lang="en-US" sz="2000" b="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Cautionary Tale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5549900" cy="68961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Only 10% of programmers can write a binary search</a:t>
            </a:r>
          </a:p>
          <a:p>
            <a:pPr lvl="1"/>
            <a:r>
              <a:rPr lang="en-US" dirty="0" smtClean="0"/>
              <a:t>90% had bugs!</a:t>
            </a:r>
          </a:p>
          <a:p>
            <a:pPr lvl="3"/>
            <a:endParaRPr lang="en-US" dirty="0" smtClean="0"/>
          </a:p>
          <a:p>
            <a:r>
              <a:rPr lang="en-US" dirty="0" smtClean="0"/>
              <a:t>Binary search dates back to 1946 (at least)</a:t>
            </a:r>
          </a:p>
          <a:p>
            <a:pPr lvl="1"/>
            <a:r>
              <a:rPr lang="en-US" dirty="0" smtClean="0"/>
              <a:t>First </a:t>
            </a:r>
            <a:r>
              <a:rPr lang="en-US" i="1" dirty="0" smtClean="0"/>
              <a:t>correct</a:t>
            </a:r>
            <a:r>
              <a:rPr lang="en-US" dirty="0" smtClean="0"/>
              <a:t> description in 1962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Jon Bentley wrote the </a:t>
            </a:r>
            <a:r>
              <a:rPr lang="en-US" b="1" dirty="0" smtClean="0"/>
              <a:t>definitive</a:t>
            </a:r>
            <a:r>
              <a:rPr lang="en-US" dirty="0" smtClean="0"/>
              <a:t> binary search</a:t>
            </a:r>
          </a:p>
          <a:p>
            <a:pPr lvl="2"/>
            <a:r>
              <a:rPr lang="en-US" dirty="0" smtClean="0"/>
              <a:t>proved it correct</a:t>
            </a:r>
          </a:p>
          <a:p>
            <a:pPr lvl="4"/>
            <a:endParaRPr lang="en-US" dirty="0" smtClean="0"/>
          </a:p>
          <a:p>
            <a:pPr>
              <a:buNone/>
            </a:pPr>
            <a:r>
              <a:rPr lang="en-US" sz="2000" dirty="0" smtClean="0"/>
              <a:t>Read more at </a:t>
            </a:r>
            <a:r>
              <a:rPr lang="en-US" sz="2000" dirty="0" smtClean="0">
                <a:hlinkClick r:id="rId2"/>
              </a:rPr>
              <a:t>https://reprog.wordpress.com/2010/04/19/are-you-one-of-the-10-percent/</a:t>
            </a:r>
            <a:endParaRPr lang="en-US" sz="2000" dirty="0" smtClean="0"/>
          </a:p>
        </p:txBody>
      </p:sp>
      <p:pic>
        <p:nvPicPr>
          <p:cNvPr id="4" name="Content Placeholder 10" descr="Screenshot_2019-02-07 Are you one of the 10% of programmers who can write a binary search 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6426200" y="2209800"/>
            <a:ext cx="6286500" cy="3400425"/>
          </a:xfrm>
          <a:prstGeom prst="rect">
            <a:avLst/>
          </a:prstGeom>
          <a:noFill/>
          <a:ln w="12700">
            <a:solidFill>
              <a:schemeClr val="tx1"/>
            </a:solidFill>
            <a:miter lim="400000"/>
            <a:headEnd/>
            <a:tailEnd/>
          </a:ln>
        </p:spPr>
      </p:pic>
      <p:pic>
        <p:nvPicPr>
          <p:cNvPr id="5" name="Picture 4" descr="Screenshot_2019-02-07 Are you one of the 10% of programmers who can write a binary search 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9600" y="6019800"/>
            <a:ext cx="1895475" cy="2847975"/>
          </a:xfrm>
          <a:prstGeom prst="rect">
            <a:avLst/>
          </a:prstGeom>
        </p:spPr>
      </p:pic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6350000" y="2482701"/>
            <a:ext cx="2590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10693400" y="4538332"/>
            <a:ext cx="13716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8" name="Rectangular Callout 7"/>
          <p:cNvSpPr/>
          <p:nvPr/>
        </p:nvSpPr>
        <p:spPr bwMode="auto">
          <a:xfrm>
            <a:off x="6731000" y="6629400"/>
            <a:ext cx="2442335" cy="1015663"/>
          </a:xfrm>
          <a:prstGeom prst="wedgeRectCallout">
            <a:avLst>
              <a:gd name="adj1" fmla="val 130082"/>
              <a:gd name="adj2" fmla="val -4589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dirty="0" smtClean="0"/>
              <a:t>Jon Bentley</a:t>
            </a:r>
            <a:r>
              <a:rPr lang="en-US" sz="2000" b="0" dirty="0" smtClean="0"/>
              <a:t>,</a:t>
            </a:r>
          </a:p>
          <a:p>
            <a:pPr>
              <a:defRPr/>
            </a:pPr>
            <a:r>
              <a:rPr lang="en-US" sz="2000" b="0" dirty="0" smtClean="0"/>
              <a:t>Algorithms professor</a:t>
            </a:r>
            <a:br>
              <a:rPr lang="en-US" sz="2000" b="0" dirty="0" smtClean="0"/>
            </a:br>
            <a:r>
              <a:rPr lang="en-US" sz="2000" b="0" dirty="0" smtClean="0"/>
              <a:t>at CMU in the 1980s</a:t>
            </a:r>
            <a:endParaRPr lang="en-US" sz="2000" b="0" dirty="0"/>
          </a:p>
        </p:txBody>
      </p:sp>
      <p:pic>
        <p:nvPicPr>
          <p:cNvPr id="9" name="Picture 8" descr="bentley.gif"/>
          <p:cNvPicPr>
            <a:picLocks noChangeAspect="1"/>
          </p:cNvPicPr>
          <p:nvPr/>
        </p:nvPicPr>
        <p:blipFill>
          <a:blip r:embed="rId5"/>
          <a:srcRect r="44000" b="15152"/>
          <a:stretch>
            <a:fillRect/>
          </a:stretch>
        </p:blipFill>
        <p:spPr>
          <a:xfrm>
            <a:off x="11226800" y="152400"/>
            <a:ext cx="1600200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of a Cautionary Tale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6845300" cy="6896100"/>
          </a:xfrm>
        </p:spPr>
        <p:txBody>
          <a:bodyPr/>
          <a:lstStyle/>
          <a:p>
            <a:r>
              <a:rPr lang="en-US" dirty="0" smtClean="0"/>
              <a:t>Joshua Bloch finds a </a:t>
            </a:r>
            <a:r>
              <a:rPr lang="en-US" b="1" dirty="0" smtClean="0"/>
              <a:t>bug</a:t>
            </a:r>
            <a:r>
              <a:rPr lang="en-US" dirty="0" smtClean="0"/>
              <a:t> in Jon Bentley’s definitive binary search!</a:t>
            </a:r>
          </a:p>
          <a:p>
            <a:pPr lvl="1"/>
            <a:r>
              <a:rPr lang="en-US" dirty="0" smtClean="0"/>
              <a:t>that Bentley had proved correct!!!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Went on to implementing several searching and sorting algorithms used in Android, Java and Python</a:t>
            </a:r>
          </a:p>
          <a:p>
            <a:pPr lvl="1"/>
            <a:r>
              <a:rPr lang="en-US" dirty="0" smtClean="0"/>
              <a:t>e.g., </a:t>
            </a:r>
            <a:r>
              <a:rPr lang="en-US" dirty="0" err="1" smtClean="0"/>
              <a:t>TimSort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>
              <a:buNone/>
            </a:pPr>
            <a:r>
              <a:rPr lang="en-US" sz="2000" dirty="0" smtClean="0"/>
              <a:t>Read more at</a:t>
            </a:r>
            <a:br>
              <a:rPr lang="en-US" sz="2000" dirty="0" smtClean="0"/>
            </a:br>
            <a:r>
              <a:rPr lang="en-US" sz="2000" dirty="0" smtClean="0">
                <a:hlinkClick r:id="rId2"/>
              </a:rPr>
              <a:t>https://ai.googleblog.com/2006/06/extra-extra-read-all-about-it-nearly.html</a:t>
            </a:r>
            <a:endParaRPr lang="en-US" sz="2000" dirty="0" smtClean="0"/>
          </a:p>
        </p:txBody>
      </p:sp>
      <p:pic>
        <p:nvPicPr>
          <p:cNvPr id="4" name="Content Placeholder 3" descr="Screenshot_2019-02-07 Extra, Extra - Read All About It Nearly All Binary Searches and Mergesorts are Brok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7874000" y="4887611"/>
            <a:ext cx="5016500" cy="4713589"/>
          </a:xfrm>
          <a:prstGeom prst="rect">
            <a:avLst/>
          </a:prstGeom>
          <a:noFill/>
          <a:ln w="12700">
            <a:solidFill>
              <a:schemeClr val="tx1"/>
            </a:solidFill>
            <a:miter lim="400000"/>
            <a:headEnd/>
            <a:tailEnd/>
          </a:ln>
        </p:spPr>
      </p:pic>
      <p:sp>
        <p:nvSpPr>
          <p:cNvPr id="5" name="Rectangular Callout 4"/>
          <p:cNvSpPr/>
          <p:nvPr/>
        </p:nvSpPr>
        <p:spPr bwMode="auto">
          <a:xfrm>
            <a:off x="8756014" y="2334161"/>
            <a:ext cx="4070986" cy="1323439"/>
          </a:xfrm>
          <a:prstGeom prst="wedgeRectCallout">
            <a:avLst>
              <a:gd name="adj1" fmla="val -42558"/>
              <a:gd name="adj2" fmla="val 340543"/>
            </a:avLst>
          </a:prstGeom>
          <a:solidFill>
            <a:srgbClr val="CCECFF">
              <a:alpha val="50196"/>
            </a:srgb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dirty="0" smtClean="0"/>
              <a:t>Joshua Bloch</a:t>
            </a:r>
            <a:r>
              <a:rPr lang="en-US" sz="2000" b="0" dirty="0" smtClean="0"/>
              <a:t>,</a:t>
            </a:r>
          </a:p>
          <a:p>
            <a:pPr algn="l">
              <a:buFont typeface="Arial" pitchFamily="34" charset="0"/>
              <a:buChar char="•"/>
              <a:defRPr/>
            </a:pPr>
            <a:r>
              <a:rPr lang="en-US" sz="2000" b="0" dirty="0" smtClean="0"/>
              <a:t> student of Jon Bentley</a:t>
            </a:r>
          </a:p>
          <a:p>
            <a:pPr algn="l">
              <a:buFont typeface="Arial" pitchFamily="34" charset="0"/>
              <a:buChar char="•"/>
              <a:defRPr/>
            </a:pPr>
            <a:r>
              <a:rPr lang="en-US" sz="2000" b="0" dirty="0" smtClean="0"/>
              <a:t> works at Google</a:t>
            </a:r>
          </a:p>
          <a:p>
            <a:pPr algn="l">
              <a:buFont typeface="Arial" pitchFamily="34" charset="0"/>
              <a:buChar char="•"/>
              <a:defRPr/>
            </a:pPr>
            <a:r>
              <a:rPr lang="en-US" sz="2000" b="0" dirty="0" smtClean="0"/>
              <a:t> occasionally adjunct </a:t>
            </a:r>
            <a:r>
              <a:rPr lang="en-US" sz="2000" b="0" dirty="0" err="1" smtClean="0"/>
              <a:t>prof</a:t>
            </a:r>
            <a:r>
              <a:rPr lang="en-US" sz="2000" b="0" dirty="0" smtClean="0"/>
              <a:t>. at CMU</a:t>
            </a:r>
            <a:endParaRPr lang="en-US" sz="2000" b="0" dirty="0"/>
          </a:p>
        </p:txBody>
      </p:sp>
      <p:pic>
        <p:nvPicPr>
          <p:cNvPr id="6" name="Picture 5" descr="bloch.jpg"/>
          <p:cNvPicPr>
            <a:picLocks noChangeAspect="1"/>
          </p:cNvPicPr>
          <p:nvPr/>
        </p:nvPicPr>
        <p:blipFill>
          <a:blip r:embed="rId4"/>
          <a:srcRect l="10224" r="7987" b="20000"/>
          <a:stretch>
            <a:fillRect/>
          </a:stretch>
        </p:blipFill>
        <p:spPr>
          <a:xfrm>
            <a:off x="11226800" y="152400"/>
            <a:ext cx="1600200" cy="1600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 More of a Cautionary Tale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6159500" cy="6896100"/>
          </a:xfrm>
        </p:spPr>
        <p:txBody>
          <a:bodyPr/>
          <a:lstStyle/>
          <a:p>
            <a:r>
              <a:rPr lang="en-US" dirty="0" smtClean="0"/>
              <a:t>Researchers find a </a:t>
            </a:r>
            <a:r>
              <a:rPr lang="en-US" b="1" dirty="0" smtClean="0"/>
              <a:t>bug</a:t>
            </a:r>
            <a:r>
              <a:rPr lang="en-US" dirty="0" smtClean="0"/>
              <a:t> in Joshua Bloch’s code for </a:t>
            </a:r>
            <a:r>
              <a:rPr lang="en-US" dirty="0" err="1" smtClean="0"/>
              <a:t>TimSort</a:t>
            </a:r>
            <a:endParaRPr lang="en-US" dirty="0" smtClean="0"/>
          </a:p>
          <a:p>
            <a:pPr lvl="4"/>
            <a:endParaRPr lang="en-US" dirty="0" smtClean="0"/>
          </a:p>
          <a:p>
            <a:pPr lvl="1"/>
            <a:r>
              <a:rPr lang="en-US" dirty="0" smtClean="0"/>
              <a:t>Implemented it in a language with contracts (JML - Java </a:t>
            </a:r>
            <a:r>
              <a:rPr lang="en-US" dirty="0" err="1" smtClean="0"/>
              <a:t>Modelling</a:t>
            </a:r>
            <a:r>
              <a:rPr lang="en-US" dirty="0" smtClean="0"/>
              <a:t> Language)</a:t>
            </a:r>
          </a:p>
          <a:p>
            <a:pPr lvl="1"/>
            <a:r>
              <a:rPr lang="en-US" dirty="0" smtClean="0"/>
              <a:t>Tried to prove correctness using </a:t>
            </a:r>
            <a:r>
              <a:rPr lang="en-US" dirty="0" err="1" smtClean="0"/>
              <a:t>KeY</a:t>
            </a:r>
            <a:r>
              <a:rPr lang="en-US" dirty="0" smtClean="0"/>
              <a:t> theorem </a:t>
            </a:r>
            <a:r>
              <a:rPr lang="en-US" dirty="0" err="1" smtClean="0"/>
              <a:t>prover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r>
              <a:rPr lang="en-US" sz="2000" dirty="0" smtClean="0"/>
              <a:t>Read more at</a:t>
            </a:r>
            <a:br>
              <a:rPr lang="en-US" sz="2000" dirty="0" smtClean="0"/>
            </a:br>
            <a:r>
              <a:rPr lang="en-US" sz="2000" dirty="0" smtClean="0">
                <a:hlinkClick r:id="rId2"/>
              </a:rPr>
              <a:t>http://www.envisage-project.eu/proving-android-java-and-python-sorting-algorithm-is-broken-and-how-to-fix-it/</a:t>
            </a:r>
            <a:endParaRPr lang="en-US" sz="2000" dirty="0" smtClean="0"/>
          </a:p>
        </p:txBody>
      </p:sp>
      <p:pic>
        <p:nvPicPr>
          <p:cNvPr id="4" name="Picture 3" descr="Screenshot_2019-02-07 Proving that Android’s, Java’s and Python’s sorting algorithm is broken (and showing how to fix it) E[...]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700" y="2809875"/>
            <a:ext cx="5219700" cy="13811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 descr="Screenshot_2019-02-07 Proving that Android’s, Java’s and Python’s sorting algorithm is broken (and showing how to fix it) E[...](1)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0100" y="5219700"/>
            <a:ext cx="5753100" cy="43815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Rectangular Callout 5"/>
          <p:cNvSpPr/>
          <p:nvPr/>
        </p:nvSpPr>
        <p:spPr bwMode="auto">
          <a:xfrm>
            <a:off x="1141737" y="6324600"/>
            <a:ext cx="3150863" cy="1015663"/>
          </a:xfrm>
          <a:prstGeom prst="wedgeRectCallout">
            <a:avLst>
              <a:gd name="adj1" fmla="val 147629"/>
              <a:gd name="adj2" fmla="val -9614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Some of the same contract</a:t>
            </a:r>
            <a:br>
              <a:rPr lang="en-US" sz="2000" b="0" dirty="0" smtClean="0"/>
            </a:br>
            <a:r>
              <a:rPr lang="en-US" sz="2000" b="0" dirty="0" smtClean="0"/>
              <a:t>mechanisms as C0</a:t>
            </a:r>
            <a:br>
              <a:rPr lang="en-US" sz="2000" b="0" dirty="0" smtClean="0"/>
            </a:br>
            <a:r>
              <a:rPr lang="en-US" sz="2000" b="0" dirty="0" smtClean="0"/>
              <a:t>(and a few more)</a:t>
            </a:r>
            <a:endParaRPr lang="en-US" sz="2000" b="0" dirty="0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7493000" y="5998534"/>
            <a:ext cx="838200" cy="228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r>
              <a:rPr lang="en-US" sz="2000" b="0" dirty="0" smtClean="0"/>
              <a:t> </a:t>
            </a:r>
            <a:endParaRPr lang="en-US" sz="2000" b="0" dirty="0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7537301" y="5605132"/>
            <a:ext cx="838200" cy="228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r>
              <a:rPr lang="en-US" sz="2000" b="0" dirty="0" smtClean="0"/>
              <a:t> </a:t>
            </a:r>
            <a:endParaRPr lang="en-US" sz="2000" b="0" dirty="0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7395534" y="7010400"/>
            <a:ext cx="685800" cy="228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r>
              <a:rPr lang="en-US" sz="2000" b="0" dirty="0" smtClean="0"/>
              <a:t> </a:t>
            </a:r>
            <a:endParaRPr lang="en-US" sz="2000" b="0" dirty="0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7721600" y="7391400"/>
            <a:ext cx="1295400" cy="228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r>
              <a:rPr lang="en-US" sz="2000" b="0" dirty="0" smtClean="0"/>
              <a:t> </a:t>
            </a:r>
            <a:endParaRPr lang="en-US" sz="2000" b="0" dirty="0"/>
          </a:p>
        </p:txBody>
      </p:sp>
      <p:sp>
        <p:nvSpPr>
          <p:cNvPr id="11" name="Rectangular Callout 10"/>
          <p:cNvSpPr/>
          <p:nvPr/>
        </p:nvSpPr>
        <p:spPr bwMode="auto">
          <a:xfrm>
            <a:off x="4902200" y="7239000"/>
            <a:ext cx="1938992" cy="646331"/>
          </a:xfrm>
          <a:prstGeom prst="wedgeRectCallout">
            <a:avLst>
              <a:gd name="adj1" fmla="val -98540"/>
              <a:gd name="adj2" fmla="val -85975"/>
            </a:avLst>
          </a:prstGeom>
          <a:solidFill>
            <a:schemeClr val="accent6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1800" b="0" i="1" dirty="0" smtClean="0"/>
              <a:t>(we borrowed our</a:t>
            </a:r>
            <a:br>
              <a:rPr lang="en-US" sz="1800" b="0" i="1" dirty="0" smtClean="0"/>
            </a:br>
            <a:r>
              <a:rPr lang="en-US" sz="1800" b="0" i="1" dirty="0" smtClean="0"/>
              <a:t>contracts of them)</a:t>
            </a:r>
            <a:endParaRPr lang="en-US" sz="18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Piece of cake?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Implementing binary search is not as simple as it sounds</a:t>
            </a:r>
          </a:p>
          <a:p>
            <a:pPr lvl="1"/>
            <a:r>
              <a:rPr lang="en-US" dirty="0" smtClean="0"/>
              <a:t>many professionals have failed!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We want to proceed carefully and methodically</a:t>
            </a:r>
          </a:p>
          <a:p>
            <a:endParaRPr lang="en-US" dirty="0" smtClean="0"/>
          </a:p>
          <a:p>
            <a:r>
              <a:rPr lang="en-US" dirty="0" smtClean="0"/>
              <a:t>Contracts will be our guide!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/>
            <a:r>
              <a:rPr lang="en-US" dirty="0" smtClean="0"/>
              <a:t>Binary Search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6464" y="1524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Rectangle 7"/>
          <p:cNvSpPr>
            <a:spLocks/>
          </p:cNvSpPr>
          <p:nvPr/>
        </p:nvSpPr>
        <p:spPr bwMode="auto">
          <a:xfrm>
            <a:off x="7690944" y="595312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24784" y="14478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7"/>
          <p:cNvSpPr>
            <a:spLocks/>
          </p:cNvSpPr>
          <p:nvPr/>
        </p:nvSpPr>
        <p:spPr bwMode="auto">
          <a:xfrm>
            <a:off x="7679264" y="1890712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10052036" y="1907978"/>
            <a:ext cx="64351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rtlCol="0" anchor="ctr">
            <a:noAutofit/>
          </a:bodyPr>
          <a:lstStyle/>
          <a:p>
            <a:pPr algn="ctr"/>
            <a:endParaRPr lang="en-US" sz="2000" b="0" dirty="0" smtClean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36464" y="27432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Rectangle 7"/>
          <p:cNvSpPr>
            <a:spLocks/>
          </p:cNvSpPr>
          <p:nvPr/>
        </p:nvSpPr>
        <p:spPr bwMode="auto">
          <a:xfrm>
            <a:off x="7690944" y="3186112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24784" y="4049018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Rectangle 7"/>
          <p:cNvSpPr>
            <a:spLocks/>
          </p:cNvSpPr>
          <p:nvPr/>
        </p:nvSpPr>
        <p:spPr bwMode="auto">
          <a:xfrm>
            <a:off x="7679264" y="4491930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sp>
        <p:nvSpPr>
          <p:cNvPr id="22" name="Rectangle 21"/>
          <p:cNvSpPr/>
          <p:nvPr/>
        </p:nvSpPr>
        <p:spPr bwMode="auto">
          <a:xfrm>
            <a:off x="8777814" y="4509196"/>
            <a:ext cx="64351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rtlCol="0" anchor="ctr">
            <a:noAutofit/>
          </a:bodyPr>
          <a:lstStyle/>
          <a:p>
            <a:pPr algn="ctr"/>
            <a:endParaRPr lang="en-US" sz="2000" b="0" dirty="0" smtClean="0"/>
          </a:p>
        </p:txBody>
      </p:sp>
      <p:cxnSp>
        <p:nvCxnSpPr>
          <p:cNvPr id="26" name="Straight Connector 25"/>
          <p:cNvCxnSpPr/>
          <p:nvPr/>
        </p:nvCxnSpPr>
        <p:spPr bwMode="auto">
          <a:xfrm rot="10800000">
            <a:off x="10727264" y="3200400"/>
            <a:ext cx="19050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 rot="10800000" flipV="1">
            <a:off x="10727264" y="3200400"/>
            <a:ext cx="19050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 rot="10800000">
            <a:off x="10079564" y="32004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 rot="10800000" flipV="1">
            <a:off x="10079564" y="32004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8124784" y="6626422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Rectangle 7"/>
          <p:cNvSpPr>
            <a:spLocks/>
          </p:cNvSpPr>
          <p:nvPr/>
        </p:nvSpPr>
        <p:spPr bwMode="auto">
          <a:xfrm>
            <a:off x="7679264" y="7069334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sp>
        <p:nvSpPr>
          <p:cNvPr id="47" name="Rectangle 46"/>
          <p:cNvSpPr/>
          <p:nvPr/>
        </p:nvSpPr>
        <p:spPr bwMode="auto">
          <a:xfrm>
            <a:off x="9397952" y="7086600"/>
            <a:ext cx="64351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rtlCol="0" anchor="ctr">
            <a:noAutofit/>
          </a:bodyPr>
          <a:lstStyle/>
          <a:p>
            <a:pPr algn="ctr"/>
            <a:endParaRPr lang="en-US" sz="2000" b="0" dirty="0" smtClean="0"/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8124784" y="53340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0" name="Rectangle 7"/>
          <p:cNvSpPr>
            <a:spLocks/>
          </p:cNvSpPr>
          <p:nvPr/>
        </p:nvSpPr>
        <p:spPr bwMode="auto">
          <a:xfrm>
            <a:off x="7679264" y="5850134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cxnSp>
        <p:nvCxnSpPr>
          <p:cNvPr id="53" name="Straight Connector 52"/>
          <p:cNvCxnSpPr/>
          <p:nvPr/>
        </p:nvCxnSpPr>
        <p:spPr bwMode="auto">
          <a:xfrm rot="10800000">
            <a:off x="8136465" y="5791199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 rot="10800000" flipV="1">
            <a:off x="8136465" y="5791199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rot="10800000">
            <a:off x="8784164" y="57912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 rot="10800000" flipV="1">
            <a:off x="8784164" y="57912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8136464" y="7921821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" name="Rectangle 7"/>
          <p:cNvSpPr>
            <a:spLocks/>
          </p:cNvSpPr>
          <p:nvPr/>
        </p:nvSpPr>
        <p:spPr bwMode="auto">
          <a:xfrm>
            <a:off x="7690944" y="8364733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cxnSp>
        <p:nvCxnSpPr>
          <p:cNvPr id="65" name="Straight Connector 64"/>
          <p:cNvCxnSpPr/>
          <p:nvPr/>
        </p:nvCxnSpPr>
        <p:spPr bwMode="auto">
          <a:xfrm rot="10800000">
            <a:off x="9436100" y="8381998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/>
          <p:nvPr/>
        </p:nvCxnSpPr>
        <p:spPr bwMode="auto">
          <a:xfrm rot="10800000" flipV="1">
            <a:off x="9436100" y="8381998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67" name="Oval 66"/>
          <p:cNvSpPr>
            <a:spLocks noChangeArrowheads="1"/>
          </p:cNvSpPr>
          <p:nvPr/>
        </p:nvSpPr>
        <p:spPr bwMode="auto">
          <a:xfrm>
            <a:off x="10046789" y="1603178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68" name="Oval 67"/>
          <p:cNvSpPr>
            <a:spLocks noChangeArrowheads="1"/>
          </p:cNvSpPr>
          <p:nvPr/>
        </p:nvSpPr>
        <p:spPr bwMode="auto">
          <a:xfrm>
            <a:off x="8751389" y="4204396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69" name="Oval 68"/>
          <p:cNvSpPr>
            <a:spLocks noChangeArrowheads="1"/>
          </p:cNvSpPr>
          <p:nvPr/>
        </p:nvSpPr>
        <p:spPr bwMode="auto">
          <a:xfrm>
            <a:off x="9398000" y="6781800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254000"/>
            <a:ext cx="3568700" cy="1498600"/>
          </a:xfrm>
        </p:spPr>
        <p:txBody>
          <a:bodyPr/>
          <a:lstStyle/>
          <a:p>
            <a:r>
              <a:rPr lang="en-US" dirty="0" smtClean="0"/>
              <a:t>Binary</a:t>
            </a:r>
            <a:br>
              <a:rPr lang="en-US" dirty="0" smtClean="0"/>
            </a:br>
            <a:r>
              <a:rPr lang="en-US" dirty="0" smtClean="0"/>
              <a:t>Search</a:t>
            </a:r>
            <a:endParaRPr lang="en-US" dirty="0"/>
          </a:p>
        </p:txBody>
      </p:sp>
      <p:sp>
        <p:nvSpPr>
          <p:cNvPr id="72" name="Content Placeholder 71"/>
          <p:cNvSpPr>
            <a:spLocks noGrp="1"/>
          </p:cNvSpPr>
          <p:nvPr>
            <p:ph idx="1"/>
          </p:nvPr>
        </p:nvSpPr>
        <p:spPr>
          <a:xfrm>
            <a:off x="711200" y="1981200"/>
            <a:ext cx="3340100" cy="6896100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 is sorted</a:t>
            </a:r>
          </a:p>
          <a:p>
            <a:r>
              <a:rPr lang="en-US" dirty="0" smtClean="0"/>
              <a:t>Looking for</a:t>
            </a:r>
            <a:br>
              <a:rPr lang="en-US" dirty="0" smtClean="0"/>
            </a:br>
            <a:r>
              <a:rPr lang="en-US" dirty="0" smtClean="0"/>
              <a:t>x = </a:t>
            </a:r>
            <a:r>
              <a:rPr lang="en-US" b="1" dirty="0" smtClean="0">
                <a:solidFill>
                  <a:srgbClr val="00B050"/>
                </a:solidFill>
              </a:rPr>
              <a:t>4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841052" y="990600"/>
            <a:ext cx="26614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find midpoint of A[0,7)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index 3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A[3] = 9</a:t>
            </a:r>
            <a:endParaRPr lang="en-US" sz="1800" b="0" dirty="0"/>
          </a:p>
        </p:txBody>
      </p:sp>
      <p:sp>
        <p:nvSpPr>
          <p:cNvPr id="24" name="TextBox 23"/>
          <p:cNvSpPr txBox="1"/>
          <p:nvPr/>
        </p:nvSpPr>
        <p:spPr>
          <a:xfrm>
            <a:off x="4841052" y="2322493"/>
            <a:ext cx="20088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00B050"/>
                </a:solidFill>
              </a:rPr>
              <a:t>4</a:t>
            </a:r>
            <a:r>
              <a:rPr lang="en-US" sz="2000" b="0" dirty="0" smtClean="0"/>
              <a:t> &lt; 9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A[4,7)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also A[3]</a:t>
            </a:r>
            <a:endParaRPr lang="en-US" sz="1800" b="0" dirty="0"/>
          </a:p>
        </p:txBody>
      </p:sp>
      <p:sp>
        <p:nvSpPr>
          <p:cNvPr id="43" name="TextBox 42"/>
          <p:cNvSpPr txBox="1"/>
          <p:nvPr/>
        </p:nvSpPr>
        <p:spPr>
          <a:xfrm>
            <a:off x="4841052" y="3581400"/>
            <a:ext cx="27319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find midpoint of A[0,3)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index 1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A[1] = 3</a:t>
            </a:r>
            <a:endParaRPr lang="en-US" sz="1800" b="0" dirty="0"/>
          </a:p>
        </p:txBody>
      </p:sp>
      <p:sp>
        <p:nvSpPr>
          <p:cNvPr id="44" name="TextBox 43"/>
          <p:cNvSpPr txBox="1"/>
          <p:nvPr/>
        </p:nvSpPr>
        <p:spPr>
          <a:xfrm>
            <a:off x="4841052" y="4876800"/>
            <a:ext cx="20088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3 &lt; </a:t>
            </a:r>
            <a:r>
              <a:rPr lang="en-US" sz="2000" dirty="0" smtClean="0">
                <a:solidFill>
                  <a:srgbClr val="00B050"/>
                </a:solidFill>
              </a:rPr>
              <a:t>4</a:t>
            </a:r>
            <a:endParaRPr lang="en-US" sz="2000" b="0" dirty="0" smtClean="0"/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A[0,1)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also A[1]</a:t>
            </a:r>
            <a:endParaRPr lang="en-US" sz="1800" b="0" dirty="0"/>
          </a:p>
        </p:txBody>
      </p:sp>
      <p:sp>
        <p:nvSpPr>
          <p:cNvPr id="57" name="TextBox 56"/>
          <p:cNvSpPr txBox="1"/>
          <p:nvPr/>
        </p:nvSpPr>
        <p:spPr>
          <a:xfrm>
            <a:off x="4841052" y="6172200"/>
            <a:ext cx="273196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find midpoint of A[2,3)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index 2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A[2] = 5</a:t>
            </a:r>
            <a:endParaRPr lang="en-US" sz="1800" b="0" dirty="0"/>
          </a:p>
        </p:txBody>
      </p:sp>
      <p:sp>
        <p:nvSpPr>
          <p:cNvPr id="59" name="TextBox 58"/>
          <p:cNvSpPr txBox="1"/>
          <p:nvPr/>
        </p:nvSpPr>
        <p:spPr>
          <a:xfrm>
            <a:off x="4841052" y="7467600"/>
            <a:ext cx="200888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00B050"/>
                </a:solidFill>
              </a:rPr>
              <a:t>4</a:t>
            </a:r>
            <a:r>
              <a:rPr lang="en-US" sz="2000" b="0" dirty="0" smtClean="0"/>
              <a:t> &lt; 5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A[2,2)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also A[2]</a:t>
            </a:r>
            <a:endParaRPr lang="en-US" sz="1800" b="0" dirty="0"/>
          </a:p>
        </p:txBody>
      </p:sp>
      <p:sp>
        <p:nvSpPr>
          <p:cNvPr id="71" name="TextBox 70"/>
          <p:cNvSpPr txBox="1"/>
          <p:nvPr/>
        </p:nvSpPr>
        <p:spPr>
          <a:xfrm>
            <a:off x="4826000" y="8768715"/>
            <a:ext cx="1957587" cy="9848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nothing left!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A[3,3) is empty</a:t>
            </a:r>
          </a:p>
          <a:p>
            <a:pPr marL="231775" indent="-231775"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B050"/>
                </a:solidFill>
              </a:rPr>
              <a:t>4</a:t>
            </a:r>
            <a:r>
              <a:rPr lang="en-US" sz="1800" b="0" dirty="0" smtClean="0"/>
              <a:t> isn’t in A</a:t>
            </a:r>
            <a:endParaRPr lang="en-US" sz="18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6464" y="1524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Rectangle 7"/>
          <p:cNvSpPr>
            <a:spLocks/>
          </p:cNvSpPr>
          <p:nvPr/>
        </p:nvSpPr>
        <p:spPr bwMode="auto">
          <a:xfrm>
            <a:off x="7690944" y="595312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24784" y="14478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7"/>
          <p:cNvSpPr>
            <a:spLocks/>
          </p:cNvSpPr>
          <p:nvPr/>
        </p:nvSpPr>
        <p:spPr bwMode="auto">
          <a:xfrm>
            <a:off x="7679264" y="1890712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10052036" y="1907978"/>
            <a:ext cx="64351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rtlCol="0" anchor="ctr">
            <a:noAutofit/>
          </a:bodyPr>
          <a:lstStyle/>
          <a:p>
            <a:pPr algn="ctr"/>
            <a:endParaRPr lang="en-US" sz="2000" b="0" dirty="0" smtClean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36464" y="27432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Rectangle 7"/>
          <p:cNvSpPr>
            <a:spLocks/>
          </p:cNvSpPr>
          <p:nvPr/>
        </p:nvSpPr>
        <p:spPr bwMode="auto">
          <a:xfrm>
            <a:off x="7690944" y="3186112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24784" y="4049018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Rectangle 7"/>
          <p:cNvSpPr>
            <a:spLocks/>
          </p:cNvSpPr>
          <p:nvPr/>
        </p:nvSpPr>
        <p:spPr bwMode="auto">
          <a:xfrm>
            <a:off x="7679264" y="4491930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sp>
        <p:nvSpPr>
          <p:cNvPr id="22" name="Rectangle 21"/>
          <p:cNvSpPr/>
          <p:nvPr/>
        </p:nvSpPr>
        <p:spPr bwMode="auto">
          <a:xfrm>
            <a:off x="8777814" y="4509196"/>
            <a:ext cx="64351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rtlCol="0" anchor="ctr">
            <a:noAutofit/>
          </a:bodyPr>
          <a:lstStyle/>
          <a:p>
            <a:pPr algn="ctr"/>
            <a:endParaRPr lang="en-US" sz="2000" b="0" dirty="0" smtClean="0"/>
          </a:p>
        </p:txBody>
      </p:sp>
      <p:cxnSp>
        <p:nvCxnSpPr>
          <p:cNvPr id="26" name="Straight Connector 25"/>
          <p:cNvCxnSpPr/>
          <p:nvPr/>
        </p:nvCxnSpPr>
        <p:spPr bwMode="auto">
          <a:xfrm rot="10800000">
            <a:off x="10727264" y="3200400"/>
            <a:ext cx="19050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 rot="10800000" flipV="1">
            <a:off x="10727264" y="3200400"/>
            <a:ext cx="19050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 rot="10800000">
            <a:off x="10079564" y="32004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 rot="10800000" flipV="1">
            <a:off x="10079564" y="32004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8124784" y="6626422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Rectangle 7"/>
          <p:cNvSpPr>
            <a:spLocks/>
          </p:cNvSpPr>
          <p:nvPr/>
        </p:nvSpPr>
        <p:spPr bwMode="auto">
          <a:xfrm>
            <a:off x="7679264" y="7069334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sp>
        <p:nvSpPr>
          <p:cNvPr id="47" name="Rectangle 46"/>
          <p:cNvSpPr/>
          <p:nvPr/>
        </p:nvSpPr>
        <p:spPr bwMode="auto">
          <a:xfrm>
            <a:off x="9397952" y="7086600"/>
            <a:ext cx="64351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rtlCol="0" anchor="ctr">
            <a:noAutofit/>
          </a:bodyPr>
          <a:lstStyle/>
          <a:p>
            <a:pPr algn="ctr"/>
            <a:endParaRPr lang="en-US" sz="2000" b="0" dirty="0" smtClean="0"/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8124784" y="53340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0" name="Rectangle 7"/>
          <p:cNvSpPr>
            <a:spLocks/>
          </p:cNvSpPr>
          <p:nvPr/>
        </p:nvSpPr>
        <p:spPr bwMode="auto">
          <a:xfrm>
            <a:off x="7679264" y="5850134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cxnSp>
        <p:nvCxnSpPr>
          <p:cNvPr id="53" name="Straight Connector 52"/>
          <p:cNvCxnSpPr/>
          <p:nvPr/>
        </p:nvCxnSpPr>
        <p:spPr bwMode="auto">
          <a:xfrm rot="10800000">
            <a:off x="8136465" y="5791199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 rot="10800000" flipV="1">
            <a:off x="8136465" y="5791199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rot="10800000">
            <a:off x="8784164" y="57912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 rot="10800000" flipV="1">
            <a:off x="8784164" y="57912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graphicFrame>
        <p:nvGraphicFramePr>
          <p:cNvPr id="62" name="Table 61"/>
          <p:cNvGraphicFramePr>
            <a:graphicFrameLocks noGrp="1"/>
          </p:cNvGraphicFramePr>
          <p:nvPr/>
        </p:nvGraphicFramePr>
        <p:xfrm>
          <a:off x="8136464" y="7921821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3" name="Rectangle 7"/>
          <p:cNvSpPr>
            <a:spLocks/>
          </p:cNvSpPr>
          <p:nvPr/>
        </p:nvSpPr>
        <p:spPr bwMode="auto">
          <a:xfrm>
            <a:off x="7690944" y="8364733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cxnSp>
        <p:nvCxnSpPr>
          <p:cNvPr id="65" name="Straight Connector 64"/>
          <p:cNvCxnSpPr/>
          <p:nvPr/>
        </p:nvCxnSpPr>
        <p:spPr bwMode="auto">
          <a:xfrm rot="10800000">
            <a:off x="9436100" y="8381998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66" name="Straight Connector 65"/>
          <p:cNvCxnSpPr/>
          <p:nvPr/>
        </p:nvCxnSpPr>
        <p:spPr bwMode="auto">
          <a:xfrm rot="10800000" flipV="1">
            <a:off x="9436100" y="8381998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67" name="Oval 66"/>
          <p:cNvSpPr>
            <a:spLocks noChangeArrowheads="1"/>
          </p:cNvSpPr>
          <p:nvPr/>
        </p:nvSpPr>
        <p:spPr bwMode="auto">
          <a:xfrm>
            <a:off x="10046789" y="1603178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68" name="Oval 67"/>
          <p:cNvSpPr>
            <a:spLocks noChangeArrowheads="1"/>
          </p:cNvSpPr>
          <p:nvPr/>
        </p:nvSpPr>
        <p:spPr bwMode="auto">
          <a:xfrm>
            <a:off x="8751389" y="4204396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69" name="Oval 68"/>
          <p:cNvSpPr>
            <a:spLocks noChangeArrowheads="1"/>
          </p:cNvSpPr>
          <p:nvPr/>
        </p:nvSpPr>
        <p:spPr bwMode="auto">
          <a:xfrm>
            <a:off x="9398000" y="6781800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254000"/>
            <a:ext cx="3568700" cy="1498600"/>
          </a:xfrm>
        </p:spPr>
        <p:txBody>
          <a:bodyPr/>
          <a:lstStyle/>
          <a:p>
            <a:r>
              <a:rPr lang="en-US" dirty="0" smtClean="0"/>
              <a:t>Binary</a:t>
            </a:r>
            <a:br>
              <a:rPr lang="en-US" dirty="0" smtClean="0"/>
            </a:br>
            <a:r>
              <a:rPr lang="en-US" dirty="0" smtClean="0"/>
              <a:t>Search</a:t>
            </a:r>
            <a:endParaRPr lang="en-US" dirty="0"/>
          </a:p>
        </p:txBody>
      </p:sp>
      <p:sp>
        <p:nvSpPr>
          <p:cNvPr id="72" name="Content Placeholder 71"/>
          <p:cNvSpPr>
            <a:spLocks noGrp="1"/>
          </p:cNvSpPr>
          <p:nvPr>
            <p:ph idx="1"/>
          </p:nvPr>
        </p:nvSpPr>
        <p:spPr>
          <a:xfrm>
            <a:off x="711200" y="1981200"/>
            <a:ext cx="3581400" cy="6896100"/>
          </a:xfrm>
        </p:spPr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A[lo, hi) is sorted</a:t>
            </a:r>
          </a:p>
          <a:p>
            <a:r>
              <a:rPr lang="en-US" dirty="0" smtClean="0"/>
              <a:t>At each step, we</a:t>
            </a:r>
          </a:p>
          <a:p>
            <a:pPr lvl="1"/>
            <a:r>
              <a:rPr lang="en-US" dirty="0" smtClean="0"/>
              <a:t>examine a segment </a:t>
            </a:r>
            <a:r>
              <a:rPr lang="en-US" dirty="0" smtClean="0">
                <a:solidFill>
                  <a:srgbClr val="0070C0"/>
                </a:solidFill>
              </a:rPr>
              <a:t>A[lo, hi)</a:t>
            </a:r>
          </a:p>
          <a:p>
            <a:pPr lvl="1"/>
            <a:r>
              <a:rPr lang="en-US" dirty="0" smtClean="0"/>
              <a:t>find its midpoint </a:t>
            </a:r>
            <a:r>
              <a:rPr lang="en-US" dirty="0" smtClean="0">
                <a:solidFill>
                  <a:srgbClr val="0070C0"/>
                </a:solidFill>
              </a:rPr>
              <a:t>mid</a:t>
            </a:r>
          </a:p>
          <a:p>
            <a:pPr lvl="1"/>
            <a:r>
              <a:rPr lang="en-US" dirty="0" smtClean="0"/>
              <a:t>compare x = </a:t>
            </a:r>
            <a:r>
              <a:rPr lang="en-US" b="1" dirty="0" smtClean="0">
                <a:solidFill>
                  <a:srgbClr val="00B050"/>
                </a:solidFill>
              </a:rPr>
              <a:t>4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0070C0"/>
                </a:solidFill>
              </a:rPr>
              <a:t>A[mid]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1052" y="990600"/>
            <a:ext cx="27768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find midpoint of </a:t>
            </a:r>
            <a:r>
              <a:rPr lang="en-US" sz="2000" b="0" dirty="0" smtClean="0">
                <a:solidFill>
                  <a:srgbClr val="0070C0"/>
                </a:solidFill>
              </a:rPr>
              <a:t>A[</a:t>
            </a:r>
            <a:r>
              <a:rPr lang="en-US" sz="2000" b="0" dirty="0" err="1" smtClean="0">
                <a:solidFill>
                  <a:srgbClr val="0070C0"/>
                </a:solidFill>
              </a:rPr>
              <a:t>lo,hi</a:t>
            </a:r>
            <a:r>
              <a:rPr lang="en-US" sz="2000" b="0" dirty="0" smtClean="0">
                <a:solidFill>
                  <a:srgbClr val="0070C0"/>
                </a:solidFill>
              </a:rPr>
              <a:t>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index </a:t>
            </a:r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r>
              <a:rPr lang="en-US" sz="1800" b="0" dirty="0" smtClean="0"/>
              <a:t> = 3</a:t>
            </a:r>
          </a:p>
          <a:p>
            <a:pPr marL="231775" indent="-231775"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r>
              <a:rPr lang="en-US" sz="1800" b="0" dirty="0" smtClean="0"/>
              <a:t> = 9</a:t>
            </a:r>
            <a:endParaRPr lang="en-US" sz="1800" b="0" dirty="0"/>
          </a:p>
        </p:txBody>
      </p:sp>
      <p:sp>
        <p:nvSpPr>
          <p:cNvPr id="24" name="TextBox 23"/>
          <p:cNvSpPr txBox="1"/>
          <p:nvPr/>
        </p:nvSpPr>
        <p:spPr>
          <a:xfrm>
            <a:off x="4841052" y="2322493"/>
            <a:ext cx="22846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00B050"/>
                </a:solidFill>
              </a:rPr>
              <a:t>4</a:t>
            </a:r>
            <a:r>
              <a:rPr lang="en-US" sz="2000" b="0" dirty="0" smtClean="0"/>
              <a:t> &lt; </a:t>
            </a:r>
            <a:r>
              <a:rPr lang="en-US" sz="2000" b="0" dirty="0" smtClean="0">
                <a:solidFill>
                  <a:srgbClr val="0070C0"/>
                </a:solidFill>
              </a:rPr>
              <a:t>A[mid]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</a:t>
            </a:r>
            <a:r>
              <a:rPr lang="en-US" sz="1800" b="0" dirty="0" smtClean="0">
                <a:solidFill>
                  <a:srgbClr val="0070C0"/>
                </a:solidFill>
              </a:rPr>
              <a:t>A[mid+1,hi)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also </a:t>
            </a: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41052" y="3581400"/>
            <a:ext cx="27768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find midpoint of </a:t>
            </a:r>
            <a:r>
              <a:rPr lang="en-US" sz="2000" b="0" dirty="0" smtClean="0">
                <a:solidFill>
                  <a:srgbClr val="0070C0"/>
                </a:solidFill>
              </a:rPr>
              <a:t>A[</a:t>
            </a:r>
            <a:r>
              <a:rPr lang="en-US" sz="2000" b="0" dirty="0" err="1" smtClean="0">
                <a:solidFill>
                  <a:srgbClr val="0070C0"/>
                </a:solidFill>
              </a:rPr>
              <a:t>lo,hi</a:t>
            </a:r>
            <a:r>
              <a:rPr lang="en-US" sz="2000" b="0" dirty="0" smtClean="0">
                <a:solidFill>
                  <a:srgbClr val="0070C0"/>
                </a:solidFill>
              </a:rPr>
              <a:t>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index </a:t>
            </a:r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r>
              <a:rPr lang="en-US" sz="1800" b="0" dirty="0" smtClean="0"/>
              <a:t> = 1</a:t>
            </a:r>
          </a:p>
          <a:p>
            <a:pPr marL="231775" indent="-231775"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r>
              <a:rPr lang="en-US" sz="1800" b="0" dirty="0" smtClean="0"/>
              <a:t> = 3</a:t>
            </a:r>
            <a:endParaRPr lang="en-US" sz="1800" b="0" dirty="0"/>
          </a:p>
        </p:txBody>
      </p:sp>
      <p:sp>
        <p:nvSpPr>
          <p:cNvPr id="44" name="TextBox 43"/>
          <p:cNvSpPr txBox="1"/>
          <p:nvPr/>
        </p:nvSpPr>
        <p:spPr>
          <a:xfrm>
            <a:off x="4841052" y="4876800"/>
            <a:ext cx="22525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>
                <a:solidFill>
                  <a:srgbClr val="0070C0"/>
                </a:solidFill>
              </a:rPr>
              <a:t>A[mid]</a:t>
            </a:r>
            <a:r>
              <a:rPr lang="en-US" sz="2000" b="0" dirty="0" smtClean="0"/>
              <a:t> &lt; </a:t>
            </a:r>
            <a:r>
              <a:rPr lang="en-US" sz="2000" dirty="0" smtClean="0">
                <a:solidFill>
                  <a:srgbClr val="00B050"/>
                </a:solidFill>
              </a:rPr>
              <a:t>4</a:t>
            </a:r>
            <a:endParaRPr lang="en-US" sz="2000" b="0" dirty="0" smtClean="0"/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</a:t>
            </a:r>
            <a:r>
              <a:rPr lang="en-US" sz="1800" b="0" dirty="0" smtClean="0">
                <a:solidFill>
                  <a:srgbClr val="0070C0"/>
                </a:solidFill>
              </a:rPr>
              <a:t>A[</a:t>
            </a:r>
            <a:r>
              <a:rPr lang="en-US" sz="1800" b="0" dirty="0" err="1" smtClean="0">
                <a:solidFill>
                  <a:srgbClr val="0070C0"/>
                </a:solidFill>
              </a:rPr>
              <a:t>lo,mid</a:t>
            </a:r>
            <a:r>
              <a:rPr lang="en-US" sz="1800" b="0" dirty="0" smtClean="0">
                <a:solidFill>
                  <a:srgbClr val="0070C0"/>
                </a:solidFill>
              </a:rPr>
              <a:t>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also </a:t>
            </a: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41052" y="6172200"/>
            <a:ext cx="27768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find midpoint of </a:t>
            </a:r>
            <a:r>
              <a:rPr lang="en-US" sz="2000" b="0" dirty="0" smtClean="0">
                <a:solidFill>
                  <a:srgbClr val="0070C0"/>
                </a:solidFill>
              </a:rPr>
              <a:t>A[</a:t>
            </a:r>
            <a:r>
              <a:rPr lang="en-US" sz="2000" b="0" dirty="0" err="1" smtClean="0">
                <a:solidFill>
                  <a:srgbClr val="0070C0"/>
                </a:solidFill>
              </a:rPr>
              <a:t>lo,hi</a:t>
            </a:r>
            <a:r>
              <a:rPr lang="en-US" sz="2000" b="0" dirty="0" smtClean="0">
                <a:solidFill>
                  <a:srgbClr val="0070C0"/>
                </a:solidFill>
              </a:rPr>
              <a:t>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index </a:t>
            </a:r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r>
              <a:rPr lang="en-US" sz="1800" b="0" dirty="0" smtClean="0"/>
              <a:t> = 2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r>
              <a:rPr lang="en-US" sz="1800" b="0" dirty="0" smtClean="0"/>
              <a:t> = 5</a:t>
            </a:r>
            <a:endParaRPr lang="en-US" sz="1800" b="0" dirty="0"/>
          </a:p>
        </p:txBody>
      </p:sp>
      <p:sp>
        <p:nvSpPr>
          <p:cNvPr id="59" name="TextBox 58"/>
          <p:cNvSpPr txBox="1"/>
          <p:nvPr/>
        </p:nvSpPr>
        <p:spPr>
          <a:xfrm>
            <a:off x="4841052" y="7467600"/>
            <a:ext cx="22846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00B050"/>
                </a:solidFill>
              </a:rPr>
              <a:t>4</a:t>
            </a:r>
            <a:r>
              <a:rPr lang="en-US" sz="2000" b="0" dirty="0" smtClean="0"/>
              <a:t> &lt; </a:t>
            </a:r>
            <a:r>
              <a:rPr lang="en-US" sz="2000" b="0" dirty="0" smtClean="0">
                <a:solidFill>
                  <a:srgbClr val="0070C0"/>
                </a:solidFill>
              </a:rPr>
              <a:t>A[mid]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</a:t>
            </a:r>
            <a:r>
              <a:rPr lang="en-US" sz="1800" b="0" dirty="0" smtClean="0">
                <a:solidFill>
                  <a:srgbClr val="0070C0"/>
                </a:solidFill>
              </a:rPr>
              <a:t>A[mid+1,hi)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also </a:t>
            </a: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1" name="TextBox 70"/>
          <p:cNvSpPr txBox="1"/>
          <p:nvPr/>
        </p:nvSpPr>
        <p:spPr>
          <a:xfrm>
            <a:off x="4826000" y="8768715"/>
            <a:ext cx="206017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nothing left!</a:t>
            </a:r>
          </a:p>
          <a:p>
            <a:pPr marL="231775" indent="-231775"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sz="1800" b="0" dirty="0" smtClean="0">
                <a:solidFill>
                  <a:srgbClr val="0070C0"/>
                </a:solidFill>
              </a:rPr>
              <a:t>A[</a:t>
            </a:r>
            <a:r>
              <a:rPr lang="en-US" sz="1800" b="0" dirty="0" err="1" smtClean="0">
                <a:solidFill>
                  <a:srgbClr val="0070C0"/>
                </a:solidFill>
              </a:rPr>
              <a:t>lo,hi</a:t>
            </a:r>
            <a:r>
              <a:rPr lang="en-US" sz="1800" b="0" dirty="0" smtClean="0">
                <a:solidFill>
                  <a:srgbClr val="0070C0"/>
                </a:solidFill>
              </a:rPr>
              <a:t>)</a:t>
            </a:r>
            <a:r>
              <a:rPr lang="en-US" sz="1800" b="0" dirty="0" smtClean="0"/>
              <a:t> is empty</a:t>
            </a:r>
          </a:p>
          <a:p>
            <a:pPr marL="231775" indent="-231775"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sz="1800" dirty="0" smtClean="0">
                <a:solidFill>
                  <a:srgbClr val="00B050"/>
                </a:solidFill>
              </a:rPr>
              <a:t>4</a:t>
            </a:r>
            <a:r>
              <a:rPr lang="en-US" sz="1800" b="0" dirty="0" smtClean="0"/>
              <a:t> isn’t in A</a:t>
            </a:r>
            <a:endParaRPr lang="en-US" sz="1800" b="0" dirty="0"/>
          </a:p>
        </p:txBody>
      </p:sp>
      <p:sp>
        <p:nvSpPr>
          <p:cNvPr id="41" name="TextBox 40"/>
          <p:cNvSpPr txBox="1"/>
          <p:nvPr/>
        </p:nvSpPr>
        <p:spPr>
          <a:xfrm>
            <a:off x="8102600" y="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615198" y="0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02600" y="13070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615198" y="130706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007600" y="1295400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102600" y="26024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0007600" y="2590800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8102600" y="38978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0083800" y="389786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8689036" y="3886200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0083800" y="519326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9398000" y="5181600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0083800" y="648866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9169400" y="647700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 smtClean="0">
                <a:solidFill>
                  <a:srgbClr val="0070C0"/>
                </a:solidFill>
              </a:rPr>
              <a:t>lo,mid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9321800" y="7784068"/>
            <a:ext cx="6078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 smtClean="0">
                <a:solidFill>
                  <a:srgbClr val="0070C0"/>
                </a:solidFill>
              </a:rPr>
              <a:t>lo,hi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80" name="Left Bracket 79"/>
          <p:cNvSpPr/>
          <p:nvPr/>
        </p:nvSpPr>
        <p:spPr bwMode="auto">
          <a:xfrm>
            <a:off x="4815367" y="1045534"/>
            <a:ext cx="152400" cy="2209800"/>
          </a:xfrm>
          <a:prstGeom prst="leftBracket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1" name="Left Bracket 80"/>
          <p:cNvSpPr/>
          <p:nvPr/>
        </p:nvSpPr>
        <p:spPr bwMode="auto">
          <a:xfrm>
            <a:off x="4826000" y="3602666"/>
            <a:ext cx="152400" cy="2209800"/>
          </a:xfrm>
          <a:prstGeom prst="leftBracket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2" name="Left Bracket 81"/>
          <p:cNvSpPr/>
          <p:nvPr/>
        </p:nvSpPr>
        <p:spPr bwMode="auto">
          <a:xfrm>
            <a:off x="4826000" y="6193466"/>
            <a:ext cx="152400" cy="2209800"/>
          </a:xfrm>
          <a:prstGeom prst="leftBracket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136464" y="1524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Rectangle 7"/>
          <p:cNvSpPr>
            <a:spLocks/>
          </p:cNvSpPr>
          <p:nvPr/>
        </p:nvSpPr>
        <p:spPr bwMode="auto">
          <a:xfrm>
            <a:off x="7690944" y="595312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124784" y="14478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9" name="Rectangle 7"/>
          <p:cNvSpPr>
            <a:spLocks/>
          </p:cNvSpPr>
          <p:nvPr/>
        </p:nvSpPr>
        <p:spPr bwMode="auto">
          <a:xfrm>
            <a:off x="7679264" y="1890712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10052036" y="1907978"/>
            <a:ext cx="64351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rtlCol="0" anchor="ctr">
            <a:noAutofit/>
          </a:bodyPr>
          <a:lstStyle/>
          <a:p>
            <a:pPr algn="ctr"/>
            <a:endParaRPr lang="en-US" sz="2000" b="0" dirty="0" smtClean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8136464" y="27432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9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11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17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9" name="Rectangle 7"/>
          <p:cNvSpPr>
            <a:spLocks/>
          </p:cNvSpPr>
          <p:nvPr/>
        </p:nvSpPr>
        <p:spPr bwMode="auto">
          <a:xfrm>
            <a:off x="7690944" y="3186112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124784" y="4049018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Rectangle 7"/>
          <p:cNvSpPr>
            <a:spLocks/>
          </p:cNvSpPr>
          <p:nvPr/>
        </p:nvSpPr>
        <p:spPr bwMode="auto">
          <a:xfrm>
            <a:off x="7679264" y="4491930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sp>
        <p:nvSpPr>
          <p:cNvPr id="22" name="Rectangle 21"/>
          <p:cNvSpPr/>
          <p:nvPr/>
        </p:nvSpPr>
        <p:spPr bwMode="auto">
          <a:xfrm>
            <a:off x="11368614" y="4509196"/>
            <a:ext cx="64351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rtlCol="0" anchor="ctr">
            <a:noAutofit/>
          </a:bodyPr>
          <a:lstStyle/>
          <a:p>
            <a:pPr algn="ctr"/>
            <a:endParaRPr lang="en-US" sz="2000" b="0" dirty="0" smtClean="0"/>
          </a:p>
        </p:txBody>
      </p:sp>
      <p:cxnSp>
        <p:nvCxnSpPr>
          <p:cNvPr id="26" name="Straight Connector 25"/>
          <p:cNvCxnSpPr/>
          <p:nvPr/>
        </p:nvCxnSpPr>
        <p:spPr bwMode="auto">
          <a:xfrm rot="10800000">
            <a:off x="8178800" y="3200400"/>
            <a:ext cx="19050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/>
          <p:cNvCxnSpPr/>
          <p:nvPr/>
        </p:nvCxnSpPr>
        <p:spPr bwMode="auto">
          <a:xfrm rot="10800000" flipV="1">
            <a:off x="8178800" y="3200400"/>
            <a:ext cx="19050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1" name="Straight Connector 30"/>
          <p:cNvCxnSpPr/>
          <p:nvPr/>
        </p:nvCxnSpPr>
        <p:spPr bwMode="auto">
          <a:xfrm rot="10800000">
            <a:off x="10079564" y="32004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/>
          <p:cNvCxnSpPr/>
          <p:nvPr/>
        </p:nvCxnSpPr>
        <p:spPr bwMode="auto">
          <a:xfrm rot="10800000" flipV="1">
            <a:off x="10079564" y="32004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8124784" y="6626422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Rectangle 7"/>
          <p:cNvSpPr>
            <a:spLocks/>
          </p:cNvSpPr>
          <p:nvPr/>
        </p:nvSpPr>
        <p:spPr bwMode="auto">
          <a:xfrm>
            <a:off x="7679264" y="7069334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sp>
        <p:nvSpPr>
          <p:cNvPr id="47" name="Rectangle 46"/>
          <p:cNvSpPr/>
          <p:nvPr/>
        </p:nvSpPr>
        <p:spPr bwMode="auto">
          <a:xfrm>
            <a:off x="10693352" y="7086600"/>
            <a:ext cx="643512" cy="457200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rtlCol="0" anchor="ctr">
            <a:noAutofit/>
          </a:bodyPr>
          <a:lstStyle/>
          <a:p>
            <a:pPr algn="ctr"/>
            <a:endParaRPr lang="en-US" sz="2000" b="0" dirty="0" smtClean="0"/>
          </a:p>
        </p:txBody>
      </p:sp>
      <p:graphicFrame>
        <p:nvGraphicFramePr>
          <p:cNvPr id="49" name="Table 48"/>
          <p:cNvGraphicFramePr>
            <a:graphicFrameLocks noGrp="1"/>
          </p:cNvGraphicFramePr>
          <p:nvPr/>
        </p:nvGraphicFramePr>
        <p:xfrm>
          <a:off x="8124784" y="5334000"/>
          <a:ext cx="5147736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  <a:gridCol w="64346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6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7</a:t>
                      </a:r>
                      <a:endParaRPr lang="en-US" sz="1400" b="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2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5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9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13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17</a:t>
                      </a:r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bg1">
                            <a:lumMod val="65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0" name="Rectangle 7"/>
          <p:cNvSpPr>
            <a:spLocks/>
          </p:cNvSpPr>
          <p:nvPr/>
        </p:nvSpPr>
        <p:spPr bwMode="auto">
          <a:xfrm>
            <a:off x="7679264" y="5850134"/>
            <a:ext cx="392736" cy="471924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none" lIns="50800" tIns="50800" rIns="50800" bIns="50800" anchor="ctr">
            <a:spAutoFit/>
          </a:bodyPr>
          <a:lstStyle/>
          <a:p>
            <a:r>
              <a:rPr lang="en-US" b="0" dirty="0" smtClean="0"/>
              <a:t>A:</a:t>
            </a:r>
            <a:endParaRPr lang="en-US" b="0" dirty="0"/>
          </a:p>
        </p:txBody>
      </p:sp>
      <p:cxnSp>
        <p:nvCxnSpPr>
          <p:cNvPr id="53" name="Straight Connector 52"/>
          <p:cNvCxnSpPr/>
          <p:nvPr/>
        </p:nvCxnSpPr>
        <p:spPr bwMode="auto">
          <a:xfrm rot="10800000">
            <a:off x="11303000" y="5791199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4" name="Straight Connector 53"/>
          <p:cNvCxnSpPr/>
          <p:nvPr/>
        </p:nvCxnSpPr>
        <p:spPr bwMode="auto">
          <a:xfrm rot="10800000" flipV="1">
            <a:off x="11303000" y="5791199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5" name="Straight Connector 54"/>
          <p:cNvCxnSpPr/>
          <p:nvPr/>
        </p:nvCxnSpPr>
        <p:spPr bwMode="auto">
          <a:xfrm rot="10800000">
            <a:off x="11950699" y="57912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6" name="Straight Connector 55"/>
          <p:cNvCxnSpPr/>
          <p:nvPr/>
        </p:nvCxnSpPr>
        <p:spPr bwMode="auto">
          <a:xfrm rot="10800000" flipV="1">
            <a:off x="11950699" y="5791200"/>
            <a:ext cx="647700" cy="45720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67" name="Oval 66"/>
          <p:cNvSpPr>
            <a:spLocks noChangeArrowheads="1"/>
          </p:cNvSpPr>
          <p:nvPr/>
        </p:nvSpPr>
        <p:spPr bwMode="auto">
          <a:xfrm>
            <a:off x="10046789" y="1603178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68" name="Oval 67"/>
          <p:cNvSpPr>
            <a:spLocks noChangeArrowheads="1"/>
          </p:cNvSpPr>
          <p:nvPr/>
        </p:nvSpPr>
        <p:spPr bwMode="auto">
          <a:xfrm>
            <a:off x="11342189" y="4204396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69" name="Oval 68"/>
          <p:cNvSpPr>
            <a:spLocks noChangeArrowheads="1"/>
          </p:cNvSpPr>
          <p:nvPr/>
        </p:nvSpPr>
        <p:spPr bwMode="auto">
          <a:xfrm>
            <a:off x="10693400" y="6781800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8800" y="254000"/>
            <a:ext cx="3568700" cy="1498600"/>
          </a:xfrm>
        </p:spPr>
        <p:txBody>
          <a:bodyPr/>
          <a:lstStyle/>
          <a:p>
            <a:r>
              <a:rPr lang="en-US" dirty="0" smtClean="0"/>
              <a:t>Binary</a:t>
            </a:r>
            <a:br>
              <a:rPr lang="en-US" dirty="0" smtClean="0"/>
            </a:br>
            <a:r>
              <a:rPr lang="en-US" dirty="0" smtClean="0"/>
              <a:t>Search</a:t>
            </a:r>
            <a:endParaRPr lang="en-US" dirty="0"/>
          </a:p>
        </p:txBody>
      </p:sp>
      <p:sp>
        <p:nvSpPr>
          <p:cNvPr id="72" name="Content Placeholder 71"/>
          <p:cNvSpPr>
            <a:spLocks noGrp="1"/>
          </p:cNvSpPr>
          <p:nvPr>
            <p:ph idx="1"/>
          </p:nvPr>
        </p:nvSpPr>
        <p:spPr>
          <a:xfrm>
            <a:off x="711200" y="1981200"/>
            <a:ext cx="3581400" cy="6896100"/>
          </a:xfrm>
        </p:spPr>
        <p:txBody>
          <a:bodyPr/>
          <a:lstStyle/>
          <a:p>
            <a:r>
              <a:rPr lang="en-US" dirty="0" smtClean="0"/>
              <a:t>Let’s look for</a:t>
            </a:r>
            <a:br>
              <a:rPr lang="en-US" dirty="0" smtClean="0"/>
            </a:br>
            <a:r>
              <a:rPr lang="en-US" dirty="0" smtClean="0"/>
              <a:t>x = </a:t>
            </a:r>
            <a:r>
              <a:rPr lang="en-US" b="1" dirty="0" smtClean="0">
                <a:solidFill>
                  <a:srgbClr val="00B050"/>
                </a:solidFill>
              </a:rPr>
              <a:t>11</a:t>
            </a:r>
            <a:endParaRPr lang="en-US" dirty="0" smtClean="0"/>
          </a:p>
          <a:p>
            <a:r>
              <a:rPr lang="en-US" dirty="0" smtClean="0"/>
              <a:t>At each step, we</a:t>
            </a:r>
          </a:p>
          <a:p>
            <a:pPr lvl="1"/>
            <a:r>
              <a:rPr lang="en-US" dirty="0" smtClean="0"/>
              <a:t>examine a segment </a:t>
            </a:r>
            <a:r>
              <a:rPr lang="en-US" dirty="0" smtClean="0">
                <a:solidFill>
                  <a:srgbClr val="0070C0"/>
                </a:solidFill>
              </a:rPr>
              <a:t>A[lo, hi)</a:t>
            </a:r>
          </a:p>
          <a:p>
            <a:pPr lvl="1"/>
            <a:r>
              <a:rPr lang="en-US" dirty="0" smtClean="0"/>
              <a:t>find its midpoint </a:t>
            </a:r>
            <a:r>
              <a:rPr lang="en-US" dirty="0" smtClean="0">
                <a:solidFill>
                  <a:srgbClr val="0070C0"/>
                </a:solidFill>
              </a:rPr>
              <a:t>mid</a:t>
            </a:r>
          </a:p>
          <a:p>
            <a:pPr lvl="1"/>
            <a:r>
              <a:rPr lang="en-US" dirty="0" smtClean="0"/>
              <a:t>compare x = </a:t>
            </a:r>
            <a:r>
              <a:rPr lang="en-US" b="1" dirty="0" smtClean="0">
                <a:solidFill>
                  <a:srgbClr val="00B050"/>
                </a:solidFill>
              </a:rPr>
              <a:t>11</a:t>
            </a:r>
            <a:r>
              <a:rPr lang="en-US" dirty="0" smtClean="0"/>
              <a:t> with </a:t>
            </a:r>
            <a:r>
              <a:rPr lang="en-US" dirty="0" smtClean="0">
                <a:solidFill>
                  <a:srgbClr val="0070C0"/>
                </a:solidFill>
              </a:rPr>
              <a:t>A[mid]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1052" y="990600"/>
            <a:ext cx="27768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find midpoint of </a:t>
            </a:r>
            <a:r>
              <a:rPr lang="en-US" sz="2000" b="0" dirty="0" smtClean="0">
                <a:solidFill>
                  <a:srgbClr val="0070C0"/>
                </a:solidFill>
              </a:rPr>
              <a:t>A[</a:t>
            </a:r>
            <a:r>
              <a:rPr lang="en-US" sz="2000" b="0" dirty="0" err="1" smtClean="0">
                <a:solidFill>
                  <a:srgbClr val="0070C0"/>
                </a:solidFill>
              </a:rPr>
              <a:t>lo,hi</a:t>
            </a:r>
            <a:r>
              <a:rPr lang="en-US" sz="2000" b="0" dirty="0" smtClean="0">
                <a:solidFill>
                  <a:srgbClr val="0070C0"/>
                </a:solidFill>
              </a:rPr>
              <a:t>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index </a:t>
            </a:r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r>
              <a:rPr lang="en-US" sz="1800" b="0" dirty="0" smtClean="0"/>
              <a:t> = 3</a:t>
            </a:r>
          </a:p>
          <a:p>
            <a:pPr marL="231775" indent="-231775"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r>
              <a:rPr lang="en-US" sz="1800" b="0" dirty="0" smtClean="0"/>
              <a:t> = 9</a:t>
            </a:r>
            <a:endParaRPr lang="en-US" sz="1800" b="0" dirty="0"/>
          </a:p>
        </p:txBody>
      </p:sp>
      <p:sp>
        <p:nvSpPr>
          <p:cNvPr id="24" name="TextBox 23"/>
          <p:cNvSpPr txBox="1"/>
          <p:nvPr/>
        </p:nvSpPr>
        <p:spPr>
          <a:xfrm>
            <a:off x="4841052" y="2322493"/>
            <a:ext cx="228460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>
                <a:solidFill>
                  <a:srgbClr val="0070C0"/>
                </a:solidFill>
              </a:rPr>
              <a:t>A[mid]</a:t>
            </a:r>
            <a:r>
              <a:rPr lang="en-US" sz="2000" b="0" dirty="0" smtClean="0"/>
              <a:t> &lt; </a:t>
            </a:r>
            <a:r>
              <a:rPr lang="en-US" sz="2000" dirty="0" smtClean="0">
                <a:solidFill>
                  <a:srgbClr val="00B050"/>
                </a:solidFill>
              </a:rPr>
              <a:t>11</a:t>
            </a:r>
            <a:endParaRPr lang="en-US" sz="2000" b="0" dirty="0" smtClean="0">
              <a:solidFill>
                <a:srgbClr val="0070C0"/>
              </a:solidFill>
            </a:endParaRP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</a:t>
            </a:r>
            <a:r>
              <a:rPr lang="en-US" sz="1800" b="0" dirty="0" smtClean="0">
                <a:solidFill>
                  <a:srgbClr val="0070C0"/>
                </a:solidFill>
              </a:rPr>
              <a:t>A[</a:t>
            </a:r>
            <a:r>
              <a:rPr lang="en-US" sz="1800" b="0" dirty="0" err="1" smtClean="0">
                <a:solidFill>
                  <a:srgbClr val="0070C0"/>
                </a:solidFill>
              </a:rPr>
              <a:t>lo,mid</a:t>
            </a:r>
            <a:r>
              <a:rPr lang="en-US" sz="1800" b="0" dirty="0" smtClean="0">
                <a:solidFill>
                  <a:srgbClr val="0070C0"/>
                </a:solidFill>
              </a:rPr>
              <a:t>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also </a:t>
            </a: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841052" y="3581400"/>
            <a:ext cx="27768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find midpoint of </a:t>
            </a:r>
            <a:r>
              <a:rPr lang="en-US" sz="2000" b="0" dirty="0" smtClean="0">
                <a:solidFill>
                  <a:srgbClr val="0070C0"/>
                </a:solidFill>
              </a:rPr>
              <a:t>A[</a:t>
            </a:r>
            <a:r>
              <a:rPr lang="en-US" sz="2000" b="0" dirty="0" err="1" smtClean="0">
                <a:solidFill>
                  <a:srgbClr val="0070C0"/>
                </a:solidFill>
              </a:rPr>
              <a:t>lo,hi</a:t>
            </a:r>
            <a:r>
              <a:rPr lang="en-US" sz="2000" b="0" dirty="0" smtClean="0">
                <a:solidFill>
                  <a:srgbClr val="0070C0"/>
                </a:solidFill>
              </a:rPr>
              <a:t>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index </a:t>
            </a:r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r>
              <a:rPr lang="en-US" sz="1800" b="0" dirty="0" smtClean="0"/>
              <a:t> = 5</a:t>
            </a:r>
          </a:p>
          <a:p>
            <a:pPr marL="231775" indent="-231775" algn="l">
              <a:buClr>
                <a:schemeClr val="tx1"/>
              </a:buClr>
              <a:buFont typeface="Arial" pitchFamily="34" charset="0"/>
              <a:buChar char="•"/>
            </a:pP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r>
              <a:rPr lang="en-US" sz="1800" b="0" dirty="0" smtClean="0"/>
              <a:t> = 13</a:t>
            </a:r>
            <a:endParaRPr lang="en-US" sz="1800" b="0" dirty="0"/>
          </a:p>
        </p:txBody>
      </p:sp>
      <p:sp>
        <p:nvSpPr>
          <p:cNvPr id="44" name="TextBox 43"/>
          <p:cNvSpPr txBox="1"/>
          <p:nvPr/>
        </p:nvSpPr>
        <p:spPr>
          <a:xfrm>
            <a:off x="4841052" y="4876800"/>
            <a:ext cx="225254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00B050"/>
                </a:solidFill>
              </a:rPr>
              <a:t>11</a:t>
            </a:r>
            <a:r>
              <a:rPr lang="en-US" sz="2000" b="0" dirty="0" smtClean="0"/>
              <a:t> &lt; </a:t>
            </a:r>
            <a:r>
              <a:rPr lang="en-US" sz="2000" b="0" dirty="0" smtClean="0">
                <a:solidFill>
                  <a:srgbClr val="0070C0"/>
                </a:solidFill>
              </a:rPr>
              <a:t>A[mid]</a:t>
            </a:r>
            <a:endParaRPr lang="en-US" sz="2000" b="0" dirty="0" smtClean="0"/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</a:t>
            </a:r>
            <a:r>
              <a:rPr lang="en-US" sz="1800" b="0" dirty="0" smtClean="0">
                <a:solidFill>
                  <a:srgbClr val="0070C0"/>
                </a:solidFill>
              </a:rPr>
              <a:t>A[</a:t>
            </a:r>
            <a:r>
              <a:rPr lang="en-US" sz="1800" b="0" dirty="0" err="1" smtClean="0">
                <a:solidFill>
                  <a:srgbClr val="0070C0"/>
                </a:solidFill>
              </a:rPr>
              <a:t>lo,mid</a:t>
            </a:r>
            <a:r>
              <a:rPr lang="en-US" sz="1800" b="0" dirty="0" smtClean="0">
                <a:solidFill>
                  <a:srgbClr val="0070C0"/>
                </a:solidFill>
              </a:rPr>
              <a:t>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ignore also </a:t>
            </a: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4841052" y="6172200"/>
            <a:ext cx="277685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b="0" dirty="0" smtClean="0"/>
              <a:t>find midpoint of </a:t>
            </a:r>
            <a:r>
              <a:rPr lang="en-US" sz="2000" b="0" dirty="0" smtClean="0">
                <a:solidFill>
                  <a:srgbClr val="0070C0"/>
                </a:solidFill>
              </a:rPr>
              <a:t>A[</a:t>
            </a:r>
            <a:r>
              <a:rPr lang="en-US" sz="2000" b="0" dirty="0" err="1" smtClean="0">
                <a:solidFill>
                  <a:srgbClr val="0070C0"/>
                </a:solidFill>
              </a:rPr>
              <a:t>lo,hi</a:t>
            </a:r>
            <a:r>
              <a:rPr lang="en-US" sz="2000" b="0" dirty="0" smtClean="0">
                <a:solidFill>
                  <a:srgbClr val="0070C0"/>
                </a:solidFill>
              </a:rPr>
              <a:t>)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/>
              <a:t>index </a:t>
            </a:r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r>
              <a:rPr lang="en-US" sz="1800" b="0" dirty="0" smtClean="0"/>
              <a:t> = 4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>
                <a:solidFill>
                  <a:srgbClr val="0070C0"/>
                </a:solidFill>
              </a:rPr>
              <a:t>A[mid]</a:t>
            </a:r>
            <a:r>
              <a:rPr lang="en-US" sz="1800" b="0" dirty="0" smtClean="0"/>
              <a:t> = 11</a:t>
            </a:r>
            <a:endParaRPr lang="en-US" sz="1800" b="0" dirty="0"/>
          </a:p>
        </p:txBody>
      </p:sp>
      <p:sp>
        <p:nvSpPr>
          <p:cNvPr id="59" name="TextBox 58"/>
          <p:cNvSpPr txBox="1"/>
          <p:nvPr/>
        </p:nvSpPr>
        <p:spPr>
          <a:xfrm>
            <a:off x="4841052" y="7467600"/>
            <a:ext cx="145770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sz="2000" dirty="0" smtClean="0">
                <a:solidFill>
                  <a:srgbClr val="00B050"/>
                </a:solidFill>
              </a:rPr>
              <a:t>11</a:t>
            </a:r>
            <a:r>
              <a:rPr lang="en-US" sz="2000" b="0" dirty="0" smtClean="0"/>
              <a:t> = </a:t>
            </a:r>
            <a:r>
              <a:rPr lang="en-US" sz="2000" b="0" dirty="0" smtClean="0">
                <a:solidFill>
                  <a:srgbClr val="0070C0"/>
                </a:solidFill>
              </a:rPr>
              <a:t>A[mid]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>
                <a:solidFill>
                  <a:schemeClr val="tx1"/>
                </a:solidFill>
              </a:rPr>
              <a:t>found!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1800" b="0" dirty="0" smtClean="0">
                <a:solidFill>
                  <a:schemeClr val="tx1"/>
                </a:solidFill>
              </a:rPr>
              <a:t>return 4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102600" y="0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12615198" y="0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102600" y="13070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2615198" y="130706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007600" y="1295400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10710197" y="26024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12615197" y="2590800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10693400" y="3897868"/>
            <a:ext cx="364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12674600" y="389786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11279836" y="3886200"/>
            <a:ext cx="556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11395997" y="519326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10710197" y="5181600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lo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11379200" y="6488668"/>
            <a:ext cx="3642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hi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10464800" y="6477000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err="1" smtClean="0">
                <a:solidFill>
                  <a:srgbClr val="0070C0"/>
                </a:solidFill>
              </a:rPr>
              <a:t>lo,mid</a:t>
            </a:r>
            <a:endParaRPr lang="en-US" sz="1800" b="0" dirty="0">
              <a:solidFill>
                <a:srgbClr val="0070C0"/>
              </a:solidFill>
            </a:endParaRPr>
          </a:p>
        </p:txBody>
      </p:sp>
      <p:sp>
        <p:nvSpPr>
          <p:cNvPr id="60" name="Left Bracket 59"/>
          <p:cNvSpPr/>
          <p:nvPr/>
        </p:nvSpPr>
        <p:spPr bwMode="auto">
          <a:xfrm>
            <a:off x="4815367" y="1045534"/>
            <a:ext cx="152400" cy="2209800"/>
          </a:xfrm>
          <a:prstGeom prst="leftBracket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4" name="Left Bracket 73"/>
          <p:cNvSpPr/>
          <p:nvPr/>
        </p:nvSpPr>
        <p:spPr bwMode="auto">
          <a:xfrm>
            <a:off x="4826000" y="3602666"/>
            <a:ext cx="152400" cy="2209800"/>
          </a:xfrm>
          <a:prstGeom prst="leftBracket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0" name="Left Bracket 79"/>
          <p:cNvSpPr/>
          <p:nvPr/>
        </p:nvSpPr>
        <p:spPr bwMode="auto">
          <a:xfrm>
            <a:off x="4826000" y="6193466"/>
            <a:ext cx="152400" cy="2209800"/>
          </a:xfrm>
          <a:prstGeom prst="leftBracket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/>
            <a:r>
              <a:rPr lang="en-US" dirty="0" smtClean="0"/>
              <a:t>Implementing Binary Search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Setting up 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 lvl="2"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lvl="4"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939800" y="2895600"/>
            <a:ext cx="8790099" cy="5355312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/*@ensures (\result  == -1 &amp;&amp; !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(x, A, 0, n))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                || (0 &lt;= \result &amp;&amp; \result &lt; n &amp;&amp; A[\result] == x); @*/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(lo &lt; hi) 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 …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7" name="Rectangular Callout 6"/>
          <p:cNvSpPr/>
          <p:nvPr/>
        </p:nvSpPr>
        <p:spPr bwMode="auto">
          <a:xfrm>
            <a:off x="9474200" y="2438400"/>
            <a:ext cx="3091616" cy="1015663"/>
          </a:xfrm>
          <a:prstGeom prst="wedgeRectCallout">
            <a:avLst>
              <a:gd name="adj1" fmla="val -128280"/>
              <a:gd name="adj2" fmla="val 9393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same contracts as </a:t>
            </a:r>
            <a:r>
              <a:rPr lang="en-US" sz="2000" b="0" dirty="0" smtClean="0">
                <a:solidFill>
                  <a:srgbClr val="7030A0"/>
                </a:solidFill>
              </a:rPr>
              <a:t>search</a:t>
            </a:r>
            <a:r>
              <a:rPr lang="en-US" sz="2000" b="0" dirty="0" smtClean="0"/>
              <a:t>:</a:t>
            </a:r>
          </a:p>
          <a:p>
            <a:pPr>
              <a:defRPr/>
            </a:pPr>
            <a:r>
              <a:rPr lang="en-US" sz="2000" b="0" dirty="0" smtClean="0"/>
              <a:t>different algorithm to solve</a:t>
            </a:r>
            <a:br>
              <a:rPr lang="en-US" sz="2000" b="0" dirty="0" smtClean="0"/>
            </a:br>
            <a:r>
              <a:rPr lang="en-US" sz="2000" b="0" dirty="0" smtClean="0"/>
              <a:t>the </a:t>
            </a:r>
            <a:r>
              <a:rPr lang="en-US" sz="2000" dirty="0" smtClean="0"/>
              <a:t>same problem</a:t>
            </a:r>
            <a:endParaRPr lang="en-US" sz="2000" dirty="0"/>
          </a:p>
        </p:txBody>
      </p:sp>
      <p:sp>
        <p:nvSpPr>
          <p:cNvPr id="8" name="Rectangular Callout 7"/>
          <p:cNvSpPr/>
          <p:nvPr/>
        </p:nvSpPr>
        <p:spPr bwMode="auto">
          <a:xfrm>
            <a:off x="9474200" y="5334000"/>
            <a:ext cx="1555875" cy="707886"/>
          </a:xfrm>
          <a:prstGeom prst="wedgeRectCallout">
            <a:avLst>
              <a:gd name="adj1" fmla="val -465206"/>
              <a:gd name="adj2" fmla="val -2085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lo starts at 0,</a:t>
            </a:r>
            <a:br>
              <a:rPr lang="en-US" sz="2000" b="0" dirty="0" smtClean="0"/>
            </a:br>
            <a:r>
              <a:rPr lang="en-US" sz="2000" b="0" dirty="0" smtClean="0"/>
              <a:t>hi at n</a:t>
            </a:r>
            <a:endParaRPr lang="en-US" sz="2000" b="0" dirty="0"/>
          </a:p>
        </p:txBody>
      </p:sp>
      <p:sp>
        <p:nvSpPr>
          <p:cNvPr id="10" name="Rectangular Callout 9"/>
          <p:cNvSpPr/>
          <p:nvPr/>
        </p:nvSpPr>
        <p:spPr bwMode="auto">
          <a:xfrm>
            <a:off x="3987800" y="8458200"/>
            <a:ext cx="1557478" cy="707886"/>
          </a:xfrm>
          <a:prstGeom prst="wedgeRectCallout">
            <a:avLst>
              <a:gd name="adj1" fmla="val -153319"/>
              <a:gd name="adj2" fmla="val -16955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returns -1</a:t>
            </a:r>
            <a:br>
              <a:rPr lang="en-US" sz="2000" b="0" dirty="0" smtClean="0"/>
            </a:br>
            <a:r>
              <a:rPr lang="en-US" sz="2000" b="0" dirty="0" smtClean="0"/>
              <a:t>if x not found</a:t>
            </a:r>
            <a:endParaRPr lang="en-US" sz="2000" b="0" dirty="0"/>
          </a:p>
        </p:txBody>
      </p:sp>
      <p:sp>
        <p:nvSpPr>
          <p:cNvPr id="11" name="Rectangular Callout 10"/>
          <p:cNvSpPr/>
          <p:nvPr/>
        </p:nvSpPr>
        <p:spPr bwMode="auto">
          <a:xfrm>
            <a:off x="9474200" y="6705600"/>
            <a:ext cx="1074973" cy="707886"/>
          </a:xfrm>
          <a:prstGeom prst="wedgeRectCallout">
            <a:avLst>
              <a:gd name="adj1" fmla="val -743143"/>
              <a:gd name="adj2" fmla="val -2085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bunch of</a:t>
            </a:r>
            <a:br>
              <a:rPr lang="en-US" sz="2000" b="0" dirty="0" smtClean="0"/>
            </a:br>
            <a:r>
              <a:rPr lang="en-US" sz="2000" b="0" dirty="0" smtClean="0"/>
              <a:t>steps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do we know at each step?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At an arbitrary iteration, the picture is: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These are candidate loop invariant:</a:t>
            </a:r>
          </a:p>
          <a:p>
            <a:pPr lvl="1">
              <a:buClr>
                <a:schemeClr val="tx1"/>
              </a:buClr>
            </a:pPr>
            <a:r>
              <a:rPr lang="en-US" dirty="0" err="1" smtClean="0">
                <a:solidFill>
                  <a:srgbClr val="C00000"/>
                </a:solidFill>
              </a:rPr>
              <a:t>gt_seg</a:t>
            </a:r>
            <a:r>
              <a:rPr lang="en-US" dirty="0" smtClean="0">
                <a:solidFill>
                  <a:srgbClr val="C00000"/>
                </a:solidFill>
              </a:rPr>
              <a:t>(x, A, 0, lo)</a:t>
            </a:r>
            <a:r>
              <a:rPr lang="en-US" dirty="0" smtClean="0">
                <a:solidFill>
                  <a:schemeClr val="tx1"/>
                </a:solidFill>
              </a:rPr>
              <a:t>: that’s </a:t>
            </a:r>
            <a:r>
              <a:rPr lang="en-US" dirty="0" smtClean="0">
                <a:solidFill>
                  <a:srgbClr val="C00000"/>
                </a:solidFill>
              </a:rPr>
              <a:t>A[0, lo) &lt; x</a:t>
            </a:r>
          </a:p>
          <a:p>
            <a:pPr lvl="1">
              <a:buClr>
                <a:schemeClr val="tx1"/>
              </a:buClr>
            </a:pPr>
            <a:r>
              <a:rPr lang="en-US" dirty="0" err="1" smtClean="0">
                <a:solidFill>
                  <a:srgbClr val="C00000"/>
                </a:solidFill>
              </a:rPr>
              <a:t>lt_seg</a:t>
            </a:r>
            <a:r>
              <a:rPr lang="en-US" dirty="0" smtClean="0">
                <a:solidFill>
                  <a:srgbClr val="C00000"/>
                </a:solidFill>
              </a:rPr>
              <a:t>(x, A, hi, n)</a:t>
            </a:r>
            <a:r>
              <a:rPr lang="en-US" dirty="0" smtClean="0">
                <a:solidFill>
                  <a:schemeClr val="tx1"/>
                </a:solidFill>
              </a:rPr>
              <a:t>: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that’s </a:t>
            </a:r>
            <a:r>
              <a:rPr lang="en-US" dirty="0" smtClean="0">
                <a:solidFill>
                  <a:srgbClr val="C00000"/>
                </a:solidFill>
              </a:rPr>
              <a:t>x &lt; A[hi, n)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chemeClr val="tx1"/>
                </a:solidFill>
              </a:rPr>
              <a:t>and of course </a:t>
            </a:r>
            <a:r>
              <a:rPr lang="en-US" dirty="0" smtClean="0">
                <a:solidFill>
                  <a:srgbClr val="C00000"/>
                </a:solidFill>
              </a:rPr>
              <a:t>0 &lt;= lo &amp;&amp; lo &lt;= hi &amp;&amp; hi &lt;= n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4" name="Rectangle 7"/>
          <p:cNvSpPr>
            <a:spLocks/>
          </p:cNvSpPr>
          <p:nvPr/>
        </p:nvSpPr>
        <p:spPr bwMode="auto">
          <a:xfrm>
            <a:off x="2514600" y="4629447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0" y="4186535"/>
          <a:ext cx="70358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01800"/>
                <a:gridCol w="2870200"/>
                <a:gridCol w="2057400"/>
                <a:gridCol w="40640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…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…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149600" y="5558135"/>
            <a:ext cx="1662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C00000"/>
                </a:solidFill>
              </a:rPr>
              <a:t>A[0, lo) &lt; x</a:t>
            </a:r>
            <a:endParaRPr lang="en-US" b="0" dirty="0"/>
          </a:p>
        </p:txBody>
      </p:sp>
      <p:sp>
        <p:nvSpPr>
          <p:cNvPr id="8" name="TextBox 7"/>
          <p:cNvSpPr txBox="1"/>
          <p:nvPr/>
        </p:nvSpPr>
        <p:spPr>
          <a:xfrm>
            <a:off x="8108085" y="5558135"/>
            <a:ext cx="1645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C00000"/>
                </a:solidFill>
              </a:rPr>
              <a:t>x &lt; A[hi, n)</a:t>
            </a:r>
            <a:endParaRPr lang="en-US" b="0" dirty="0"/>
          </a:p>
        </p:txBody>
      </p:sp>
      <p:sp>
        <p:nvSpPr>
          <p:cNvPr id="9" name="Rectangular Callout 8"/>
          <p:cNvSpPr/>
          <p:nvPr/>
        </p:nvSpPr>
        <p:spPr bwMode="auto">
          <a:xfrm>
            <a:off x="8636000" y="3348335"/>
            <a:ext cx="990336" cy="400110"/>
          </a:xfrm>
          <a:prstGeom prst="wedgeRectCallout">
            <a:avLst>
              <a:gd name="adj1" fmla="val -34692"/>
              <a:gd name="adj2" fmla="val 26001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Too big!</a:t>
            </a:r>
            <a:endParaRPr lang="en-US" sz="2000" b="0" dirty="0"/>
          </a:p>
        </p:txBody>
      </p:sp>
      <p:sp>
        <p:nvSpPr>
          <p:cNvPr id="10" name="Rectangular Callout 9"/>
          <p:cNvSpPr/>
          <p:nvPr/>
        </p:nvSpPr>
        <p:spPr bwMode="auto">
          <a:xfrm>
            <a:off x="2921000" y="3348335"/>
            <a:ext cx="1246816" cy="400110"/>
          </a:xfrm>
          <a:prstGeom prst="wedgeRectCallout">
            <a:avLst>
              <a:gd name="adj1" fmla="val 29572"/>
              <a:gd name="adj2" fmla="val 25736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Too small!</a:t>
            </a:r>
            <a:endParaRPr lang="en-US" sz="2000" b="0" dirty="0"/>
          </a:p>
        </p:txBody>
      </p:sp>
      <p:sp>
        <p:nvSpPr>
          <p:cNvPr id="11" name="Rectangular Callout 10"/>
          <p:cNvSpPr/>
          <p:nvPr/>
        </p:nvSpPr>
        <p:spPr bwMode="auto">
          <a:xfrm>
            <a:off x="5588000" y="3348335"/>
            <a:ext cx="2051267" cy="707886"/>
          </a:xfrm>
          <a:prstGeom prst="wedgeRectCallout">
            <a:avLst>
              <a:gd name="adj1" fmla="val -8785"/>
              <a:gd name="adj2" fmla="val 17925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If x is in A,</a:t>
            </a:r>
            <a:br>
              <a:rPr lang="en-US" sz="2000" b="0" dirty="0" smtClean="0"/>
            </a:br>
            <a:r>
              <a:rPr lang="en-US" sz="2000" b="0" dirty="0" smtClean="0"/>
              <a:t>it’s got to be here</a:t>
            </a:r>
            <a:endParaRPr lang="en-US" sz="2000" b="0" dirty="0"/>
          </a:p>
        </p:txBody>
      </p:sp>
      <p:sp>
        <p:nvSpPr>
          <p:cNvPr id="13" name="Right Brace 12"/>
          <p:cNvSpPr/>
          <p:nvPr/>
        </p:nvSpPr>
        <p:spPr bwMode="auto">
          <a:xfrm rot="5400000">
            <a:off x="3924300" y="4584700"/>
            <a:ext cx="152400" cy="16510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4" name="Right Brace 13"/>
          <p:cNvSpPr/>
          <p:nvPr/>
        </p:nvSpPr>
        <p:spPr bwMode="auto">
          <a:xfrm rot="5400000">
            <a:off x="8712200" y="4419600"/>
            <a:ext cx="152400" cy="19812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Adding Loop Invariants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 lvl="2"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lvl="4"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939800" y="1905000"/>
            <a:ext cx="8790099" cy="6463308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(\result  == -1 &amp;&amp; !</a:t>
            </a:r>
            <a:r>
              <a:rPr lang="en-US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(x, A, 0, n))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              || (0 &lt;= \result &amp;&amp; \result &lt; n &amp;&amp; A[\result] == x); @*/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…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330200" y="5105400"/>
            <a:ext cx="8915400" cy="1752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 these </a:t>
            </a:r>
            <a:r>
              <a:rPr lang="en-US" i="1" dirty="0" smtClean="0"/>
              <a:t>Useful</a:t>
            </a:r>
            <a:r>
              <a:rPr lang="en-US" dirty="0" smtClean="0"/>
              <a:t> Loop Invariants?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/>
              <a:t>Can they help prove the </a:t>
            </a:r>
            <a:r>
              <a:rPr lang="en-US" dirty="0" err="1" smtClean="0"/>
              <a:t>postcondition</a:t>
            </a:r>
            <a:r>
              <a:rPr lang="en-US" dirty="0" smtClean="0"/>
              <a:t>?</a:t>
            </a:r>
          </a:p>
          <a:p>
            <a:pPr>
              <a:buClr>
                <a:schemeClr val="tx1"/>
              </a:buClr>
            </a:pPr>
            <a:r>
              <a:rPr lang="en-US" dirty="0" smtClean="0">
                <a:solidFill>
                  <a:schemeClr val="tx1"/>
                </a:solidFill>
              </a:rPr>
              <a:t>Is </a:t>
            </a:r>
            <a:r>
              <a:rPr lang="en-US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-1 correct?</a:t>
            </a:r>
          </a:p>
          <a:p>
            <a:pPr lvl="1">
              <a:buClr>
                <a:schemeClr val="tx1"/>
              </a:buClr>
              <a:buNone/>
            </a:pPr>
            <a:r>
              <a:rPr lang="en-US" dirty="0" smtClean="0">
                <a:solidFill>
                  <a:schemeClr val="tx1"/>
                </a:solidFill>
              </a:rPr>
              <a:t> </a:t>
            </a:r>
            <a:r>
              <a:rPr lang="en-US" i="1" dirty="0" smtClean="0">
                <a:solidFill>
                  <a:schemeClr val="tx1"/>
                </a:solidFill>
              </a:rPr>
              <a:t>(assuming invariants are valid)</a:t>
            </a:r>
          </a:p>
          <a:p>
            <a:pPr>
              <a:buClr>
                <a:schemeClr val="tx1"/>
              </a:buClr>
            </a:pPr>
            <a:r>
              <a:rPr lang="en-US" b="1" dirty="0" smtClean="0">
                <a:solidFill>
                  <a:schemeClr val="tx1"/>
                </a:solidFill>
              </a:rPr>
              <a:t>To show</a:t>
            </a:r>
            <a:r>
              <a:rPr lang="en-US" dirty="0" smtClean="0">
                <a:solidFill>
                  <a:schemeClr val="tx1"/>
                </a:solidFill>
              </a:rPr>
              <a:t>: if preconditions are met, then </a:t>
            </a:r>
            <a:r>
              <a:rPr lang="en-US" dirty="0" smtClean="0">
                <a:solidFill>
                  <a:srgbClr val="C00000"/>
                </a:solidFill>
              </a:rPr>
              <a:t>x </a:t>
            </a:r>
            <a:r>
              <a:rPr lang="en-US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dirty="0" smtClean="0">
                <a:solidFill>
                  <a:srgbClr val="C00000"/>
                </a:solidFill>
              </a:rPr>
              <a:t> A[0, n)</a:t>
            </a:r>
            <a:endParaRPr lang="en-US" dirty="0" smtClean="0"/>
          </a:p>
          <a:p>
            <a:pPr marL="862013" lvl="1" indent="-404813">
              <a:buClr>
                <a:schemeClr val="tx1"/>
              </a:buClr>
              <a:buSzPct val="100000"/>
              <a:buFont typeface="+mj-lt"/>
              <a:buAutoNum type="alphaUcPeriod"/>
              <a:tabLst>
                <a:tab pos="2338388" algn="l"/>
              </a:tabLst>
            </a:pPr>
            <a:r>
              <a:rPr lang="en-US" sz="2400" dirty="0" smtClean="0">
                <a:solidFill>
                  <a:srgbClr val="C00000"/>
                </a:solidFill>
              </a:rPr>
              <a:t>lo ≥ hi</a:t>
            </a:r>
            <a:r>
              <a:rPr lang="en-US" sz="2400" dirty="0" smtClean="0">
                <a:solidFill>
                  <a:schemeClr val="tx1"/>
                </a:solidFill>
              </a:rPr>
              <a:t>	by line 9 (negation of loop guard)</a:t>
            </a:r>
          </a:p>
          <a:p>
            <a:pPr marL="862013" lvl="1" indent="-404813">
              <a:buClr>
                <a:schemeClr val="tx1"/>
              </a:buClr>
              <a:buSzPct val="100000"/>
              <a:buFont typeface="+mj-lt"/>
              <a:buAutoNum type="alphaUcPeriod"/>
              <a:tabLst>
                <a:tab pos="2338388" algn="l"/>
              </a:tabLst>
            </a:pPr>
            <a:r>
              <a:rPr lang="en-US" sz="2400" dirty="0" smtClean="0">
                <a:solidFill>
                  <a:srgbClr val="C00000"/>
                </a:solidFill>
              </a:rPr>
              <a:t>lo ≤ hi</a:t>
            </a:r>
            <a:r>
              <a:rPr lang="en-US" sz="2400" dirty="0" smtClean="0">
                <a:solidFill>
                  <a:schemeClr val="tx1"/>
                </a:solidFill>
              </a:rPr>
              <a:t>	by line 10 (LI 1)</a:t>
            </a:r>
          </a:p>
          <a:p>
            <a:pPr marL="862013" lvl="1" indent="-404813">
              <a:buClr>
                <a:schemeClr val="tx1"/>
              </a:buClr>
              <a:buSzPct val="100000"/>
              <a:buFont typeface="+mj-lt"/>
              <a:buAutoNum type="alphaUcPeriod"/>
              <a:tabLst>
                <a:tab pos="2338388" algn="l"/>
              </a:tabLst>
            </a:pPr>
            <a:r>
              <a:rPr lang="en-US" sz="2400" dirty="0" smtClean="0">
                <a:solidFill>
                  <a:srgbClr val="C00000"/>
                </a:solidFill>
              </a:rPr>
              <a:t>lo = hi</a:t>
            </a:r>
            <a:r>
              <a:rPr lang="en-US" sz="2400" dirty="0" smtClean="0">
                <a:solidFill>
                  <a:schemeClr val="tx1"/>
                </a:solidFill>
              </a:rPr>
              <a:t>	by math on A, B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862013" lvl="1" indent="-404813">
              <a:buClr>
                <a:schemeClr val="tx1"/>
              </a:buClr>
              <a:buSzPct val="100000"/>
              <a:buFont typeface="+mj-lt"/>
              <a:buAutoNum type="alphaUcPeriod"/>
              <a:tabLst>
                <a:tab pos="2338388" algn="l"/>
              </a:tabLst>
            </a:pPr>
            <a:r>
              <a:rPr lang="en-US" sz="2400" dirty="0" smtClean="0">
                <a:solidFill>
                  <a:srgbClr val="C00000"/>
                </a:solidFill>
              </a:rPr>
              <a:t>A[0,lo) &lt; x</a:t>
            </a:r>
            <a:r>
              <a:rPr lang="en-US" sz="2400" dirty="0" smtClean="0">
                <a:solidFill>
                  <a:schemeClr val="tx1"/>
                </a:solidFill>
              </a:rPr>
              <a:t>	by line 11 (LI 2)</a:t>
            </a:r>
            <a:endParaRPr lang="en-US" sz="2400" dirty="0" smtClean="0">
              <a:solidFill>
                <a:srgbClr val="C00000"/>
              </a:solidFill>
            </a:endParaRPr>
          </a:p>
          <a:p>
            <a:pPr marL="862013" lvl="1" indent="-404813">
              <a:buClr>
                <a:schemeClr val="tx1"/>
              </a:buClr>
              <a:buSzPct val="100000"/>
              <a:buFont typeface="+mj-lt"/>
              <a:buAutoNum type="alphaUcPeriod"/>
              <a:tabLst>
                <a:tab pos="2338388" algn="l"/>
              </a:tabLst>
            </a:pPr>
            <a:r>
              <a:rPr lang="en-US" sz="2400" dirty="0" smtClean="0">
                <a:solidFill>
                  <a:srgbClr val="C00000"/>
                </a:solidFill>
              </a:rPr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>
                <a:solidFill>
                  <a:srgbClr val="C00000"/>
                </a:solidFill>
              </a:rPr>
              <a:t>A[0,lo)</a:t>
            </a:r>
            <a:r>
              <a:rPr lang="en-US" sz="2400" dirty="0" smtClean="0">
                <a:solidFill>
                  <a:schemeClr val="tx1"/>
                </a:solidFill>
              </a:rPr>
              <a:t>	by math on D</a:t>
            </a:r>
          </a:p>
          <a:p>
            <a:pPr marL="862013" lvl="1" indent="-404813">
              <a:buClr>
                <a:schemeClr val="tx1"/>
              </a:buClr>
              <a:buSzPct val="100000"/>
              <a:buFont typeface="+mj-lt"/>
              <a:buAutoNum type="alphaUcPeriod"/>
              <a:tabLst>
                <a:tab pos="2338388" algn="l"/>
              </a:tabLst>
            </a:pPr>
            <a:r>
              <a:rPr lang="en-US" sz="2400" dirty="0" smtClean="0">
                <a:solidFill>
                  <a:srgbClr val="C00000"/>
                </a:solidFill>
              </a:rPr>
              <a:t>x &lt; A[</a:t>
            </a:r>
            <a:r>
              <a:rPr lang="en-US" sz="2400" dirty="0" err="1" smtClean="0">
                <a:solidFill>
                  <a:srgbClr val="C00000"/>
                </a:solidFill>
              </a:rPr>
              <a:t>hi,n</a:t>
            </a:r>
            <a:r>
              <a:rPr lang="en-US" sz="2400" dirty="0" smtClean="0">
                <a:solidFill>
                  <a:srgbClr val="C00000"/>
                </a:solidFill>
              </a:rPr>
              <a:t>)</a:t>
            </a:r>
            <a:r>
              <a:rPr lang="en-US" sz="2400" dirty="0" smtClean="0">
                <a:solidFill>
                  <a:schemeClr val="tx1"/>
                </a:solidFill>
              </a:rPr>
              <a:t>	by line 12 (LI 3)</a:t>
            </a:r>
          </a:p>
          <a:p>
            <a:pPr marL="862013" lvl="1" indent="-404813">
              <a:buClr>
                <a:schemeClr val="tx1"/>
              </a:buClr>
              <a:buSzPct val="100000"/>
              <a:buFont typeface="+mj-lt"/>
              <a:buAutoNum type="alphaUcPeriod"/>
              <a:tabLst>
                <a:tab pos="2338388" algn="l"/>
              </a:tabLst>
            </a:pPr>
            <a:r>
              <a:rPr lang="en-US" sz="2400" dirty="0" smtClean="0">
                <a:solidFill>
                  <a:srgbClr val="C00000"/>
                </a:solidFill>
              </a:rPr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>
                <a:solidFill>
                  <a:srgbClr val="C00000"/>
                </a:solidFill>
              </a:rPr>
              <a:t>A[</a:t>
            </a:r>
            <a:r>
              <a:rPr lang="en-US" sz="2400" dirty="0" err="1" smtClean="0">
                <a:solidFill>
                  <a:srgbClr val="C00000"/>
                </a:solidFill>
              </a:rPr>
              <a:t>hi,n</a:t>
            </a:r>
            <a:r>
              <a:rPr lang="en-US" sz="2400" dirty="0" smtClean="0">
                <a:solidFill>
                  <a:srgbClr val="C00000"/>
                </a:solidFill>
              </a:rPr>
              <a:t>)</a:t>
            </a:r>
            <a:r>
              <a:rPr lang="en-US" sz="2400" dirty="0" smtClean="0">
                <a:solidFill>
                  <a:schemeClr val="tx1"/>
                </a:solidFill>
              </a:rPr>
              <a:t>	by math on F</a:t>
            </a:r>
          </a:p>
          <a:p>
            <a:pPr marL="862013" lvl="1" indent="-404813">
              <a:buClr>
                <a:schemeClr val="tx1"/>
              </a:buClr>
              <a:buSzPct val="100000"/>
              <a:buFont typeface="+mj-lt"/>
              <a:buAutoNum type="alphaUcPeriod"/>
              <a:tabLst>
                <a:tab pos="2338388" algn="l"/>
              </a:tabLst>
            </a:pPr>
            <a:r>
              <a:rPr lang="en-US" sz="2400" dirty="0" smtClean="0">
                <a:solidFill>
                  <a:srgbClr val="C00000"/>
                </a:solidFill>
              </a:rPr>
              <a:t>x </a:t>
            </a:r>
            <a:r>
              <a:rPr lang="en-US" sz="2400" dirty="0" smtClean="0">
                <a:solidFill>
                  <a:srgbClr val="C00000"/>
                </a:solidFill>
                <a:sym typeface="Symbol"/>
              </a:rPr>
              <a:t></a:t>
            </a:r>
            <a:r>
              <a:rPr lang="en-US" sz="2400" dirty="0" smtClean="0">
                <a:solidFill>
                  <a:srgbClr val="C00000"/>
                </a:solidFill>
              </a:rPr>
              <a:t>A[0,n)</a:t>
            </a:r>
            <a:r>
              <a:rPr lang="en-US" sz="2400" dirty="0" smtClean="0">
                <a:solidFill>
                  <a:schemeClr val="tx1"/>
                </a:solidFill>
              </a:rPr>
              <a:t>	by math on C, E, G</a:t>
            </a:r>
            <a:r>
              <a:rPr lang="en-US" sz="2400" dirty="0" smtClean="0">
                <a:solidFill>
                  <a:srgbClr val="C00000"/>
                </a:solidFill>
              </a:rPr>
              <a:t/>
            </a:r>
            <a:br>
              <a:rPr lang="en-US" sz="2400" dirty="0" smtClean="0">
                <a:solidFill>
                  <a:srgbClr val="C00000"/>
                </a:solidFill>
              </a:rPr>
            </a:br>
            <a:endParaRPr lang="en-US" sz="2400" dirty="0" smtClean="0">
              <a:solidFill>
                <a:schemeClr val="tx1"/>
              </a:solidFill>
            </a:endParaRPr>
          </a:p>
          <a:p>
            <a:r>
              <a:rPr lang="en-US" dirty="0" smtClean="0">
                <a:solidFill>
                  <a:schemeClr val="tx1"/>
                </a:solidFill>
              </a:rPr>
              <a:t>This is a standard EXIT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argument</a:t>
            </a:r>
          </a:p>
          <a:p>
            <a:endParaRPr lang="en-US" dirty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5969000" y="4783753"/>
            <a:ext cx="6883936" cy="4893647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(\result  == -1 &amp;&amp; !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(x, A, 0, n))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              || (0 &lt;= \result &amp;&amp; \result &lt; n &amp;&amp; A[\result] == x); @*/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…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}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7416800" y="5638800"/>
            <a:ext cx="38100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6121400" y="8915400"/>
            <a:ext cx="13716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8" name="TextBox 7"/>
          <p:cNvSpPr txBox="1"/>
          <p:nvPr/>
        </p:nvSpPr>
        <p:spPr>
          <a:xfrm>
            <a:off x="283851" y="7703403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Are the Loop Invariants valid?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INIT</a:t>
            </a:r>
          </a:p>
          <a:p>
            <a:pPr lvl="2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lo = 0 </a:t>
            </a:r>
            <a:r>
              <a:rPr lang="en-US" dirty="0" smtClean="0"/>
              <a:t>by line 7 and </a:t>
            </a:r>
            <a:r>
              <a:rPr lang="en-US" dirty="0" smtClean="0">
                <a:solidFill>
                  <a:srgbClr val="C00000"/>
                </a:solidFill>
              </a:rPr>
              <a:t>hi = n</a:t>
            </a:r>
            <a:r>
              <a:rPr lang="en-US" dirty="0" smtClean="0"/>
              <a:t> by line 8</a:t>
            </a:r>
          </a:p>
          <a:p>
            <a:pPr lvl="1"/>
            <a:r>
              <a:rPr lang="en-US" b="1" dirty="0" smtClean="0"/>
              <a:t>To show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0000"/>
                </a:solidFill>
              </a:rPr>
              <a:t>0 ≤ 0</a:t>
            </a:r>
            <a:r>
              <a:rPr lang="en-US" dirty="0" smtClean="0">
                <a:solidFill>
                  <a:schemeClr val="tx1"/>
                </a:solidFill>
              </a:rPr>
              <a:t>		by math</a:t>
            </a:r>
          </a:p>
          <a:p>
            <a:pPr lvl="1"/>
            <a:r>
              <a:rPr lang="en-US" b="1" dirty="0" smtClean="0"/>
              <a:t>To show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0000"/>
                </a:solidFill>
              </a:rPr>
              <a:t>0 ≤ n</a:t>
            </a:r>
            <a:r>
              <a:rPr lang="en-US" dirty="0" smtClean="0">
                <a:solidFill>
                  <a:schemeClr val="tx1"/>
                </a:solidFill>
              </a:rPr>
              <a:t>		by line 2 (preconditions) and </a:t>
            </a:r>
            <a:r>
              <a:rPr lang="en-US" dirty="0" smtClean="0">
                <a:solidFill>
                  <a:srgbClr val="C00000"/>
                </a:solidFill>
              </a:rPr>
              <a:t>\length</a:t>
            </a:r>
          </a:p>
          <a:p>
            <a:pPr lvl="1"/>
            <a:r>
              <a:rPr lang="en-US" b="1" dirty="0" smtClean="0"/>
              <a:t>To show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0000"/>
                </a:solidFill>
              </a:rPr>
              <a:t>n ≤ n</a:t>
            </a:r>
            <a:r>
              <a:rPr lang="en-US" dirty="0" smtClean="0">
                <a:solidFill>
                  <a:schemeClr val="tx1"/>
                </a:solidFill>
              </a:rPr>
              <a:t>		by math</a:t>
            </a:r>
          </a:p>
          <a:p>
            <a:pPr lvl="4"/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b="1" dirty="0" smtClean="0"/>
              <a:t>To show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0000"/>
                </a:solidFill>
              </a:rPr>
              <a:t>A[0, 0) &lt; x</a:t>
            </a:r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b="1" dirty="0" smtClean="0"/>
              <a:t>To show</a:t>
            </a:r>
            <a:r>
              <a:rPr lang="en-US" dirty="0" smtClean="0"/>
              <a:t>: </a:t>
            </a:r>
            <a:r>
              <a:rPr lang="en-US" dirty="0" smtClean="0">
                <a:solidFill>
                  <a:srgbClr val="C00000"/>
                </a:solidFill>
              </a:rPr>
              <a:t>x &lt; A[n, n)	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by math (empty intervals)</a:t>
            </a:r>
          </a:p>
          <a:p>
            <a:pPr lvl="3"/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US" b="1" dirty="0" smtClean="0">
                <a:solidFill>
                  <a:schemeClr val="tx1"/>
                </a:solidFill>
              </a:rPr>
              <a:t>PRES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Trivial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body is empty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nothing changes!!!</a:t>
            </a:r>
          </a:p>
          <a:p>
            <a:endParaRPr lang="en-US" dirty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5969000" y="4495800"/>
            <a:ext cx="6883936" cy="5170646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(\result  == -1 &amp;&amp; !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(x, A, 0, n))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              || (0 &lt;= \result &amp;&amp; \result &lt; n &amp;&amp; A[\result] == x); @*/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…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}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lo == hi;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6121400" y="6934200"/>
            <a:ext cx="6172200" cy="1143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" name="Rectangular Callout 6"/>
          <p:cNvSpPr/>
          <p:nvPr/>
        </p:nvSpPr>
        <p:spPr bwMode="auto">
          <a:xfrm>
            <a:off x="10388600" y="8686800"/>
            <a:ext cx="1998304" cy="707886"/>
          </a:xfrm>
          <a:prstGeom prst="wedgeRectCallout">
            <a:avLst>
              <a:gd name="adj1" fmla="val -156067"/>
              <a:gd name="adj2" fmla="val -2536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from correctness</a:t>
            </a:r>
            <a:br>
              <a:rPr lang="en-US" sz="2000" b="0" dirty="0" smtClean="0"/>
            </a:br>
            <a:r>
              <a:rPr lang="en-US" sz="2000" b="0" dirty="0" smtClean="0"/>
              <a:t>proof</a:t>
            </a:r>
            <a:endParaRPr lang="en-US" sz="2000" b="0" dirty="0"/>
          </a:p>
        </p:txBody>
      </p:sp>
      <p:sp>
        <p:nvSpPr>
          <p:cNvPr id="8" name="TextBox 7"/>
          <p:cNvSpPr txBox="1"/>
          <p:nvPr/>
        </p:nvSpPr>
        <p:spPr>
          <a:xfrm>
            <a:off x="283851" y="8846403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4000" y="6096000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</a:t>
            </a:r>
            <a:r>
              <a:rPr lang="en-US" dirty="0" err="1" smtClean="0">
                <a:solidFill>
                  <a:srgbClr val="7030A0"/>
                </a:solidFill>
              </a:rPr>
              <a:t>binsearch</a:t>
            </a:r>
            <a:r>
              <a:rPr lang="en-US" dirty="0" smtClean="0"/>
              <a:t> correct?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EXIT				</a:t>
            </a:r>
          </a:p>
          <a:p>
            <a:r>
              <a:rPr lang="en-US" dirty="0" smtClean="0"/>
              <a:t>INIT</a:t>
            </a:r>
          </a:p>
          <a:p>
            <a:r>
              <a:rPr lang="en-US" dirty="0" smtClean="0"/>
              <a:t>PRES</a:t>
            </a:r>
          </a:p>
          <a:p>
            <a:r>
              <a:rPr lang="en-US" dirty="0" smtClean="0"/>
              <a:t>Termination</a:t>
            </a:r>
          </a:p>
          <a:p>
            <a:pPr lvl="1"/>
            <a:r>
              <a:rPr lang="en-US" dirty="0" smtClean="0"/>
              <a:t>Infinite loop!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Let’s implement what</a:t>
            </a:r>
            <a:br>
              <a:rPr lang="en-US" dirty="0" smtClean="0"/>
            </a:br>
            <a:r>
              <a:rPr lang="en-US" dirty="0" smtClean="0"/>
              <a:t>happens in a binary</a:t>
            </a:r>
            <a:br>
              <a:rPr lang="en-US" dirty="0" smtClean="0"/>
            </a:br>
            <a:r>
              <a:rPr lang="en-US" dirty="0" smtClean="0"/>
              <a:t>search step</a:t>
            </a:r>
          </a:p>
          <a:p>
            <a:pPr lvl="1"/>
            <a:r>
              <a:rPr lang="en-US" dirty="0" smtClean="0"/>
              <a:t>compute mid-point</a:t>
            </a:r>
          </a:p>
          <a:p>
            <a:pPr lvl="1"/>
            <a:r>
              <a:rPr lang="en-US" dirty="0" smtClean="0"/>
              <a:t>compare its value to x</a:t>
            </a:r>
            <a:endParaRPr lang="en-US" dirty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5969000" y="4495800"/>
            <a:ext cx="6883936" cy="5170646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(\result  == -1 &amp;&amp; !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(x, A, 0, n))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              || (0 &lt;= \result &amp;&amp; \result &lt; n &amp;&amp; A[\result] == x); @*/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…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}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lo == hi;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33363" indent="-233363" algn="l" defTabSz="12700">
              <a:buClr>
                <a:schemeClr val="bg1"/>
              </a:buClr>
              <a:buSzPct val="60000"/>
              <a:buFont typeface="+mj-lt"/>
              <a:buAutoNum type="arabicPeriod"/>
              <a:tabLst>
                <a:tab pos="233363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10715" y="1897559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292600" y="2430959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84723" y="3040559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43789" y="3664803"/>
            <a:ext cx="5822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FF0000"/>
                </a:solidFill>
                <a:sym typeface="Wingdings 2"/>
              </a:rPr>
              <a:t></a:t>
            </a:r>
            <a:endParaRPr 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787400"/>
            <a:ext cx="2349500" cy="1498600"/>
          </a:xfrm>
        </p:spPr>
        <p:txBody>
          <a:bodyPr/>
          <a:lstStyle/>
          <a:p>
            <a:r>
              <a:rPr lang="en-US" dirty="0" smtClean="0"/>
              <a:t>Adding the Body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 lvl="2"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lvl="4"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Clr>
                <a:schemeClr val="tx1"/>
              </a:buClr>
            </a:pP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4113101" y="152400"/>
            <a:ext cx="8790099" cy="941796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(\result  == -1 &amp;&amp; !</a:t>
            </a:r>
            <a:r>
              <a:rPr lang="en-US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(x, A, 0, n))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              || (0 &lt;= \result &amp;&amp; \result &lt; n &amp;&amp; A[\result] == x); @*/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(lo + hi) / 2;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== x)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&lt; x)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lo = mid + 1;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else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{   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A[mid] &gt; x;</a:t>
            </a:r>
            <a:endParaRPr lang="en-US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 hi = mid;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//@assert lo == hi;</a:t>
            </a:r>
            <a:endParaRPr lang="en-US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3987800" y="4343400"/>
            <a:ext cx="4876800" cy="39624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6" name="Rectangular Callout 5"/>
          <p:cNvSpPr/>
          <p:nvPr/>
        </p:nvSpPr>
        <p:spPr bwMode="auto">
          <a:xfrm>
            <a:off x="9626600" y="5029200"/>
            <a:ext cx="1746633" cy="707886"/>
          </a:xfrm>
          <a:prstGeom prst="wedgeRectCallout">
            <a:avLst>
              <a:gd name="adj1" fmla="val -156067"/>
              <a:gd name="adj2" fmla="val -2536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by high-school</a:t>
            </a:r>
            <a:br>
              <a:rPr lang="en-US" sz="2000" b="0" dirty="0" smtClean="0"/>
            </a:br>
            <a:r>
              <a:rPr lang="en-US" sz="2000" b="0" dirty="0" smtClean="0"/>
              <a:t>math</a:t>
            </a:r>
            <a:endParaRPr lang="en-US" sz="2000" b="0" dirty="0"/>
          </a:p>
        </p:txBody>
      </p:sp>
      <p:sp>
        <p:nvSpPr>
          <p:cNvPr id="7" name="Rectangular Callout 6"/>
          <p:cNvSpPr/>
          <p:nvPr/>
        </p:nvSpPr>
        <p:spPr bwMode="auto">
          <a:xfrm>
            <a:off x="10068171" y="6781800"/>
            <a:ext cx="1996829" cy="1015663"/>
          </a:xfrm>
          <a:prstGeom prst="wedgeRectCallout">
            <a:avLst>
              <a:gd name="adj1" fmla="val -121989"/>
              <a:gd name="adj2" fmla="val -2327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if A[mid] not == x</a:t>
            </a:r>
            <a:br>
              <a:rPr lang="en-US" sz="2000" b="0" dirty="0" smtClean="0"/>
            </a:br>
            <a:r>
              <a:rPr lang="en-US" sz="2000" b="0" dirty="0" smtClean="0"/>
              <a:t>and not &lt; x,</a:t>
            </a:r>
            <a:br>
              <a:rPr lang="en-US" sz="2000" b="0" dirty="0" smtClean="0"/>
            </a:br>
            <a:r>
              <a:rPr lang="en-US" sz="2000" b="0" dirty="0" smtClean="0"/>
              <a:t>then A[mid] &gt; x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4940300" cy="1498600"/>
          </a:xfrm>
        </p:spPr>
        <p:txBody>
          <a:bodyPr/>
          <a:lstStyle/>
          <a:p>
            <a:r>
              <a:rPr lang="en-US" dirty="0" smtClean="0"/>
              <a:t>Is it Safe?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A[mid] must be in bounds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0 ≤ mid &lt; \length(A)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628650" indent="-514350"/>
            <a:endParaRPr lang="en-US" dirty="0" smtClean="0"/>
          </a:p>
          <a:p>
            <a:pPr marL="628650" indent="-514350"/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expect </a:t>
            </a:r>
            <a:r>
              <a:rPr lang="en-US" dirty="0" smtClean="0">
                <a:solidFill>
                  <a:srgbClr val="C00000"/>
                </a:solidFill>
              </a:rPr>
              <a:t>lo ≤ mid &lt; hi</a:t>
            </a:r>
          </a:p>
          <a:p>
            <a:pPr lvl="1"/>
            <a:r>
              <a:rPr lang="en-US" b="1" dirty="0" smtClean="0"/>
              <a:t>not</a:t>
            </a:r>
            <a:r>
              <a:rPr lang="en-US" dirty="0" smtClean="0"/>
              <a:t> </a:t>
            </a:r>
            <a:r>
              <a:rPr lang="en-US" dirty="0" smtClean="0">
                <a:solidFill>
                  <a:srgbClr val="C00000"/>
                </a:solidFill>
              </a:rPr>
              <a:t>mid ≤ hi</a:t>
            </a:r>
            <a:endParaRPr lang="en-US" dirty="0" smtClean="0"/>
          </a:p>
          <a:p>
            <a:pPr lvl="2"/>
            <a:r>
              <a:rPr lang="en-US" dirty="0" smtClean="0"/>
              <a:t>otherwise we could have </a:t>
            </a:r>
            <a:r>
              <a:rPr lang="en-US" dirty="0" smtClean="0">
                <a:solidFill>
                  <a:srgbClr val="C00000"/>
                </a:solidFill>
              </a:rPr>
              <a:t>hi == \length(A)</a:t>
            </a:r>
            <a:r>
              <a:rPr lang="en-US" dirty="0" smtClean="0"/>
              <a:t> by lines 2, 9</a:t>
            </a:r>
          </a:p>
          <a:p>
            <a:r>
              <a:rPr lang="en-US" i="1" dirty="0" smtClean="0"/>
              <a:t>Candidate</a:t>
            </a:r>
            <a:r>
              <a:rPr lang="en-US" dirty="0" smtClean="0"/>
              <a:t> assertion: </a:t>
            </a:r>
            <a:r>
              <a:rPr lang="en-US" dirty="0" smtClean="0">
                <a:solidFill>
                  <a:srgbClr val="C00000"/>
                </a:solidFill>
              </a:rPr>
              <a:t>lo &lt;= mid &amp;&amp; mid &lt; hi</a:t>
            </a:r>
          </a:p>
          <a:p>
            <a:pPr lvl="1"/>
            <a:r>
              <a:rPr lang="en-US" dirty="0" smtClean="0"/>
              <a:t>We will check it later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7388229" y="76200"/>
            <a:ext cx="5514971" cy="6832640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… @*/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(lo + hi) / 2;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== x)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&lt; x) 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lo = mid + 1;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else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{   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A[mid] &gt; x;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 hi = mid;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}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//@assert lo == hi;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304800" y="40243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90600" y="3581400"/>
          <a:ext cx="63500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535920"/>
                <a:gridCol w="2375680"/>
                <a:gridCol w="2071613"/>
                <a:gridCol w="366787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n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…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…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939800" y="4953000"/>
            <a:ext cx="16626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C00000"/>
                </a:solidFill>
              </a:rPr>
              <a:t>A[0, lo) &lt; x</a:t>
            </a:r>
            <a:endParaRPr lang="en-US" b="0" dirty="0"/>
          </a:p>
        </p:txBody>
      </p:sp>
      <p:sp>
        <p:nvSpPr>
          <p:cNvPr id="9" name="TextBox 8"/>
          <p:cNvSpPr txBox="1"/>
          <p:nvPr/>
        </p:nvSpPr>
        <p:spPr>
          <a:xfrm>
            <a:off x="5212485" y="4953000"/>
            <a:ext cx="16455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C00000"/>
                </a:solidFill>
              </a:rPr>
              <a:t>x &lt; A[hi, n)</a:t>
            </a:r>
            <a:endParaRPr lang="en-US" b="0" dirty="0"/>
          </a:p>
        </p:txBody>
      </p:sp>
      <p:sp>
        <p:nvSpPr>
          <p:cNvPr id="10" name="Right Brace 9"/>
          <p:cNvSpPr/>
          <p:nvPr/>
        </p:nvSpPr>
        <p:spPr bwMode="auto">
          <a:xfrm rot="5400000">
            <a:off x="1714500" y="3979565"/>
            <a:ext cx="152400" cy="16510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Right Brace 10"/>
          <p:cNvSpPr/>
          <p:nvPr/>
        </p:nvSpPr>
        <p:spPr bwMode="auto">
          <a:xfrm rot="5400000">
            <a:off x="5816600" y="3814465"/>
            <a:ext cx="152400" cy="19812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07437" y="3657600"/>
            <a:ext cx="5565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rgbClr val="0070C0"/>
                </a:solidFill>
              </a:rPr>
              <a:t>mid</a:t>
            </a:r>
            <a:endParaRPr lang="en-US" sz="1800" b="0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4940300" cy="1498600"/>
          </a:xfrm>
        </p:spPr>
        <p:txBody>
          <a:bodyPr/>
          <a:lstStyle/>
          <a:p>
            <a:r>
              <a:rPr lang="en-US" dirty="0" smtClean="0"/>
              <a:t>Are the LI valid?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INIT</a:t>
            </a:r>
            <a:r>
              <a:rPr lang="en-US" dirty="0" smtClean="0"/>
              <a:t>:</a:t>
            </a:r>
            <a:r>
              <a:rPr lang="en-US" b="1" dirty="0" smtClean="0"/>
              <a:t> </a:t>
            </a:r>
            <a:r>
              <a:rPr lang="en-US" dirty="0" smtClean="0"/>
              <a:t>unchanged</a:t>
            </a:r>
          </a:p>
          <a:p>
            <a:pPr>
              <a:spcBef>
                <a:spcPts val="1200"/>
              </a:spcBef>
              <a:buNone/>
            </a:pPr>
            <a:r>
              <a:rPr lang="en-US" b="1" dirty="0" smtClean="0">
                <a:solidFill>
                  <a:schemeClr val="tx1"/>
                </a:solidFill>
              </a:rPr>
              <a:t>PRES</a:t>
            </a:r>
          </a:p>
          <a:p>
            <a:pPr lvl="1"/>
            <a:r>
              <a:rPr lang="en-US" b="1" dirty="0" smtClean="0"/>
              <a:t>To show</a:t>
            </a:r>
            <a:r>
              <a:rPr lang="en-US" dirty="0" smtClean="0"/>
              <a:t>: if 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0 </a:t>
            </a:r>
            <a:r>
              <a:rPr lang="en-US" dirty="0" smtClean="0">
                <a:solidFill>
                  <a:srgbClr val="C00000"/>
                </a:solidFill>
              </a:rPr>
              <a:t>≤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lo </a:t>
            </a:r>
            <a:r>
              <a:rPr lang="en-US" dirty="0" smtClean="0">
                <a:solidFill>
                  <a:srgbClr val="C00000"/>
                </a:solidFill>
              </a:rPr>
              <a:t>≤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hi </a:t>
            </a:r>
            <a:r>
              <a:rPr lang="en-US" dirty="0" smtClean="0">
                <a:solidFill>
                  <a:srgbClr val="C00000"/>
                </a:solidFill>
              </a:rPr>
              <a:t>≤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n</a:t>
            </a:r>
            <a:r>
              <a:rPr lang="en-US" dirty="0" smtClean="0">
                <a:solidFill>
                  <a:schemeClr val="tx1"/>
                </a:solidFill>
                <a:latin typeface="Menlo"/>
              </a:rPr>
              <a:t>,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/>
            </a:r>
            <a:br>
              <a:rPr lang="en-US" dirty="0" smtClean="0">
                <a:solidFill>
                  <a:srgbClr val="C00000"/>
                </a:solidFill>
                <a:latin typeface="Menlo"/>
              </a:rPr>
            </a:br>
            <a:r>
              <a:rPr lang="en-US" dirty="0" smtClean="0">
                <a:solidFill>
                  <a:srgbClr val="C00000"/>
                </a:solidFill>
                <a:latin typeface="Menlo"/>
              </a:rPr>
              <a:t>		  </a:t>
            </a:r>
            <a:r>
              <a:rPr lang="en-US" dirty="0" smtClean="0">
                <a:solidFill>
                  <a:schemeClr val="tx1"/>
                </a:solidFill>
                <a:latin typeface="Menlo"/>
              </a:rPr>
              <a:t>then 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0 </a:t>
            </a:r>
            <a:r>
              <a:rPr lang="en-US" dirty="0" smtClean="0">
                <a:solidFill>
                  <a:srgbClr val="C00000"/>
                </a:solidFill>
              </a:rPr>
              <a:t>≤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lo’ </a:t>
            </a:r>
            <a:r>
              <a:rPr lang="en-US" dirty="0" smtClean="0">
                <a:solidFill>
                  <a:srgbClr val="C00000"/>
                </a:solidFill>
              </a:rPr>
              <a:t>≤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hi’ </a:t>
            </a:r>
            <a:r>
              <a:rPr lang="en-US" dirty="0" smtClean="0">
                <a:solidFill>
                  <a:srgbClr val="C00000"/>
                </a:solidFill>
              </a:rPr>
              <a:t>≤</a:t>
            </a:r>
            <a:r>
              <a:rPr lang="en-US" dirty="0" smtClean="0">
                <a:solidFill>
                  <a:srgbClr val="C00000"/>
                </a:solidFill>
                <a:latin typeface="Menlo"/>
              </a:rPr>
              <a:t> n</a:t>
            </a:r>
            <a:endParaRPr lang="en-US" dirty="0" smtClean="0">
              <a:solidFill>
                <a:schemeClr val="tx1"/>
              </a:solidFill>
              <a:latin typeface="Menlo"/>
            </a:endParaRP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if A[mid] == x, </a:t>
            </a:r>
            <a:r>
              <a:rPr lang="en-US" i="1" dirty="0" smtClean="0">
                <a:solidFill>
                  <a:schemeClr val="tx1"/>
                </a:solidFill>
              </a:rPr>
              <a:t>nothing to prove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if A[mid] &lt; x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  <a:tabLst>
                <a:tab pos="3082925" algn="l"/>
              </a:tabLst>
            </a:pPr>
            <a:r>
              <a:rPr lang="en-US" dirty="0" smtClean="0">
                <a:solidFill>
                  <a:srgbClr val="C00000"/>
                </a:solidFill>
              </a:rPr>
              <a:t>lo’ = mid+1</a:t>
            </a:r>
            <a:r>
              <a:rPr lang="en-US" dirty="0" smtClean="0">
                <a:solidFill>
                  <a:schemeClr val="tx1"/>
                </a:solidFill>
              </a:rPr>
              <a:t>	by line 17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  <a:tabLst>
                <a:tab pos="3082925" algn="l"/>
              </a:tabLst>
            </a:pPr>
            <a:r>
              <a:rPr lang="en-US" dirty="0" smtClean="0">
                <a:solidFill>
                  <a:srgbClr val="C00000"/>
                </a:solidFill>
              </a:rPr>
              <a:t>hi’ = hi</a:t>
            </a:r>
            <a:r>
              <a:rPr lang="en-US" dirty="0" smtClean="0">
                <a:solidFill>
                  <a:schemeClr val="tx1"/>
                </a:solidFill>
              </a:rPr>
              <a:t>	(unchanged)</a:t>
            </a:r>
            <a:endParaRPr lang="en-US" dirty="0" smtClean="0">
              <a:solidFill>
                <a:srgbClr val="C00000"/>
              </a:solidFill>
            </a:endParaRP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  <a:tabLst>
                <a:tab pos="3082925" algn="l"/>
              </a:tabLst>
            </a:pPr>
            <a:r>
              <a:rPr lang="en-US" dirty="0" smtClean="0">
                <a:solidFill>
                  <a:srgbClr val="C00000"/>
                </a:solidFill>
              </a:rPr>
              <a:t>0 ≤ lo	</a:t>
            </a:r>
            <a:r>
              <a:rPr lang="en-US" dirty="0" smtClean="0">
                <a:solidFill>
                  <a:schemeClr val="tx1"/>
                </a:solidFill>
              </a:rPr>
              <a:t>by line 9 (LI1)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  <a:tabLst>
                <a:tab pos="3082925" algn="l"/>
              </a:tabLst>
            </a:pPr>
            <a:r>
              <a:rPr lang="en-US" dirty="0" smtClean="0">
                <a:solidFill>
                  <a:srgbClr val="C00000"/>
                </a:solidFill>
              </a:rPr>
              <a:t>lo ≤ mid	</a:t>
            </a:r>
            <a:r>
              <a:rPr lang="en-US" dirty="0" smtClean="0">
                <a:solidFill>
                  <a:schemeClr val="tx1"/>
                </a:solidFill>
              </a:rPr>
              <a:t>by line 14 (</a:t>
            </a:r>
            <a:r>
              <a:rPr lang="en-US" i="1" dirty="0" smtClean="0">
                <a:solidFill>
                  <a:schemeClr val="tx1"/>
                </a:solidFill>
              </a:rPr>
              <a:t>to be checked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 smtClean="0">
              <a:solidFill>
                <a:srgbClr val="C00000"/>
              </a:solidFill>
            </a:endParaRP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  <a:tabLst>
                <a:tab pos="3082925" algn="l"/>
              </a:tabLst>
            </a:pPr>
            <a:r>
              <a:rPr lang="en-US" dirty="0" smtClean="0">
                <a:solidFill>
                  <a:srgbClr val="C00000"/>
                </a:solidFill>
              </a:rPr>
              <a:t>mid &lt; hi	</a:t>
            </a:r>
            <a:r>
              <a:rPr lang="en-US" dirty="0" smtClean="0">
                <a:solidFill>
                  <a:schemeClr val="tx1"/>
                </a:solidFill>
              </a:rPr>
              <a:t>by line 14 (</a:t>
            </a:r>
            <a:r>
              <a:rPr lang="en-US" i="1" dirty="0" smtClean="0">
                <a:solidFill>
                  <a:schemeClr val="tx1"/>
                </a:solidFill>
              </a:rPr>
              <a:t>to be checked</a:t>
            </a:r>
            <a:r>
              <a:rPr lang="en-US" dirty="0" smtClean="0">
                <a:solidFill>
                  <a:schemeClr val="tx1"/>
                </a:solidFill>
              </a:rPr>
              <a:t>)</a:t>
            </a:r>
            <a:endParaRPr lang="en-US" dirty="0" smtClean="0">
              <a:solidFill>
                <a:srgbClr val="C00000"/>
              </a:solidFill>
            </a:endParaRP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  <a:tabLst>
                <a:tab pos="3082925" algn="l"/>
              </a:tabLst>
            </a:pPr>
            <a:r>
              <a:rPr lang="en-US" dirty="0" smtClean="0">
                <a:solidFill>
                  <a:srgbClr val="C00000"/>
                </a:solidFill>
              </a:rPr>
              <a:t>mid &lt; mid+1	</a:t>
            </a:r>
            <a:r>
              <a:rPr lang="en-US" dirty="0" smtClean="0">
                <a:solidFill>
                  <a:schemeClr val="tx1"/>
                </a:solidFill>
              </a:rPr>
              <a:t>by math on E</a:t>
            </a:r>
            <a:endParaRPr lang="en-US" dirty="0" smtClean="0">
              <a:solidFill>
                <a:srgbClr val="C00000"/>
              </a:solidFill>
            </a:endParaRP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  <a:tabLst>
                <a:tab pos="3082925" algn="l"/>
              </a:tabLst>
            </a:pPr>
            <a:r>
              <a:rPr lang="en-US" dirty="0" smtClean="0">
                <a:solidFill>
                  <a:srgbClr val="C00000"/>
                </a:solidFill>
              </a:rPr>
              <a:t>0 ≤ lo’;	</a:t>
            </a:r>
            <a:r>
              <a:rPr lang="en-US" dirty="0" smtClean="0">
                <a:solidFill>
                  <a:schemeClr val="tx1"/>
                </a:solidFill>
              </a:rPr>
              <a:t>by A, C, D, F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  <a:tabLst>
                <a:tab pos="3082925" algn="l"/>
              </a:tabLst>
            </a:pPr>
            <a:r>
              <a:rPr lang="en-US" dirty="0" smtClean="0">
                <a:solidFill>
                  <a:srgbClr val="C00000"/>
                </a:solidFill>
              </a:rPr>
              <a:t>lo’ ≤ hi</a:t>
            </a:r>
            <a:r>
              <a:rPr lang="en-US" dirty="0" smtClean="0">
                <a:solidFill>
                  <a:schemeClr val="tx1"/>
                </a:solidFill>
              </a:rPr>
              <a:t>	by math on B, E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  <a:tabLst>
                <a:tab pos="3082925" algn="l"/>
              </a:tabLst>
            </a:pPr>
            <a:r>
              <a:rPr lang="en-US" dirty="0" smtClean="0">
                <a:solidFill>
                  <a:srgbClr val="C00000"/>
                </a:solidFill>
              </a:rPr>
              <a:t>hi ≤ n	</a:t>
            </a:r>
            <a:r>
              <a:rPr lang="en-US" dirty="0" smtClean="0">
                <a:solidFill>
                  <a:schemeClr val="tx1"/>
                </a:solidFill>
              </a:rPr>
              <a:t>by B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If A[mid] &gt; x</a:t>
            </a:r>
          </a:p>
          <a:p>
            <a:pPr lvl="3"/>
            <a:r>
              <a:rPr lang="en-US" i="1" dirty="0" smtClean="0">
                <a:solidFill>
                  <a:schemeClr val="tx1"/>
                </a:solidFill>
              </a:rPr>
              <a:t>Left as exercise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7388229" y="76201"/>
            <a:ext cx="5514971" cy="6781799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… @*/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(lo + hi) / 2;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//assert lo &lt;= mid &amp;&amp; mid &lt; hi;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== x)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&lt; x) 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lo = mid + 1;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else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{   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A[mid] &gt; x;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 hi = mid;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}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//@assert lo == hi;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6" name="Oval 5"/>
          <p:cNvSpPr>
            <a:spLocks noChangeArrowheads="1"/>
          </p:cNvSpPr>
          <p:nvPr/>
        </p:nvSpPr>
        <p:spPr bwMode="auto">
          <a:xfrm>
            <a:off x="7569200" y="3657600"/>
            <a:ext cx="38100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" name="TextBox 6"/>
          <p:cNvSpPr txBox="1"/>
          <p:nvPr/>
        </p:nvSpPr>
        <p:spPr>
          <a:xfrm>
            <a:off x="4368800" y="1905000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4940300" cy="1498600"/>
          </a:xfrm>
        </p:spPr>
        <p:txBody>
          <a:bodyPr/>
          <a:lstStyle/>
          <a:p>
            <a:r>
              <a:rPr lang="en-US" dirty="0" smtClean="0"/>
              <a:t>Are the LI valid?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200"/>
              </a:spcBef>
              <a:buNone/>
            </a:pPr>
            <a:r>
              <a:rPr lang="en-US" b="1" dirty="0" smtClean="0">
                <a:solidFill>
                  <a:schemeClr val="tx1"/>
                </a:solidFill>
              </a:rPr>
              <a:t>PRES </a:t>
            </a:r>
            <a:r>
              <a:rPr lang="en-US" i="1" dirty="0" smtClean="0">
                <a:solidFill>
                  <a:schemeClr val="tx1"/>
                </a:solidFill>
              </a:rPr>
              <a:t>(continued)</a:t>
            </a:r>
          </a:p>
          <a:p>
            <a:pPr lvl="1"/>
            <a:r>
              <a:rPr lang="en-US" b="1" dirty="0" smtClean="0"/>
              <a:t>To show</a:t>
            </a:r>
            <a:r>
              <a:rPr lang="en-US" dirty="0" smtClean="0"/>
              <a:t>: if </a:t>
            </a:r>
            <a:r>
              <a:rPr lang="en-US" dirty="0" smtClean="0">
                <a:solidFill>
                  <a:srgbClr val="C00000"/>
                </a:solidFill>
              </a:rPr>
              <a:t>A[0, lo) &lt; x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		  then </a:t>
            </a:r>
            <a:r>
              <a:rPr lang="en-US" dirty="0" smtClean="0">
                <a:solidFill>
                  <a:srgbClr val="C00000"/>
                </a:solidFill>
              </a:rPr>
              <a:t>A[0, lo’) &lt; x</a:t>
            </a:r>
            <a:endParaRPr lang="en-US" dirty="0" smtClean="0">
              <a:solidFill>
                <a:schemeClr val="tx1"/>
              </a:solidFill>
            </a:endParaRP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if A[mid] == x, </a:t>
            </a:r>
            <a:r>
              <a:rPr lang="en-US" i="1" dirty="0" smtClean="0">
                <a:solidFill>
                  <a:schemeClr val="tx1"/>
                </a:solidFill>
              </a:rPr>
              <a:t>nothing to prove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if A[mid] &lt; x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lo’ = mid+1</a:t>
            </a:r>
            <a:r>
              <a:rPr lang="en-US" dirty="0" smtClean="0">
                <a:solidFill>
                  <a:schemeClr val="tx1"/>
                </a:solidFill>
              </a:rPr>
              <a:t>		by line 17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A[0,n) sorted</a:t>
            </a:r>
            <a:r>
              <a:rPr lang="en-US" dirty="0" smtClean="0">
                <a:solidFill>
                  <a:schemeClr val="tx1"/>
                </a:solidFill>
              </a:rPr>
              <a:t>		by line 3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A[0,mid) ≤ A[mid]</a:t>
            </a:r>
            <a:r>
              <a:rPr lang="en-US" dirty="0" smtClean="0">
                <a:solidFill>
                  <a:schemeClr val="tx1"/>
                </a:solidFill>
              </a:rPr>
              <a:t>	by B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A[0, mid+1) &lt; x</a:t>
            </a:r>
            <a:r>
              <a:rPr lang="en-US" dirty="0" smtClean="0">
                <a:solidFill>
                  <a:schemeClr val="tx1"/>
                </a:solidFill>
              </a:rPr>
              <a:t>	by math on C and line 16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If A[mid] &gt; x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lo’ = lo	</a:t>
            </a:r>
            <a:r>
              <a:rPr lang="en-US" dirty="0" smtClean="0">
                <a:solidFill>
                  <a:schemeClr val="tx1"/>
                </a:solidFill>
              </a:rPr>
              <a:t>		(unchanged)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A[0,lo) &lt; x</a:t>
            </a:r>
            <a:r>
              <a:rPr lang="en-US" dirty="0" smtClean="0">
                <a:solidFill>
                  <a:schemeClr val="tx1"/>
                </a:solidFill>
              </a:rPr>
              <a:t>		by assumption</a:t>
            </a:r>
          </a:p>
          <a:p>
            <a:pPr lvl="2"/>
            <a:endParaRPr lang="en-US" dirty="0" smtClean="0">
              <a:solidFill>
                <a:schemeClr val="tx1"/>
              </a:solidFill>
            </a:endParaRPr>
          </a:p>
          <a:p>
            <a:pPr lvl="1"/>
            <a:r>
              <a:rPr lang="en-US" b="1" dirty="0" smtClean="0"/>
              <a:t>To show</a:t>
            </a:r>
            <a:r>
              <a:rPr lang="en-US" dirty="0" smtClean="0"/>
              <a:t>: if </a:t>
            </a:r>
            <a:r>
              <a:rPr lang="en-US" dirty="0" smtClean="0">
                <a:solidFill>
                  <a:srgbClr val="C00000"/>
                </a:solidFill>
              </a:rPr>
              <a:t>x &lt; A[hi, n)</a:t>
            </a:r>
            <a:r>
              <a:rPr lang="en-US" dirty="0" smtClean="0">
                <a:solidFill>
                  <a:schemeClr val="tx1"/>
                </a:solidFill>
              </a:rPr>
              <a:t>, then </a:t>
            </a:r>
            <a:r>
              <a:rPr lang="en-US" dirty="0" smtClean="0">
                <a:solidFill>
                  <a:srgbClr val="C00000"/>
                </a:solidFill>
              </a:rPr>
              <a:t>x &lt; A[hi’, n)</a:t>
            </a:r>
            <a:endParaRPr lang="en-US" dirty="0" smtClean="0">
              <a:solidFill>
                <a:schemeClr val="tx1"/>
              </a:solidFill>
            </a:endParaRPr>
          </a:p>
          <a:p>
            <a:pPr lvl="2"/>
            <a:r>
              <a:rPr lang="en-US" i="1" dirty="0" smtClean="0">
                <a:solidFill>
                  <a:schemeClr val="tx1"/>
                </a:solidFill>
              </a:rPr>
              <a:t>Left as exercise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7388229" y="76201"/>
            <a:ext cx="5514971" cy="6781799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… @*/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(lo + hi) / 2;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//assert lo &lt;= mid &amp;&amp; mid &lt; hi;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== x)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&lt; x) 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lo = mid + 1;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else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{   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A[mid] &gt; x;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 hi = mid;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}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//@assert lo == hi;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7200" y="8313003"/>
            <a:ext cx="655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4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5473700" cy="1498600"/>
          </a:xfrm>
        </p:spPr>
        <p:txBody>
          <a:bodyPr/>
          <a:lstStyle/>
          <a:p>
            <a:r>
              <a:rPr lang="en-US" dirty="0" smtClean="0"/>
              <a:t>Does it Terminate?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quantity </a:t>
            </a:r>
            <a:r>
              <a:rPr lang="en-US" dirty="0" smtClean="0">
                <a:solidFill>
                  <a:srgbClr val="C00000"/>
                </a:solidFill>
              </a:rPr>
              <a:t>hi-lo</a:t>
            </a:r>
            <a:r>
              <a:rPr lang="en-US" dirty="0" smtClean="0"/>
              <a:t> </a:t>
            </a:r>
            <a:r>
              <a:rPr lang="en-US" b="1" dirty="0" smtClean="0"/>
              <a:t>decreases</a:t>
            </a:r>
            <a:r>
              <a:rPr lang="en-US" dirty="0" smtClean="0"/>
              <a:t> in an</a:t>
            </a:r>
            <a:br>
              <a:rPr lang="en-US" dirty="0" smtClean="0"/>
            </a:br>
            <a:r>
              <a:rPr lang="en-US" dirty="0" smtClean="0"/>
              <a:t>arbitrary iteration of the loop and</a:t>
            </a:r>
            <a:br>
              <a:rPr lang="en-US" dirty="0" smtClean="0"/>
            </a:br>
            <a:r>
              <a:rPr lang="en-US" dirty="0" smtClean="0"/>
              <a:t>never </a:t>
            </a:r>
            <a:r>
              <a:rPr lang="en-US" b="1" dirty="0" smtClean="0"/>
              <a:t>gets smaller </a:t>
            </a:r>
            <a:r>
              <a:rPr lang="en-US" dirty="0" smtClean="0"/>
              <a:t>than </a:t>
            </a:r>
            <a:r>
              <a:rPr lang="en-US" dirty="0" smtClean="0">
                <a:solidFill>
                  <a:srgbClr val="C00000"/>
                </a:solidFill>
              </a:rPr>
              <a:t>0</a:t>
            </a:r>
          </a:p>
          <a:p>
            <a:pPr marL="339725" indent="-339725"/>
            <a:r>
              <a:rPr lang="en-US" sz="2800" dirty="0" smtClean="0"/>
              <a:t>This is the usual operational argument</a:t>
            </a:r>
          </a:p>
          <a:p>
            <a:pPr marL="339725" indent="-339725"/>
            <a:endParaRPr lang="en-US" sz="2800" dirty="0" smtClean="0"/>
          </a:p>
          <a:p>
            <a:pPr marL="339725" indent="-339725"/>
            <a:r>
              <a:rPr lang="en-US" sz="2800" dirty="0" smtClean="0"/>
              <a:t>We can also give a </a:t>
            </a:r>
            <a:r>
              <a:rPr lang="en-US" sz="2800" b="1" dirty="0" smtClean="0"/>
              <a:t>point-to</a:t>
            </a:r>
            <a:r>
              <a:rPr lang="en-US" sz="2800" dirty="0" smtClean="0"/>
              <a:t> argument</a:t>
            </a:r>
            <a:endParaRPr lang="en-US" b="1" dirty="0" smtClean="0"/>
          </a:p>
          <a:p>
            <a:pPr lvl="1"/>
            <a:r>
              <a:rPr lang="en-US" b="1" dirty="0" smtClean="0"/>
              <a:t>To show</a:t>
            </a:r>
            <a:r>
              <a:rPr lang="en-US" dirty="0" smtClean="0"/>
              <a:t>: if </a:t>
            </a:r>
            <a:r>
              <a:rPr lang="en-US" dirty="0" smtClean="0">
                <a:solidFill>
                  <a:srgbClr val="C00000"/>
                </a:solidFill>
              </a:rPr>
              <a:t>0 &lt; hi - lo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		  then </a:t>
            </a:r>
            <a:r>
              <a:rPr lang="en-US" dirty="0" smtClean="0">
                <a:solidFill>
                  <a:srgbClr val="C00000"/>
                </a:solidFill>
              </a:rPr>
              <a:t>0 ≤ hi’ - lo’ &lt; hi - lo</a:t>
            </a:r>
            <a:endParaRPr lang="en-US" dirty="0" smtClean="0">
              <a:solidFill>
                <a:schemeClr val="tx1"/>
              </a:solidFill>
            </a:endParaRP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if A[mid] == x, </a:t>
            </a:r>
            <a:r>
              <a:rPr lang="en-US" i="1" dirty="0" smtClean="0">
                <a:solidFill>
                  <a:schemeClr val="tx1"/>
                </a:solidFill>
              </a:rPr>
              <a:t>nothing to prove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if A[mid] &lt; x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hi’ - lo’  = hi - (mid+1)</a:t>
            </a:r>
            <a:r>
              <a:rPr lang="en-US" dirty="0" smtClean="0">
                <a:solidFill>
                  <a:schemeClr val="tx1"/>
                </a:solidFill>
              </a:rPr>
              <a:t>	by line 17 (and hi unchanged)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 		&lt; hi - mid</a:t>
            </a:r>
            <a:r>
              <a:rPr lang="en-US" dirty="0" smtClean="0">
                <a:solidFill>
                  <a:schemeClr val="tx1"/>
                </a:solidFill>
              </a:rPr>
              <a:t>		by math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 		&lt; hi - lo</a:t>
            </a:r>
            <a:r>
              <a:rPr lang="en-US" dirty="0" smtClean="0">
                <a:solidFill>
                  <a:schemeClr val="tx1"/>
                </a:solidFill>
              </a:rPr>
              <a:t>		by line 14 </a:t>
            </a:r>
            <a:r>
              <a:rPr lang="en-US" i="1" dirty="0" smtClean="0">
                <a:solidFill>
                  <a:schemeClr val="tx1"/>
                </a:solidFill>
              </a:rPr>
              <a:t>(to be checked)</a:t>
            </a:r>
          </a:p>
          <a:p>
            <a:pPr marL="1423988" lvl="3" indent="-331788">
              <a:buClr>
                <a:schemeClr val="tx1"/>
              </a:buClr>
              <a:buFont typeface="+mj-lt"/>
              <a:buAutoNum type="alphaUcPeriod"/>
            </a:pPr>
            <a:r>
              <a:rPr lang="en-US" dirty="0" smtClean="0">
                <a:solidFill>
                  <a:srgbClr val="C00000"/>
                </a:solidFill>
              </a:rPr>
              <a:t>hi’ - lo’  = hi - (mid+1)  &gt; hi - (hi+1) ≥ hi - hi = 0</a:t>
            </a:r>
            <a:r>
              <a:rPr lang="en-US" dirty="0" smtClean="0">
                <a:solidFill>
                  <a:schemeClr val="tx1"/>
                </a:solidFill>
              </a:rPr>
              <a:t>	by lines 17, 16 and math</a:t>
            </a:r>
          </a:p>
          <a:p>
            <a:pPr lvl="2"/>
            <a:r>
              <a:rPr lang="en-US" dirty="0" smtClean="0">
                <a:solidFill>
                  <a:schemeClr val="tx1"/>
                </a:solidFill>
              </a:rPr>
              <a:t>If A[mid] &gt; x</a:t>
            </a:r>
          </a:p>
          <a:p>
            <a:pPr lvl="3"/>
            <a:r>
              <a:rPr lang="en-US" i="1" dirty="0" smtClean="0">
                <a:solidFill>
                  <a:schemeClr val="tx1"/>
                </a:solidFill>
              </a:rPr>
              <a:t>Left as exercise</a:t>
            </a: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7388229" y="76201"/>
            <a:ext cx="5514971" cy="6781799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… @*/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sz="1800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(lo + hi) / 2;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//assert lo &lt;= mid &amp;&amp; mid &lt; hi;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== x)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&lt; x) {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lo = mid + 1;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else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{   </a:t>
            </a: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A[mid] &gt; x;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 hi = mid;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}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//@assert lo == hi;</a:t>
            </a:r>
            <a:endParaRPr lang="en-US" sz="1800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33363" indent="-233363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6" name="Rectangular Callout 5"/>
          <p:cNvSpPr/>
          <p:nvPr/>
        </p:nvSpPr>
        <p:spPr bwMode="auto">
          <a:xfrm>
            <a:off x="3302000" y="2057400"/>
            <a:ext cx="2895600" cy="457200"/>
          </a:xfrm>
          <a:prstGeom prst="wedgeRectCallout">
            <a:avLst>
              <a:gd name="adj1" fmla="val 27091"/>
              <a:gd name="adj2" fmla="val 747969"/>
            </a:avLst>
          </a:prstGeom>
          <a:solidFill>
            <a:srgbClr val="CCECFF">
              <a:alpha val="50196"/>
            </a:srgb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>
              <a:defRPr/>
            </a:pPr>
            <a:endParaRPr lang="en-US" sz="2000" b="0" dirty="0"/>
          </a:p>
        </p:txBody>
      </p:sp>
      <p:sp>
        <p:nvSpPr>
          <p:cNvPr id="7" name="Rectangular Callout 6"/>
          <p:cNvSpPr/>
          <p:nvPr/>
        </p:nvSpPr>
        <p:spPr bwMode="auto">
          <a:xfrm>
            <a:off x="939800" y="3048000"/>
            <a:ext cx="4800600" cy="381000"/>
          </a:xfrm>
          <a:prstGeom prst="wedgeRectCallout">
            <a:avLst>
              <a:gd name="adj1" fmla="val 10837"/>
              <a:gd name="adj2" fmla="val 632769"/>
            </a:avLst>
          </a:prstGeom>
          <a:solidFill>
            <a:srgbClr val="CCECFF">
              <a:alpha val="50196"/>
            </a:srgb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square" lIns="45720" rIns="45720" anchor="ctr">
            <a:noAutofit/>
          </a:bodyPr>
          <a:lstStyle/>
          <a:p>
            <a:pPr>
              <a:defRPr/>
            </a:pP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Mid-point Assertion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 need to show that </a:t>
            </a:r>
            <a:r>
              <a:rPr lang="en-US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 &lt;= mid &amp;&amp; mid &lt; hi</a:t>
            </a:r>
            <a:endParaRPr lang="en-US" dirty="0" smtClean="0">
              <a:solidFill>
                <a:schemeClr val="tx1"/>
              </a:solidFill>
              <a:latin typeface="Menlo"/>
              <a:ea typeface="Menlo" charset="0"/>
              <a:cs typeface="Menlo" charset="0"/>
              <a:sym typeface="Menlo" charset="0"/>
            </a:endParaRPr>
          </a:p>
          <a:p>
            <a:pPr lvl="4"/>
            <a:endParaRPr lang="en-US" dirty="0" smtClean="0"/>
          </a:p>
          <a:p>
            <a:r>
              <a:rPr lang="en-US" dirty="0" smtClean="0"/>
              <a:t>… but is it true?</a:t>
            </a:r>
          </a:p>
          <a:p>
            <a:pPr lvl="1"/>
            <a:r>
              <a:rPr lang="en-US" dirty="0" smtClean="0"/>
              <a:t>We expect</a:t>
            </a:r>
          </a:p>
          <a:p>
            <a:pPr lvl="1">
              <a:buNone/>
            </a:pPr>
            <a:r>
              <a:rPr lang="en-US" b="1" dirty="0" smtClean="0"/>
              <a:t>	mid == </a:t>
            </a:r>
            <a:r>
              <a:rPr lang="en-US" b="1" dirty="0" err="1" smtClean="0"/>
              <a:t>int_max</a:t>
            </a:r>
            <a:r>
              <a:rPr lang="en-US" b="1" dirty="0" smtClean="0"/>
              <a:t>() - 1 == 2147483646</a:t>
            </a:r>
          </a:p>
          <a:p>
            <a:pPr lvl="1"/>
            <a:r>
              <a:rPr lang="en-US" dirty="0" smtClean="0"/>
              <a:t>but we get </a:t>
            </a:r>
            <a:r>
              <a:rPr lang="en-US" b="1" dirty="0" smtClean="0"/>
              <a:t>mid == -2</a:t>
            </a:r>
            <a:r>
              <a:rPr lang="en-US" dirty="0" smtClean="0"/>
              <a:t> !!!!</a:t>
            </a:r>
          </a:p>
          <a:p>
            <a:pPr>
              <a:buNone/>
            </a:pPr>
            <a:r>
              <a:rPr lang="en-US" dirty="0" smtClean="0"/>
              <a:t>	lo + hi overflows!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This is Jon Bentley’s bug!</a:t>
            </a:r>
          </a:p>
          <a:p>
            <a:pPr lvl="1"/>
            <a:r>
              <a:rPr lang="en-US" dirty="0" smtClean="0"/>
              <a:t>Google was the first company to need arrays that big</a:t>
            </a:r>
          </a:p>
          <a:p>
            <a:pPr lvl="2"/>
            <a:r>
              <a:rPr lang="en-US" dirty="0" smtClean="0"/>
              <a:t>and Joshua Bloch worked there</a:t>
            </a:r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3835400" y="1905000"/>
            <a:ext cx="4948791" cy="166199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…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(lo + hi) / 2;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lo &lt;= mid &amp;&amp; mid &lt; hi;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…</a:t>
            </a:r>
          </a:p>
        </p:txBody>
      </p:sp>
      <p:sp>
        <p:nvSpPr>
          <p:cNvPr id="5" name="Rectangular Callout 4"/>
          <p:cNvSpPr/>
          <p:nvPr/>
        </p:nvSpPr>
        <p:spPr bwMode="auto">
          <a:xfrm>
            <a:off x="9398000" y="2362200"/>
            <a:ext cx="1746633" cy="707886"/>
          </a:xfrm>
          <a:prstGeom prst="wedgeRectCallout">
            <a:avLst>
              <a:gd name="adj1" fmla="val -156067"/>
              <a:gd name="adj2" fmla="val -2536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by high-school</a:t>
            </a:r>
            <a:br>
              <a:rPr lang="en-US" sz="2000" b="0" dirty="0" smtClean="0"/>
            </a:br>
            <a:r>
              <a:rPr lang="en-US" sz="2000" b="0" dirty="0" smtClean="0"/>
              <a:t>math</a:t>
            </a:r>
            <a:endParaRPr lang="en-US" sz="2000" b="0" dirty="0"/>
          </a:p>
        </p:txBody>
      </p:sp>
      <p:sp>
        <p:nvSpPr>
          <p:cNvPr id="8" name="Rectangle 4"/>
          <p:cNvSpPr>
            <a:spLocks/>
          </p:cNvSpPr>
          <p:nvPr/>
        </p:nvSpPr>
        <p:spPr bwMode="auto">
          <a:xfrm>
            <a:off x="8559800" y="4724400"/>
            <a:ext cx="4222730" cy="2769989"/>
          </a:xfrm>
          <a:prstGeom prst="rect">
            <a:avLst/>
          </a:prstGeom>
          <a:solidFill>
            <a:schemeClr val="tx1"/>
          </a:solidFill>
          <a:ln w="19050">
            <a:solidFill>
              <a:srgbClr val="C00000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#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coin -l </a:t>
            </a:r>
            <a:r>
              <a:rPr lang="en-US" b="0" dirty="0" err="1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util</a:t>
            </a:r>
            <a:endParaRPr lang="en-US" b="0" dirty="0" smtClean="0">
              <a:solidFill>
                <a:schemeClr val="bg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--&gt;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lo = </a:t>
            </a:r>
            <a:r>
              <a:rPr lang="en-US" b="0" dirty="0" err="1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int_max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() - 2;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accent5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 is 2147483645 (</a:t>
            </a:r>
            <a:r>
              <a:rPr lang="en-US" b="0" dirty="0" err="1" smtClean="0">
                <a:solidFill>
                  <a:schemeClr val="accent5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chemeClr val="accent5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--&gt;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hi = </a:t>
            </a:r>
            <a:r>
              <a:rPr lang="en-US" b="0" dirty="0" err="1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int_max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accent5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 is 2147483647 (</a:t>
            </a:r>
            <a:r>
              <a:rPr lang="en-US" b="0" dirty="0" err="1" smtClean="0">
                <a:solidFill>
                  <a:schemeClr val="accent5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chemeClr val="accent5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--&gt;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chemeClr val="bg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mid = (lo + hi) / 2;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accent5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 is -2 (</a:t>
            </a:r>
            <a:r>
              <a:rPr lang="en-US" b="0" dirty="0" err="1" smtClean="0">
                <a:solidFill>
                  <a:schemeClr val="accent5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chemeClr val="accent5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</p:txBody>
      </p:sp>
      <p:sp>
        <p:nvSpPr>
          <p:cNvPr id="9" name="Rectangle 8"/>
          <p:cNvSpPr/>
          <p:nvPr/>
        </p:nvSpPr>
        <p:spPr bwMode="auto">
          <a:xfrm>
            <a:off x="8559800" y="4419600"/>
            <a:ext cx="4222730" cy="304800"/>
          </a:xfrm>
          <a:prstGeom prst="rect">
            <a:avLst/>
          </a:prstGeom>
          <a:solidFill>
            <a:srgbClr val="FFC000"/>
          </a:solidFill>
          <a:ln w="254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 smtClean="0"/>
              <a:t>Linux Terminal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8407400" y="6858000"/>
            <a:ext cx="2286000" cy="685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4" name="Right Arrow 13"/>
          <p:cNvSpPr/>
          <p:nvPr/>
        </p:nvSpPr>
        <p:spPr bwMode="auto">
          <a:xfrm>
            <a:off x="6242208" y="4572000"/>
            <a:ext cx="2165192" cy="794802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Counterexample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Mid-point Assertion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we compute the mid-point without overflow?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 lvl="1"/>
            <a:r>
              <a:rPr lang="en-US" dirty="0" smtClean="0"/>
              <a:t>Does it work?  </a:t>
            </a:r>
            <a:r>
              <a:rPr lang="en-US" i="1" dirty="0" smtClean="0"/>
              <a:t>Left as exercise</a:t>
            </a:r>
          </a:p>
          <a:p>
            <a:pPr lvl="2"/>
            <a:r>
              <a:rPr lang="en-US" dirty="0" smtClean="0"/>
              <a:t>show that (lo + hi) / 2 is </a:t>
            </a:r>
            <a:r>
              <a:rPr lang="en-US" b="1" dirty="0" smtClean="0"/>
              <a:t>mathematically equal </a:t>
            </a:r>
            <a:r>
              <a:rPr lang="en-US" dirty="0" smtClean="0"/>
              <a:t>to lo + (hi - lo) / 2</a:t>
            </a:r>
          </a:p>
          <a:p>
            <a:pPr lvl="2"/>
            <a:r>
              <a:rPr lang="en-US" dirty="0" smtClean="0"/>
              <a:t>show that lo + (hi - lo) / 2 </a:t>
            </a:r>
            <a:r>
              <a:rPr lang="en-US" b="1" dirty="0" smtClean="0"/>
              <a:t>never overflows </a:t>
            </a:r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lo ≤ hi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What about </a:t>
            </a:r>
            <a:r>
              <a:rPr lang="en-US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dirty="0" smtClean="0">
                <a:latin typeface="Menlo"/>
                <a:ea typeface="Menlo" charset="0"/>
                <a:cs typeface="Menlo" charset="0"/>
                <a:sym typeface="Menlo" charset="0"/>
              </a:rPr>
              <a:t>= lo / 2 + hi / 2;   ?</a:t>
            </a:r>
            <a:endParaRPr lang="en-US" dirty="0" smtClean="0"/>
          </a:p>
          <a:p>
            <a:pPr lvl="1"/>
            <a:r>
              <a:rPr lang="en-US" dirty="0" smtClean="0"/>
              <a:t>never overflows,</a:t>
            </a:r>
          </a:p>
          <a:p>
            <a:pPr lvl="1"/>
            <a:r>
              <a:rPr lang="en-US" dirty="0" smtClean="0"/>
              <a:t>but not mathematically equal to (lo + hi) / 2</a:t>
            </a:r>
            <a:endParaRPr lang="en-US" i="1" dirty="0" smtClean="0"/>
          </a:p>
          <a:p>
            <a:pPr lvl="2"/>
            <a:r>
              <a:rPr lang="en-US" i="1" dirty="0" smtClean="0"/>
              <a:t>Left as exercise</a:t>
            </a:r>
          </a:p>
          <a:p>
            <a:endParaRPr lang="en-US" dirty="0" smtClean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3835400" y="2910007"/>
            <a:ext cx="4948791" cy="166199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…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lo + (hi - lo) / 2;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lo &lt;= mid &amp;&amp; mid &lt; hi;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…</a:t>
            </a:r>
          </a:p>
        </p:txBody>
      </p:sp>
      <p:sp>
        <p:nvSpPr>
          <p:cNvPr id="5" name="Rectangular Callout 4"/>
          <p:cNvSpPr/>
          <p:nvPr/>
        </p:nvSpPr>
        <p:spPr bwMode="auto">
          <a:xfrm>
            <a:off x="9626600" y="3352800"/>
            <a:ext cx="1814022" cy="707886"/>
          </a:xfrm>
          <a:prstGeom prst="wedgeRectCallout">
            <a:avLst>
              <a:gd name="adj1" fmla="val -156067"/>
              <a:gd name="adj2" fmla="val -2536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Joshua Bloch’s</a:t>
            </a:r>
            <a:br>
              <a:rPr lang="en-US" sz="2000" b="0" dirty="0" smtClean="0"/>
            </a:br>
            <a:r>
              <a:rPr lang="en-US" sz="2000" b="0" dirty="0" smtClean="0"/>
              <a:t>fix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2882900" cy="3708400"/>
          </a:xfrm>
        </p:spPr>
        <p:txBody>
          <a:bodyPr/>
          <a:lstStyle/>
          <a:p>
            <a:r>
              <a:rPr lang="en-US" dirty="0" smtClean="0"/>
              <a:t>Final code</a:t>
            </a:r>
            <a:br>
              <a:rPr lang="en-US" dirty="0" smtClean="0"/>
            </a:br>
            <a:r>
              <a:rPr lang="en-US" dirty="0" smtClean="0"/>
              <a:t>for </a:t>
            </a:r>
            <a:r>
              <a:rPr lang="en-US" dirty="0" err="1" smtClean="0">
                <a:solidFill>
                  <a:srgbClr val="7030A0"/>
                </a:solidFill>
              </a:rPr>
              <a:t>binsearch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4191000"/>
            <a:ext cx="3035300" cy="4686300"/>
          </a:xfrm>
        </p:spPr>
        <p:txBody>
          <a:bodyPr/>
          <a:lstStyle/>
          <a:p>
            <a:r>
              <a:rPr lang="en-US" dirty="0" smtClean="0"/>
              <a:t>Safe</a:t>
            </a:r>
          </a:p>
          <a:p>
            <a:r>
              <a:rPr lang="en-US" dirty="0" smtClean="0"/>
              <a:t>Correct</a:t>
            </a:r>
            <a:endParaRPr lang="en-US" dirty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4113101" y="152400"/>
            <a:ext cx="8790099" cy="941796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(A, 0, n);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/*@ensures (\result  == -1 &amp;&amp; !</a:t>
            </a:r>
            <a:r>
              <a:rPr lang="en-US" b="0" dirty="0" err="1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is_in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(x, A, 0, n))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              || (0 &lt;= \result &amp;&amp; \result &lt; n &amp;&amp; A[\result] == x); @*/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 0 &lt;= lo &amp;&amp; lo &lt;= hi &amp;&amp; hi &lt;= n;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gt_seg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(x, A, 0, lo);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 </a:t>
            </a:r>
            <a:r>
              <a:rPr lang="en-US" b="0" dirty="0" err="1" smtClean="0">
                <a:solidFill>
                  <a:srgbClr val="C00000"/>
                </a:solidFill>
                <a:latin typeface="Menlo"/>
              </a:rPr>
              <a:t>lt_seg</a:t>
            </a:r>
            <a:r>
              <a:rPr lang="en-US" b="0" dirty="0" smtClean="0">
                <a:solidFill>
                  <a:srgbClr val="C00000"/>
                </a:solidFill>
                <a:latin typeface="Menlo"/>
              </a:rPr>
              <a:t>(x, A, hi, n);</a:t>
            </a:r>
            <a:endParaRPr lang="en-US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lo + (hi - lo) / 2;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lo &lt;= mid &amp;&amp; mid &lt; hi;</a:t>
            </a:r>
            <a:endParaRPr lang="en-US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== x)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&lt; x)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lo = mid + 1;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else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{   </a:t>
            </a: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//@assert A[mid] &gt; x;</a:t>
            </a:r>
            <a:endParaRPr lang="en-US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 hi = mid;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//@assert lo == hi;</a:t>
            </a:r>
            <a:endParaRPr lang="en-US" b="0" dirty="0" smtClean="0"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7378700" cy="1498600"/>
          </a:xfrm>
        </p:spPr>
        <p:txBody>
          <a:bodyPr/>
          <a:lstStyle/>
          <a:p>
            <a:r>
              <a:rPr lang="en-US" dirty="0" smtClean="0"/>
              <a:t>Complexity of</a:t>
            </a:r>
            <a:br>
              <a:rPr lang="en-US" dirty="0" smtClean="0"/>
            </a:br>
            <a:r>
              <a:rPr lang="en-US" dirty="0" smtClean="0"/>
              <a:t>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7531100" cy="6896100"/>
          </a:xfrm>
        </p:spPr>
        <p:txBody>
          <a:bodyPr/>
          <a:lstStyle/>
          <a:p>
            <a:r>
              <a:rPr lang="en-US" dirty="0" smtClean="0"/>
              <a:t>Given array of size </a:t>
            </a:r>
            <a:r>
              <a:rPr lang="en-US" i="1" dirty="0" smtClean="0"/>
              <a:t>n</a:t>
            </a:r>
            <a:r>
              <a:rPr lang="en-US" dirty="0" smtClean="0"/>
              <a:t>,</a:t>
            </a:r>
          </a:p>
          <a:p>
            <a:pPr lvl="1"/>
            <a:r>
              <a:rPr lang="en-US" dirty="0" smtClean="0"/>
              <a:t>we </a:t>
            </a:r>
            <a:r>
              <a:rPr lang="en-US" b="1" dirty="0" smtClean="0"/>
              <a:t>halve</a:t>
            </a:r>
            <a:r>
              <a:rPr lang="en-US" dirty="0" smtClean="0"/>
              <a:t> the segment considered</a:t>
            </a:r>
            <a:br>
              <a:rPr lang="en-US" dirty="0" smtClean="0"/>
            </a:br>
            <a:r>
              <a:rPr lang="en-US" dirty="0" smtClean="0"/>
              <a:t>at each iteration</a:t>
            </a:r>
          </a:p>
          <a:p>
            <a:pPr lvl="1"/>
            <a:r>
              <a:rPr lang="en-US" dirty="0" smtClean="0"/>
              <a:t>we can do this at most </a:t>
            </a:r>
            <a:r>
              <a:rPr lang="en-US" i="1" dirty="0" smtClean="0"/>
              <a:t>log n</a:t>
            </a:r>
            <a:r>
              <a:rPr lang="en-US" dirty="0" smtClean="0"/>
              <a:t> times before</a:t>
            </a:r>
            <a:br>
              <a:rPr lang="en-US" dirty="0" smtClean="0"/>
            </a:br>
            <a:r>
              <a:rPr lang="en-US" dirty="0" smtClean="0"/>
              <a:t>hitting the empty array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Each iteration has constant cost</a:t>
            </a:r>
          </a:p>
          <a:p>
            <a:endParaRPr lang="en-US" dirty="0" smtClean="0"/>
          </a:p>
          <a:p>
            <a:r>
              <a:rPr lang="en-US" dirty="0" smtClean="0"/>
              <a:t>Complexity of binary search is</a:t>
            </a:r>
          </a:p>
          <a:p>
            <a:pPr lvl="4"/>
            <a:endParaRPr lang="en-US" dirty="0" smtClean="0"/>
          </a:p>
          <a:p>
            <a:pPr algn="ctr">
              <a:buNone/>
            </a:pPr>
            <a:r>
              <a:rPr lang="en-US" b="1" i="1" dirty="0" smtClean="0"/>
              <a:t>O(log n)</a:t>
            </a:r>
            <a:endParaRPr lang="en-US" b="1" i="1" dirty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8483600" y="152400"/>
            <a:ext cx="4391459" cy="6463308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binsearch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x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//@requires n == \length(A);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0;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= n;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while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(lo &lt; hi)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err="1" smtClean="0">
                <a:solidFill>
                  <a:srgbClr val="34A327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mid 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= lo + (hi - lo) / 2;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b="0" dirty="0" smtClean="0">
              <a:solidFill>
                <a:srgbClr val="D03BFF"/>
              </a:solidFill>
              <a:latin typeface="Menlo"/>
              <a:ea typeface="Menlo" charset="0"/>
              <a:cs typeface="Menlo" charset="0"/>
              <a:sym typeface="Menlo" charset="0"/>
            </a:endParaRP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    if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== x)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latin typeface="Menlo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if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(A[mid] &lt; x)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lo = mid + 1;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 </a:t>
            </a: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else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{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  hi = mid;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  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}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D03BFF"/>
                </a:solidFill>
                <a:latin typeface="Menlo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 -1;</a:t>
            </a:r>
          </a:p>
          <a:p>
            <a:pPr marL="282575" indent="-282575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/>
                <a:ea typeface="Menlo" charset="0"/>
                <a:cs typeface="Menlo" charset="0"/>
                <a:sym typeface="Menlo" charset="0"/>
              </a:rPr>
              <a:t>}</a:t>
            </a:r>
          </a:p>
        </p:txBody>
      </p:sp>
      <p:sp>
        <p:nvSpPr>
          <p:cNvPr id="5" name="Rectangular Callout 4"/>
          <p:cNvSpPr/>
          <p:nvPr/>
        </p:nvSpPr>
        <p:spPr bwMode="auto">
          <a:xfrm>
            <a:off x="11607800" y="5791200"/>
            <a:ext cx="1188787" cy="707886"/>
          </a:xfrm>
          <a:prstGeom prst="wedgeRectCallout">
            <a:avLst>
              <a:gd name="adj1" fmla="val -113112"/>
              <a:gd name="adj2" fmla="val -21493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Contracts</a:t>
            </a:r>
            <a:br>
              <a:rPr lang="en-US" sz="2000" b="0" dirty="0" smtClean="0"/>
            </a:br>
            <a:r>
              <a:rPr lang="en-US" sz="2000" b="0" dirty="0" smtClean="0"/>
              <a:t>omitted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/>
            <a:r>
              <a:rPr lang="en-US" dirty="0" smtClean="0"/>
              <a:t>The Logarithmic Advantage</a:t>
            </a:r>
          </a:p>
        </p:txBody>
      </p:sp>
      <p:sp>
        <p:nvSpPr>
          <p:cNvPr id="12291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/>
            <a:endParaRPr 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</a:t>
            </a:r>
            <a:r>
              <a:rPr lang="en-US" i="1" dirty="0" smtClean="0"/>
              <a:t>O(log n) </a:t>
            </a:r>
            <a:r>
              <a:rPr lang="en-US" dirty="0" smtClean="0"/>
              <a:t>a Big Deal?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None/>
            </a:pP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What does </a:t>
            </a:r>
            <a:r>
              <a:rPr lang="en-US" i="1" dirty="0" smtClean="0"/>
              <a:t>log n</a:t>
            </a:r>
            <a:r>
              <a:rPr lang="en-US" dirty="0" smtClean="0"/>
              <a:t> mean in practice?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FCCA7DB-A587-D047-9C18-922525DC6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3" t="8955" r="9159"/>
          <a:stretch>
            <a:fillRect/>
          </a:stretch>
        </p:blipFill>
        <p:spPr>
          <a:xfrm>
            <a:off x="3073400" y="2743200"/>
            <a:ext cx="6019800" cy="4648200"/>
          </a:xfrm>
          <a:prstGeom prst="rect">
            <a:avLst/>
          </a:prstGeom>
        </p:spPr>
      </p:pic>
      <p:sp>
        <p:nvSpPr>
          <p:cNvPr id="8" name="Rectangular Callout 7"/>
          <p:cNvSpPr/>
          <p:nvPr/>
        </p:nvSpPr>
        <p:spPr bwMode="auto">
          <a:xfrm>
            <a:off x="10464800" y="3505200"/>
            <a:ext cx="2043187" cy="1323439"/>
          </a:xfrm>
          <a:prstGeom prst="wedgeRectCallout">
            <a:avLst>
              <a:gd name="adj1" fmla="val -114077"/>
              <a:gd name="adj2" fmla="val 4350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Just some boring</a:t>
            </a:r>
            <a:br>
              <a:rPr lang="en-US" sz="2000" b="0" dirty="0" smtClean="0"/>
            </a:br>
            <a:r>
              <a:rPr lang="en-US" sz="2000" b="0" dirty="0" smtClean="0"/>
              <a:t>functions</a:t>
            </a:r>
            <a:br>
              <a:rPr lang="en-US" sz="2000" b="0" dirty="0" smtClean="0"/>
            </a:br>
            <a:r>
              <a:rPr lang="en-US" sz="2000" b="0" dirty="0" smtClean="0"/>
              <a:t>we learned in</a:t>
            </a:r>
            <a:br>
              <a:rPr lang="en-US" sz="2000" b="0" dirty="0" smtClean="0"/>
            </a:br>
            <a:r>
              <a:rPr lang="en-US" sz="2000" b="0" dirty="0" smtClean="0"/>
              <a:t>math classes?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Visualizing Linear and Binary 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3493" y="2275841"/>
            <a:ext cx="11704320" cy="64369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Isosceles Triangle 3"/>
          <p:cNvSpPr/>
          <p:nvPr/>
        </p:nvSpPr>
        <p:spPr bwMode="auto">
          <a:xfrm>
            <a:off x="541867" y="3142827"/>
            <a:ext cx="9536853" cy="3142827"/>
          </a:xfrm>
          <a:prstGeom prst="triangl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0046" tIns="65023" rIns="130046" bIns="65023" numCol="1" rtlCol="0" anchor="t" anchorCtr="0" compatLnSpc="1">
            <a:prstTxWarp prst="textNoShape">
              <a:avLst/>
            </a:prstTxWarp>
          </a:bodyPr>
          <a:lstStyle/>
          <a:p>
            <a:pPr algn="l" defTabSz="1300460" eaLnBrk="0"/>
            <a:endParaRPr lang="en-US" sz="3400" b="0" dirty="0">
              <a:solidFill>
                <a:schemeClr val="tx1"/>
              </a:solidFill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541867" y="6666907"/>
            <a:ext cx="9645227" cy="225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rot="5400000">
            <a:off x="8887743" y="4658923"/>
            <a:ext cx="3251200" cy="225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70C0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4" name="TextBox 13"/>
          <p:cNvSpPr txBox="1"/>
          <p:nvPr/>
        </p:nvSpPr>
        <p:spPr>
          <a:xfrm>
            <a:off x="3142827" y="6638578"/>
            <a:ext cx="4731173" cy="1362422"/>
          </a:xfrm>
          <a:prstGeom prst="rect">
            <a:avLst/>
          </a:prstGeom>
          <a:noFill/>
        </p:spPr>
        <p:txBody>
          <a:bodyPr wrap="square" lIns="130046" tIns="65023" rIns="130046" bIns="65023" rtlCol="0">
            <a:spAutoFit/>
          </a:bodyPr>
          <a:lstStyle/>
          <a:p>
            <a:pPr algn="ctr"/>
            <a:r>
              <a:rPr lang="en-US" sz="4000" b="0" dirty="0" smtClean="0"/>
              <a:t>Linear Search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i="1" dirty="0" smtClean="0"/>
              <a:t>O(n)</a:t>
            </a:r>
            <a:endParaRPr lang="en-US" sz="4000" i="1" baseline="30000" dirty="0"/>
          </a:p>
        </p:txBody>
      </p:sp>
      <p:sp>
        <p:nvSpPr>
          <p:cNvPr id="18" name="TextBox 17"/>
          <p:cNvSpPr txBox="1"/>
          <p:nvPr/>
        </p:nvSpPr>
        <p:spPr>
          <a:xfrm>
            <a:off x="10512214" y="3465492"/>
            <a:ext cx="2314786" cy="2162641"/>
          </a:xfrm>
          <a:prstGeom prst="rect">
            <a:avLst/>
          </a:prstGeom>
          <a:noFill/>
        </p:spPr>
        <p:txBody>
          <a:bodyPr wrap="square" lIns="0" tIns="65023" rIns="0" bIns="65023" rtlCol="0">
            <a:spAutoFit/>
          </a:bodyPr>
          <a:lstStyle/>
          <a:p>
            <a:pPr algn="ctr"/>
            <a:r>
              <a:rPr lang="en-US" sz="4400" b="0" i="1" dirty="0" smtClean="0"/>
              <a:t>Binary Search</a:t>
            </a:r>
            <a:r>
              <a:rPr lang="en-US" sz="4400" i="1" dirty="0" smtClean="0"/>
              <a:t/>
            </a:r>
            <a:br>
              <a:rPr lang="en-US" sz="4400" i="1" dirty="0" smtClean="0"/>
            </a:br>
            <a:r>
              <a:rPr lang="en-US" sz="4400" i="1" dirty="0" smtClean="0"/>
              <a:t>O(log n)</a:t>
            </a:r>
            <a:endParaRPr lang="en-US" sz="440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Visualizing Linear and Binary Search</a:t>
            </a:r>
            <a:endParaRPr lang="en-US" dirty="0"/>
          </a:p>
        </p:txBody>
      </p:sp>
      <p:sp>
        <p:nvSpPr>
          <p:cNvPr id="4" name="Isosceles Triangle 3"/>
          <p:cNvSpPr/>
          <p:nvPr/>
        </p:nvSpPr>
        <p:spPr bwMode="auto">
          <a:xfrm>
            <a:off x="541867" y="3142825"/>
            <a:ext cx="9536853" cy="3142827"/>
          </a:xfrm>
          <a:prstGeom prst="triangl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0046" tIns="65023" rIns="130046" bIns="65023" numCol="1" rtlCol="0" anchor="t" anchorCtr="0" compatLnSpc="1">
            <a:prstTxWarp prst="textNoShape">
              <a:avLst/>
            </a:prstTxWarp>
          </a:bodyPr>
          <a:lstStyle/>
          <a:p>
            <a:pPr algn="l" defTabSz="1300460" eaLnBrk="0"/>
            <a:endParaRPr lang="en-US" sz="3400" b="0" dirty="0">
              <a:solidFill>
                <a:schemeClr val="tx1"/>
              </a:solidFill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cxnSp>
        <p:nvCxnSpPr>
          <p:cNvPr id="5" name="Straight Arrow Connector 4"/>
          <p:cNvCxnSpPr/>
          <p:nvPr/>
        </p:nvCxnSpPr>
        <p:spPr bwMode="auto">
          <a:xfrm>
            <a:off x="541867" y="6666906"/>
            <a:ext cx="9645227" cy="225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7" name="Straight Arrow Connector 6"/>
          <p:cNvCxnSpPr/>
          <p:nvPr/>
        </p:nvCxnSpPr>
        <p:spPr bwMode="auto">
          <a:xfrm rot="5400000">
            <a:off x="8887743" y="4658921"/>
            <a:ext cx="3251200" cy="225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70C0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11" name="TextBox 10"/>
          <p:cNvSpPr txBox="1"/>
          <p:nvPr/>
        </p:nvSpPr>
        <p:spPr>
          <a:xfrm>
            <a:off x="5065198" y="6558535"/>
            <a:ext cx="262729" cy="919226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endParaRPr lang="en-US" sz="5100" i="1" dirty="0"/>
          </a:p>
        </p:txBody>
      </p:sp>
      <p:sp>
        <p:nvSpPr>
          <p:cNvPr id="14" name="TextBox 13"/>
          <p:cNvSpPr txBox="1"/>
          <p:nvPr/>
        </p:nvSpPr>
        <p:spPr>
          <a:xfrm>
            <a:off x="4876801" y="6558535"/>
            <a:ext cx="1014441" cy="916146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sz="5100" i="1" dirty="0" smtClean="0">
                <a:solidFill>
                  <a:srgbClr val="FF0000"/>
                </a:solidFill>
              </a:rPr>
              <a:t>2</a:t>
            </a:r>
            <a:r>
              <a:rPr lang="en-US" sz="5100" i="1" baseline="30000" dirty="0" smtClean="0">
                <a:solidFill>
                  <a:srgbClr val="FF0000"/>
                </a:solidFill>
              </a:rPr>
              <a:t>m</a:t>
            </a:r>
            <a:endParaRPr lang="en-US" sz="5100" i="1" baseline="30000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69406" y="4334933"/>
            <a:ext cx="844523" cy="69377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pPr>
              <a:lnSpc>
                <a:spcPts val="4267"/>
              </a:lnSpc>
            </a:pPr>
            <a:r>
              <a:rPr lang="en-US" sz="5100" i="1" dirty="0" smtClean="0">
                <a:solidFill>
                  <a:srgbClr val="0070C0"/>
                </a:solidFill>
              </a:rPr>
              <a:t>m</a:t>
            </a:r>
            <a:endParaRPr lang="en-US" sz="5100" i="1" dirty="0"/>
          </a:p>
        </p:txBody>
      </p:sp>
      <p:sp>
        <p:nvSpPr>
          <p:cNvPr id="9" name="TextBox 8"/>
          <p:cNvSpPr txBox="1"/>
          <p:nvPr/>
        </p:nvSpPr>
        <p:spPr>
          <a:xfrm>
            <a:off x="635000" y="8763000"/>
            <a:ext cx="1882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dirty="0" smtClean="0"/>
              <a:t>m = log n</a:t>
            </a:r>
            <a:endParaRPr lang="en-US" sz="3200" b="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3494" y="390596"/>
            <a:ext cx="10512213" cy="1625600"/>
          </a:xfrm>
        </p:spPr>
        <p:txBody>
          <a:bodyPr/>
          <a:lstStyle/>
          <a:p>
            <a:r>
              <a:rPr lang="en-US" dirty="0" smtClean="0"/>
              <a:t>Drawing for small values of </a:t>
            </a:r>
            <a:r>
              <a:rPr lang="en-US" i="1" dirty="0" smtClean="0"/>
              <a:t>n</a:t>
            </a:r>
            <a:endParaRPr lang="en-US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" y="5635414"/>
            <a:ext cx="11704320" cy="2210365"/>
          </a:xfrm>
        </p:spPr>
        <p:txBody>
          <a:bodyPr/>
          <a:lstStyle/>
          <a:p>
            <a:pPr algn="ctr"/>
            <a:r>
              <a:rPr lang="en-US" sz="3400" i="1" dirty="0" smtClean="0"/>
              <a:t>What do you notice?</a:t>
            </a:r>
            <a:endParaRPr lang="en-US" sz="3400" i="1" dirty="0"/>
          </a:p>
        </p:txBody>
      </p:sp>
      <p:grpSp>
        <p:nvGrpSpPr>
          <p:cNvPr id="4" name="Group 24"/>
          <p:cNvGrpSpPr/>
          <p:nvPr/>
        </p:nvGrpSpPr>
        <p:grpSpPr>
          <a:xfrm>
            <a:off x="-108372" y="3684692"/>
            <a:ext cx="13316373" cy="564444"/>
            <a:chOff x="-76200" y="2590800"/>
            <a:chExt cx="9363075" cy="396875"/>
          </a:xfrm>
        </p:grpSpPr>
        <p:sp>
          <p:nvSpPr>
            <p:cNvPr id="5" name="Isosceles Triangle 4"/>
            <p:cNvSpPr/>
            <p:nvPr/>
          </p:nvSpPr>
          <p:spPr bwMode="auto">
            <a:xfrm>
              <a:off x="-76200" y="2895600"/>
              <a:ext cx="9363075" cy="92075"/>
            </a:xfrm>
            <a:prstGeom prst="triangl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2" name="TextBox 8"/>
            <p:cNvSpPr txBox="1">
              <a:spLocks noChangeArrowheads="1"/>
            </p:cNvSpPr>
            <p:nvPr/>
          </p:nvSpPr>
          <p:spPr bwMode="auto">
            <a:xfrm>
              <a:off x="8458200" y="2590800"/>
              <a:ext cx="371045" cy="32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10</a:t>
              </a:r>
            </a:p>
          </p:txBody>
        </p:sp>
      </p:grpSp>
      <p:grpSp>
        <p:nvGrpSpPr>
          <p:cNvPr id="19" name="Group 23"/>
          <p:cNvGrpSpPr/>
          <p:nvPr/>
        </p:nvGrpSpPr>
        <p:grpSpPr>
          <a:xfrm>
            <a:off x="3221850" y="3576324"/>
            <a:ext cx="7104686" cy="461665"/>
            <a:chOff x="2265363" y="2514600"/>
            <a:chExt cx="4995482" cy="324608"/>
          </a:xfrm>
        </p:grpSpPr>
        <p:sp>
          <p:nvSpPr>
            <p:cNvPr id="6" name="Isosceles Triangle 5"/>
            <p:cNvSpPr/>
            <p:nvPr/>
          </p:nvSpPr>
          <p:spPr bwMode="auto">
            <a:xfrm>
              <a:off x="2265363" y="2693988"/>
              <a:ext cx="4681537" cy="80962"/>
            </a:xfrm>
            <a:prstGeom prst="triangl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3" name="TextBox 9"/>
            <p:cNvSpPr txBox="1">
              <a:spLocks noChangeArrowheads="1"/>
            </p:cNvSpPr>
            <p:nvPr/>
          </p:nvSpPr>
          <p:spPr bwMode="auto">
            <a:xfrm>
              <a:off x="7010400" y="2514600"/>
              <a:ext cx="250445" cy="32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9</a:t>
              </a:r>
            </a:p>
          </p:txBody>
        </p:sp>
      </p:grpSp>
      <p:grpSp>
        <p:nvGrpSpPr>
          <p:cNvPr id="20" name="Group 22"/>
          <p:cNvGrpSpPr/>
          <p:nvPr/>
        </p:nvGrpSpPr>
        <p:grpSpPr>
          <a:xfrm>
            <a:off x="4885831" y="3267009"/>
            <a:ext cx="3706731" cy="461665"/>
            <a:chOff x="3435350" y="2297113"/>
            <a:chExt cx="2606295" cy="324608"/>
          </a:xfrm>
        </p:grpSpPr>
        <p:sp>
          <p:nvSpPr>
            <p:cNvPr id="7" name="Isosceles Triangle 6"/>
            <p:cNvSpPr/>
            <p:nvPr/>
          </p:nvSpPr>
          <p:spPr bwMode="auto">
            <a:xfrm>
              <a:off x="3435350" y="2498725"/>
              <a:ext cx="2339975" cy="74613"/>
            </a:xfrm>
            <a:prstGeom prst="triangl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4" name="TextBox 10"/>
            <p:cNvSpPr txBox="1">
              <a:spLocks noChangeArrowheads="1"/>
            </p:cNvSpPr>
            <p:nvPr/>
          </p:nvSpPr>
          <p:spPr bwMode="auto">
            <a:xfrm>
              <a:off x="5791200" y="2297113"/>
              <a:ext cx="250445" cy="32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8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716694" y="3034457"/>
            <a:ext cx="2225628" cy="461665"/>
            <a:chOff x="4019550" y="2133600"/>
            <a:chExt cx="1564895" cy="324608"/>
          </a:xfrm>
        </p:grpSpPr>
        <p:sp>
          <p:nvSpPr>
            <p:cNvPr id="8" name="Isosceles Triangle 7"/>
            <p:cNvSpPr/>
            <p:nvPr/>
          </p:nvSpPr>
          <p:spPr bwMode="auto">
            <a:xfrm>
              <a:off x="4019550" y="2314575"/>
              <a:ext cx="1171575" cy="65088"/>
            </a:xfrm>
            <a:prstGeom prst="triangl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TextBox 11"/>
            <p:cNvSpPr txBox="1">
              <a:spLocks noChangeArrowheads="1"/>
            </p:cNvSpPr>
            <p:nvPr/>
          </p:nvSpPr>
          <p:spPr bwMode="auto">
            <a:xfrm>
              <a:off x="5334000" y="2133600"/>
              <a:ext cx="250445" cy="32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7</a:t>
              </a:r>
            </a:p>
          </p:txBody>
        </p:sp>
      </p:grpSp>
      <p:grpSp>
        <p:nvGrpSpPr>
          <p:cNvPr id="22" name="Group 20"/>
          <p:cNvGrpSpPr/>
          <p:nvPr/>
        </p:nvGrpSpPr>
        <p:grpSpPr>
          <a:xfrm>
            <a:off x="6134383" y="2725142"/>
            <a:ext cx="1453467" cy="461665"/>
            <a:chOff x="4313238" y="1916113"/>
            <a:chExt cx="1021969" cy="324608"/>
          </a:xfrm>
        </p:grpSpPr>
        <p:sp>
          <p:nvSpPr>
            <p:cNvPr id="9" name="Isosceles Triangle 8"/>
            <p:cNvSpPr/>
            <p:nvPr/>
          </p:nvSpPr>
          <p:spPr bwMode="auto">
            <a:xfrm>
              <a:off x="4313238" y="2139950"/>
              <a:ext cx="584200" cy="53975"/>
            </a:xfrm>
            <a:prstGeom prst="triangl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TextBox 12"/>
            <p:cNvSpPr txBox="1">
              <a:spLocks noChangeArrowheads="1"/>
            </p:cNvSpPr>
            <p:nvPr/>
          </p:nvSpPr>
          <p:spPr bwMode="auto">
            <a:xfrm>
              <a:off x="5084762" y="1916113"/>
              <a:ext cx="250445" cy="32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6</a:t>
              </a:r>
            </a:p>
          </p:txBody>
        </p:sp>
      </p:grpSp>
      <p:grpSp>
        <p:nvGrpSpPr>
          <p:cNvPr id="23" name="Group 19"/>
          <p:cNvGrpSpPr/>
          <p:nvPr/>
        </p:nvGrpSpPr>
        <p:grpSpPr>
          <a:xfrm>
            <a:off x="6342098" y="2510652"/>
            <a:ext cx="913859" cy="461665"/>
            <a:chOff x="4459288" y="1765300"/>
            <a:chExt cx="642557" cy="324608"/>
          </a:xfrm>
        </p:grpSpPr>
        <p:sp>
          <p:nvSpPr>
            <p:cNvPr id="10" name="Isosceles Triangle 9"/>
            <p:cNvSpPr/>
            <p:nvPr/>
          </p:nvSpPr>
          <p:spPr bwMode="auto">
            <a:xfrm>
              <a:off x="4459288" y="1973263"/>
              <a:ext cx="292100" cy="46037"/>
            </a:xfrm>
            <a:prstGeom prst="triangl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TextBox 13"/>
            <p:cNvSpPr txBox="1">
              <a:spLocks noChangeArrowheads="1"/>
            </p:cNvSpPr>
            <p:nvPr/>
          </p:nvSpPr>
          <p:spPr bwMode="auto">
            <a:xfrm>
              <a:off x="4851400" y="1765300"/>
              <a:ext cx="250445" cy="32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 smtClean="0">
                  <a:solidFill>
                    <a:srgbClr val="0070C0"/>
                  </a:solidFill>
                </a:rPr>
                <a:t>5</a:t>
              </a:r>
              <a:endParaRPr lang="en-US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24" name="Group 18"/>
          <p:cNvGrpSpPr/>
          <p:nvPr/>
        </p:nvGrpSpPr>
        <p:grpSpPr>
          <a:xfrm>
            <a:off x="6445959" y="2275843"/>
            <a:ext cx="521006" cy="461665"/>
            <a:chOff x="4532313" y="1600200"/>
            <a:chExt cx="366332" cy="324608"/>
          </a:xfrm>
        </p:grpSpPr>
        <p:sp>
          <p:nvSpPr>
            <p:cNvPr id="11" name="Isosceles Triangle 10"/>
            <p:cNvSpPr/>
            <p:nvPr/>
          </p:nvSpPr>
          <p:spPr>
            <a:xfrm>
              <a:off x="4532313" y="1817688"/>
              <a:ext cx="146050" cy="36512"/>
            </a:xfrm>
            <a:prstGeom prst="triangle">
              <a:avLst/>
            </a:prstGeom>
            <a:solidFill>
              <a:srgbClr val="FFC000"/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8" name="TextBox 14"/>
            <p:cNvSpPr txBox="1">
              <a:spLocks noChangeArrowheads="1"/>
            </p:cNvSpPr>
            <p:nvPr/>
          </p:nvSpPr>
          <p:spPr bwMode="auto">
            <a:xfrm>
              <a:off x="4648200" y="1600200"/>
              <a:ext cx="250445" cy="3246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70C0"/>
                  </a:solidFill>
                </a:rPr>
                <a:t>4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7" y="390596"/>
            <a:ext cx="8669867" cy="1625600"/>
          </a:xfrm>
        </p:spPr>
        <p:txBody>
          <a:bodyPr/>
          <a:lstStyle/>
          <a:p>
            <a:r>
              <a:rPr lang="en-US" dirty="0" smtClean="0"/>
              <a:t>Searching with Ants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400" dirty="0" smtClean="0"/>
              <a:t>Place items 1 cm apart</a:t>
            </a:r>
          </a:p>
          <a:p>
            <a:pPr marL="919163">
              <a:buFont typeface="Wingdings" pitchFamily="2" charset="2"/>
              <a:buChar char="Ø"/>
            </a:pPr>
            <a:r>
              <a:rPr lang="en-US" sz="2800" dirty="0" smtClean="0">
                <a:solidFill>
                  <a:srgbClr val="FF0000"/>
                </a:solidFill>
              </a:rPr>
              <a:t>Horizontally</a:t>
            </a:r>
          </a:p>
          <a:p>
            <a:pPr marL="919163">
              <a:buFont typeface="Wingdings" pitchFamily="2" charset="2"/>
              <a:buChar char="Ø"/>
            </a:pPr>
            <a:r>
              <a:rPr lang="en-US" sz="2800" dirty="0" smtClean="0">
                <a:solidFill>
                  <a:srgbClr val="0070C0"/>
                </a:solidFill>
              </a:rPr>
              <a:t>Vertically</a:t>
            </a:r>
          </a:p>
          <a:p>
            <a:r>
              <a:rPr lang="en-US" sz="3400" dirty="0" smtClean="0"/>
              <a:t>Ant walks 1cm/s</a:t>
            </a:r>
          </a:p>
        </p:txBody>
      </p:sp>
      <p:pic>
        <p:nvPicPr>
          <p:cNvPr id="4" name="Picture 3" descr="Searching-ant.jp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9428480" y="170758"/>
            <a:ext cx="3355961" cy="2972069"/>
          </a:xfrm>
          <a:prstGeom prst="rect">
            <a:avLst/>
          </a:prstGeom>
        </p:spPr>
      </p:pic>
      <p:sp>
        <p:nvSpPr>
          <p:cNvPr id="23" name="Isosceles Triangle 22"/>
          <p:cNvSpPr/>
          <p:nvPr/>
        </p:nvSpPr>
        <p:spPr bwMode="auto">
          <a:xfrm>
            <a:off x="541867" y="4876798"/>
            <a:ext cx="9536853" cy="3142827"/>
          </a:xfrm>
          <a:prstGeom prst="triangle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0046" tIns="65023" rIns="130046" bIns="65023" numCol="1" rtlCol="0" anchor="t" anchorCtr="0" compatLnSpc="1">
            <a:prstTxWarp prst="textNoShape">
              <a:avLst/>
            </a:prstTxWarp>
          </a:bodyPr>
          <a:lstStyle/>
          <a:p>
            <a:pPr algn="l" defTabSz="1300460" eaLnBrk="0"/>
            <a:endParaRPr lang="en-US" sz="3400" b="0" dirty="0">
              <a:solidFill>
                <a:schemeClr val="tx1"/>
              </a:solidFill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cxnSp>
        <p:nvCxnSpPr>
          <p:cNvPr id="24" name="Straight Arrow Connector 23"/>
          <p:cNvCxnSpPr/>
          <p:nvPr/>
        </p:nvCxnSpPr>
        <p:spPr bwMode="auto">
          <a:xfrm>
            <a:off x="541867" y="8400879"/>
            <a:ext cx="9645227" cy="225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FF0000"/>
            </a:solidFill>
            <a:prstDash val="solid"/>
            <a:round/>
            <a:headEnd type="arrow"/>
            <a:tailEnd type="arrow"/>
          </a:ln>
          <a:effectLst/>
        </p:spPr>
      </p:cxnSp>
      <p:cxnSp>
        <p:nvCxnSpPr>
          <p:cNvPr id="25" name="Straight Arrow Connector 24"/>
          <p:cNvCxnSpPr/>
          <p:nvPr/>
        </p:nvCxnSpPr>
        <p:spPr bwMode="auto">
          <a:xfrm rot="5400000">
            <a:off x="8887743" y="6392895"/>
            <a:ext cx="3251200" cy="225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rgbClr val="0070C0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6" name="TextBox 25"/>
          <p:cNvSpPr txBox="1"/>
          <p:nvPr/>
        </p:nvSpPr>
        <p:spPr>
          <a:xfrm>
            <a:off x="5065198" y="8292508"/>
            <a:ext cx="262729" cy="919226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endParaRPr lang="en-US" sz="5100" i="1" dirty="0"/>
          </a:p>
        </p:txBody>
      </p:sp>
      <p:sp>
        <p:nvSpPr>
          <p:cNvPr id="27" name="TextBox 26"/>
          <p:cNvSpPr txBox="1"/>
          <p:nvPr/>
        </p:nvSpPr>
        <p:spPr>
          <a:xfrm>
            <a:off x="4443307" y="8292508"/>
            <a:ext cx="2287225" cy="916146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sz="5100" i="1" dirty="0" smtClean="0">
                <a:solidFill>
                  <a:srgbClr val="FF0000"/>
                </a:solidFill>
              </a:rPr>
              <a:t>2</a:t>
            </a:r>
            <a:r>
              <a:rPr lang="en-US" sz="5100" i="1" baseline="30000" dirty="0" smtClean="0">
                <a:solidFill>
                  <a:srgbClr val="FF0000"/>
                </a:solidFill>
              </a:rPr>
              <a:t>m</a:t>
            </a:r>
            <a:r>
              <a:rPr lang="en-US" sz="5100" i="1" dirty="0" smtClean="0">
                <a:solidFill>
                  <a:srgbClr val="FF0000"/>
                </a:solidFill>
              </a:rPr>
              <a:t> sec</a:t>
            </a:r>
            <a:endParaRPr lang="en-US" sz="5100" i="1" baseline="30000" dirty="0">
              <a:solidFill>
                <a:srgbClr val="FF000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0557764" y="6068906"/>
            <a:ext cx="2117307" cy="69377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pPr>
              <a:lnSpc>
                <a:spcPts val="4267"/>
              </a:lnSpc>
            </a:pPr>
            <a:r>
              <a:rPr lang="en-US" sz="5100" i="1" dirty="0" smtClean="0">
                <a:solidFill>
                  <a:srgbClr val="0070C0"/>
                </a:solidFill>
              </a:rPr>
              <a:t>m sec</a:t>
            </a:r>
            <a:endParaRPr lang="en-US" sz="5100" i="1" dirty="0"/>
          </a:p>
        </p:txBody>
      </p:sp>
      <p:pic>
        <p:nvPicPr>
          <p:cNvPr id="29" name="Picture 28" descr="ant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1408854" y="8561494"/>
            <a:ext cx="758613" cy="539954"/>
          </a:xfrm>
          <a:prstGeom prst="rect">
            <a:avLst/>
          </a:prstGeom>
        </p:spPr>
      </p:pic>
      <p:pic>
        <p:nvPicPr>
          <p:cNvPr id="30" name="Picture 29" descr="ant.jp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9754556" y="5419623"/>
            <a:ext cx="758613" cy="539954"/>
          </a:xfrm>
          <a:prstGeom prst="rect">
            <a:avLst/>
          </a:prstGeom>
        </p:spPr>
      </p:pic>
      <p:pic>
        <p:nvPicPr>
          <p:cNvPr id="31" name="Picture 30" descr="ant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4295987" y="2667000"/>
            <a:ext cx="758613" cy="539954"/>
          </a:xfrm>
          <a:prstGeom prst="rect">
            <a:avLst/>
          </a:prstGeom>
        </p:spPr>
      </p:pic>
      <p:pic>
        <p:nvPicPr>
          <p:cNvPr id="32" name="Picture 31" descr="ant.jp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4292600" y="3124200"/>
            <a:ext cx="758613" cy="5399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7" y="390596"/>
            <a:ext cx="11812693" cy="1625600"/>
          </a:xfrm>
        </p:spPr>
        <p:txBody>
          <a:bodyPr/>
          <a:lstStyle/>
          <a:p>
            <a:r>
              <a:rPr lang="en-US" dirty="0" smtClean="0"/>
              <a:t>Searching 1000 items with Ants</a:t>
            </a:r>
            <a:endParaRPr lang="en-US" dirty="0"/>
          </a:p>
        </p:txBody>
      </p:sp>
      <p:pic>
        <p:nvPicPr>
          <p:cNvPr id="5" name="Picture 4" descr="classroom.jp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3901441" y="2702983"/>
            <a:ext cx="4826429" cy="32069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59928" y="5968661"/>
            <a:ext cx="3551994" cy="746869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</a:rPr>
              <a:t>2</a:t>
            </a:r>
            <a:r>
              <a:rPr lang="en-US" sz="4000" baseline="30000" dirty="0" smtClean="0">
                <a:solidFill>
                  <a:srgbClr val="FF0000"/>
                </a:solidFill>
              </a:rPr>
              <a:t>10</a:t>
            </a:r>
            <a:r>
              <a:rPr lang="en-US" sz="4000" dirty="0" smtClean="0">
                <a:solidFill>
                  <a:srgbClr val="FF0000"/>
                </a:solidFill>
              </a:rPr>
              <a:t> cm </a:t>
            </a:r>
            <a:r>
              <a:rPr lang="en-US" sz="4000" dirty="0" smtClean="0">
                <a:solidFill>
                  <a:srgbClr val="C00000"/>
                </a:solidFill>
              </a:rPr>
              <a:t>≈ 10 m</a:t>
            </a:r>
            <a:endParaRPr lang="en-US" sz="4000" baseline="30000" dirty="0">
              <a:solidFill>
                <a:srgbClr val="C00000"/>
              </a:solidFill>
            </a:endParaRPr>
          </a:p>
        </p:txBody>
      </p:sp>
      <p:sp>
        <p:nvSpPr>
          <p:cNvPr id="12" name="Right Arrow 11"/>
          <p:cNvSpPr/>
          <p:nvPr/>
        </p:nvSpPr>
        <p:spPr bwMode="auto">
          <a:xfrm>
            <a:off x="3901440" y="6604423"/>
            <a:ext cx="4876800" cy="650240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0046" tIns="65023" rIns="130046" bIns="65023" numCol="1" rtlCol="0" anchor="t" anchorCtr="0" compatLnSpc="1">
            <a:prstTxWarp prst="textNoShape">
              <a:avLst/>
            </a:prstTxWarp>
          </a:bodyPr>
          <a:lstStyle/>
          <a:p>
            <a:pPr algn="l" defTabSz="1300460" eaLnBrk="0"/>
            <a:endParaRPr lang="en-US" sz="3400" b="0" dirty="0">
              <a:solidFill>
                <a:schemeClr val="tx1"/>
              </a:solidFill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068907" y="7251143"/>
            <a:ext cx="1870444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17 minutes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1" name="Picture 10" descr="ant.jpg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4660054" y="7231490"/>
            <a:ext cx="758613" cy="539954"/>
          </a:xfrm>
          <a:prstGeom prst="rect">
            <a:avLst/>
          </a:prstGeom>
        </p:spPr>
      </p:pic>
      <p:pic>
        <p:nvPicPr>
          <p:cNvPr id="22" name="Picture 21" descr="ant.jpg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4660054" y="7897259"/>
            <a:ext cx="758613" cy="53995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068906" y="7916912"/>
            <a:ext cx="1939373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10 seconds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3" name="Rectangular Callout 12"/>
          <p:cNvSpPr/>
          <p:nvPr/>
        </p:nvSpPr>
        <p:spPr bwMode="auto">
          <a:xfrm>
            <a:off x="10007600" y="8077200"/>
            <a:ext cx="746358" cy="400110"/>
          </a:xfrm>
          <a:prstGeom prst="wedgeRectCallout">
            <a:avLst>
              <a:gd name="adj1" fmla="val -310404"/>
              <a:gd name="adj2" fmla="val -2833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better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5" grpId="0"/>
      <p:bldP spid="23" grpId="0"/>
      <p:bldP spid="1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 Million Items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950721" y="1733974"/>
            <a:ext cx="10418433" cy="3886283"/>
            <a:chOff x="533400" y="2133599"/>
            <a:chExt cx="8371955" cy="3122905"/>
          </a:xfrm>
        </p:grpSpPr>
        <p:sp>
          <p:nvSpPr>
            <p:cNvPr id="4" name="Isosceles Triangle 3"/>
            <p:cNvSpPr/>
            <p:nvPr/>
          </p:nvSpPr>
          <p:spPr bwMode="auto">
            <a:xfrm>
              <a:off x="533400" y="2209800"/>
              <a:ext cx="6705600" cy="2209800"/>
            </a:xfrm>
            <a:prstGeom prst="triangl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533400" y="4687669"/>
              <a:ext cx="6781800" cy="1588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 rot="5400000">
              <a:off x="6358052" y="3275805"/>
              <a:ext cx="2286000" cy="15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70C0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2505258" y="4687667"/>
              <a:ext cx="3020916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FF0000"/>
                  </a:solidFill>
                </a:rPr>
                <a:t>2</a:t>
              </a:r>
              <a:r>
                <a:rPr lang="en-US" sz="4000" baseline="30000" dirty="0" smtClean="0">
                  <a:solidFill>
                    <a:srgbClr val="FF0000"/>
                  </a:solidFill>
                </a:rPr>
                <a:t>20</a:t>
              </a:r>
              <a:r>
                <a:rPr lang="en-US" sz="4000" dirty="0" smtClean="0">
                  <a:solidFill>
                    <a:srgbClr val="FF0000"/>
                  </a:solidFill>
                </a:rPr>
                <a:t> cm </a:t>
              </a:r>
              <a:r>
                <a:rPr lang="en-US" sz="4000" dirty="0" smtClean="0">
                  <a:solidFill>
                    <a:srgbClr val="C00000"/>
                  </a:solidFill>
                </a:rPr>
                <a:t>≈ 10 km</a:t>
              </a:r>
              <a:endParaRPr lang="en-US" sz="4000" baseline="30000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7343" y="2895600"/>
              <a:ext cx="1318012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70C0"/>
                  </a:solidFill>
                </a:rPr>
                <a:t>20 cm</a:t>
              </a:r>
              <a:endParaRPr lang="en-US" sz="4000" dirty="0">
                <a:solidFill>
                  <a:srgbClr val="0070C0"/>
                </a:solidFill>
              </a:endParaRPr>
            </a:p>
          </p:txBody>
        </p:sp>
      </p:grpSp>
      <p:sp>
        <p:nvSpPr>
          <p:cNvPr id="12" name="Right Arrow 11"/>
          <p:cNvSpPr/>
          <p:nvPr/>
        </p:nvSpPr>
        <p:spPr bwMode="auto">
          <a:xfrm>
            <a:off x="4118187" y="7081266"/>
            <a:ext cx="4660053" cy="650240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0046" tIns="65023" rIns="130046" bIns="65023" numCol="1" rtlCol="0" anchor="t" anchorCtr="0" compatLnSpc="1">
            <a:prstTxWarp prst="textNoShape">
              <a:avLst/>
            </a:prstTxWarp>
          </a:bodyPr>
          <a:lstStyle/>
          <a:p>
            <a:pPr algn="l" defTabSz="1300460" eaLnBrk="0"/>
            <a:endParaRPr lang="en-US" sz="3400" b="0" dirty="0">
              <a:solidFill>
                <a:schemeClr val="tx1"/>
              </a:solidFill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pic>
        <p:nvPicPr>
          <p:cNvPr id="20" name="Picture 19" descr="ant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4985174" y="7624089"/>
            <a:ext cx="758613" cy="539954"/>
          </a:xfrm>
          <a:prstGeom prst="rect">
            <a:avLst/>
          </a:prstGeom>
        </p:spPr>
      </p:pic>
      <p:pic>
        <p:nvPicPr>
          <p:cNvPr id="21" name="Picture 20" descr="ant.jpg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9862929" y="2385171"/>
            <a:ext cx="758613" cy="5399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394028" y="7643742"/>
            <a:ext cx="1392749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12 days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15" name="Picture 14" descr="thepoi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107" y="6220628"/>
            <a:ext cx="3332190" cy="2340864"/>
          </a:xfrm>
          <a:prstGeom prst="rect">
            <a:avLst/>
          </a:prstGeom>
        </p:spPr>
      </p:pic>
      <p:pic>
        <p:nvPicPr>
          <p:cNvPr id="16" name="Picture 15" descr="ghc.jp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325120" y="6220629"/>
            <a:ext cx="3359573" cy="2340864"/>
          </a:xfrm>
          <a:prstGeom prst="rect">
            <a:avLst/>
          </a:prstGeom>
        </p:spPr>
      </p:pic>
      <p:pic>
        <p:nvPicPr>
          <p:cNvPr id="17" name="Picture 16" descr="ant.jpg"/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4982975" y="8223046"/>
            <a:ext cx="758613" cy="53995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91827" y="8242699"/>
            <a:ext cx="1939373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20 seconds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/>
      <p:bldP spid="18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 Billion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950721" y="1733974"/>
            <a:ext cx="10418433" cy="3886283"/>
            <a:chOff x="533400" y="2133599"/>
            <a:chExt cx="8371955" cy="3122905"/>
          </a:xfrm>
        </p:grpSpPr>
        <p:sp>
          <p:nvSpPr>
            <p:cNvPr id="4" name="Isosceles Triangle 3"/>
            <p:cNvSpPr/>
            <p:nvPr/>
          </p:nvSpPr>
          <p:spPr bwMode="auto">
            <a:xfrm>
              <a:off x="533400" y="2209800"/>
              <a:ext cx="6705600" cy="2209800"/>
            </a:xfrm>
            <a:prstGeom prst="triangl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533400" y="4687669"/>
              <a:ext cx="6781800" cy="1588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 rot="5400000">
              <a:off x="6358052" y="3275805"/>
              <a:ext cx="2286000" cy="15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70C0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2053015" y="4687667"/>
              <a:ext cx="3823420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FF0000"/>
                  </a:solidFill>
                </a:rPr>
                <a:t>2</a:t>
              </a:r>
              <a:r>
                <a:rPr lang="en-US" sz="4000" baseline="30000" dirty="0" smtClean="0">
                  <a:solidFill>
                    <a:srgbClr val="FF0000"/>
                  </a:solidFill>
                </a:rPr>
                <a:t>31</a:t>
              </a:r>
              <a:r>
                <a:rPr lang="en-US" sz="4000" dirty="0" smtClean="0">
                  <a:solidFill>
                    <a:srgbClr val="FF0000"/>
                  </a:solidFill>
                </a:rPr>
                <a:t> cm </a:t>
              </a:r>
              <a:r>
                <a:rPr lang="en-US" sz="4000" dirty="0" smtClean="0">
                  <a:solidFill>
                    <a:srgbClr val="C00000"/>
                  </a:solidFill>
                </a:rPr>
                <a:t>≈ 20,000 km</a:t>
              </a:r>
              <a:endParaRPr lang="en-US" sz="4000" baseline="30000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7343" y="2895600"/>
              <a:ext cx="1318012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70C0"/>
                  </a:solidFill>
                </a:rPr>
                <a:t>31 cm</a:t>
              </a:r>
              <a:endParaRPr lang="en-US" sz="4000" dirty="0">
                <a:solidFill>
                  <a:srgbClr val="0070C0"/>
                </a:solidFill>
              </a:endParaRPr>
            </a:p>
          </p:txBody>
        </p:sp>
      </p:grpSp>
      <p:pic>
        <p:nvPicPr>
          <p:cNvPr id="11" name="Picture 10" descr="ant.jpg"/>
          <p:cNvPicPr>
            <a:picLocks noChangeAspect="1"/>
          </p:cNvPicPr>
          <p:nvPr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9862929" y="2385171"/>
            <a:ext cx="758613" cy="539954"/>
          </a:xfrm>
          <a:prstGeom prst="rect">
            <a:avLst/>
          </a:prstGeom>
        </p:spPr>
      </p:pic>
      <p:grpSp>
        <p:nvGrpSpPr>
          <p:cNvPr id="9" name="Group 19"/>
          <p:cNvGrpSpPr/>
          <p:nvPr/>
        </p:nvGrpSpPr>
        <p:grpSpPr>
          <a:xfrm>
            <a:off x="3901440" y="5635414"/>
            <a:ext cx="4876800" cy="4334933"/>
            <a:chOff x="2743200" y="3962400"/>
            <a:chExt cx="3429000" cy="3048000"/>
          </a:xfrm>
        </p:grpSpPr>
        <p:sp>
          <p:nvSpPr>
            <p:cNvPr id="19" name="Circular Arrow 18"/>
            <p:cNvSpPr/>
            <p:nvPr/>
          </p:nvSpPr>
          <p:spPr bwMode="auto">
            <a:xfrm rot="16200000">
              <a:off x="3048000" y="3886200"/>
              <a:ext cx="3048000" cy="3200400"/>
            </a:xfrm>
            <a:prstGeom prst="circularArrow">
              <a:avLst>
                <a:gd name="adj1" fmla="val 7053"/>
                <a:gd name="adj2" fmla="val 1045900"/>
                <a:gd name="adj3" fmla="val 20487121"/>
                <a:gd name="adj4" fmla="val 10800000"/>
                <a:gd name="adj5" fmla="val 10675"/>
              </a:avLst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pic>
          <p:nvPicPr>
            <p:cNvPr id="17" name="Picture 16" descr="earth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0400" y="4495800"/>
              <a:ext cx="2743200" cy="2057400"/>
            </a:xfrm>
            <a:prstGeom prst="rect">
              <a:avLst/>
            </a:prstGeom>
          </p:spPr>
        </p:pic>
        <p:pic>
          <p:nvPicPr>
            <p:cNvPr id="12" name="Picture 11" descr="ant.jpg"/>
            <p:cNvPicPr>
              <a:picLocks noChangeAspect="1"/>
            </p:cNvPicPr>
            <p:nvPr/>
          </p:nvPicPr>
          <p:blipFill>
            <a:blip r:embed="rId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 rot="18075195" flipH="1">
              <a:off x="2929550" y="4403857"/>
              <a:ext cx="533400" cy="379655"/>
            </a:xfrm>
            <a:prstGeom prst="rect">
              <a:avLst/>
            </a:prstGeom>
          </p:spPr>
        </p:pic>
        <p:pic>
          <p:nvPicPr>
            <p:cNvPr id="13" name="Picture 12" descr="ant.jpg"/>
            <p:cNvPicPr>
              <a:picLocks noChangeAspect="1"/>
            </p:cNvPicPr>
            <p:nvPr/>
          </p:nvPicPr>
          <p:blipFill>
            <a:blip r:embed="rId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 rot="16200000" flipH="1">
              <a:off x="2666328" y="5182273"/>
              <a:ext cx="533400" cy="379655"/>
            </a:xfrm>
            <a:prstGeom prst="rect">
              <a:avLst/>
            </a:prstGeom>
          </p:spPr>
        </p:pic>
        <p:pic>
          <p:nvPicPr>
            <p:cNvPr id="14" name="Picture 13" descr="ant.jpg"/>
            <p:cNvPicPr>
              <a:picLocks noChangeAspect="1"/>
            </p:cNvPicPr>
            <p:nvPr/>
          </p:nvPicPr>
          <p:blipFill>
            <a:blip r:embed="rId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 rot="19808272" flipH="1">
              <a:off x="3454082" y="3970973"/>
              <a:ext cx="533400" cy="379655"/>
            </a:xfrm>
            <a:prstGeom prst="rect">
              <a:avLst/>
            </a:prstGeom>
          </p:spPr>
        </p:pic>
        <p:pic>
          <p:nvPicPr>
            <p:cNvPr id="15" name="Picture 14" descr="ant.jpg"/>
            <p:cNvPicPr>
              <a:picLocks noChangeAspect="1"/>
            </p:cNvPicPr>
            <p:nvPr/>
          </p:nvPicPr>
          <p:blipFill>
            <a:blip r:embed="rId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 rot="14238880" flipH="1">
              <a:off x="2805211" y="5966715"/>
              <a:ext cx="533400" cy="379655"/>
            </a:xfrm>
            <a:prstGeom prst="rect">
              <a:avLst/>
            </a:prstGeom>
          </p:spPr>
        </p:pic>
        <p:pic>
          <p:nvPicPr>
            <p:cNvPr id="16" name="Picture 15" descr="ant.jpg"/>
            <p:cNvPicPr>
              <a:picLocks noChangeAspect="1"/>
            </p:cNvPicPr>
            <p:nvPr/>
          </p:nvPicPr>
          <p:blipFill>
            <a:blip r:embed="rId2" cstate="screen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 rot="12185395" flipH="1">
              <a:off x="3215988" y="6509491"/>
              <a:ext cx="533400" cy="379655"/>
            </a:xfrm>
            <a:prstGeom prst="rect">
              <a:avLst/>
            </a:prstGeom>
          </p:spPr>
        </p:pic>
      </p:grpSp>
      <p:sp>
        <p:nvSpPr>
          <p:cNvPr id="21" name="TextBox 20"/>
          <p:cNvSpPr txBox="1"/>
          <p:nvPr/>
        </p:nvSpPr>
        <p:spPr>
          <a:xfrm>
            <a:off x="8460971" y="7369387"/>
            <a:ext cx="1496944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63 years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20" name="Picture 19" descr="ant.jpg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321800" y="8305800"/>
            <a:ext cx="758613" cy="53995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049427" y="8318899"/>
            <a:ext cx="1939373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31 seconds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23" name="Rectangular Callout 22"/>
          <p:cNvSpPr/>
          <p:nvPr/>
        </p:nvSpPr>
        <p:spPr bwMode="auto">
          <a:xfrm>
            <a:off x="11226800" y="7086600"/>
            <a:ext cx="816890" cy="707886"/>
          </a:xfrm>
          <a:prstGeom prst="wedgeRectCallout">
            <a:avLst>
              <a:gd name="adj1" fmla="val -105152"/>
              <a:gd name="adj2" fmla="val 125617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way</a:t>
            </a:r>
            <a:br>
              <a:rPr lang="en-US" sz="2000" b="0" dirty="0" smtClean="0"/>
            </a:br>
            <a:r>
              <a:rPr lang="en-US" sz="2000" b="0" dirty="0" smtClean="0"/>
              <a:t>better!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35 Billion Items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950721" y="1733974"/>
            <a:ext cx="10418433" cy="3886283"/>
            <a:chOff x="533400" y="2133599"/>
            <a:chExt cx="8371955" cy="3122905"/>
          </a:xfrm>
        </p:grpSpPr>
        <p:sp>
          <p:nvSpPr>
            <p:cNvPr id="4" name="Isosceles Triangle 3"/>
            <p:cNvSpPr/>
            <p:nvPr/>
          </p:nvSpPr>
          <p:spPr bwMode="auto">
            <a:xfrm>
              <a:off x="533400" y="2209800"/>
              <a:ext cx="6705600" cy="2209800"/>
            </a:xfrm>
            <a:prstGeom prst="triangl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533400" y="4687669"/>
              <a:ext cx="6781800" cy="1588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 rot="5400000">
              <a:off x="6358052" y="3275805"/>
              <a:ext cx="2286000" cy="15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70C0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1839686" y="4687667"/>
              <a:ext cx="4052707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FF0000"/>
                  </a:solidFill>
                </a:rPr>
                <a:t>2</a:t>
              </a:r>
              <a:r>
                <a:rPr lang="en-US" sz="4000" baseline="30000" dirty="0" smtClean="0">
                  <a:solidFill>
                    <a:srgbClr val="FF0000"/>
                  </a:solidFill>
                </a:rPr>
                <a:t>35</a:t>
              </a:r>
              <a:r>
                <a:rPr lang="en-US" sz="4000" dirty="0" smtClean="0">
                  <a:solidFill>
                    <a:srgbClr val="FF0000"/>
                  </a:solidFill>
                </a:rPr>
                <a:t> cm </a:t>
              </a:r>
              <a:r>
                <a:rPr lang="en-US" sz="4000" dirty="0" smtClean="0">
                  <a:solidFill>
                    <a:srgbClr val="C00000"/>
                  </a:solidFill>
                </a:rPr>
                <a:t>≈ 376,289 km</a:t>
              </a:r>
              <a:endParaRPr lang="en-US" sz="4000" baseline="30000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7343" y="2895600"/>
              <a:ext cx="1318012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70C0"/>
                  </a:solidFill>
                </a:rPr>
                <a:t>35 cm</a:t>
              </a:r>
              <a:endParaRPr lang="en-US" sz="4000" dirty="0">
                <a:solidFill>
                  <a:srgbClr val="0070C0"/>
                </a:solidFill>
              </a:endParaRPr>
            </a:p>
          </p:txBody>
        </p:sp>
      </p:grpSp>
      <p:grpSp>
        <p:nvGrpSpPr>
          <p:cNvPr id="9" name="Group 14"/>
          <p:cNvGrpSpPr/>
          <p:nvPr/>
        </p:nvGrpSpPr>
        <p:grpSpPr>
          <a:xfrm>
            <a:off x="505742" y="5743787"/>
            <a:ext cx="10656711" cy="1625600"/>
            <a:chOff x="355600" y="4038600"/>
            <a:chExt cx="7493000" cy="1143000"/>
          </a:xfrm>
        </p:grpSpPr>
        <p:pic>
          <p:nvPicPr>
            <p:cNvPr id="17" name="Picture 16" descr="earth.png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355600" y="4038600"/>
              <a:ext cx="1524000" cy="1143000"/>
            </a:xfrm>
            <a:prstGeom prst="rect">
              <a:avLst/>
            </a:prstGeom>
          </p:spPr>
        </p:pic>
        <p:pic>
          <p:nvPicPr>
            <p:cNvPr id="12" name="Picture 11" descr="moon.jpg"/>
            <p:cNvPicPr>
              <a:picLocks noChangeAspect="1"/>
            </p:cNvPicPr>
            <p:nvPr/>
          </p:nvPicPr>
          <p:blipFill>
            <a:blip r:embed="rId3" cstate="screen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</a:blip>
            <a:srcRect/>
            <a:stretch>
              <a:fillRect/>
            </a:stretch>
          </p:blipFill>
          <p:spPr>
            <a:xfrm>
              <a:off x="6858000" y="4038600"/>
              <a:ext cx="990600" cy="990600"/>
            </a:xfrm>
            <a:prstGeom prst="rect">
              <a:avLst/>
            </a:prstGeom>
          </p:spPr>
        </p:pic>
        <p:sp>
          <p:nvSpPr>
            <p:cNvPr id="13" name="Right Arrow 12"/>
            <p:cNvSpPr/>
            <p:nvPr/>
          </p:nvSpPr>
          <p:spPr bwMode="auto">
            <a:xfrm>
              <a:off x="1905000" y="4343400"/>
              <a:ext cx="4800600" cy="457200"/>
            </a:xfrm>
            <a:prstGeom prst="rightArrow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</p:grpSp>
      <p:pic>
        <p:nvPicPr>
          <p:cNvPr id="14" name="Picture 13" descr="ant.jpg"/>
          <p:cNvPicPr>
            <a:picLocks noChangeAspect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9862929" y="2385171"/>
            <a:ext cx="758613" cy="539954"/>
          </a:xfrm>
          <a:prstGeom prst="rect">
            <a:avLst/>
          </a:prstGeom>
        </p:spPr>
      </p:pic>
      <p:pic>
        <p:nvPicPr>
          <p:cNvPr id="18" name="Picture 17" descr="ant.jpg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3684694" y="6719147"/>
            <a:ext cx="758613" cy="539954"/>
          </a:xfrm>
          <a:prstGeom prst="rect">
            <a:avLst/>
          </a:prstGeom>
        </p:spPr>
      </p:pic>
      <p:pic>
        <p:nvPicPr>
          <p:cNvPr id="15" name="Picture 14" descr="ant.jpg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321800" y="8305800"/>
            <a:ext cx="758613" cy="53995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49427" y="8318899"/>
            <a:ext cx="1939373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35 seconds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9" name="Rectangular Callout 18"/>
          <p:cNvSpPr/>
          <p:nvPr/>
        </p:nvSpPr>
        <p:spPr bwMode="auto">
          <a:xfrm>
            <a:off x="2768600" y="7924800"/>
            <a:ext cx="932307" cy="707886"/>
          </a:xfrm>
          <a:prstGeom prst="wedgeRectCallout">
            <a:avLst>
              <a:gd name="adj1" fmla="val 71900"/>
              <a:gd name="adj2" fmla="val -14279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forget</a:t>
            </a:r>
            <a:br>
              <a:rPr lang="en-US" sz="2000" b="0" dirty="0" smtClean="0"/>
            </a:br>
            <a:r>
              <a:rPr lang="en-US" sz="2000" b="0" dirty="0" smtClean="0"/>
              <a:t>about it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the Sun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950721" y="1733974"/>
            <a:ext cx="10418433" cy="3886283"/>
            <a:chOff x="533400" y="2133599"/>
            <a:chExt cx="8371955" cy="3122905"/>
          </a:xfrm>
        </p:grpSpPr>
        <p:sp>
          <p:nvSpPr>
            <p:cNvPr id="4" name="Isosceles Triangle 3"/>
            <p:cNvSpPr/>
            <p:nvPr/>
          </p:nvSpPr>
          <p:spPr bwMode="auto">
            <a:xfrm>
              <a:off x="533400" y="2209800"/>
              <a:ext cx="6705600" cy="2209800"/>
            </a:xfrm>
            <a:prstGeom prst="triangl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533400" y="4687669"/>
              <a:ext cx="6781800" cy="1588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 rot="5400000">
              <a:off x="6358052" y="3275805"/>
              <a:ext cx="2286000" cy="15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70C0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1404257" y="4687667"/>
              <a:ext cx="4855210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FF0000"/>
                  </a:solidFill>
                </a:rPr>
                <a:t>2</a:t>
              </a:r>
              <a:r>
                <a:rPr lang="en-US" sz="4000" baseline="30000" dirty="0" smtClean="0">
                  <a:solidFill>
                    <a:srgbClr val="FF0000"/>
                  </a:solidFill>
                </a:rPr>
                <a:t>44</a:t>
              </a:r>
              <a:r>
                <a:rPr lang="en-US" sz="4000" dirty="0" smtClean="0">
                  <a:solidFill>
                    <a:srgbClr val="FF0000"/>
                  </a:solidFill>
                </a:rPr>
                <a:t> cm </a:t>
              </a:r>
              <a:r>
                <a:rPr lang="en-US" sz="4000" dirty="0" smtClean="0">
                  <a:solidFill>
                    <a:srgbClr val="C00000"/>
                  </a:solidFill>
                </a:rPr>
                <a:t>≈ 149,600,000 km</a:t>
              </a:r>
              <a:endParaRPr lang="en-US" sz="4000" baseline="30000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7343" y="2895600"/>
              <a:ext cx="1318012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70C0"/>
                  </a:solidFill>
                </a:rPr>
                <a:t>44 cm</a:t>
              </a:r>
              <a:endParaRPr lang="en-US" sz="4000" dirty="0">
                <a:solidFill>
                  <a:srgbClr val="0070C0"/>
                </a:solidFill>
              </a:endParaRPr>
            </a:p>
          </p:txBody>
        </p:sp>
      </p:grpSp>
      <p:pic>
        <p:nvPicPr>
          <p:cNvPr id="17" name="Picture 16" descr="earth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228231" y="5960534"/>
            <a:ext cx="1444978" cy="1083733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 bwMode="auto">
          <a:xfrm>
            <a:off x="2709333" y="6177280"/>
            <a:ext cx="6827520" cy="650240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0046" tIns="65023" rIns="130046" bIns="65023" numCol="1" rtlCol="0" anchor="t" anchorCtr="0" compatLnSpc="1">
            <a:prstTxWarp prst="textNoShape">
              <a:avLst/>
            </a:prstTxWarp>
          </a:bodyPr>
          <a:lstStyle/>
          <a:p>
            <a:pPr algn="l" defTabSz="1300460" eaLnBrk="0"/>
            <a:endParaRPr lang="en-US" sz="3400" b="0" dirty="0">
              <a:solidFill>
                <a:schemeClr val="tx1"/>
              </a:solidFill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pic>
        <p:nvPicPr>
          <p:cNvPr id="14" name="Picture 13" descr="sun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9790854" y="5418667"/>
            <a:ext cx="2346960" cy="2275840"/>
          </a:xfrm>
          <a:prstGeom prst="rect">
            <a:avLst/>
          </a:prstGeom>
        </p:spPr>
      </p:pic>
      <p:pic>
        <p:nvPicPr>
          <p:cNvPr id="12" name="Picture 11" descr="ant.jpg"/>
          <p:cNvPicPr>
            <a:picLocks noChangeAspect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9862929" y="2385171"/>
            <a:ext cx="758613" cy="539954"/>
          </a:xfrm>
          <a:prstGeom prst="rect">
            <a:avLst/>
          </a:prstGeom>
        </p:spPr>
      </p:pic>
      <p:pic>
        <p:nvPicPr>
          <p:cNvPr id="16" name="Picture 15" descr="ant.jpg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3467947" y="6719147"/>
            <a:ext cx="758613" cy="539954"/>
          </a:xfrm>
          <a:prstGeom prst="rect">
            <a:avLst/>
          </a:prstGeom>
        </p:spPr>
      </p:pic>
      <p:pic>
        <p:nvPicPr>
          <p:cNvPr id="15" name="Picture 14" descr="ant.jpg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321800" y="8305800"/>
            <a:ext cx="758613" cy="53995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049427" y="8318899"/>
            <a:ext cx="1939374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44 seconds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the Next Star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950721" y="1733974"/>
            <a:ext cx="10418433" cy="3886283"/>
            <a:chOff x="533400" y="2133599"/>
            <a:chExt cx="8371955" cy="3122905"/>
          </a:xfrm>
        </p:grpSpPr>
        <p:sp>
          <p:nvSpPr>
            <p:cNvPr id="4" name="Isosceles Triangle 3"/>
            <p:cNvSpPr/>
            <p:nvPr/>
          </p:nvSpPr>
          <p:spPr bwMode="auto">
            <a:xfrm>
              <a:off x="533400" y="2209800"/>
              <a:ext cx="6705600" cy="2209800"/>
            </a:xfrm>
            <a:prstGeom prst="triangl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533400" y="4687669"/>
              <a:ext cx="6781800" cy="1588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 rot="5400000">
              <a:off x="6358052" y="3275805"/>
              <a:ext cx="2286000" cy="15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70C0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1404257" y="4687667"/>
              <a:ext cx="4853922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FF0000"/>
                  </a:solidFill>
                </a:rPr>
                <a:t>2</a:t>
              </a:r>
              <a:r>
                <a:rPr lang="en-US" sz="4000" baseline="30000" dirty="0" smtClean="0">
                  <a:solidFill>
                    <a:srgbClr val="FF0000"/>
                  </a:solidFill>
                </a:rPr>
                <a:t>62</a:t>
              </a:r>
              <a:r>
                <a:rPr lang="en-US" sz="4000" dirty="0" smtClean="0">
                  <a:solidFill>
                    <a:srgbClr val="FF0000"/>
                  </a:solidFill>
                </a:rPr>
                <a:t> cm </a:t>
              </a:r>
              <a:r>
                <a:rPr lang="en-US" sz="4000" dirty="0" smtClean="0">
                  <a:solidFill>
                    <a:srgbClr val="C00000"/>
                  </a:solidFill>
                </a:rPr>
                <a:t>≈ 4.24 light-years</a:t>
              </a:r>
              <a:endParaRPr lang="en-US" sz="4000" baseline="30000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7343" y="2895600"/>
              <a:ext cx="1318012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70C0"/>
                  </a:solidFill>
                </a:rPr>
                <a:t>62 cm</a:t>
              </a:r>
              <a:endParaRPr lang="en-US" sz="4000" dirty="0">
                <a:solidFill>
                  <a:srgbClr val="0070C0"/>
                </a:solidFill>
              </a:endParaRPr>
            </a:p>
          </p:txBody>
        </p:sp>
      </p:grpSp>
      <p:pic>
        <p:nvPicPr>
          <p:cNvPr id="17" name="Picture 16" descr="earth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083733" y="6068907"/>
            <a:ext cx="1155982" cy="866987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 bwMode="auto">
          <a:xfrm>
            <a:off x="2709333" y="6177280"/>
            <a:ext cx="6827520" cy="650240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0046" tIns="65023" rIns="130046" bIns="65023" numCol="1" rtlCol="0" anchor="t" anchorCtr="0" compatLnSpc="1">
            <a:prstTxWarp prst="textNoShape">
              <a:avLst/>
            </a:prstTxWarp>
          </a:bodyPr>
          <a:lstStyle/>
          <a:p>
            <a:pPr algn="l" defTabSz="1300460" eaLnBrk="0"/>
            <a:endParaRPr lang="en-US" sz="3400" b="0" dirty="0">
              <a:solidFill>
                <a:schemeClr val="tx1"/>
              </a:solidFill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pic>
        <p:nvPicPr>
          <p:cNvPr id="12" name="Picture 11" descr="proxima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764827" y="5527041"/>
            <a:ext cx="2047866" cy="200786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536854" y="7586133"/>
            <a:ext cx="2702403" cy="485259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pPr algn="ctr"/>
            <a:r>
              <a:rPr lang="en-US" sz="2300" dirty="0" err="1" smtClean="0"/>
              <a:t>Proxima</a:t>
            </a:r>
            <a:r>
              <a:rPr lang="en-US" sz="2300" dirty="0" smtClean="0"/>
              <a:t> Centauri</a:t>
            </a:r>
            <a:endParaRPr lang="en-US" sz="2300" dirty="0"/>
          </a:p>
        </p:txBody>
      </p:sp>
      <p:pic>
        <p:nvPicPr>
          <p:cNvPr id="15" name="Picture 14" descr="ant.jpg"/>
          <p:cNvPicPr>
            <a:picLocks noChangeAspect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9862929" y="2385171"/>
            <a:ext cx="758613" cy="539954"/>
          </a:xfrm>
          <a:prstGeom prst="rect">
            <a:avLst/>
          </a:prstGeom>
        </p:spPr>
      </p:pic>
      <p:pic>
        <p:nvPicPr>
          <p:cNvPr id="18" name="Picture 17" descr="ant.jpg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3359573" y="6719147"/>
            <a:ext cx="758613" cy="539954"/>
          </a:xfrm>
          <a:prstGeom prst="rect">
            <a:avLst/>
          </a:prstGeom>
        </p:spPr>
      </p:pic>
      <p:pic>
        <p:nvPicPr>
          <p:cNvPr id="16" name="Picture 15" descr="ant.jpg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321800" y="8527846"/>
            <a:ext cx="758613" cy="53995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049427" y="8540945"/>
            <a:ext cx="1939374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62 seconds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the Next Galaxy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950721" y="1733974"/>
            <a:ext cx="10418433" cy="3886283"/>
            <a:chOff x="533400" y="2133599"/>
            <a:chExt cx="8371955" cy="3122905"/>
          </a:xfrm>
        </p:grpSpPr>
        <p:sp>
          <p:nvSpPr>
            <p:cNvPr id="4" name="Isosceles Triangle 3"/>
            <p:cNvSpPr/>
            <p:nvPr/>
          </p:nvSpPr>
          <p:spPr bwMode="auto">
            <a:xfrm>
              <a:off x="533400" y="2209800"/>
              <a:ext cx="6705600" cy="2209800"/>
            </a:xfrm>
            <a:prstGeom prst="triangl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533400" y="4687669"/>
              <a:ext cx="6781800" cy="1588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 rot="5400000">
              <a:off x="6358052" y="3275805"/>
              <a:ext cx="2286000" cy="15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70C0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1317171" y="4687667"/>
              <a:ext cx="5312495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FF0000"/>
                  </a:solidFill>
                </a:rPr>
                <a:t>2</a:t>
              </a:r>
              <a:r>
                <a:rPr lang="en-US" sz="4000" baseline="30000" dirty="0" smtClean="0">
                  <a:solidFill>
                    <a:srgbClr val="FF0000"/>
                  </a:solidFill>
                </a:rPr>
                <a:t>74</a:t>
              </a:r>
              <a:r>
                <a:rPr lang="en-US" sz="4000" dirty="0" smtClean="0">
                  <a:solidFill>
                    <a:srgbClr val="FF0000"/>
                  </a:solidFill>
                </a:rPr>
                <a:t> cm </a:t>
              </a:r>
              <a:r>
                <a:rPr lang="en-US" sz="4000" i="1" dirty="0" smtClean="0">
                  <a:solidFill>
                    <a:srgbClr val="C00000"/>
                  </a:solidFill>
                </a:rPr>
                <a:t>≈ 25,000 light-years</a:t>
              </a:r>
              <a:endParaRPr lang="en-US" sz="4000" i="1" baseline="30000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7343" y="2895600"/>
              <a:ext cx="1318012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70C0"/>
                  </a:solidFill>
                </a:rPr>
                <a:t>74 cm</a:t>
              </a:r>
              <a:endParaRPr lang="en-US" sz="4000" dirty="0">
                <a:solidFill>
                  <a:srgbClr val="0070C0"/>
                </a:solidFill>
              </a:endParaRPr>
            </a:p>
          </p:txBody>
        </p:sp>
      </p:grpSp>
      <p:pic>
        <p:nvPicPr>
          <p:cNvPr id="17" name="Picture 16" descr="earth.pn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228231" y="6177280"/>
            <a:ext cx="866987" cy="650240"/>
          </a:xfrm>
          <a:prstGeom prst="rect">
            <a:avLst/>
          </a:prstGeom>
        </p:spPr>
      </p:pic>
      <p:sp>
        <p:nvSpPr>
          <p:cNvPr id="13" name="Right Arrow 12"/>
          <p:cNvSpPr/>
          <p:nvPr/>
        </p:nvSpPr>
        <p:spPr bwMode="auto">
          <a:xfrm>
            <a:off x="2709333" y="6177280"/>
            <a:ext cx="6827520" cy="650240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0046" tIns="65023" rIns="130046" bIns="65023" numCol="1" rtlCol="0" anchor="t" anchorCtr="0" compatLnSpc="1">
            <a:prstTxWarp prst="textNoShape">
              <a:avLst/>
            </a:prstTxWarp>
          </a:bodyPr>
          <a:lstStyle/>
          <a:p>
            <a:pPr algn="l" defTabSz="1300460" eaLnBrk="0"/>
            <a:endParaRPr lang="en-US" sz="3400" b="0" dirty="0">
              <a:solidFill>
                <a:schemeClr val="tx1"/>
              </a:solidFill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pic>
        <p:nvPicPr>
          <p:cNvPr id="15" name="Picture 14" descr="galaxy.jpg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9796950" y="5635414"/>
            <a:ext cx="2774357" cy="173397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910294" y="7429754"/>
            <a:ext cx="2832246" cy="485259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pPr algn="ctr"/>
            <a:r>
              <a:rPr lang="en-US" sz="2300" dirty="0" err="1" smtClean="0"/>
              <a:t>Canis</a:t>
            </a:r>
            <a:r>
              <a:rPr lang="en-US" sz="2300" dirty="0" smtClean="0"/>
              <a:t> Major Dwarf</a:t>
            </a:r>
            <a:endParaRPr lang="en-US" sz="2300" dirty="0"/>
          </a:p>
        </p:txBody>
      </p:sp>
      <p:pic>
        <p:nvPicPr>
          <p:cNvPr id="18" name="Picture 17" descr="ant.jpg"/>
          <p:cNvPicPr>
            <a:picLocks noChangeAspect="1"/>
          </p:cNvPicPr>
          <p:nvPr/>
        </p:nvPicPr>
        <p:blipFill>
          <a:blip r:embed="rId4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9862929" y="2385171"/>
            <a:ext cx="758613" cy="539954"/>
          </a:xfrm>
          <a:prstGeom prst="rect">
            <a:avLst/>
          </a:prstGeom>
        </p:spPr>
      </p:pic>
      <p:pic>
        <p:nvPicPr>
          <p:cNvPr id="20" name="Picture 19" descr="ant.jpg"/>
          <p:cNvPicPr>
            <a:picLocks noChangeAspect="1"/>
          </p:cNvPicPr>
          <p:nvPr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3142827" y="6719147"/>
            <a:ext cx="758613" cy="539954"/>
          </a:xfrm>
          <a:prstGeom prst="rect">
            <a:avLst/>
          </a:prstGeom>
        </p:spPr>
      </p:pic>
      <p:pic>
        <p:nvPicPr>
          <p:cNvPr id="19" name="Picture 18" descr="ant.jpg"/>
          <p:cNvPicPr>
            <a:picLocks noChangeAspect="1"/>
          </p:cNvPicPr>
          <p:nvPr/>
        </p:nvPicPr>
        <p:blipFill>
          <a:blip r:embed="rId5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321800" y="8527846"/>
            <a:ext cx="758613" cy="53995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049427" y="8540945"/>
            <a:ext cx="1939373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74 seconds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universe.jpg"/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98814" y="5852160"/>
            <a:ext cx="12207172" cy="346794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Observable Universe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950721" y="1733974"/>
            <a:ext cx="10418433" cy="3886283"/>
            <a:chOff x="533400" y="2133599"/>
            <a:chExt cx="8371955" cy="3122905"/>
          </a:xfrm>
        </p:grpSpPr>
        <p:sp>
          <p:nvSpPr>
            <p:cNvPr id="4" name="Isosceles Triangle 3"/>
            <p:cNvSpPr/>
            <p:nvPr/>
          </p:nvSpPr>
          <p:spPr bwMode="auto">
            <a:xfrm>
              <a:off x="533400" y="2209800"/>
              <a:ext cx="6705600" cy="2209800"/>
            </a:xfrm>
            <a:prstGeom prst="triangl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533400" y="4687669"/>
              <a:ext cx="6781800" cy="1588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olid"/>
              <a:round/>
              <a:headEnd type="arrow"/>
              <a:tailEnd type="arrow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 rot="5400000">
              <a:off x="6358052" y="3275805"/>
              <a:ext cx="2286000" cy="15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70C0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1143000" y="4687667"/>
              <a:ext cx="5836763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FF0000"/>
                  </a:solidFill>
                </a:rPr>
                <a:t>2</a:t>
              </a:r>
              <a:r>
                <a:rPr lang="en-US" sz="4000" baseline="30000" dirty="0" smtClean="0">
                  <a:solidFill>
                    <a:srgbClr val="FF0000"/>
                  </a:solidFill>
                </a:rPr>
                <a:t>96</a:t>
              </a:r>
              <a:r>
                <a:rPr lang="en-US" sz="4000" dirty="0" smtClean="0">
                  <a:solidFill>
                    <a:srgbClr val="FF0000"/>
                  </a:solidFill>
                </a:rPr>
                <a:t> cm </a:t>
              </a:r>
              <a:r>
                <a:rPr lang="en-US" sz="4000" i="1" dirty="0" smtClean="0">
                  <a:solidFill>
                    <a:srgbClr val="C00000"/>
                  </a:solidFill>
                </a:rPr>
                <a:t>≈ 92 billion light-years</a:t>
              </a:r>
              <a:endParaRPr lang="en-US" sz="4000" i="1" baseline="30000" dirty="0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7343" y="2895600"/>
              <a:ext cx="1318012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70C0"/>
                  </a:solidFill>
                </a:rPr>
                <a:t>96 cm</a:t>
              </a:r>
              <a:endParaRPr lang="en-US" sz="4000" dirty="0">
                <a:solidFill>
                  <a:srgbClr val="0070C0"/>
                </a:solidFill>
              </a:endParaRPr>
            </a:p>
          </p:txBody>
        </p:sp>
      </p:grpSp>
      <p:sp>
        <p:nvSpPr>
          <p:cNvPr id="13" name="Right Arrow 12"/>
          <p:cNvSpPr/>
          <p:nvPr/>
        </p:nvSpPr>
        <p:spPr bwMode="auto">
          <a:xfrm>
            <a:off x="433493" y="7261013"/>
            <a:ext cx="12246187" cy="650240"/>
          </a:xfrm>
          <a:prstGeom prst="rightArrow">
            <a:avLst/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30046" tIns="65023" rIns="130046" bIns="65023" numCol="1" rtlCol="0" anchor="t" anchorCtr="0" compatLnSpc="1">
            <a:prstTxWarp prst="textNoShape">
              <a:avLst/>
            </a:prstTxWarp>
          </a:bodyPr>
          <a:lstStyle/>
          <a:p>
            <a:pPr algn="l" defTabSz="1300460" eaLnBrk="0"/>
            <a:endParaRPr lang="en-US" sz="3400" b="0" dirty="0">
              <a:solidFill>
                <a:schemeClr val="tx1"/>
              </a:solidFill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pic>
        <p:nvPicPr>
          <p:cNvPr id="18" name="Picture 17" descr="ant.jpg"/>
          <p:cNvPicPr>
            <a:picLocks noChangeAspect="1"/>
          </p:cNvPicPr>
          <p:nvPr/>
        </p:nvPicPr>
        <p:blipFill>
          <a:blip r:embed="rId3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9862929" y="2385171"/>
            <a:ext cx="758613" cy="539954"/>
          </a:xfrm>
          <a:prstGeom prst="rect">
            <a:avLst/>
          </a:prstGeom>
        </p:spPr>
      </p:pic>
      <p:pic>
        <p:nvPicPr>
          <p:cNvPr id="15" name="Picture 14" descr="ant.jpg"/>
          <p:cNvPicPr>
            <a:picLocks noChangeAspect="1"/>
          </p:cNvPicPr>
          <p:nvPr/>
        </p:nvPicPr>
        <p:blipFill>
          <a:blip r:embed="rId3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650240" y="7339582"/>
            <a:ext cx="758613" cy="539954"/>
          </a:xfrm>
          <a:prstGeom prst="rect">
            <a:avLst/>
          </a:prstGeom>
        </p:spPr>
      </p:pic>
      <p:pic>
        <p:nvPicPr>
          <p:cNvPr id="16" name="Picture 15" descr="ant.jpg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10236199" y="9137446"/>
            <a:ext cx="758613" cy="53995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63826" y="9150545"/>
            <a:ext cx="1939374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96 seconds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 the Atoms in the Universe</a:t>
            </a:r>
            <a:endParaRPr lang="en-US" dirty="0"/>
          </a:p>
        </p:txBody>
      </p:sp>
      <p:grpSp>
        <p:nvGrpSpPr>
          <p:cNvPr id="3" name="Group 8"/>
          <p:cNvGrpSpPr/>
          <p:nvPr/>
        </p:nvGrpSpPr>
        <p:grpSpPr>
          <a:xfrm>
            <a:off x="1950720" y="1733974"/>
            <a:ext cx="10703766" cy="3886283"/>
            <a:chOff x="533400" y="2133599"/>
            <a:chExt cx="8601241" cy="3122905"/>
          </a:xfrm>
        </p:grpSpPr>
        <p:sp>
          <p:nvSpPr>
            <p:cNvPr id="4" name="Isosceles Triangle 3"/>
            <p:cNvSpPr/>
            <p:nvPr/>
          </p:nvSpPr>
          <p:spPr bwMode="auto">
            <a:xfrm>
              <a:off x="533400" y="2209800"/>
              <a:ext cx="6705600" cy="2209800"/>
            </a:xfrm>
            <a:prstGeom prst="triangle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 defTabSz="1300460" eaLnBrk="0"/>
              <a:endParaRPr lang="en-US" sz="3400" b="0" dirty="0">
                <a:solidFill>
                  <a:schemeClr val="tx1"/>
                </a:solidFill>
                <a:latin typeface="45 Helvetica Light" pitchFamily="-110" charset="0"/>
                <a:ea typeface="Geneva" pitchFamily="-110" charset="-128"/>
                <a:cs typeface="Geneva" pitchFamily="-110" charset="-128"/>
              </a:endParaRPr>
            </a:p>
          </p:txBody>
        </p:sp>
        <p:cxnSp>
          <p:nvCxnSpPr>
            <p:cNvPr id="5" name="Straight Arrow Connector 4"/>
            <p:cNvCxnSpPr/>
            <p:nvPr/>
          </p:nvCxnSpPr>
          <p:spPr bwMode="auto">
            <a:xfrm>
              <a:off x="533400" y="4687669"/>
              <a:ext cx="6781800" cy="1588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FF0000"/>
              </a:solidFill>
              <a:prstDash val="sysDot"/>
              <a:round/>
              <a:headEnd type="none" w="med" len="med"/>
              <a:tailEnd type="arrow" w="med" len="med"/>
            </a:ln>
            <a:effectLst/>
          </p:spPr>
        </p:cxnSp>
        <p:cxnSp>
          <p:nvCxnSpPr>
            <p:cNvPr id="6" name="Straight Arrow Connector 5"/>
            <p:cNvCxnSpPr/>
            <p:nvPr/>
          </p:nvCxnSpPr>
          <p:spPr bwMode="auto">
            <a:xfrm rot="5400000">
              <a:off x="6358052" y="3275805"/>
              <a:ext cx="2286000" cy="1587"/>
            </a:xfrm>
            <a:prstGeom prst="straightConnector1">
              <a:avLst/>
            </a:prstGeom>
            <a:solidFill>
              <a:schemeClr val="accent1"/>
            </a:solidFill>
            <a:ln w="57150" cap="flat" cmpd="sng" algn="ctr">
              <a:solidFill>
                <a:srgbClr val="0070C0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7" name="TextBox 6"/>
            <p:cNvSpPr txBox="1"/>
            <p:nvPr/>
          </p:nvSpPr>
          <p:spPr>
            <a:xfrm>
              <a:off x="3166086" y="4687667"/>
              <a:ext cx="1624586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FF0000"/>
                  </a:solidFill>
                </a:rPr>
                <a:t>10</a:t>
              </a:r>
              <a:r>
                <a:rPr lang="en-US" sz="4000" baseline="30000" dirty="0" smtClean="0">
                  <a:solidFill>
                    <a:srgbClr val="FF0000"/>
                  </a:solidFill>
                </a:rPr>
                <a:t>80</a:t>
              </a:r>
              <a:r>
                <a:rPr lang="en-US" sz="4000" dirty="0" smtClean="0">
                  <a:solidFill>
                    <a:srgbClr val="FF0000"/>
                  </a:solidFill>
                </a:rPr>
                <a:t> cm</a:t>
              </a:r>
              <a:endParaRPr lang="en-US" sz="4000" baseline="30000" dirty="0">
                <a:solidFill>
                  <a:srgbClr val="FF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587343" y="2895600"/>
              <a:ext cx="1547298" cy="5688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 smtClean="0">
                  <a:solidFill>
                    <a:srgbClr val="0070C0"/>
                  </a:solidFill>
                </a:rPr>
                <a:t>265 cm</a:t>
              </a:r>
              <a:endParaRPr lang="en-US" sz="4000" dirty="0">
                <a:solidFill>
                  <a:srgbClr val="0070C0"/>
                </a:solidFill>
              </a:endParaRPr>
            </a:p>
          </p:txBody>
        </p:sp>
      </p:grpSp>
      <p:pic>
        <p:nvPicPr>
          <p:cNvPr id="15" name="Picture 14" descr="ant.jpg"/>
          <p:cNvPicPr>
            <a:picLocks noChangeAspect="1"/>
          </p:cNvPicPr>
          <p:nvPr/>
        </p:nvPicPr>
        <p:blipFill>
          <a:blip r:embed="rId2" cstate="screen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16200000">
            <a:off x="9862929" y="2385171"/>
            <a:ext cx="758613" cy="539954"/>
          </a:xfrm>
          <a:prstGeom prst="rect">
            <a:avLst/>
          </a:prstGeom>
        </p:spPr>
      </p:pic>
      <p:pic>
        <p:nvPicPr>
          <p:cNvPr id="16" name="Picture 15" descr="ant.jpg"/>
          <p:cNvPicPr>
            <a:picLocks noChangeAspect="1"/>
          </p:cNvPicPr>
          <p:nvPr/>
        </p:nvPicPr>
        <p:blipFill>
          <a:blip r:embed="rId2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0000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flipH="1">
            <a:off x="1842347" y="4987087"/>
            <a:ext cx="758613" cy="539954"/>
          </a:xfrm>
          <a:prstGeom prst="rect">
            <a:avLst/>
          </a:prstGeom>
        </p:spPr>
      </p:pic>
      <p:pic>
        <p:nvPicPr>
          <p:cNvPr id="11" name="Picture 10" descr="ant.jpg"/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flipH="1">
            <a:off x="9321800" y="8527846"/>
            <a:ext cx="758613" cy="53995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049427" y="8540945"/>
            <a:ext cx="2110895" cy="500648"/>
          </a:xfrm>
          <a:prstGeom prst="rect">
            <a:avLst/>
          </a:prstGeom>
          <a:noFill/>
        </p:spPr>
        <p:txBody>
          <a:bodyPr wrap="none" lIns="130046" tIns="65023" rIns="130046" bIns="65023" rtlCol="0">
            <a:spAutoFit/>
          </a:bodyPr>
          <a:lstStyle/>
          <a:p>
            <a:r>
              <a:rPr lang="en-US" dirty="0" smtClean="0">
                <a:solidFill>
                  <a:srgbClr val="0070C0"/>
                </a:solidFill>
              </a:rPr>
              <a:t>265 seconds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 </a:t>
            </a:r>
            <a:r>
              <a:rPr lang="en-US" i="1" dirty="0" smtClean="0"/>
              <a:t>O(log n) </a:t>
            </a:r>
            <a:r>
              <a:rPr lang="en-US" dirty="0" smtClean="0"/>
              <a:t>a Big Deal?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6000" b="1" dirty="0" smtClean="0"/>
              <a:t>YES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Constant for practical purposes</a:t>
            </a:r>
          </a:p>
          <a:p>
            <a:pPr lvl="1"/>
            <a:r>
              <a:rPr lang="en-US" dirty="0" smtClean="0"/>
              <a:t>It takes just 265 steps to search all atoms in the universe!</a:t>
            </a:r>
          </a:p>
          <a:p>
            <a:pPr lvl="1"/>
            <a:endParaRPr lang="en-US" dirty="0" smtClean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DFCCA7DB-A587-D047-9C18-922525DC67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3" t="8955" r="9159"/>
          <a:stretch>
            <a:fillRect/>
          </a:stretch>
        </p:blipFill>
        <p:spPr>
          <a:xfrm>
            <a:off x="3302000" y="4876800"/>
            <a:ext cx="6019800" cy="4648200"/>
          </a:xfrm>
          <a:prstGeom prst="rect">
            <a:avLst/>
          </a:prstGeom>
        </p:spPr>
      </p:pic>
      <p:sp>
        <p:nvSpPr>
          <p:cNvPr id="7" name="Rectangular Callout 6"/>
          <p:cNvSpPr/>
          <p:nvPr/>
        </p:nvSpPr>
        <p:spPr bwMode="auto">
          <a:xfrm>
            <a:off x="10464800" y="5763161"/>
            <a:ext cx="2469587" cy="1015663"/>
          </a:xfrm>
          <a:prstGeom prst="wedgeRectCallout">
            <a:avLst>
              <a:gd name="adj1" fmla="val -94703"/>
              <a:gd name="adj2" fmla="val 4350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log n is</a:t>
            </a:r>
            <a:br>
              <a:rPr lang="en-US" sz="2000" b="0" dirty="0" smtClean="0"/>
            </a:br>
            <a:r>
              <a:rPr lang="en-US" sz="2000" dirty="0" smtClean="0"/>
              <a:t>really neat </a:t>
            </a:r>
            <a:r>
              <a:rPr lang="en-US" sz="2000" b="0" dirty="0" smtClean="0"/>
              <a:t>if you are</a:t>
            </a:r>
            <a:br>
              <a:rPr lang="en-US" sz="2000" b="0" dirty="0" smtClean="0"/>
            </a:br>
            <a:r>
              <a:rPr lang="en-US" sz="2000" b="0" dirty="0" smtClean="0"/>
              <a:t>a computer scientist!</a:t>
            </a:r>
            <a:endParaRPr lang="en-US" sz="20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>
            <a:lumMod val="20000"/>
            <a:lumOff val="80000"/>
          </a:schemeClr>
        </a:solidFill>
        <a:ln w="127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</a:spPr>
      <a:bodyPr wrap="none" lIns="45720" rIns="45720" anchor="ctr">
        <a:spAutoFit/>
      </a:bodyPr>
      <a:lstStyle>
        <a:defPPr>
          <a:defRPr sz="2000" b="0" dirty="0" smtClean="0"/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2066</TotalTime>
  <Words>3900</Words>
  <PresentationFormat>Custom</PresentationFormat>
  <Paragraphs>1139</Paragraphs>
  <Slides>46</Slides>
  <Notes>1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White</vt:lpstr>
      <vt:lpstr>Binary Search</vt:lpstr>
      <vt:lpstr>Slide 2</vt:lpstr>
      <vt:lpstr>Searching an Array</vt:lpstr>
      <vt:lpstr>Linear Search</vt:lpstr>
      <vt:lpstr>Linear Search on Sorted Arrays</vt:lpstr>
      <vt:lpstr>Can we do Better on Sorted Arrays?</vt:lpstr>
      <vt:lpstr>A Cautionary Tale</vt:lpstr>
      <vt:lpstr>More of a Cautionary Tale</vt:lpstr>
      <vt:lpstr>Even More of a Cautionary Tale</vt:lpstr>
      <vt:lpstr>Piece of cake?</vt:lpstr>
      <vt:lpstr>Binary Search</vt:lpstr>
      <vt:lpstr>Binary Search</vt:lpstr>
      <vt:lpstr>Binary Search</vt:lpstr>
      <vt:lpstr>Binary Search</vt:lpstr>
      <vt:lpstr>Implementing Binary Search</vt:lpstr>
      <vt:lpstr>Setting up Binary Search</vt:lpstr>
      <vt:lpstr>What do we know at each step?</vt:lpstr>
      <vt:lpstr>Adding Loop Invariants</vt:lpstr>
      <vt:lpstr>Are these Useful Loop Invariants?</vt:lpstr>
      <vt:lpstr>Are the Loop Invariants valid?</vt:lpstr>
      <vt:lpstr>Is binsearch correct?</vt:lpstr>
      <vt:lpstr>Adding the Body</vt:lpstr>
      <vt:lpstr>Is it Safe?</vt:lpstr>
      <vt:lpstr>Are the LI valid?</vt:lpstr>
      <vt:lpstr>Are the LI valid?</vt:lpstr>
      <vt:lpstr>Does it Terminate?</vt:lpstr>
      <vt:lpstr>The Mid-point Assertion</vt:lpstr>
      <vt:lpstr>The Mid-point Assertion</vt:lpstr>
      <vt:lpstr>Final code for binsearch</vt:lpstr>
      <vt:lpstr>Complexity of Binary Search</vt:lpstr>
      <vt:lpstr>The Logarithmic Advantage</vt:lpstr>
      <vt:lpstr>Is O(log n) a Big Deal?</vt:lpstr>
      <vt:lpstr>Visualizing Linear and Binary Search</vt:lpstr>
      <vt:lpstr>Visualizing Linear and Binary Search</vt:lpstr>
      <vt:lpstr>Drawing for small values of n</vt:lpstr>
      <vt:lpstr>Searching with Ants</vt:lpstr>
      <vt:lpstr>Searching 1000 items with Ants</vt:lpstr>
      <vt:lpstr>1 Million Items</vt:lpstr>
      <vt:lpstr>2 Billion</vt:lpstr>
      <vt:lpstr>35 Billion Items</vt:lpstr>
      <vt:lpstr>To the Sun</vt:lpstr>
      <vt:lpstr>To the Next Star</vt:lpstr>
      <vt:lpstr>To the Next Galaxy</vt:lpstr>
      <vt:lpstr>The Observable Universe</vt:lpstr>
      <vt:lpstr>All the Atoms in the Universe</vt:lpstr>
      <vt:lpstr>Is O(log n) a Big Deal?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cp:lastModifiedBy>iliano</cp:lastModifiedBy>
  <cp:revision>160</cp:revision>
  <dcterms:modified xsi:type="dcterms:W3CDTF">2019-02-13T21:25:52Z</dcterms:modified>
</cp:coreProperties>
</file>