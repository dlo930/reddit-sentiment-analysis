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1"/>
    <p:restoredTop sz="94631"/>
  </p:normalViewPr>
  <p:slideViewPr>
    <p:cSldViewPr snapToGrid="0" snapToObjects="1">
      <p:cViewPr>
        <p:scale>
          <a:sx n="120" d="100"/>
          <a:sy n="120" d="100"/>
        </p:scale>
        <p:origin x="520" y="-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EFDB1-9AD1-F444-83CE-7CD4893D86F1}" type="datetimeFigureOut">
              <a:rPr lang="en-US" smtClean="0"/>
              <a:t>3/22/17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F653-C501-104C-B12B-BD766C79F8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EFDB1-9AD1-F444-83CE-7CD4893D86F1}" type="datetimeFigureOut">
              <a:rPr lang="en-US" smtClean="0"/>
              <a:t>3/22/17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F653-C501-104C-B12B-BD766C79F8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EFDB1-9AD1-F444-83CE-7CD4893D86F1}" type="datetimeFigureOut">
              <a:rPr lang="en-US" smtClean="0"/>
              <a:t>3/22/17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F653-C501-104C-B12B-BD766C79F8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EFDB1-9AD1-F444-83CE-7CD4893D86F1}" type="datetimeFigureOut">
              <a:rPr lang="en-US" smtClean="0"/>
              <a:t>3/22/17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F653-C501-104C-B12B-BD766C79F8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EFDB1-9AD1-F444-83CE-7CD4893D86F1}" type="datetimeFigureOut">
              <a:rPr lang="en-US" smtClean="0"/>
              <a:t>3/22/17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F653-C501-104C-B12B-BD766C79F8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EFDB1-9AD1-F444-83CE-7CD4893D86F1}" type="datetimeFigureOut">
              <a:rPr lang="en-US" smtClean="0"/>
              <a:t>3/22/17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F653-C501-104C-B12B-BD766C79F8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EFDB1-9AD1-F444-83CE-7CD4893D86F1}" type="datetimeFigureOut">
              <a:rPr lang="en-US" smtClean="0"/>
              <a:t>3/22/17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F653-C501-104C-B12B-BD766C79F8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EFDB1-9AD1-F444-83CE-7CD4893D86F1}" type="datetimeFigureOut">
              <a:rPr lang="en-US" smtClean="0"/>
              <a:t>3/22/17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F653-C501-104C-B12B-BD766C79F8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EFDB1-9AD1-F444-83CE-7CD4893D86F1}" type="datetimeFigureOut">
              <a:rPr lang="en-US" smtClean="0"/>
              <a:t>3/22/17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F653-C501-104C-B12B-BD766C79F8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EFDB1-9AD1-F444-83CE-7CD4893D86F1}" type="datetimeFigureOut">
              <a:rPr lang="en-US" smtClean="0"/>
              <a:t>3/22/17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F653-C501-104C-B12B-BD766C79F8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EFDB1-9AD1-F444-83CE-7CD4893D86F1}" type="datetimeFigureOut">
              <a:rPr lang="en-US" smtClean="0"/>
              <a:t>3/22/17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F653-C501-104C-B12B-BD766C79F8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CEFDB1-9AD1-F444-83CE-7CD4893D86F1}" type="datetimeFigureOut">
              <a:rPr lang="en-US" smtClean="0"/>
              <a:t>3/22/17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CEF653-C501-104C-B12B-BD766C79F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82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/>
          <a:p>
            <a:r>
              <a:rPr lang="en-US" smtClean="0"/>
              <a:t>Pictures </a:t>
            </a:r>
            <a:r>
              <a:rPr lang="en-US" dirty="0" smtClean="0"/>
              <a:t>for this lab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b="1" dirty="0" smtClean="0">
                <a:solidFill>
                  <a:schemeClr val="tx1"/>
                </a:solidFill>
              </a:rPr>
              <a:t>To save a picture (1 per slide):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picture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right-click ‘</a:t>
            </a:r>
            <a:r>
              <a:rPr lang="en-US" i="1" dirty="0" smtClean="0">
                <a:solidFill>
                  <a:schemeClr val="tx1"/>
                </a:solidFill>
              </a:rPr>
              <a:t>Save as Picture …</a:t>
            </a:r>
            <a:r>
              <a:rPr lang="en-US" dirty="0" smtClean="0">
                <a:solidFill>
                  <a:schemeClr val="tx1"/>
                </a:solidFill>
              </a:rPr>
              <a:t>’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PNG format and use the slide title as the file name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74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981564" y="3085854"/>
            <a:ext cx="372110" cy="36639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D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636759" y="3543054"/>
            <a:ext cx="372110" cy="36639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B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296399" y="4000254"/>
            <a:ext cx="372110" cy="36639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A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1326369" y="3543054"/>
            <a:ext cx="372110" cy="36639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E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981564" y="4000254"/>
            <a:ext cx="372110" cy="36639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C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934574" y="3404621"/>
            <a:ext cx="115570" cy="1663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585959" y="3865631"/>
            <a:ext cx="119380" cy="1701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286364" y="3404621"/>
            <a:ext cx="115570" cy="1739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941559" y="3858646"/>
            <a:ext cx="115570" cy="1739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467467" y="3085854"/>
            <a:ext cx="371475" cy="36639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D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2122662" y="3543054"/>
            <a:ext cx="371475" cy="36639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B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781667" y="4000254"/>
            <a:ext cx="371475" cy="36639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A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2811637" y="3543054"/>
            <a:ext cx="371475" cy="36639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E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2467467" y="4000254"/>
            <a:ext cx="371475" cy="36639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C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 flipH="1">
            <a:off x="2420477" y="3404621"/>
            <a:ext cx="114935" cy="1663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2071862" y="3865631"/>
            <a:ext cx="118745" cy="1701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2772267" y="3404621"/>
            <a:ext cx="114935" cy="1739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427462" y="3858646"/>
            <a:ext cx="114935" cy="1739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946382" y="3092204"/>
            <a:ext cx="371475" cy="36639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D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3602212" y="3549404"/>
            <a:ext cx="371475" cy="36639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B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3261217" y="4006604"/>
            <a:ext cx="371475" cy="36639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A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4291187" y="3549404"/>
            <a:ext cx="371475" cy="36639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E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3946382" y="4006604"/>
            <a:ext cx="371475" cy="36639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C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 flipH="1">
            <a:off x="3899392" y="3411606"/>
            <a:ext cx="114935" cy="1663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3551412" y="3872616"/>
            <a:ext cx="118745" cy="1701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251182" y="3411606"/>
            <a:ext cx="114935" cy="1739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3906377" y="3864996"/>
            <a:ext cx="114935" cy="1739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5439267" y="3085854"/>
            <a:ext cx="371475" cy="36639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D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5094462" y="3543054"/>
            <a:ext cx="371475" cy="36639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B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753467" y="4000254"/>
            <a:ext cx="371475" cy="36639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A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783437" y="3543054"/>
            <a:ext cx="371475" cy="36639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E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5439267" y="4000254"/>
            <a:ext cx="371475" cy="36639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C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 flipH="1">
            <a:off x="5392277" y="3404621"/>
            <a:ext cx="114935" cy="1663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H="1">
            <a:off x="5043662" y="3865631"/>
            <a:ext cx="118745" cy="1701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5744067" y="3404621"/>
            <a:ext cx="114935" cy="1739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5399262" y="3858646"/>
            <a:ext cx="114935" cy="1739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896592" y="3092204"/>
            <a:ext cx="371475" cy="36639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D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6551787" y="3549404"/>
            <a:ext cx="371475" cy="36639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B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6210792" y="4006604"/>
            <a:ext cx="371475" cy="36639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A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7240762" y="3549404"/>
            <a:ext cx="371475" cy="36639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E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6896592" y="4006604"/>
            <a:ext cx="371475" cy="36639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C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cxnSp>
        <p:nvCxnSpPr>
          <p:cNvPr id="45" name="Straight Connector 44"/>
          <p:cNvCxnSpPr/>
          <p:nvPr/>
        </p:nvCxnSpPr>
        <p:spPr>
          <a:xfrm flipH="1">
            <a:off x="6849602" y="3411606"/>
            <a:ext cx="114935" cy="1663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H="1">
            <a:off x="6500987" y="3872616"/>
            <a:ext cx="118745" cy="1701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7201392" y="3411606"/>
            <a:ext cx="114935" cy="1739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6856587" y="3864996"/>
            <a:ext cx="114935" cy="1739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Box 104"/>
          <p:cNvSpPr txBox="1"/>
          <p:nvPr/>
        </p:nvSpPr>
        <p:spPr>
          <a:xfrm>
            <a:off x="0" y="3411606"/>
            <a:ext cx="71127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>
                <a:latin typeface="Arial" charset="0"/>
                <a:ea typeface="Calibri" charset="0"/>
                <a:cs typeface="Times New Roman" charset="0"/>
              </a:rPr>
              <a:t>Top of stack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cxnSp>
        <p:nvCxnSpPr>
          <p:cNvPr id="50" name="Straight Connector 49"/>
          <p:cNvCxnSpPr/>
          <p:nvPr/>
        </p:nvCxnSpPr>
        <p:spPr>
          <a:xfrm flipH="1" flipV="1">
            <a:off x="271634" y="3838168"/>
            <a:ext cx="41878" cy="18955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 Box 108"/>
          <p:cNvSpPr txBox="1"/>
          <p:nvPr/>
        </p:nvSpPr>
        <p:spPr>
          <a:xfrm>
            <a:off x="142924" y="2775339"/>
            <a:ext cx="712277" cy="436877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 smtClean="0">
                <a:latin typeface="Arial" charset="0"/>
                <a:ea typeface="Calibri" charset="0"/>
                <a:cs typeface="Times New Roman" charset="0"/>
              </a:rPr>
              <a:t>Bottom </a:t>
            </a:r>
            <a:r>
              <a:rPr lang="en-US" sz="1200" dirty="0">
                <a:latin typeface="Arial" charset="0"/>
                <a:ea typeface="Calibri" charset="0"/>
                <a:cs typeface="Times New Roman" charset="0"/>
              </a:rPr>
              <a:t>of stack</a:t>
            </a:r>
            <a:endParaRPr lang="en-US" sz="1200" dirty="0">
              <a:latin typeface="Cambria" charset="0"/>
              <a:ea typeface="Calibri" charset="0"/>
              <a:cs typeface="Times New Roman" charset="0"/>
            </a:endParaRPr>
          </a:p>
        </p:txBody>
      </p:sp>
      <p:cxnSp>
        <p:nvCxnSpPr>
          <p:cNvPr id="52" name="Straight Connector 51"/>
          <p:cNvCxnSpPr/>
          <p:nvPr/>
        </p:nvCxnSpPr>
        <p:spPr>
          <a:xfrm flipH="1" flipV="1">
            <a:off x="785781" y="3011540"/>
            <a:ext cx="194576" cy="112426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 Box 110"/>
          <p:cNvSpPr txBox="1"/>
          <p:nvPr/>
        </p:nvSpPr>
        <p:spPr>
          <a:xfrm>
            <a:off x="769477" y="2532766"/>
            <a:ext cx="554355" cy="29210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u="sng">
                <a:latin typeface="Arial" charset="0"/>
                <a:ea typeface="Calibri" charset="0"/>
                <a:cs typeface="Times New Roman" charset="0"/>
              </a:rPr>
              <a:t>Start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54" name="Text Box 111"/>
          <p:cNvSpPr txBox="1"/>
          <p:nvPr/>
        </p:nvSpPr>
        <p:spPr>
          <a:xfrm>
            <a:off x="1976612" y="2360681"/>
            <a:ext cx="1101725" cy="52451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u="sng" dirty="0">
                <a:latin typeface="Arial" charset="0"/>
                <a:ea typeface="Calibri" charset="0"/>
                <a:cs typeface="Times New Roman" charset="0"/>
              </a:rPr>
              <a:t>After </a:t>
            </a:r>
            <a:r>
              <a:rPr lang="en-US" sz="1200" b="1" u="sng" dirty="0" smtClean="0">
                <a:latin typeface="Arial" charset="0"/>
                <a:ea typeface="Calibri" charset="0"/>
                <a:cs typeface="Times New Roman" charset="0"/>
              </a:rPr>
              <a:t>1 call </a:t>
            </a:r>
            <a:r>
              <a:rPr lang="en-US" sz="1200" b="1" u="sng" dirty="0">
                <a:latin typeface="Arial" charset="0"/>
                <a:ea typeface="Calibri" charset="0"/>
                <a:cs typeface="Times New Roman" charset="0"/>
              </a:rPr>
              <a:t>to next()</a:t>
            </a:r>
            <a:endParaRPr lang="en-US" sz="1200" dirty="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55" name="Text Box 114"/>
          <p:cNvSpPr txBox="1"/>
          <p:nvPr/>
        </p:nvSpPr>
        <p:spPr>
          <a:xfrm>
            <a:off x="1899628" y="4114875"/>
            <a:ext cx="262255" cy="21717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100" dirty="0">
                <a:solidFill>
                  <a:schemeClr val="accent6"/>
                </a:solidFill>
                <a:latin typeface="MS Mincho" charset="-128"/>
                <a:ea typeface="Calibri" charset="0"/>
                <a:cs typeface="MS Mincho" charset="-128"/>
              </a:rPr>
              <a:t>✓</a:t>
            </a:r>
            <a:endParaRPr lang="en-US" sz="1100" dirty="0">
              <a:solidFill>
                <a:schemeClr val="accent6"/>
              </a:solidFill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56" name="Text Box 115"/>
          <p:cNvSpPr txBox="1"/>
          <p:nvPr/>
        </p:nvSpPr>
        <p:spPr>
          <a:xfrm>
            <a:off x="3376638" y="4130750"/>
            <a:ext cx="262255" cy="21717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100" dirty="0">
                <a:solidFill>
                  <a:schemeClr val="accent6"/>
                </a:solidFill>
                <a:latin typeface="MS Mincho" charset="-128"/>
                <a:ea typeface="Calibri" charset="0"/>
                <a:cs typeface="MS Mincho" charset="-128"/>
              </a:rPr>
              <a:t>✓</a:t>
            </a:r>
            <a:endParaRPr lang="en-US" sz="1100" dirty="0">
              <a:solidFill>
                <a:schemeClr val="accent6"/>
              </a:solidFill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57" name="Text Box 116"/>
          <p:cNvSpPr txBox="1"/>
          <p:nvPr/>
        </p:nvSpPr>
        <p:spPr>
          <a:xfrm>
            <a:off x="3720808" y="3665930"/>
            <a:ext cx="262255" cy="21717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100" dirty="0">
                <a:solidFill>
                  <a:schemeClr val="accent6"/>
                </a:solidFill>
                <a:latin typeface="MS Mincho" charset="-128"/>
                <a:ea typeface="Calibri" charset="0"/>
                <a:cs typeface="MS Mincho" charset="-128"/>
              </a:rPr>
              <a:t>✓</a:t>
            </a:r>
            <a:endParaRPr lang="en-US" sz="1100" dirty="0">
              <a:solidFill>
                <a:schemeClr val="accent6"/>
              </a:solidFill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58" name="Text Box 118"/>
          <p:cNvSpPr txBox="1"/>
          <p:nvPr/>
        </p:nvSpPr>
        <p:spPr>
          <a:xfrm>
            <a:off x="4875238" y="4115510"/>
            <a:ext cx="262255" cy="21717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100">
                <a:solidFill>
                  <a:schemeClr val="accent6"/>
                </a:solidFill>
                <a:latin typeface="MS Mincho" charset="-128"/>
                <a:ea typeface="Calibri" charset="0"/>
                <a:cs typeface="MS Mincho" charset="-128"/>
              </a:rPr>
              <a:t>✓</a:t>
            </a:r>
            <a:endParaRPr lang="en-US" sz="1100">
              <a:solidFill>
                <a:schemeClr val="accent6"/>
              </a:solidFill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59" name="Text Box 119"/>
          <p:cNvSpPr txBox="1"/>
          <p:nvPr/>
        </p:nvSpPr>
        <p:spPr>
          <a:xfrm>
            <a:off x="5219408" y="3650690"/>
            <a:ext cx="262255" cy="21717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100">
                <a:solidFill>
                  <a:schemeClr val="accent6"/>
                </a:solidFill>
                <a:latin typeface="MS Mincho" charset="-128"/>
                <a:ea typeface="Calibri" charset="0"/>
                <a:cs typeface="MS Mincho" charset="-128"/>
              </a:rPr>
              <a:t>✓</a:t>
            </a:r>
            <a:endParaRPr lang="en-US" sz="1100">
              <a:solidFill>
                <a:schemeClr val="accent6"/>
              </a:solidFill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60" name="Text Box 120"/>
          <p:cNvSpPr txBox="1"/>
          <p:nvPr/>
        </p:nvSpPr>
        <p:spPr>
          <a:xfrm>
            <a:off x="5557228" y="4107890"/>
            <a:ext cx="262255" cy="21717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100">
                <a:solidFill>
                  <a:schemeClr val="accent6"/>
                </a:solidFill>
                <a:latin typeface="MS Mincho" charset="-128"/>
                <a:ea typeface="Calibri" charset="0"/>
                <a:cs typeface="MS Mincho" charset="-128"/>
              </a:rPr>
              <a:t>✓</a:t>
            </a:r>
            <a:endParaRPr lang="en-US" sz="1100">
              <a:solidFill>
                <a:schemeClr val="accent6"/>
              </a:solidFill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61" name="Text Box 121"/>
          <p:cNvSpPr txBox="1"/>
          <p:nvPr/>
        </p:nvSpPr>
        <p:spPr>
          <a:xfrm>
            <a:off x="6329388" y="4123130"/>
            <a:ext cx="262255" cy="21717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100">
                <a:solidFill>
                  <a:schemeClr val="accent6"/>
                </a:solidFill>
                <a:latin typeface="MS Mincho" charset="-128"/>
                <a:ea typeface="Calibri" charset="0"/>
                <a:cs typeface="MS Mincho" charset="-128"/>
              </a:rPr>
              <a:t>✓</a:t>
            </a:r>
            <a:endParaRPr lang="en-US" sz="1100">
              <a:solidFill>
                <a:schemeClr val="accent6"/>
              </a:solidFill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62" name="Text Box 122"/>
          <p:cNvSpPr txBox="1"/>
          <p:nvPr/>
        </p:nvSpPr>
        <p:spPr>
          <a:xfrm>
            <a:off x="6673558" y="3658310"/>
            <a:ext cx="262255" cy="21717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100">
                <a:solidFill>
                  <a:schemeClr val="accent6"/>
                </a:solidFill>
                <a:latin typeface="MS Mincho" charset="-128"/>
                <a:ea typeface="Calibri" charset="0"/>
                <a:cs typeface="MS Mincho" charset="-128"/>
              </a:rPr>
              <a:t>✓</a:t>
            </a:r>
            <a:endParaRPr lang="en-US" sz="1100">
              <a:solidFill>
                <a:schemeClr val="accent6"/>
              </a:solidFill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63" name="Text Box 123"/>
          <p:cNvSpPr txBox="1"/>
          <p:nvPr/>
        </p:nvSpPr>
        <p:spPr>
          <a:xfrm>
            <a:off x="7011378" y="4115510"/>
            <a:ext cx="262255" cy="21717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100">
                <a:solidFill>
                  <a:schemeClr val="accent6"/>
                </a:solidFill>
                <a:latin typeface="MS Mincho" charset="-128"/>
                <a:ea typeface="Calibri" charset="0"/>
                <a:cs typeface="MS Mincho" charset="-128"/>
              </a:rPr>
              <a:t>✓</a:t>
            </a:r>
            <a:endParaRPr lang="en-US" sz="1100">
              <a:solidFill>
                <a:schemeClr val="accent6"/>
              </a:solidFill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64" name="Text Box 124"/>
          <p:cNvSpPr txBox="1"/>
          <p:nvPr/>
        </p:nvSpPr>
        <p:spPr>
          <a:xfrm>
            <a:off x="7011378" y="3201110"/>
            <a:ext cx="262255" cy="21717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100">
                <a:solidFill>
                  <a:schemeClr val="accent6"/>
                </a:solidFill>
                <a:latin typeface="MS Mincho" charset="-128"/>
                <a:ea typeface="Calibri" charset="0"/>
                <a:cs typeface="MS Mincho" charset="-128"/>
              </a:rPr>
              <a:t>✓</a:t>
            </a:r>
            <a:endParaRPr lang="en-US" sz="1100">
              <a:solidFill>
                <a:schemeClr val="accent6"/>
              </a:solidFill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65" name="Text Box 125"/>
          <p:cNvSpPr txBox="1"/>
          <p:nvPr/>
        </p:nvSpPr>
        <p:spPr>
          <a:xfrm>
            <a:off x="3355194" y="2368301"/>
            <a:ext cx="1206500" cy="52451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u="sng" dirty="0">
                <a:latin typeface="Arial" charset="0"/>
                <a:ea typeface="Calibri" charset="0"/>
                <a:cs typeface="Times New Roman" charset="0"/>
              </a:rPr>
              <a:t>After </a:t>
            </a:r>
            <a:r>
              <a:rPr lang="en-US" sz="1200" b="1" u="sng" dirty="0" smtClean="0">
                <a:latin typeface="Arial" charset="0"/>
                <a:ea typeface="Calibri" charset="0"/>
                <a:cs typeface="Times New Roman" charset="0"/>
              </a:rPr>
              <a:t>2 calls </a:t>
            </a:r>
            <a:r>
              <a:rPr lang="en-US" sz="1200" b="1" u="sng" dirty="0">
                <a:latin typeface="Arial" charset="0"/>
                <a:ea typeface="Calibri" charset="0"/>
                <a:cs typeface="Times New Roman" charset="0"/>
              </a:rPr>
              <a:t>to next()</a:t>
            </a:r>
            <a:endParaRPr lang="en-US" sz="1200" dirty="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66" name="Text Box 126"/>
          <p:cNvSpPr txBox="1"/>
          <p:nvPr/>
        </p:nvSpPr>
        <p:spPr>
          <a:xfrm>
            <a:off x="4876654" y="2368301"/>
            <a:ext cx="1206500" cy="52451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u="sng" dirty="0">
                <a:latin typeface="Arial" charset="0"/>
                <a:ea typeface="Calibri" charset="0"/>
                <a:cs typeface="Times New Roman" charset="0"/>
              </a:rPr>
              <a:t>After </a:t>
            </a:r>
            <a:r>
              <a:rPr lang="en-US" sz="1200" b="1" u="sng" dirty="0" smtClean="0">
                <a:latin typeface="Arial" charset="0"/>
                <a:ea typeface="Calibri" charset="0"/>
                <a:cs typeface="Times New Roman" charset="0"/>
              </a:rPr>
              <a:t>3 calls </a:t>
            </a:r>
            <a:r>
              <a:rPr lang="en-US" sz="1200" b="1" u="sng" dirty="0">
                <a:latin typeface="Arial" charset="0"/>
                <a:ea typeface="Calibri" charset="0"/>
                <a:cs typeface="Times New Roman" charset="0"/>
              </a:rPr>
              <a:t>to next()</a:t>
            </a:r>
            <a:endParaRPr lang="en-US" sz="1200" dirty="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67" name="Text Box 127"/>
          <p:cNvSpPr txBox="1"/>
          <p:nvPr/>
        </p:nvSpPr>
        <p:spPr>
          <a:xfrm>
            <a:off x="6343504" y="2368301"/>
            <a:ext cx="1206500" cy="52451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u="sng" dirty="0">
                <a:latin typeface="Arial" charset="0"/>
                <a:ea typeface="Calibri" charset="0"/>
                <a:cs typeface="Times New Roman" charset="0"/>
              </a:rPr>
              <a:t>After </a:t>
            </a:r>
            <a:r>
              <a:rPr lang="en-US" sz="1200" b="1" u="sng" dirty="0" smtClean="0">
                <a:latin typeface="Arial" charset="0"/>
                <a:ea typeface="Calibri" charset="0"/>
                <a:cs typeface="Times New Roman" charset="0"/>
              </a:rPr>
              <a:t>4 calls </a:t>
            </a:r>
            <a:r>
              <a:rPr lang="en-US" sz="1200" b="1" u="sng" dirty="0">
                <a:latin typeface="Arial" charset="0"/>
                <a:ea typeface="Calibri" charset="0"/>
                <a:cs typeface="Times New Roman" charset="0"/>
              </a:rPr>
              <a:t>to next()</a:t>
            </a:r>
            <a:endParaRPr lang="en-US" sz="1200" dirty="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68" name="Text Box 128"/>
          <p:cNvSpPr txBox="1"/>
          <p:nvPr/>
        </p:nvSpPr>
        <p:spPr>
          <a:xfrm>
            <a:off x="984742" y="4518411"/>
            <a:ext cx="1256665" cy="34163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sz="1200" b="1" dirty="0">
                <a:latin typeface="Arial" charset="0"/>
                <a:ea typeface="Calibri" charset="0"/>
                <a:cs typeface="Times New Roman" charset="0"/>
              </a:rPr>
              <a:t>next() returns:</a:t>
            </a:r>
            <a:endParaRPr lang="en-US" sz="1200" dirty="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69" name="Text Box 129"/>
          <p:cNvSpPr txBox="1"/>
          <p:nvPr/>
        </p:nvSpPr>
        <p:spPr>
          <a:xfrm>
            <a:off x="2307447" y="4515236"/>
            <a:ext cx="280035" cy="34163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>
                <a:latin typeface="Arial" charset="0"/>
                <a:ea typeface="Calibri" charset="0"/>
                <a:cs typeface="Times New Roman" charset="0"/>
              </a:rPr>
              <a:t>A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70" name="Text Box 130"/>
          <p:cNvSpPr txBox="1"/>
          <p:nvPr/>
        </p:nvSpPr>
        <p:spPr>
          <a:xfrm>
            <a:off x="3842242" y="4515236"/>
            <a:ext cx="280035" cy="34163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>
                <a:latin typeface="Arial" charset="0"/>
                <a:ea typeface="Calibri" charset="0"/>
                <a:cs typeface="Times New Roman" charset="0"/>
              </a:rPr>
              <a:t>B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71" name="Text Box 131"/>
          <p:cNvSpPr txBox="1"/>
          <p:nvPr/>
        </p:nvSpPr>
        <p:spPr>
          <a:xfrm>
            <a:off x="5392912" y="4513331"/>
            <a:ext cx="280035" cy="34163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>
                <a:latin typeface="Arial" charset="0"/>
                <a:ea typeface="Calibri" charset="0"/>
                <a:cs typeface="Times New Roman" charset="0"/>
              </a:rPr>
              <a:t>C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72" name="Text Box 132"/>
          <p:cNvSpPr txBox="1"/>
          <p:nvPr/>
        </p:nvSpPr>
        <p:spPr>
          <a:xfrm>
            <a:off x="6814677" y="4517141"/>
            <a:ext cx="280035" cy="34163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>
                <a:latin typeface="Arial" charset="0"/>
                <a:ea typeface="Calibri" charset="0"/>
                <a:cs typeface="Times New Roman" charset="0"/>
              </a:rPr>
              <a:t>D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73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ctr"/>
            <a:r>
              <a:rPr lang="en-US" smtClean="0"/>
              <a:t>traversal</a:t>
            </a:r>
            <a:endParaRPr lang="en-US" dirty="0"/>
          </a:p>
        </p:txBody>
      </p:sp>
      <p:sp>
        <p:nvSpPr>
          <p:cNvPr id="116" name="Oval 115"/>
          <p:cNvSpPr/>
          <p:nvPr/>
        </p:nvSpPr>
        <p:spPr>
          <a:xfrm>
            <a:off x="8268830" y="3092204"/>
            <a:ext cx="371475" cy="36639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D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117" name="Oval 116"/>
          <p:cNvSpPr/>
          <p:nvPr/>
        </p:nvSpPr>
        <p:spPr>
          <a:xfrm>
            <a:off x="7924025" y="3549404"/>
            <a:ext cx="371475" cy="36639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B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118" name="Oval 117"/>
          <p:cNvSpPr/>
          <p:nvPr/>
        </p:nvSpPr>
        <p:spPr>
          <a:xfrm>
            <a:off x="8613000" y="3549404"/>
            <a:ext cx="371475" cy="36639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E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119" name="Oval 118"/>
          <p:cNvSpPr/>
          <p:nvPr/>
        </p:nvSpPr>
        <p:spPr>
          <a:xfrm>
            <a:off x="8268830" y="4006604"/>
            <a:ext cx="371475" cy="36639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C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cxnSp>
        <p:nvCxnSpPr>
          <p:cNvPr id="120" name="Straight Connector 119"/>
          <p:cNvCxnSpPr/>
          <p:nvPr/>
        </p:nvCxnSpPr>
        <p:spPr>
          <a:xfrm flipH="1">
            <a:off x="8221840" y="3411606"/>
            <a:ext cx="114935" cy="1663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/>
          <p:nvPr/>
        </p:nvCxnSpPr>
        <p:spPr>
          <a:xfrm flipH="1">
            <a:off x="7873225" y="3872616"/>
            <a:ext cx="118745" cy="1701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/>
          <p:nvPr/>
        </p:nvCxnSpPr>
        <p:spPr>
          <a:xfrm>
            <a:off x="8573630" y="3411606"/>
            <a:ext cx="114935" cy="1739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/>
          <p:nvPr/>
        </p:nvCxnSpPr>
        <p:spPr>
          <a:xfrm>
            <a:off x="8228825" y="3864996"/>
            <a:ext cx="114935" cy="1739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 Box 121"/>
          <p:cNvSpPr txBox="1"/>
          <p:nvPr/>
        </p:nvSpPr>
        <p:spPr>
          <a:xfrm>
            <a:off x="7701626" y="4123130"/>
            <a:ext cx="262255" cy="21717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100">
                <a:solidFill>
                  <a:schemeClr val="accent6"/>
                </a:solidFill>
                <a:latin typeface="MS Mincho" charset="-128"/>
                <a:ea typeface="Calibri" charset="0"/>
                <a:cs typeface="MS Mincho" charset="-128"/>
              </a:rPr>
              <a:t>✓</a:t>
            </a:r>
            <a:endParaRPr lang="en-US" sz="1100">
              <a:solidFill>
                <a:schemeClr val="accent6"/>
              </a:solidFill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125" name="Text Box 122"/>
          <p:cNvSpPr txBox="1"/>
          <p:nvPr/>
        </p:nvSpPr>
        <p:spPr>
          <a:xfrm>
            <a:off x="8045796" y="3658310"/>
            <a:ext cx="262255" cy="21717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100">
                <a:solidFill>
                  <a:schemeClr val="accent6"/>
                </a:solidFill>
                <a:latin typeface="MS Mincho" charset="-128"/>
                <a:ea typeface="Calibri" charset="0"/>
                <a:cs typeface="MS Mincho" charset="-128"/>
              </a:rPr>
              <a:t>✓</a:t>
            </a:r>
            <a:endParaRPr lang="en-US" sz="1100">
              <a:solidFill>
                <a:schemeClr val="accent6"/>
              </a:solidFill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126" name="Text Box 123"/>
          <p:cNvSpPr txBox="1"/>
          <p:nvPr/>
        </p:nvSpPr>
        <p:spPr>
          <a:xfrm>
            <a:off x="8383616" y="4115510"/>
            <a:ext cx="262255" cy="21717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100">
                <a:solidFill>
                  <a:schemeClr val="accent6"/>
                </a:solidFill>
                <a:latin typeface="MS Mincho" charset="-128"/>
                <a:ea typeface="Calibri" charset="0"/>
                <a:cs typeface="MS Mincho" charset="-128"/>
              </a:rPr>
              <a:t>✓</a:t>
            </a:r>
            <a:endParaRPr lang="en-US" sz="1100">
              <a:solidFill>
                <a:schemeClr val="accent6"/>
              </a:solidFill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127" name="Text Box 124"/>
          <p:cNvSpPr txBox="1"/>
          <p:nvPr/>
        </p:nvSpPr>
        <p:spPr>
          <a:xfrm>
            <a:off x="8383616" y="3201110"/>
            <a:ext cx="262255" cy="21717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100">
                <a:solidFill>
                  <a:schemeClr val="accent6"/>
                </a:solidFill>
                <a:latin typeface="MS Mincho" charset="-128"/>
                <a:ea typeface="Calibri" charset="0"/>
                <a:cs typeface="MS Mincho" charset="-128"/>
              </a:rPr>
              <a:t>✓</a:t>
            </a:r>
            <a:endParaRPr lang="en-US" sz="1100">
              <a:solidFill>
                <a:schemeClr val="accent6"/>
              </a:solidFill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128" name="Text Box 127"/>
          <p:cNvSpPr txBox="1"/>
          <p:nvPr/>
        </p:nvSpPr>
        <p:spPr>
          <a:xfrm>
            <a:off x="7715742" y="2368301"/>
            <a:ext cx="1206500" cy="52451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u="sng" dirty="0">
                <a:latin typeface="Arial" charset="0"/>
                <a:ea typeface="Calibri" charset="0"/>
                <a:cs typeface="Times New Roman" charset="0"/>
              </a:rPr>
              <a:t>After </a:t>
            </a:r>
            <a:r>
              <a:rPr lang="en-US" sz="1200" b="1" u="sng" dirty="0" smtClean="0">
                <a:latin typeface="Arial" charset="0"/>
                <a:ea typeface="Calibri" charset="0"/>
                <a:cs typeface="Times New Roman" charset="0"/>
              </a:rPr>
              <a:t>5</a:t>
            </a:r>
            <a:r>
              <a:rPr lang="en-US" sz="1200" b="1" u="sng" dirty="0">
                <a:latin typeface="Arial" charset="0"/>
                <a:ea typeface="Calibri" charset="0"/>
                <a:cs typeface="Times New Roman" charset="0"/>
              </a:rPr>
              <a:t> </a:t>
            </a:r>
            <a:r>
              <a:rPr lang="en-US" sz="1200" b="1" u="sng" dirty="0" smtClean="0">
                <a:latin typeface="Arial" charset="0"/>
                <a:ea typeface="Calibri" charset="0"/>
                <a:cs typeface="Times New Roman" charset="0"/>
              </a:rPr>
              <a:t>calls </a:t>
            </a:r>
            <a:r>
              <a:rPr lang="en-US" sz="1200" b="1" u="sng" dirty="0">
                <a:latin typeface="Arial" charset="0"/>
                <a:ea typeface="Calibri" charset="0"/>
                <a:cs typeface="Times New Roman" charset="0"/>
              </a:rPr>
              <a:t>to next()</a:t>
            </a:r>
            <a:endParaRPr lang="en-US" sz="1200" dirty="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129" name="Text Box 132"/>
          <p:cNvSpPr txBox="1"/>
          <p:nvPr/>
        </p:nvSpPr>
        <p:spPr>
          <a:xfrm>
            <a:off x="8186915" y="4517141"/>
            <a:ext cx="280035" cy="34163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 smtClean="0">
                <a:latin typeface="Arial" charset="0"/>
                <a:ea typeface="Calibri" charset="0"/>
                <a:cs typeface="Times New Roman" charset="0"/>
              </a:rPr>
              <a:t>E</a:t>
            </a:r>
            <a:endParaRPr lang="en-US" sz="1200" dirty="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131" name="Text Box 124"/>
          <p:cNvSpPr txBox="1"/>
          <p:nvPr/>
        </p:nvSpPr>
        <p:spPr>
          <a:xfrm>
            <a:off x="8726833" y="3683397"/>
            <a:ext cx="262255" cy="21717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100">
                <a:solidFill>
                  <a:schemeClr val="accent6"/>
                </a:solidFill>
                <a:latin typeface="MS Mincho" charset="-128"/>
                <a:ea typeface="Calibri" charset="0"/>
                <a:cs typeface="MS Mincho" charset="-128"/>
              </a:rPr>
              <a:t>✓</a:t>
            </a:r>
            <a:endParaRPr lang="en-US" sz="1100">
              <a:solidFill>
                <a:schemeClr val="accent6"/>
              </a:solidFill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7576680" y="4006604"/>
            <a:ext cx="371475" cy="36639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A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548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question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4420952" y="1690689"/>
            <a:ext cx="372110" cy="36639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C</a:t>
            </a:r>
            <a:endParaRPr lang="en-US" sz="1200" dirty="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4076147" y="2147889"/>
            <a:ext cx="372110" cy="36639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B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3735787" y="2605089"/>
            <a:ext cx="372110" cy="36639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A</a:t>
            </a:r>
            <a:endParaRPr lang="en-US" sz="120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4765757" y="2147889"/>
            <a:ext cx="372110" cy="36639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F</a:t>
            </a:r>
            <a:endParaRPr lang="en-US" sz="1200" dirty="0"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4420952" y="2605089"/>
            <a:ext cx="372110" cy="36639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E</a:t>
            </a:r>
            <a:endParaRPr lang="en-US" sz="1200" dirty="0">
              <a:latin typeface="Cambria" charset="0"/>
              <a:ea typeface="Calibri" charset="0"/>
              <a:cs typeface="Times New Roman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4373962" y="2009456"/>
            <a:ext cx="115570" cy="1663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4025347" y="2470466"/>
            <a:ext cx="119380" cy="1701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725752" y="2009456"/>
            <a:ext cx="115570" cy="1739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048842" y="3062289"/>
            <a:ext cx="372110" cy="36639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D</a:t>
            </a:r>
            <a:endParaRPr lang="en-US" sz="1200" dirty="0">
              <a:latin typeface="Cambria" charset="0"/>
              <a:ea typeface="Calibri" charset="0"/>
              <a:cs typeface="Times New Roman" charset="0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 flipH="1">
            <a:off x="4715258" y="2474917"/>
            <a:ext cx="115570" cy="1663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4366643" y="2935927"/>
            <a:ext cx="119380" cy="1701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069287" y="2597242"/>
            <a:ext cx="372110" cy="36639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G</a:t>
            </a:r>
            <a:endParaRPr lang="en-US" sz="1200" dirty="0">
              <a:latin typeface="Cambria" charset="0"/>
              <a:ea typeface="Calibri" charset="0"/>
              <a:cs typeface="Times New Roman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5048332" y="2468561"/>
            <a:ext cx="115570" cy="1739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Box 115"/>
          <p:cNvSpPr txBox="1"/>
          <p:nvPr/>
        </p:nvSpPr>
        <p:spPr>
          <a:xfrm>
            <a:off x="3878495" y="2716211"/>
            <a:ext cx="262255" cy="21717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100" dirty="0">
                <a:solidFill>
                  <a:schemeClr val="accent6"/>
                </a:solidFill>
                <a:latin typeface="MS Mincho" charset="-128"/>
                <a:ea typeface="Calibri" charset="0"/>
                <a:cs typeface="MS Mincho" charset="-128"/>
              </a:rPr>
              <a:t>✓</a:t>
            </a:r>
            <a:endParaRPr lang="en-US" sz="1100" dirty="0">
              <a:solidFill>
                <a:schemeClr val="accent6"/>
              </a:solidFill>
              <a:latin typeface="Cambria" charset="0"/>
              <a:ea typeface="Calibri" charset="0"/>
              <a:cs typeface="Times New Roman" charset="0"/>
            </a:endParaRPr>
          </a:p>
        </p:txBody>
      </p:sp>
      <p:sp>
        <p:nvSpPr>
          <p:cNvPr id="22" name="Text Box 116"/>
          <p:cNvSpPr txBox="1"/>
          <p:nvPr/>
        </p:nvSpPr>
        <p:spPr>
          <a:xfrm>
            <a:off x="4222665" y="2251391"/>
            <a:ext cx="262255" cy="21717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100" dirty="0">
                <a:solidFill>
                  <a:schemeClr val="accent6"/>
                </a:solidFill>
                <a:latin typeface="MS Mincho" charset="-128"/>
                <a:ea typeface="Calibri" charset="0"/>
                <a:cs typeface="MS Mincho" charset="-128"/>
              </a:rPr>
              <a:t>✓</a:t>
            </a:r>
            <a:endParaRPr lang="en-US" sz="1100" dirty="0">
              <a:solidFill>
                <a:schemeClr val="accent6"/>
              </a:solidFill>
              <a:latin typeface="Cambria" charset="0"/>
              <a:ea typeface="Calibri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448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</TotalTime>
  <Words>137</Words>
  <Application>Microsoft Macintosh PowerPoint</Application>
  <PresentationFormat>On-screen Show (4:3)</PresentationFormat>
  <Paragraphs>75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Cambria</vt:lpstr>
      <vt:lpstr>MS Mincho</vt:lpstr>
      <vt:lpstr>Times New Roman</vt:lpstr>
      <vt:lpstr>Office Theme</vt:lpstr>
      <vt:lpstr>Pictures for this lab</vt:lpstr>
      <vt:lpstr>traversal</vt:lpstr>
      <vt:lpstr>question</vt:lpstr>
    </vt:vector>
  </TitlesOfParts>
  <Company/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Pictures for this lab</dc:title>
  <dc:creator>Jonathan Burns</dc:creator>
  <cp:lastModifiedBy>Jonathan Burns</cp:lastModifiedBy>
  <cp:revision>9</cp:revision>
  <dcterms:created xsi:type="dcterms:W3CDTF">2017-03-03T22:23:17Z</dcterms:created>
  <dcterms:modified xsi:type="dcterms:W3CDTF">2017-03-22T22:50:22Z</dcterms:modified>
</cp:coreProperties>
</file>