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8" r:id="rId2"/>
    <p:sldId id="275" r:id="rId3"/>
    <p:sldId id="277" r:id="rId4"/>
    <p:sldId id="278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20"/>
    <p:restoredTop sz="94660"/>
  </p:normalViewPr>
  <p:slideViewPr>
    <p:cSldViewPr snapToObjects="1">
      <p:cViewPr varScale="1">
        <p:scale>
          <a:sx n="88" d="100"/>
          <a:sy n="88" d="100"/>
        </p:scale>
        <p:origin x="-510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3A8F51-48B2-4A54-B8F7-B67A2836F7A7}" type="datetimeFigureOut">
              <a:rPr lang="en-US" smtClean="0"/>
              <a:pPr/>
              <a:t>3/3/2016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202015-F8A1-408C-BD74-83FEB1D7336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3/3/2016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3/3/2016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905125"/>
            <a:ext cx="7772400" cy="1362075"/>
          </a:xfrm>
        </p:spPr>
        <p:txBody>
          <a:bodyPr anchor="t">
            <a:noAutofit/>
          </a:bodyPr>
          <a:lstStyle>
            <a:lvl1pPr algn="ctr">
              <a:defRPr sz="4800" b="1" cap="none" baseline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267200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3/3/2016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3/3/2016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3/3/2016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3/3/2016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3/3/2016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3/3/2016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3/3/2016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3/3/2016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3/3/2016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FBE773-AFD6-1F41-B544-3BE70B961224}" type="datetimeFigureOut">
              <a:rPr lang="en-US" smtClean="0"/>
              <a:pPr/>
              <a:t>3/3/2016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Pictures for this Homework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pPr algn="l"/>
            <a:r>
              <a:rPr lang="en-US" b="1" dirty="0" smtClean="0">
                <a:solidFill>
                  <a:schemeClr val="tx1"/>
                </a:solidFill>
              </a:rPr>
              <a:t>To save a picture (1 per slide):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select the picture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right-click ‘</a:t>
            </a:r>
            <a:r>
              <a:rPr lang="en-US" i="1" dirty="0" smtClean="0">
                <a:solidFill>
                  <a:schemeClr val="tx1"/>
                </a:solidFill>
              </a:rPr>
              <a:t>Save as Picture …</a:t>
            </a:r>
            <a:r>
              <a:rPr lang="en-US" dirty="0" smtClean="0">
                <a:solidFill>
                  <a:schemeClr val="tx1"/>
                </a:solidFill>
              </a:rPr>
              <a:t>’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Select the PNG format and use the slide title as the file name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bloom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401239254"/>
              </p:ext>
            </p:extLst>
          </p:nvPr>
        </p:nvGraphicFramePr>
        <p:xfrm>
          <a:off x="3079556" y="2976642"/>
          <a:ext cx="617220" cy="370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6793"/>
                <a:gridCol w="360427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78771028"/>
              </p:ext>
            </p:extLst>
          </p:nvPr>
        </p:nvGraphicFramePr>
        <p:xfrm>
          <a:off x="3950766" y="4835453"/>
          <a:ext cx="1293091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6727"/>
                <a:gridCol w="34636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“</a:t>
                      </a:r>
                      <a:r>
                        <a:rPr lang="en-US" b="1" dirty="0" smtClean="0">
                          <a:solidFill>
                            <a:srgbClr val="FF0000"/>
                          </a:solidFill>
                        </a:rPr>
                        <a:t>red</a:t>
                      </a:r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”</a:t>
                      </a:r>
                      <a:endParaRPr lang="en-US" b="1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548397395"/>
              </p:ext>
            </p:extLst>
          </p:nvPr>
        </p:nvGraphicFramePr>
        <p:xfrm>
          <a:off x="5518054" y="4835453"/>
          <a:ext cx="1293091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6727"/>
                <a:gridCol w="34636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“gray”</a:t>
                      </a:r>
                      <a:endParaRPr lang="en-US" b="1" dirty="0">
                        <a:solidFill>
                          <a:srgbClr val="008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264544917"/>
              </p:ext>
            </p:extLst>
          </p:nvPr>
        </p:nvGraphicFramePr>
        <p:xfrm>
          <a:off x="3947592" y="6334760"/>
          <a:ext cx="1293091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6727"/>
                <a:gridCol w="34636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008000"/>
                          </a:solidFill>
                        </a:rPr>
                        <a:t>“green”</a:t>
                      </a:r>
                      <a:endParaRPr lang="en-US" b="1" dirty="0">
                        <a:solidFill>
                          <a:srgbClr val="008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9" name="Straight Arrow Connector 144"/>
          <p:cNvCxnSpPr>
            <a:endCxn id="8" idx="1"/>
          </p:cNvCxnSpPr>
          <p:nvPr/>
        </p:nvCxnSpPr>
        <p:spPr>
          <a:xfrm>
            <a:off x="3514647" y="6505635"/>
            <a:ext cx="432945" cy="14545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44"/>
          <p:cNvCxnSpPr/>
          <p:nvPr/>
        </p:nvCxnSpPr>
        <p:spPr>
          <a:xfrm>
            <a:off x="3517821" y="5022491"/>
            <a:ext cx="432945" cy="14545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44"/>
          <p:cNvCxnSpPr/>
          <p:nvPr/>
        </p:nvCxnSpPr>
        <p:spPr>
          <a:xfrm flipV="1">
            <a:off x="5085109" y="5022254"/>
            <a:ext cx="432945" cy="14782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44"/>
          <p:cNvCxnSpPr/>
          <p:nvPr/>
        </p:nvCxnSpPr>
        <p:spPr>
          <a:xfrm>
            <a:off x="5081935" y="6520180"/>
            <a:ext cx="432945" cy="14545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44"/>
          <p:cNvCxnSpPr/>
          <p:nvPr/>
        </p:nvCxnSpPr>
        <p:spPr>
          <a:xfrm flipV="1">
            <a:off x="5511706" y="6458525"/>
            <a:ext cx="6348" cy="152400"/>
          </a:xfrm>
          <a:prstGeom prst="straightConnector1">
            <a:avLst/>
          </a:prstGeom>
          <a:ln>
            <a:solidFill>
              <a:schemeClr val="tx1"/>
            </a:solidFill>
            <a:headEnd type="none" w="lg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44"/>
          <p:cNvCxnSpPr/>
          <p:nvPr/>
        </p:nvCxnSpPr>
        <p:spPr>
          <a:xfrm flipV="1">
            <a:off x="5573335" y="6488274"/>
            <a:ext cx="0" cy="107709"/>
          </a:xfrm>
          <a:prstGeom prst="straightConnector1">
            <a:avLst/>
          </a:prstGeom>
          <a:ln>
            <a:solidFill>
              <a:schemeClr val="tx1"/>
            </a:solidFill>
            <a:headEnd type="none" w="lg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144"/>
          <p:cNvCxnSpPr/>
          <p:nvPr/>
        </p:nvCxnSpPr>
        <p:spPr>
          <a:xfrm>
            <a:off x="6649450" y="5029763"/>
            <a:ext cx="432945" cy="14545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144"/>
          <p:cNvCxnSpPr/>
          <p:nvPr/>
        </p:nvCxnSpPr>
        <p:spPr>
          <a:xfrm flipV="1">
            <a:off x="7079221" y="4968108"/>
            <a:ext cx="6348" cy="152400"/>
          </a:xfrm>
          <a:prstGeom prst="straightConnector1">
            <a:avLst/>
          </a:prstGeom>
          <a:ln>
            <a:solidFill>
              <a:schemeClr val="tx1"/>
            </a:solidFill>
            <a:headEnd type="none" w="lg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144"/>
          <p:cNvCxnSpPr/>
          <p:nvPr/>
        </p:nvCxnSpPr>
        <p:spPr>
          <a:xfrm flipV="1">
            <a:off x="7140850" y="4997857"/>
            <a:ext cx="0" cy="107709"/>
          </a:xfrm>
          <a:prstGeom prst="straightConnector1">
            <a:avLst/>
          </a:prstGeom>
          <a:ln>
            <a:solidFill>
              <a:schemeClr val="tx1"/>
            </a:solidFill>
            <a:headEnd type="none" w="lg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144"/>
          <p:cNvCxnSpPr/>
          <p:nvPr/>
        </p:nvCxnSpPr>
        <p:spPr>
          <a:xfrm>
            <a:off x="3517821" y="3540209"/>
            <a:ext cx="432945" cy="14545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144"/>
          <p:cNvCxnSpPr/>
          <p:nvPr/>
        </p:nvCxnSpPr>
        <p:spPr>
          <a:xfrm flipV="1">
            <a:off x="3947592" y="3478554"/>
            <a:ext cx="6348" cy="152400"/>
          </a:xfrm>
          <a:prstGeom prst="straightConnector1">
            <a:avLst/>
          </a:prstGeom>
          <a:ln>
            <a:solidFill>
              <a:schemeClr val="tx1"/>
            </a:solidFill>
            <a:headEnd type="none" w="lg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144"/>
          <p:cNvCxnSpPr/>
          <p:nvPr/>
        </p:nvCxnSpPr>
        <p:spPr>
          <a:xfrm flipV="1">
            <a:off x="4009221" y="3508303"/>
            <a:ext cx="0" cy="107709"/>
          </a:xfrm>
          <a:prstGeom prst="straightConnector1">
            <a:avLst/>
          </a:prstGeom>
          <a:ln>
            <a:solidFill>
              <a:schemeClr val="tx1"/>
            </a:solidFill>
            <a:headEnd type="none" w="lg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144"/>
          <p:cNvCxnSpPr/>
          <p:nvPr/>
        </p:nvCxnSpPr>
        <p:spPr>
          <a:xfrm>
            <a:off x="3520995" y="3166679"/>
            <a:ext cx="432945" cy="14545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144"/>
          <p:cNvCxnSpPr/>
          <p:nvPr/>
        </p:nvCxnSpPr>
        <p:spPr>
          <a:xfrm flipV="1">
            <a:off x="3950766" y="3105024"/>
            <a:ext cx="6348" cy="152400"/>
          </a:xfrm>
          <a:prstGeom prst="straightConnector1">
            <a:avLst/>
          </a:prstGeom>
          <a:ln>
            <a:solidFill>
              <a:schemeClr val="tx1"/>
            </a:solidFill>
            <a:headEnd type="none" w="lg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144"/>
          <p:cNvCxnSpPr/>
          <p:nvPr/>
        </p:nvCxnSpPr>
        <p:spPr>
          <a:xfrm flipV="1">
            <a:off x="4012395" y="3134773"/>
            <a:ext cx="0" cy="107709"/>
          </a:xfrm>
          <a:prstGeom prst="straightConnector1">
            <a:avLst/>
          </a:prstGeom>
          <a:ln>
            <a:solidFill>
              <a:schemeClr val="tx1"/>
            </a:solidFill>
            <a:headEnd type="none" w="lg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144"/>
          <p:cNvCxnSpPr/>
          <p:nvPr/>
        </p:nvCxnSpPr>
        <p:spPr>
          <a:xfrm>
            <a:off x="3524169" y="4287267"/>
            <a:ext cx="432945" cy="14545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144"/>
          <p:cNvCxnSpPr/>
          <p:nvPr/>
        </p:nvCxnSpPr>
        <p:spPr>
          <a:xfrm flipV="1">
            <a:off x="3953940" y="4225612"/>
            <a:ext cx="6348" cy="152400"/>
          </a:xfrm>
          <a:prstGeom prst="straightConnector1">
            <a:avLst/>
          </a:prstGeom>
          <a:ln>
            <a:solidFill>
              <a:schemeClr val="tx1"/>
            </a:solidFill>
            <a:headEnd type="none" w="lg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144"/>
          <p:cNvCxnSpPr/>
          <p:nvPr/>
        </p:nvCxnSpPr>
        <p:spPr>
          <a:xfrm flipV="1">
            <a:off x="4015569" y="4255361"/>
            <a:ext cx="0" cy="107709"/>
          </a:xfrm>
          <a:prstGeom prst="straightConnector1">
            <a:avLst/>
          </a:prstGeom>
          <a:ln>
            <a:solidFill>
              <a:schemeClr val="tx1"/>
            </a:solidFill>
            <a:headEnd type="none" w="lg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144"/>
          <p:cNvCxnSpPr/>
          <p:nvPr/>
        </p:nvCxnSpPr>
        <p:spPr>
          <a:xfrm>
            <a:off x="3517821" y="4645855"/>
            <a:ext cx="432945" cy="14545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144"/>
          <p:cNvCxnSpPr/>
          <p:nvPr/>
        </p:nvCxnSpPr>
        <p:spPr>
          <a:xfrm flipV="1">
            <a:off x="3947592" y="4584200"/>
            <a:ext cx="6348" cy="152400"/>
          </a:xfrm>
          <a:prstGeom prst="straightConnector1">
            <a:avLst/>
          </a:prstGeom>
          <a:ln>
            <a:solidFill>
              <a:schemeClr val="tx1"/>
            </a:solidFill>
            <a:headEnd type="none" w="lg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144"/>
          <p:cNvCxnSpPr/>
          <p:nvPr/>
        </p:nvCxnSpPr>
        <p:spPr>
          <a:xfrm flipV="1">
            <a:off x="4009221" y="4613949"/>
            <a:ext cx="0" cy="107709"/>
          </a:xfrm>
          <a:prstGeom prst="straightConnector1">
            <a:avLst/>
          </a:prstGeom>
          <a:ln>
            <a:solidFill>
              <a:schemeClr val="tx1"/>
            </a:solidFill>
            <a:headEnd type="none" w="lg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144"/>
          <p:cNvCxnSpPr/>
          <p:nvPr/>
        </p:nvCxnSpPr>
        <p:spPr>
          <a:xfrm>
            <a:off x="3527343" y="3922567"/>
            <a:ext cx="432945" cy="14545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144"/>
          <p:cNvCxnSpPr/>
          <p:nvPr/>
        </p:nvCxnSpPr>
        <p:spPr>
          <a:xfrm flipV="1">
            <a:off x="3957114" y="3860912"/>
            <a:ext cx="6348" cy="152400"/>
          </a:xfrm>
          <a:prstGeom prst="straightConnector1">
            <a:avLst/>
          </a:prstGeom>
          <a:ln>
            <a:solidFill>
              <a:schemeClr val="tx1"/>
            </a:solidFill>
            <a:headEnd type="none" w="lg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144"/>
          <p:cNvCxnSpPr/>
          <p:nvPr/>
        </p:nvCxnSpPr>
        <p:spPr>
          <a:xfrm flipV="1">
            <a:off x="4018743" y="3890661"/>
            <a:ext cx="0" cy="107709"/>
          </a:xfrm>
          <a:prstGeom prst="straightConnector1">
            <a:avLst/>
          </a:prstGeom>
          <a:ln>
            <a:solidFill>
              <a:schemeClr val="tx1"/>
            </a:solidFill>
            <a:headEnd type="none" w="lg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144"/>
          <p:cNvCxnSpPr/>
          <p:nvPr/>
        </p:nvCxnSpPr>
        <p:spPr>
          <a:xfrm>
            <a:off x="3517821" y="5766444"/>
            <a:ext cx="432945" cy="14545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144"/>
          <p:cNvCxnSpPr/>
          <p:nvPr/>
        </p:nvCxnSpPr>
        <p:spPr>
          <a:xfrm flipV="1">
            <a:off x="3947592" y="5704789"/>
            <a:ext cx="6348" cy="152400"/>
          </a:xfrm>
          <a:prstGeom prst="straightConnector1">
            <a:avLst/>
          </a:prstGeom>
          <a:ln>
            <a:solidFill>
              <a:schemeClr val="tx1"/>
            </a:solidFill>
            <a:headEnd type="none" w="lg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144"/>
          <p:cNvCxnSpPr/>
          <p:nvPr/>
        </p:nvCxnSpPr>
        <p:spPr>
          <a:xfrm flipV="1">
            <a:off x="4009221" y="5734538"/>
            <a:ext cx="0" cy="107709"/>
          </a:xfrm>
          <a:prstGeom prst="straightConnector1">
            <a:avLst/>
          </a:prstGeom>
          <a:ln>
            <a:solidFill>
              <a:schemeClr val="tx1"/>
            </a:solidFill>
            <a:headEnd type="none" w="lg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144"/>
          <p:cNvCxnSpPr/>
          <p:nvPr/>
        </p:nvCxnSpPr>
        <p:spPr>
          <a:xfrm>
            <a:off x="3517821" y="6132502"/>
            <a:ext cx="432945" cy="14545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144"/>
          <p:cNvCxnSpPr/>
          <p:nvPr/>
        </p:nvCxnSpPr>
        <p:spPr>
          <a:xfrm flipV="1">
            <a:off x="3947592" y="6070847"/>
            <a:ext cx="6348" cy="152400"/>
          </a:xfrm>
          <a:prstGeom prst="straightConnector1">
            <a:avLst/>
          </a:prstGeom>
          <a:ln>
            <a:solidFill>
              <a:schemeClr val="tx1"/>
            </a:solidFill>
            <a:headEnd type="none" w="lg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144"/>
          <p:cNvCxnSpPr/>
          <p:nvPr/>
        </p:nvCxnSpPr>
        <p:spPr>
          <a:xfrm flipV="1">
            <a:off x="4009221" y="6100596"/>
            <a:ext cx="0" cy="107709"/>
          </a:xfrm>
          <a:prstGeom prst="straightConnector1">
            <a:avLst/>
          </a:prstGeom>
          <a:ln>
            <a:solidFill>
              <a:schemeClr val="tx1"/>
            </a:solidFill>
            <a:headEnd type="none" w="lg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9" name="Table 48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3622500"/>
              </p:ext>
            </p:extLst>
          </p:nvPr>
        </p:nvGraphicFramePr>
        <p:xfrm>
          <a:off x="7792399" y="2976642"/>
          <a:ext cx="1210076" cy="370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6793"/>
                <a:gridCol w="95328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latin typeface="Courier New"/>
                          <a:cs typeface="Courier New"/>
                        </a:rPr>
                        <a:t>false</a:t>
                      </a:r>
                      <a:endParaRPr lang="en-US" b="0" dirty="0">
                        <a:latin typeface="Courier New"/>
                        <a:cs typeface="Courier New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latin typeface="Courier New"/>
                          <a:cs typeface="Courier New"/>
                        </a:rPr>
                        <a:t>false</a:t>
                      </a:r>
                      <a:endParaRPr lang="en-US" b="0" dirty="0">
                        <a:latin typeface="Courier New"/>
                        <a:cs typeface="Courier New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latin typeface="Courier New"/>
                          <a:cs typeface="Courier New"/>
                        </a:rPr>
                        <a:t>false</a:t>
                      </a:r>
                      <a:endParaRPr lang="en-US" b="0" dirty="0">
                        <a:latin typeface="Courier New"/>
                        <a:cs typeface="Courier New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latin typeface="Courier New"/>
                          <a:cs typeface="Courier New"/>
                        </a:rPr>
                        <a:t>false</a:t>
                      </a:r>
                      <a:endParaRPr lang="en-US" b="0" dirty="0">
                        <a:latin typeface="Courier New"/>
                        <a:cs typeface="Courier New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latin typeface="Courier New"/>
                          <a:cs typeface="Courier New"/>
                        </a:rPr>
                        <a:t>false</a:t>
                      </a:r>
                      <a:endParaRPr lang="en-US" b="0" dirty="0">
                        <a:latin typeface="Courier New"/>
                        <a:cs typeface="Courier New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latin typeface="Courier New"/>
                          <a:cs typeface="Courier New"/>
                        </a:rPr>
                        <a:t>true</a:t>
                      </a:r>
                      <a:endParaRPr lang="en-US" b="1" dirty="0">
                        <a:latin typeface="Courier New"/>
                        <a:cs typeface="Courier New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latin typeface="Courier New"/>
                          <a:cs typeface="Courier New"/>
                        </a:rPr>
                        <a:t>false</a:t>
                      </a:r>
                      <a:endParaRPr lang="en-US" b="0" dirty="0">
                        <a:latin typeface="Courier New"/>
                        <a:cs typeface="Courier New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latin typeface="Courier New"/>
                          <a:cs typeface="Courier New"/>
                        </a:rPr>
                        <a:t>false</a:t>
                      </a:r>
                      <a:endParaRPr lang="en-US" b="0" dirty="0">
                        <a:latin typeface="Courier New"/>
                        <a:cs typeface="Courier New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latin typeface="Courier New"/>
                          <a:cs typeface="Courier New"/>
                        </a:rPr>
                        <a:t>false</a:t>
                      </a:r>
                      <a:endParaRPr lang="en-US" b="0" dirty="0">
                        <a:latin typeface="Courier New"/>
                        <a:cs typeface="Courier New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latin typeface="Courier New"/>
                          <a:cs typeface="Courier New"/>
                        </a:rPr>
                        <a:t>true</a:t>
                      </a:r>
                      <a:endParaRPr lang="en-US" b="1" dirty="0">
                        <a:latin typeface="Courier New"/>
                        <a:cs typeface="Courier New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0" name="Rectangle 49"/>
          <p:cNvSpPr/>
          <p:nvPr/>
        </p:nvSpPr>
        <p:spPr>
          <a:xfrm>
            <a:off x="92362" y="3040660"/>
            <a:ext cx="2634729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2171700" algn="r"/>
                <a:tab pos="2347913" algn="ctr"/>
              </a:tabLst>
            </a:pPr>
            <a:r>
              <a:rPr lang="en-US" dirty="0" smtClean="0">
                <a:solidFill>
                  <a:srgbClr val="FF0000"/>
                </a:solidFill>
              </a:rPr>
              <a:t>“</a:t>
            </a:r>
            <a:r>
              <a:rPr lang="en-US" b="1" dirty="0" smtClean="0">
                <a:solidFill>
                  <a:srgbClr val="FF0000"/>
                </a:solidFill>
              </a:rPr>
              <a:t>red</a:t>
            </a:r>
            <a:r>
              <a:rPr lang="en-US" dirty="0" smtClean="0">
                <a:solidFill>
                  <a:srgbClr val="FF0000"/>
                </a:solidFill>
              </a:rPr>
              <a:t>”    </a:t>
            </a:r>
            <a:r>
              <a:rPr lang="en-US" dirty="0" smtClean="0"/>
              <a:t>	</a:t>
            </a:r>
            <a:r>
              <a:rPr lang="en-US" dirty="0" smtClean="0"/>
              <a:t>112785	</a:t>
            </a:r>
            <a:r>
              <a:rPr lang="en-US" dirty="0" smtClean="0">
                <a:solidFill>
                  <a:srgbClr val="00B050"/>
                </a:solidFill>
              </a:rPr>
              <a:t>✓</a:t>
            </a:r>
            <a:endParaRPr lang="en-US" dirty="0" smtClean="0">
              <a:solidFill>
                <a:srgbClr val="00B050"/>
              </a:solidFill>
            </a:endParaRPr>
          </a:p>
          <a:p>
            <a:pPr>
              <a:tabLst>
                <a:tab pos="2171700" algn="r"/>
                <a:tab pos="2347913" algn="ctr"/>
              </a:tabLst>
            </a:pPr>
            <a:r>
              <a:rPr lang="en-US" dirty="0" smtClean="0">
                <a:solidFill>
                  <a:srgbClr val="858500"/>
                </a:solidFill>
              </a:rPr>
              <a:t>“</a:t>
            </a:r>
            <a:r>
              <a:rPr lang="en-US" b="1" dirty="0" smtClean="0">
                <a:solidFill>
                  <a:srgbClr val="858500"/>
                </a:solidFill>
              </a:rPr>
              <a:t>yellow</a:t>
            </a:r>
            <a:r>
              <a:rPr lang="en-US" dirty="0" smtClean="0">
                <a:solidFill>
                  <a:srgbClr val="858500"/>
                </a:solidFill>
              </a:rPr>
              <a:t>” </a:t>
            </a:r>
            <a:r>
              <a:rPr lang="en-US" dirty="0" smtClean="0"/>
              <a:t>	-</a:t>
            </a:r>
            <a:r>
              <a:rPr lang="en-US" dirty="0" smtClean="0"/>
              <a:t>734239628	</a:t>
            </a:r>
            <a:r>
              <a:rPr lang="en-US" dirty="0" smtClean="0">
                <a:solidFill>
                  <a:srgbClr val="FF0000"/>
                </a:solidFill>
              </a:rPr>
              <a:t>✗</a:t>
            </a:r>
            <a:endParaRPr lang="en-US" dirty="0" smtClean="0">
              <a:solidFill>
                <a:srgbClr val="FF0000"/>
              </a:solidFill>
            </a:endParaRPr>
          </a:p>
          <a:p>
            <a:pPr>
              <a:tabLst>
                <a:tab pos="2171700" algn="r"/>
                <a:tab pos="2347913" algn="ctr"/>
              </a:tabLst>
            </a:pPr>
            <a:r>
              <a:rPr lang="en-US" b="1" dirty="0" smtClean="0">
                <a:solidFill>
                  <a:srgbClr val="0000FF"/>
                </a:solidFill>
              </a:rPr>
              <a:t>“blue”</a:t>
            </a:r>
            <a:r>
              <a:rPr lang="en-US" dirty="0" smtClean="0"/>
              <a:t>	</a:t>
            </a:r>
            <a:r>
              <a:rPr lang="en-US" dirty="0" smtClean="0"/>
              <a:t>3027034	</a:t>
            </a:r>
            <a:r>
              <a:rPr lang="en-US" dirty="0" smtClean="0">
                <a:solidFill>
                  <a:srgbClr val="FF0000"/>
                </a:solidFill>
              </a:rPr>
              <a:t>✗</a:t>
            </a:r>
            <a:endParaRPr lang="en-US" dirty="0" smtClean="0"/>
          </a:p>
          <a:p>
            <a:pPr>
              <a:tabLst>
                <a:tab pos="2171700" algn="r"/>
                <a:tab pos="2347913" algn="ctr"/>
              </a:tabLst>
            </a:pPr>
            <a:endParaRPr lang="en-US" b="1" dirty="0" smtClean="0">
              <a:solidFill>
                <a:srgbClr val="008000"/>
              </a:solidFill>
            </a:endParaRPr>
          </a:p>
          <a:p>
            <a:pPr>
              <a:tabLst>
                <a:tab pos="2171700" algn="r"/>
                <a:tab pos="2347913" algn="ctr"/>
              </a:tabLst>
            </a:pPr>
            <a:r>
              <a:rPr lang="en-US" b="1" dirty="0" smtClean="0">
                <a:solidFill>
                  <a:srgbClr val="008000"/>
                </a:solidFill>
              </a:rPr>
              <a:t>“green”</a:t>
            </a:r>
            <a:r>
              <a:rPr lang="en-US" dirty="0" smtClean="0"/>
              <a:t>	</a:t>
            </a:r>
            <a:r>
              <a:rPr lang="en-US" dirty="0" smtClean="0"/>
              <a:t>98619139	</a:t>
            </a:r>
            <a:r>
              <a:rPr lang="en-US" dirty="0" smtClean="0">
                <a:solidFill>
                  <a:srgbClr val="00B050"/>
                </a:solidFill>
              </a:rPr>
              <a:t>✓</a:t>
            </a:r>
            <a:endParaRPr lang="en-US" dirty="0" smtClean="0"/>
          </a:p>
          <a:p>
            <a:pPr>
              <a:tabLst>
                <a:tab pos="2171700" algn="r"/>
                <a:tab pos="2347913" algn="ctr"/>
              </a:tabLst>
            </a:pPr>
            <a:r>
              <a:rPr lang="en-US" dirty="0" smtClean="0">
                <a:solidFill>
                  <a:schemeClr val="accent6"/>
                </a:solidFill>
              </a:rPr>
              <a:t>“</a:t>
            </a:r>
            <a:r>
              <a:rPr lang="en-US" b="1" dirty="0" smtClean="0">
                <a:solidFill>
                  <a:schemeClr val="accent6"/>
                </a:solidFill>
              </a:rPr>
              <a:t>orange</a:t>
            </a:r>
            <a:r>
              <a:rPr lang="en-US" dirty="0" smtClean="0">
                <a:solidFill>
                  <a:schemeClr val="accent6"/>
                </a:solidFill>
              </a:rPr>
              <a:t>”</a:t>
            </a:r>
            <a:r>
              <a:rPr lang="en-US" dirty="0" smtClean="0"/>
              <a:t>	-</a:t>
            </a:r>
            <a:r>
              <a:rPr lang="en-US" dirty="0" smtClean="0"/>
              <a:t>1008851410	</a:t>
            </a:r>
            <a:r>
              <a:rPr lang="en-US" dirty="0" smtClean="0">
                <a:solidFill>
                  <a:srgbClr val="FF0000"/>
                </a:solidFill>
              </a:rPr>
              <a:t>✗</a:t>
            </a:r>
            <a:endParaRPr lang="en-US" dirty="0" smtClean="0"/>
          </a:p>
          <a:p>
            <a:pPr>
              <a:tabLst>
                <a:tab pos="2171700" algn="r"/>
                <a:tab pos="2347913" algn="ctr"/>
              </a:tabLst>
            </a:pPr>
            <a:r>
              <a:rPr lang="en-US" dirty="0" smtClean="0">
                <a:solidFill>
                  <a:srgbClr val="660066"/>
                </a:solidFill>
              </a:rPr>
              <a:t>“</a:t>
            </a:r>
            <a:r>
              <a:rPr lang="en-US" b="1" dirty="0" smtClean="0">
                <a:solidFill>
                  <a:srgbClr val="660066"/>
                </a:solidFill>
              </a:rPr>
              <a:t>purple</a:t>
            </a:r>
            <a:r>
              <a:rPr lang="en-US" dirty="0" smtClean="0">
                <a:solidFill>
                  <a:srgbClr val="660066"/>
                </a:solidFill>
              </a:rPr>
              <a:t>” </a:t>
            </a:r>
            <a:r>
              <a:rPr lang="en-US" dirty="0" smtClean="0"/>
              <a:t>	-</a:t>
            </a:r>
            <a:r>
              <a:rPr lang="en-US" dirty="0" smtClean="0"/>
              <a:t>976943172	</a:t>
            </a:r>
            <a:r>
              <a:rPr lang="en-US" dirty="0" smtClean="0">
                <a:solidFill>
                  <a:srgbClr val="FF0000"/>
                </a:solidFill>
              </a:rPr>
              <a:t>✗</a:t>
            </a:r>
            <a:endParaRPr lang="en-US" dirty="0" smtClean="0"/>
          </a:p>
          <a:p>
            <a:pPr>
              <a:tabLst>
                <a:tab pos="2171700" algn="r"/>
                <a:tab pos="2347913" algn="ctr"/>
              </a:tabLst>
            </a:pPr>
            <a:endParaRPr lang="en-US" dirty="0"/>
          </a:p>
          <a:p>
            <a:pPr>
              <a:tabLst>
                <a:tab pos="2171700" algn="r"/>
                <a:tab pos="2347913" algn="ctr"/>
              </a:tabLst>
            </a:pPr>
            <a:r>
              <a:rPr lang="en-US" b="1" dirty="0" smtClean="0"/>
              <a:t>“black”	</a:t>
            </a:r>
            <a:r>
              <a:rPr lang="en-US" dirty="0" smtClean="0"/>
              <a:t>93818879	</a:t>
            </a:r>
            <a:r>
              <a:rPr lang="en-US" b="1" dirty="0" smtClean="0">
                <a:solidFill>
                  <a:srgbClr val="00B0F0"/>
                </a:solidFill>
              </a:rPr>
              <a:t>!</a:t>
            </a:r>
            <a:endParaRPr lang="en-US" b="1" dirty="0" smtClean="0">
              <a:solidFill>
                <a:srgbClr val="00B0F0"/>
              </a:solidFill>
            </a:endParaRPr>
          </a:p>
          <a:p>
            <a:pPr>
              <a:tabLst>
                <a:tab pos="2171700" algn="r"/>
                <a:tab pos="2347913" algn="ctr"/>
              </a:tabLst>
            </a:pPr>
            <a:r>
              <a:rPr lang="en-US" b="1" dirty="0" smtClean="0">
                <a:solidFill>
                  <a:schemeClr val="bg1"/>
                </a:solidFill>
                <a:effectLst>
                  <a:glow rad="101600">
                    <a:schemeClr val="tx1">
                      <a:alpha val="75000"/>
                    </a:schemeClr>
                  </a:glow>
                </a:effectLst>
              </a:rPr>
              <a:t>“white”</a:t>
            </a:r>
            <a:r>
              <a:rPr lang="en-US" dirty="0" smtClean="0"/>
              <a:t>	</a:t>
            </a:r>
            <a:r>
              <a:rPr lang="en-US" dirty="0" smtClean="0"/>
              <a:t>113101865	</a:t>
            </a:r>
            <a:r>
              <a:rPr lang="en-US" b="1" dirty="0" smtClean="0">
                <a:solidFill>
                  <a:srgbClr val="00B0F0"/>
                </a:solidFill>
              </a:rPr>
              <a:t>!</a:t>
            </a:r>
            <a:endParaRPr lang="en-US" dirty="0" smtClean="0"/>
          </a:p>
          <a:p>
            <a:pPr>
              <a:tabLst>
                <a:tab pos="2171700" algn="r"/>
                <a:tab pos="2347913" algn="ctr"/>
              </a:tabLst>
            </a:pPr>
            <a:r>
              <a:rPr lang="en-US" b="1" dirty="0" smtClean="0">
                <a:solidFill>
                  <a:schemeClr val="bg1">
                    <a:lumMod val="50000"/>
                  </a:schemeClr>
                </a:solidFill>
              </a:rPr>
              <a:t>“gray”</a:t>
            </a:r>
            <a:r>
              <a:rPr lang="en-US" dirty="0" smtClean="0"/>
              <a:t>	</a:t>
            </a:r>
            <a:r>
              <a:rPr lang="en-US" dirty="0" smtClean="0"/>
              <a:t>3181155	</a:t>
            </a:r>
            <a:r>
              <a:rPr lang="en-US" dirty="0" smtClean="0">
                <a:solidFill>
                  <a:srgbClr val="00B050"/>
                </a:solidFill>
              </a:rPr>
              <a:t>✓</a:t>
            </a:r>
            <a:endParaRPr lang="en-US" dirty="0" smtClean="0"/>
          </a:p>
        </p:txBody>
      </p:sp>
      <p:cxnSp>
        <p:nvCxnSpPr>
          <p:cNvPr id="51" name="Straight Arrow Connector 144"/>
          <p:cNvCxnSpPr/>
          <p:nvPr/>
        </p:nvCxnSpPr>
        <p:spPr>
          <a:xfrm flipV="1">
            <a:off x="2727091" y="3078543"/>
            <a:ext cx="0" cy="3427489"/>
          </a:xfrm>
          <a:prstGeom prst="straightConnector1">
            <a:avLst/>
          </a:prstGeom>
          <a:ln>
            <a:solidFill>
              <a:schemeClr val="tx1"/>
            </a:solidFill>
            <a:headEnd type="none" w="lg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144"/>
          <p:cNvCxnSpPr/>
          <p:nvPr/>
        </p:nvCxnSpPr>
        <p:spPr>
          <a:xfrm flipV="1">
            <a:off x="7497673" y="3081242"/>
            <a:ext cx="0" cy="3427489"/>
          </a:xfrm>
          <a:prstGeom prst="straightConnector1">
            <a:avLst/>
          </a:prstGeom>
          <a:ln>
            <a:solidFill>
              <a:schemeClr val="tx1"/>
            </a:solidFill>
            <a:headEnd type="none" w="lg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144"/>
          <p:cNvCxnSpPr/>
          <p:nvPr/>
        </p:nvCxnSpPr>
        <p:spPr>
          <a:xfrm>
            <a:off x="3520995" y="5410844"/>
            <a:ext cx="432945" cy="14545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144"/>
          <p:cNvCxnSpPr/>
          <p:nvPr/>
        </p:nvCxnSpPr>
        <p:spPr>
          <a:xfrm flipV="1">
            <a:off x="3950766" y="5349189"/>
            <a:ext cx="6348" cy="152400"/>
          </a:xfrm>
          <a:prstGeom prst="straightConnector1">
            <a:avLst/>
          </a:prstGeom>
          <a:ln>
            <a:solidFill>
              <a:schemeClr val="tx1"/>
            </a:solidFill>
            <a:headEnd type="none" w="lg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144"/>
          <p:cNvCxnSpPr/>
          <p:nvPr/>
        </p:nvCxnSpPr>
        <p:spPr>
          <a:xfrm flipV="1">
            <a:off x="4012395" y="5378938"/>
            <a:ext cx="0" cy="107709"/>
          </a:xfrm>
          <a:prstGeom prst="straightConnector1">
            <a:avLst/>
          </a:prstGeom>
          <a:ln>
            <a:solidFill>
              <a:schemeClr val="tx1"/>
            </a:solidFill>
            <a:headEnd type="none" w="lg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itle 4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bloom1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044158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5409" y="3942597"/>
            <a:ext cx="6999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“</a:t>
            </a:r>
            <a:r>
              <a:rPr lang="en-US" b="1" dirty="0" smtClean="0">
                <a:solidFill>
                  <a:srgbClr val="FF0000"/>
                </a:solidFill>
              </a:rPr>
              <a:t>red</a:t>
            </a:r>
            <a:r>
              <a:rPr lang="en-US" dirty="0" smtClean="0">
                <a:solidFill>
                  <a:srgbClr val="FF0000"/>
                </a:solidFill>
              </a:rPr>
              <a:t>”    </a:t>
            </a:r>
            <a:endParaRPr lang="en-US" dirty="0" smtClean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4183932465"/>
              </p:ext>
            </p:extLst>
          </p:nvPr>
        </p:nvGraphicFramePr>
        <p:xfrm>
          <a:off x="3740744" y="2577275"/>
          <a:ext cx="626992" cy="370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6793"/>
                <a:gridCol w="370199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latin typeface="Courier New"/>
                        <a:cs typeface="Courier New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✓</a:t>
                      </a:r>
                      <a:endParaRPr lang="en-US" b="0" dirty="0">
                        <a:latin typeface="Courier New"/>
                        <a:cs typeface="Courier New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latin typeface="Courier New"/>
                        <a:cs typeface="Courier New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✓</a:t>
                      </a:r>
                      <a:endParaRPr lang="en-US" b="0" dirty="0">
                        <a:latin typeface="Courier New"/>
                        <a:cs typeface="Courier New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latin typeface="Courier New"/>
                        <a:cs typeface="Courier New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✓</a:t>
                      </a:r>
                      <a:endParaRPr lang="en-US" b="0" dirty="0">
                        <a:latin typeface="Courier New"/>
                        <a:cs typeface="Courier New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0" dirty="0" smtClean="0">
                        <a:latin typeface="Courier New"/>
                        <a:cs typeface="Courier New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✓</a:t>
                      </a:r>
                      <a:endParaRPr lang="en-US" b="0" dirty="0" smtClean="0">
                        <a:latin typeface="Courier New"/>
                        <a:cs typeface="Courier New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✓</a:t>
                      </a:r>
                      <a:endParaRPr lang="en-US" b="0" dirty="0" smtClean="0">
                        <a:latin typeface="Courier New"/>
                        <a:cs typeface="Courier New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✓</a:t>
                      </a:r>
                      <a:endParaRPr lang="en-US" b="0" dirty="0" smtClean="0">
                        <a:latin typeface="Courier New"/>
                        <a:cs typeface="Courier New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6" name="Straight Arrow Connector 144"/>
          <p:cNvCxnSpPr>
            <a:stCxn id="4" idx="3"/>
          </p:cNvCxnSpPr>
          <p:nvPr/>
        </p:nvCxnSpPr>
        <p:spPr>
          <a:xfrm>
            <a:off x="1145390" y="4127263"/>
            <a:ext cx="2819646" cy="1233355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144"/>
          <p:cNvCxnSpPr>
            <a:stCxn id="4" idx="3"/>
          </p:cNvCxnSpPr>
          <p:nvPr/>
        </p:nvCxnSpPr>
        <p:spPr>
          <a:xfrm>
            <a:off x="1145390" y="4127263"/>
            <a:ext cx="2819646" cy="1512167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44"/>
          <p:cNvCxnSpPr>
            <a:stCxn id="4" idx="3"/>
          </p:cNvCxnSpPr>
          <p:nvPr/>
        </p:nvCxnSpPr>
        <p:spPr>
          <a:xfrm>
            <a:off x="1145390" y="4127263"/>
            <a:ext cx="2819646" cy="396919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45409" y="4840991"/>
            <a:ext cx="8002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chemeClr val="bg1">
                    <a:lumMod val="50000"/>
                  </a:schemeClr>
                </a:solidFill>
              </a:rPr>
              <a:t>“gray”</a:t>
            </a:r>
            <a:endParaRPr lang="en-US" dirty="0"/>
          </a:p>
        </p:txBody>
      </p:sp>
      <p:cxnSp>
        <p:nvCxnSpPr>
          <p:cNvPr id="19" name="Straight Arrow Connector 144"/>
          <p:cNvCxnSpPr>
            <a:stCxn id="15" idx="3"/>
          </p:cNvCxnSpPr>
          <p:nvPr/>
        </p:nvCxnSpPr>
        <p:spPr>
          <a:xfrm flipV="1">
            <a:off x="1245703" y="4694568"/>
            <a:ext cx="2719333" cy="331089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144"/>
          <p:cNvCxnSpPr>
            <a:stCxn id="15" idx="3"/>
          </p:cNvCxnSpPr>
          <p:nvPr/>
        </p:nvCxnSpPr>
        <p:spPr>
          <a:xfrm flipV="1">
            <a:off x="1245703" y="3106161"/>
            <a:ext cx="2719333" cy="1919496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446424" y="3106161"/>
            <a:ext cx="9332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008000"/>
                </a:solidFill>
              </a:rPr>
              <a:t>“green”</a:t>
            </a:r>
            <a:endParaRPr lang="en-US" dirty="0"/>
          </a:p>
        </p:txBody>
      </p:sp>
      <p:cxnSp>
        <p:nvCxnSpPr>
          <p:cNvPr id="26" name="Straight Arrow Connector 144"/>
          <p:cNvCxnSpPr>
            <a:stCxn id="25" idx="3"/>
          </p:cNvCxnSpPr>
          <p:nvPr/>
        </p:nvCxnSpPr>
        <p:spPr>
          <a:xfrm flipV="1">
            <a:off x="1379717" y="3106161"/>
            <a:ext cx="2585319" cy="184666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144"/>
          <p:cNvCxnSpPr>
            <a:stCxn id="25" idx="3"/>
          </p:cNvCxnSpPr>
          <p:nvPr/>
        </p:nvCxnSpPr>
        <p:spPr>
          <a:xfrm>
            <a:off x="1379717" y="3290827"/>
            <a:ext cx="2585319" cy="489857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144"/>
          <p:cNvCxnSpPr>
            <a:stCxn id="25" idx="3"/>
          </p:cNvCxnSpPr>
          <p:nvPr/>
        </p:nvCxnSpPr>
        <p:spPr>
          <a:xfrm>
            <a:off x="1379717" y="3290827"/>
            <a:ext cx="2585319" cy="2689374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6846294" y="4779057"/>
            <a:ext cx="12669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effectLst>
                  <a:glow rad="101600">
                    <a:schemeClr val="tx1">
                      <a:alpha val="75000"/>
                    </a:schemeClr>
                  </a:glow>
                </a:effectLst>
              </a:rPr>
              <a:t>“white”</a:t>
            </a:r>
            <a:r>
              <a:rPr lang="en-US" b="1" dirty="0" smtClean="0">
                <a:solidFill>
                  <a:srgbClr val="FF0000"/>
                </a:solidFill>
                <a:effectLst>
                  <a:glow rad="101600">
                    <a:schemeClr val="tx1">
                      <a:alpha val="75000"/>
                    </a:schemeClr>
                  </a:glow>
                </a:effectLst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✗</a:t>
            </a:r>
            <a:r>
              <a:rPr lang="en-US" b="1" dirty="0" smtClean="0">
                <a:solidFill>
                  <a:srgbClr val="FF0000"/>
                </a:solidFill>
                <a:effectLst>
                  <a:glow rad="101600">
                    <a:schemeClr val="tx1">
                      <a:alpha val="75000"/>
                    </a:schemeClr>
                  </a:glow>
                </a:effectLst>
              </a:rPr>
              <a:t>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6893182" y="5677451"/>
            <a:ext cx="14241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“black</a:t>
            </a:r>
            <a:r>
              <a:rPr lang="en-US" b="1" dirty="0" smtClean="0"/>
              <a:t>” 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00B0F0"/>
                </a:solidFill>
              </a:rPr>
              <a:t>!</a:t>
            </a:r>
            <a:r>
              <a:rPr lang="en-US" b="1" dirty="0" smtClean="0"/>
              <a:t> </a:t>
            </a:r>
            <a:endParaRPr lang="en-US" b="0" dirty="0" smtClean="0">
              <a:latin typeface="Courier New"/>
              <a:cs typeface="Courier New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767735" y="3942621"/>
            <a:ext cx="1341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858500"/>
                </a:solidFill>
              </a:rPr>
              <a:t>“</a:t>
            </a:r>
            <a:r>
              <a:rPr lang="en-US" b="1" dirty="0" smtClean="0">
                <a:solidFill>
                  <a:srgbClr val="858500"/>
                </a:solidFill>
              </a:rPr>
              <a:t>yellow</a:t>
            </a:r>
            <a:r>
              <a:rPr lang="en-US" dirty="0" smtClean="0">
                <a:solidFill>
                  <a:srgbClr val="858500"/>
                </a:solidFill>
              </a:rPr>
              <a:t>”</a:t>
            </a:r>
            <a:r>
              <a:rPr lang="en-US" dirty="0" smtClean="0">
                <a:solidFill>
                  <a:srgbClr val="FF0000"/>
                </a:solidFill>
              </a:rPr>
              <a:t> ✗ 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40" name="Straight Arrow Connector 144"/>
          <p:cNvCxnSpPr>
            <a:stCxn id="38" idx="1"/>
          </p:cNvCxnSpPr>
          <p:nvPr/>
        </p:nvCxnSpPr>
        <p:spPr>
          <a:xfrm flipH="1" flipV="1">
            <a:off x="4367736" y="5376109"/>
            <a:ext cx="2525446" cy="486008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144"/>
          <p:cNvCxnSpPr>
            <a:stCxn id="38" idx="1"/>
          </p:cNvCxnSpPr>
          <p:nvPr/>
        </p:nvCxnSpPr>
        <p:spPr>
          <a:xfrm flipH="1" flipV="1">
            <a:off x="4367736" y="5763347"/>
            <a:ext cx="2525446" cy="98770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144"/>
          <p:cNvCxnSpPr>
            <a:stCxn id="38" idx="1"/>
          </p:cNvCxnSpPr>
          <p:nvPr/>
        </p:nvCxnSpPr>
        <p:spPr>
          <a:xfrm flipH="1">
            <a:off x="4367736" y="5862117"/>
            <a:ext cx="2525446" cy="272980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144"/>
          <p:cNvCxnSpPr>
            <a:stCxn id="37" idx="1"/>
          </p:cNvCxnSpPr>
          <p:nvPr/>
        </p:nvCxnSpPr>
        <p:spPr>
          <a:xfrm rot="10800000" flipV="1">
            <a:off x="4367736" y="4963723"/>
            <a:ext cx="2478558" cy="799624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144"/>
          <p:cNvCxnSpPr>
            <a:stCxn id="37" idx="1"/>
          </p:cNvCxnSpPr>
          <p:nvPr/>
        </p:nvCxnSpPr>
        <p:spPr>
          <a:xfrm rot="10800000" flipV="1">
            <a:off x="4367736" y="4963723"/>
            <a:ext cx="2478558" cy="77424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oval" w="lg" len="lg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144"/>
          <p:cNvCxnSpPr>
            <a:stCxn id="37" idx="1"/>
          </p:cNvCxnSpPr>
          <p:nvPr/>
        </p:nvCxnSpPr>
        <p:spPr>
          <a:xfrm rot="10800000">
            <a:off x="4367736" y="4617119"/>
            <a:ext cx="2478558" cy="346604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144"/>
          <p:cNvCxnSpPr>
            <a:stCxn id="39" idx="1"/>
          </p:cNvCxnSpPr>
          <p:nvPr/>
        </p:nvCxnSpPr>
        <p:spPr>
          <a:xfrm rot="10800000" flipV="1">
            <a:off x="4367737" y="4127287"/>
            <a:ext cx="2399998" cy="1636060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144"/>
          <p:cNvCxnSpPr>
            <a:stCxn id="39" idx="1"/>
          </p:cNvCxnSpPr>
          <p:nvPr/>
        </p:nvCxnSpPr>
        <p:spPr>
          <a:xfrm rot="10800000" flipV="1">
            <a:off x="4367737" y="4127287"/>
            <a:ext cx="2399998" cy="91386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oval" w="lg" len="lg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144"/>
          <p:cNvCxnSpPr>
            <a:stCxn id="39" idx="1"/>
          </p:cNvCxnSpPr>
          <p:nvPr/>
        </p:nvCxnSpPr>
        <p:spPr>
          <a:xfrm rot="10800000">
            <a:off x="4367737" y="3490983"/>
            <a:ext cx="2399998" cy="636304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oval" w="lg" len="lg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ctangle 77"/>
          <p:cNvSpPr/>
          <p:nvPr/>
        </p:nvSpPr>
        <p:spPr>
          <a:xfrm>
            <a:off x="6974447" y="3106161"/>
            <a:ext cx="10891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0000FF"/>
                </a:solidFill>
              </a:rPr>
              <a:t>“blue”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✗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79" name="Straight Arrow Connector 144"/>
          <p:cNvCxnSpPr>
            <a:stCxn id="78" idx="1"/>
          </p:cNvCxnSpPr>
          <p:nvPr/>
        </p:nvCxnSpPr>
        <p:spPr>
          <a:xfrm flipH="1" flipV="1">
            <a:off x="4367737" y="2758373"/>
            <a:ext cx="2606710" cy="532454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oval" w="lg" len="lg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144"/>
          <p:cNvCxnSpPr>
            <a:stCxn id="78" idx="1"/>
          </p:cNvCxnSpPr>
          <p:nvPr/>
        </p:nvCxnSpPr>
        <p:spPr>
          <a:xfrm flipH="1">
            <a:off x="4367737" y="3290827"/>
            <a:ext cx="2606710" cy="651770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144"/>
          <p:cNvCxnSpPr>
            <a:stCxn id="78" idx="1"/>
          </p:cNvCxnSpPr>
          <p:nvPr/>
        </p:nvCxnSpPr>
        <p:spPr>
          <a:xfrm flipH="1">
            <a:off x="4367737" y="3290827"/>
            <a:ext cx="2606710" cy="102110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oval" w="lg" len="lg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itle 2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bloom2</a:t>
            </a:r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457200" y="2286000"/>
            <a:ext cx="1274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 smtClean="0"/>
              <a:t>bloom_add</a:t>
            </a:r>
            <a:endParaRPr lang="en-US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6361089" y="2286000"/>
            <a:ext cx="17161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 smtClean="0"/>
              <a:t>bloom_contains</a:t>
            </a:r>
            <a:endParaRPr lang="en-US" b="1" dirty="0"/>
          </a:p>
        </p:txBody>
      </p:sp>
    </p:spTree>
    <p:extLst>
      <p:ext uri="{BB962C8B-B14F-4D97-AF65-F5344CB8AC3E}">
        <p14:creationId xmlns="" xmlns:p14="http://schemas.microsoft.com/office/powerpoint/2010/main" val="6531687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806</TotalTime>
  <Words>123</Words>
  <Application>Microsoft Macintosh PowerPoint</Application>
  <PresentationFormat>On-screen Show (4:3)</PresentationFormat>
  <Paragraphs>77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Pictures for this Homework</vt:lpstr>
      <vt:lpstr>bloom</vt:lpstr>
      <vt:lpstr>bloom1</vt:lpstr>
      <vt:lpstr>bloom2</vt:lpstr>
    </vt:vector>
  </TitlesOfParts>
  <Company>Carnegie Mellon University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Frank Pfenning</dc:creator>
  <cp:lastModifiedBy>iliano</cp:lastModifiedBy>
  <cp:revision>42</cp:revision>
  <dcterms:created xsi:type="dcterms:W3CDTF">2011-02-11T13:14:12Z</dcterms:created>
  <dcterms:modified xsi:type="dcterms:W3CDTF">2016-03-03T20:07:01Z</dcterms:modified>
</cp:coreProperties>
</file>