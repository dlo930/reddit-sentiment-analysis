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70" r:id="rId4"/>
    <p:sldId id="259" r:id="rId5"/>
    <p:sldId id="268" r:id="rId6"/>
    <p:sldId id="26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-3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29629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85667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106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8224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60465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4857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6723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5891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7707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35983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34461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01241-53E2-B443-8AF3-6E93E59F6197}" type="datetimeFigureOut">
              <a:rPr lang="en-US" smtClean="0"/>
              <a:pPr/>
              <a:t>11/11/2018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F392D-772C-DE47-8675-6301B79255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95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Version 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The C type guaranteed to always be a 16-bit unsigned integer is  ___________________________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If we declare </a:t>
            </a:r>
            <a:r>
              <a:rPr lang="en-US" sz="3000" b="1" dirty="0" smtClean="0"/>
              <a:t>uint8_t x = 255</a:t>
            </a:r>
            <a:r>
              <a:rPr lang="en-US" sz="3000" dirty="0" smtClean="0"/>
              <a:t>, which of the following expressions yields </a:t>
            </a:r>
            <a:r>
              <a:rPr lang="en-US" sz="3000" b="1" dirty="0" smtClean="0"/>
              <a:t>255</a:t>
            </a:r>
            <a:r>
              <a:rPr lang="en-US" sz="3000" dirty="0" smtClean="0"/>
              <a:t> as a 32 bit value?</a:t>
            </a:r>
          </a:p>
          <a:p>
            <a:pPr marL="914400" lvl="1" indent="-282575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/>
              <a:t>(int32_t)(uint32_t)x</a:t>
            </a:r>
          </a:p>
          <a:p>
            <a:pPr marL="914400" lvl="1" indent="-282575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/>
              <a:t>(int32_t)(int8_t)x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The type float was taken out of C0 because ________________________________________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Where does the C0 </a:t>
            </a:r>
            <a:r>
              <a:rPr lang="en-US" sz="3000" dirty="0" err="1" smtClean="0"/>
              <a:t>bytecode</a:t>
            </a:r>
            <a:r>
              <a:rPr lang="en-US" sz="3000" dirty="0" smtClean="0"/>
              <a:t> instruction </a:t>
            </a:r>
            <a:r>
              <a:rPr lang="en-US" sz="3000" b="1" dirty="0" err="1" smtClean="0"/>
              <a:t>bipush</a:t>
            </a:r>
            <a:r>
              <a:rPr lang="en-US" sz="3000" dirty="0" smtClean="0"/>
              <a:t> get its operand from? ______________________________</a:t>
            </a:r>
            <a:r>
              <a:rPr lang="en-US" sz="3000" b="1" dirty="0" smtClean="0"/>
              <a:t>_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In a C0 </a:t>
            </a:r>
            <a:r>
              <a:rPr lang="en-US" sz="3000" dirty="0" err="1" smtClean="0"/>
              <a:t>bytecode</a:t>
            </a:r>
            <a:r>
              <a:rPr lang="en-US" sz="3000" dirty="0" smtClean="0"/>
              <a:t> program, how long is each instruction? _____________________________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199" y="0"/>
            <a:ext cx="8543925" cy="1417638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b="1" dirty="0" smtClean="0"/>
              <a:t>   Go to						or</a:t>
            </a:r>
            <a:br>
              <a:rPr lang="en-US" b="1" dirty="0" smtClean="0"/>
            </a:br>
            <a:r>
              <a:rPr lang="en-US" b="1" dirty="0" smtClean="0"/>
              <a:t>						   </a:t>
            </a:r>
            <a:r>
              <a:rPr lang="en-US" b="1" dirty="0" smtClean="0">
                <a:solidFill>
                  <a:srgbClr val="0070C0"/>
                </a:solidFill>
              </a:rPr>
              <a:t>cs.cmu.edu/~15122/quiz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16720" y="342899"/>
            <a:ext cx="3104482" cy="1257301"/>
            <a:chOff x="116720" y="342899"/>
            <a:chExt cx="3104482" cy="1257301"/>
          </a:xfrm>
        </p:grpSpPr>
        <p:pic>
          <p:nvPicPr>
            <p:cNvPr id="9" name="Picture 8" descr="Screenshot from 2018-09-10 18-11-03.png"/>
            <p:cNvPicPr>
              <a:picLocks noChangeAspect="1"/>
            </p:cNvPicPr>
            <p:nvPr/>
          </p:nvPicPr>
          <p:blipFill>
            <a:blip r:embed="rId2"/>
            <a:srcRect l="8709" r="4144"/>
            <a:stretch>
              <a:fillRect/>
            </a:stretch>
          </p:blipFill>
          <p:spPr>
            <a:xfrm>
              <a:off x="116720" y="629224"/>
              <a:ext cx="3104482" cy="809625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1341735" y="894337"/>
              <a:ext cx="1090670" cy="705863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076450" y="342899"/>
              <a:ext cx="499580" cy="628650"/>
            </a:xfrm>
            <a:custGeom>
              <a:avLst/>
              <a:gdLst>
                <a:gd name="connsiteX0" fmla="*/ 0 w 219075"/>
                <a:gd name="connsiteY0" fmla="*/ 0 h 504825"/>
                <a:gd name="connsiteX1" fmla="*/ 209550 w 219075"/>
                <a:gd name="connsiteY1" fmla="*/ 295275 h 504825"/>
                <a:gd name="connsiteX2" fmla="*/ 57150 w 219075"/>
                <a:gd name="connsiteY2" fmla="*/ 504825 h 504825"/>
                <a:gd name="connsiteX0" fmla="*/ 0 w 221735"/>
                <a:gd name="connsiteY0" fmla="*/ 3780 h 508605"/>
                <a:gd name="connsiteX1" fmla="*/ 130261 w 221735"/>
                <a:gd name="connsiteY1" fmla="*/ 49212 h 508605"/>
                <a:gd name="connsiteX2" fmla="*/ 209550 w 221735"/>
                <a:gd name="connsiteY2" fmla="*/ 299055 h 508605"/>
                <a:gd name="connsiteX3" fmla="*/ 57150 w 221735"/>
                <a:gd name="connsiteY3" fmla="*/ 508605 h 508605"/>
                <a:gd name="connsiteX0" fmla="*/ 0 w 310550"/>
                <a:gd name="connsiteY0" fmla="*/ 3781 h 508606"/>
                <a:gd name="connsiteX1" fmla="*/ 219076 w 310550"/>
                <a:gd name="connsiteY1" fmla="*/ 49213 h 508606"/>
                <a:gd name="connsiteX2" fmla="*/ 298365 w 310550"/>
                <a:gd name="connsiteY2" fmla="*/ 299056 h 508606"/>
                <a:gd name="connsiteX3" fmla="*/ 145965 w 310550"/>
                <a:gd name="connsiteY3" fmla="*/ 508606 h 508606"/>
                <a:gd name="connsiteX0" fmla="*/ 0 w 310550"/>
                <a:gd name="connsiteY0" fmla="*/ 3781 h 508606"/>
                <a:gd name="connsiteX1" fmla="*/ 219076 w 310550"/>
                <a:gd name="connsiteY1" fmla="*/ 49213 h 508606"/>
                <a:gd name="connsiteX2" fmla="*/ 298365 w 310550"/>
                <a:gd name="connsiteY2" fmla="*/ 299056 h 508606"/>
                <a:gd name="connsiteX3" fmla="*/ 145965 w 310550"/>
                <a:gd name="connsiteY3" fmla="*/ 508606 h 508606"/>
                <a:gd name="connsiteX0" fmla="*/ 0 w 310550"/>
                <a:gd name="connsiteY0" fmla="*/ 3781 h 508606"/>
                <a:gd name="connsiteX1" fmla="*/ 219076 w 310550"/>
                <a:gd name="connsiteY1" fmla="*/ 49213 h 508606"/>
                <a:gd name="connsiteX2" fmla="*/ 298365 w 310550"/>
                <a:gd name="connsiteY2" fmla="*/ 299056 h 508606"/>
                <a:gd name="connsiteX3" fmla="*/ 145965 w 310550"/>
                <a:gd name="connsiteY3" fmla="*/ 508606 h 508606"/>
                <a:gd name="connsiteX0" fmla="*/ 0 w 310550"/>
                <a:gd name="connsiteY0" fmla="*/ 3781 h 508606"/>
                <a:gd name="connsiteX1" fmla="*/ 219076 w 310550"/>
                <a:gd name="connsiteY1" fmla="*/ 49213 h 508606"/>
                <a:gd name="connsiteX2" fmla="*/ 298365 w 310550"/>
                <a:gd name="connsiteY2" fmla="*/ 299056 h 508606"/>
                <a:gd name="connsiteX3" fmla="*/ 145965 w 310550"/>
                <a:gd name="connsiteY3" fmla="*/ 508606 h 508606"/>
                <a:gd name="connsiteX0" fmla="*/ 0 w 310550"/>
                <a:gd name="connsiteY0" fmla="*/ 3781 h 508606"/>
                <a:gd name="connsiteX1" fmla="*/ 219076 w 310550"/>
                <a:gd name="connsiteY1" fmla="*/ 49213 h 508606"/>
                <a:gd name="connsiteX2" fmla="*/ 298365 w 310550"/>
                <a:gd name="connsiteY2" fmla="*/ 299056 h 508606"/>
                <a:gd name="connsiteX3" fmla="*/ 145965 w 310550"/>
                <a:gd name="connsiteY3" fmla="*/ 508606 h 508606"/>
                <a:gd name="connsiteX0" fmla="*/ 0 w 310550"/>
                <a:gd name="connsiteY0" fmla="*/ 0 h 504825"/>
                <a:gd name="connsiteX1" fmla="*/ 219076 w 310550"/>
                <a:gd name="connsiteY1" fmla="*/ 45432 h 504825"/>
                <a:gd name="connsiteX2" fmla="*/ 298365 w 310550"/>
                <a:gd name="connsiteY2" fmla="*/ 295275 h 504825"/>
                <a:gd name="connsiteX3" fmla="*/ 145965 w 310550"/>
                <a:gd name="connsiteY3" fmla="*/ 504825 h 504825"/>
                <a:gd name="connsiteX0" fmla="*/ 0 w 310550"/>
                <a:gd name="connsiteY0" fmla="*/ 0 h 504825"/>
                <a:gd name="connsiteX1" fmla="*/ 219076 w 310550"/>
                <a:gd name="connsiteY1" fmla="*/ 45432 h 504825"/>
                <a:gd name="connsiteX2" fmla="*/ 298365 w 310550"/>
                <a:gd name="connsiteY2" fmla="*/ 295275 h 504825"/>
                <a:gd name="connsiteX3" fmla="*/ 145965 w 310550"/>
                <a:gd name="connsiteY3" fmla="*/ 504825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550" h="504825">
                  <a:moveTo>
                    <a:pt x="0" y="0"/>
                  </a:moveTo>
                  <a:cubicBezTo>
                    <a:pt x="163813" y="13759"/>
                    <a:pt x="141210" y="11815"/>
                    <a:pt x="219076" y="45432"/>
                  </a:cubicBezTo>
                  <a:cubicBezTo>
                    <a:pt x="268804" y="94645"/>
                    <a:pt x="310550" y="218710"/>
                    <a:pt x="298365" y="295275"/>
                  </a:cubicBezTo>
                  <a:cubicBezTo>
                    <a:pt x="286180" y="371841"/>
                    <a:pt x="226927" y="442119"/>
                    <a:pt x="145965" y="504825"/>
                  </a:cubicBezTo>
                </a:path>
              </a:pathLst>
            </a:cu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459394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Quiz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The C type guaranteed to always be a 16-bit unsigned integer is  </a:t>
            </a:r>
            <a:r>
              <a:rPr lang="en-US" sz="3000" b="1" dirty="0" smtClean="0">
                <a:solidFill>
                  <a:srgbClr val="FF0000"/>
                </a:solidFill>
              </a:rPr>
              <a:t>uint16_</a:t>
            </a:r>
            <a:r>
              <a:rPr lang="en-US" sz="3000" b="1" dirty="0" smtClean="0"/>
              <a:t>t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If we declare </a:t>
            </a:r>
            <a:r>
              <a:rPr lang="en-US" sz="3000" b="1" dirty="0" smtClean="0"/>
              <a:t>uint8_t x = 255</a:t>
            </a:r>
            <a:r>
              <a:rPr lang="en-US" sz="3000" dirty="0" smtClean="0"/>
              <a:t>, which of the following expressions yields </a:t>
            </a:r>
            <a:r>
              <a:rPr lang="en-US" sz="3000" b="1" dirty="0" smtClean="0"/>
              <a:t>255</a:t>
            </a:r>
            <a:r>
              <a:rPr lang="en-US" sz="3000" dirty="0" smtClean="0"/>
              <a:t> as a 32 bit value?</a:t>
            </a:r>
          </a:p>
          <a:p>
            <a:pPr marL="914400" lvl="1" indent="-282575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b="1" dirty="0" smtClean="0">
                <a:solidFill>
                  <a:srgbClr val="FF0000"/>
                </a:solidFill>
              </a:rPr>
              <a:t>(int32_t)(uint32_t)x</a:t>
            </a:r>
          </a:p>
          <a:p>
            <a:pPr marL="914400" lvl="1" indent="-282575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/>
              <a:t>(int32_t)(int8_t)x</a:t>
            </a:r>
            <a:endParaRPr lang="en-US" sz="3000" dirty="0" smtClean="0"/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The type float was taken out of C0 because </a:t>
            </a:r>
            <a:r>
              <a:rPr lang="en-US" sz="3000" dirty="0" smtClean="0">
                <a:solidFill>
                  <a:srgbClr val="FF0000"/>
                </a:solidFill>
              </a:rPr>
              <a:t>rounding errors make it hard to reason about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Where does the C0 </a:t>
            </a:r>
            <a:r>
              <a:rPr lang="en-US" sz="3000" dirty="0" err="1" smtClean="0"/>
              <a:t>bytecode</a:t>
            </a:r>
            <a:r>
              <a:rPr lang="en-US" sz="3000" dirty="0" smtClean="0"/>
              <a:t> instruction </a:t>
            </a:r>
            <a:r>
              <a:rPr lang="en-US" sz="3000" b="1" dirty="0" err="1" smtClean="0"/>
              <a:t>bipush</a:t>
            </a:r>
            <a:r>
              <a:rPr lang="en-US" sz="3000" dirty="0" smtClean="0"/>
              <a:t> get its operand from? </a:t>
            </a:r>
            <a:r>
              <a:rPr lang="en-US" sz="3000" dirty="0" smtClean="0">
                <a:solidFill>
                  <a:srgbClr val="FF0000"/>
                </a:solidFill>
              </a:rPr>
              <a:t>the </a:t>
            </a:r>
            <a:r>
              <a:rPr lang="en-US" sz="3000" dirty="0" err="1" smtClean="0">
                <a:solidFill>
                  <a:srgbClr val="FF0000"/>
                </a:solidFill>
              </a:rPr>
              <a:t>bytecode</a:t>
            </a:r>
            <a:endParaRPr lang="en-US" sz="3000" b="1" dirty="0" smtClean="0">
              <a:solidFill>
                <a:srgbClr val="FF0000"/>
              </a:solidFill>
            </a:endParaRP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In a C0 </a:t>
            </a:r>
            <a:r>
              <a:rPr lang="en-US" sz="3000" dirty="0" err="1" smtClean="0"/>
              <a:t>bytecode</a:t>
            </a:r>
            <a:r>
              <a:rPr lang="en-US" sz="3000" dirty="0" smtClean="0"/>
              <a:t> program, how long is each instruction? </a:t>
            </a:r>
            <a:r>
              <a:rPr lang="en-US" sz="3000" dirty="0" smtClean="0">
                <a:solidFill>
                  <a:srgbClr val="FF0000"/>
                </a:solidFill>
              </a:rPr>
              <a:t>a variable number of bytes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2562" y="503434"/>
            <a:ext cx="21659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Solutions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5939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Version 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dirty="0" smtClean="0"/>
              <a:t>The C type guaranteed to always be a 64-bit signed integer is _____________________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If we declare </a:t>
            </a:r>
            <a:r>
              <a:rPr lang="en-US" sz="3000" b="1" dirty="0" smtClean="0"/>
              <a:t>uint8_t x = 255</a:t>
            </a:r>
            <a:r>
              <a:rPr lang="en-US" sz="3000" dirty="0" smtClean="0"/>
              <a:t>, which of the following expressions yields </a:t>
            </a:r>
            <a:r>
              <a:rPr lang="en-US" sz="3000" b="1" dirty="0" smtClean="0"/>
              <a:t>-1</a:t>
            </a:r>
            <a:r>
              <a:rPr lang="en-US" sz="3000" dirty="0" smtClean="0"/>
              <a:t> as a 32 bit value?</a:t>
            </a:r>
          </a:p>
          <a:p>
            <a:pPr marL="914400" lvl="1" indent="-282575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/>
              <a:t>(int32_t)(uint32_t)x</a:t>
            </a:r>
          </a:p>
          <a:p>
            <a:pPr marL="914400" lvl="1" indent="-282575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/>
              <a:t>(int32_t)(int8_t)x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Reasoning about values of type float is difficult because _____________________________________________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Where does the C0 </a:t>
            </a:r>
            <a:r>
              <a:rPr lang="en-US" sz="3000" dirty="0" err="1" smtClean="0"/>
              <a:t>bytecode</a:t>
            </a:r>
            <a:r>
              <a:rPr lang="en-US" sz="3000" dirty="0" smtClean="0"/>
              <a:t> instruction </a:t>
            </a:r>
            <a:r>
              <a:rPr lang="en-US" sz="3000" b="1" dirty="0" err="1" smtClean="0"/>
              <a:t>iadd</a:t>
            </a:r>
            <a:r>
              <a:rPr lang="en-US" sz="3000" dirty="0" smtClean="0"/>
              <a:t> get its operands from? _____________________________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The maximum number of </a:t>
            </a:r>
            <a:r>
              <a:rPr lang="en-US" sz="3000" dirty="0" err="1" smtClean="0"/>
              <a:t>opcodes</a:t>
            </a:r>
            <a:r>
              <a:rPr lang="en-US" sz="3000" dirty="0" smtClean="0"/>
              <a:t> in the C0 </a:t>
            </a:r>
            <a:r>
              <a:rPr lang="en-US" sz="3000" dirty="0" err="1" smtClean="0"/>
              <a:t>bytecode</a:t>
            </a:r>
            <a:r>
              <a:rPr lang="en-US" sz="3000" dirty="0" smtClean="0"/>
              <a:t> is _____________________________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199" y="0"/>
            <a:ext cx="8543925" cy="1417638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b="1" dirty="0" smtClean="0"/>
              <a:t>   Go to						or</a:t>
            </a:r>
            <a:br>
              <a:rPr lang="en-US" b="1" dirty="0" smtClean="0"/>
            </a:br>
            <a:r>
              <a:rPr lang="en-US" b="1" dirty="0" smtClean="0"/>
              <a:t>						   </a:t>
            </a:r>
            <a:r>
              <a:rPr lang="en-US" b="1" dirty="0" smtClean="0">
                <a:solidFill>
                  <a:srgbClr val="0070C0"/>
                </a:solidFill>
              </a:rPr>
              <a:t>cs.cmu.edu/~15122/quiz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16720" y="342899"/>
            <a:ext cx="3104482" cy="1257301"/>
            <a:chOff x="116720" y="342899"/>
            <a:chExt cx="3104482" cy="1257301"/>
          </a:xfrm>
        </p:grpSpPr>
        <p:pic>
          <p:nvPicPr>
            <p:cNvPr id="9" name="Picture 8" descr="Screenshot from 2018-09-10 18-11-03.png"/>
            <p:cNvPicPr>
              <a:picLocks noChangeAspect="1"/>
            </p:cNvPicPr>
            <p:nvPr/>
          </p:nvPicPr>
          <p:blipFill>
            <a:blip r:embed="rId2"/>
            <a:srcRect l="8709" r="4144"/>
            <a:stretch>
              <a:fillRect/>
            </a:stretch>
          </p:blipFill>
          <p:spPr>
            <a:xfrm>
              <a:off x="116720" y="629224"/>
              <a:ext cx="3104482" cy="809625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1341735" y="894337"/>
              <a:ext cx="1090670" cy="705863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076450" y="342899"/>
              <a:ext cx="499580" cy="628650"/>
            </a:xfrm>
            <a:custGeom>
              <a:avLst/>
              <a:gdLst>
                <a:gd name="connsiteX0" fmla="*/ 0 w 219075"/>
                <a:gd name="connsiteY0" fmla="*/ 0 h 504825"/>
                <a:gd name="connsiteX1" fmla="*/ 209550 w 219075"/>
                <a:gd name="connsiteY1" fmla="*/ 295275 h 504825"/>
                <a:gd name="connsiteX2" fmla="*/ 57150 w 219075"/>
                <a:gd name="connsiteY2" fmla="*/ 504825 h 504825"/>
                <a:gd name="connsiteX0" fmla="*/ 0 w 221735"/>
                <a:gd name="connsiteY0" fmla="*/ 3780 h 508605"/>
                <a:gd name="connsiteX1" fmla="*/ 130261 w 221735"/>
                <a:gd name="connsiteY1" fmla="*/ 49212 h 508605"/>
                <a:gd name="connsiteX2" fmla="*/ 209550 w 221735"/>
                <a:gd name="connsiteY2" fmla="*/ 299055 h 508605"/>
                <a:gd name="connsiteX3" fmla="*/ 57150 w 221735"/>
                <a:gd name="connsiteY3" fmla="*/ 508605 h 508605"/>
                <a:gd name="connsiteX0" fmla="*/ 0 w 310550"/>
                <a:gd name="connsiteY0" fmla="*/ 3781 h 508606"/>
                <a:gd name="connsiteX1" fmla="*/ 219076 w 310550"/>
                <a:gd name="connsiteY1" fmla="*/ 49213 h 508606"/>
                <a:gd name="connsiteX2" fmla="*/ 298365 w 310550"/>
                <a:gd name="connsiteY2" fmla="*/ 299056 h 508606"/>
                <a:gd name="connsiteX3" fmla="*/ 145965 w 310550"/>
                <a:gd name="connsiteY3" fmla="*/ 508606 h 508606"/>
                <a:gd name="connsiteX0" fmla="*/ 0 w 310550"/>
                <a:gd name="connsiteY0" fmla="*/ 3781 h 508606"/>
                <a:gd name="connsiteX1" fmla="*/ 219076 w 310550"/>
                <a:gd name="connsiteY1" fmla="*/ 49213 h 508606"/>
                <a:gd name="connsiteX2" fmla="*/ 298365 w 310550"/>
                <a:gd name="connsiteY2" fmla="*/ 299056 h 508606"/>
                <a:gd name="connsiteX3" fmla="*/ 145965 w 310550"/>
                <a:gd name="connsiteY3" fmla="*/ 508606 h 508606"/>
                <a:gd name="connsiteX0" fmla="*/ 0 w 310550"/>
                <a:gd name="connsiteY0" fmla="*/ 3781 h 508606"/>
                <a:gd name="connsiteX1" fmla="*/ 219076 w 310550"/>
                <a:gd name="connsiteY1" fmla="*/ 49213 h 508606"/>
                <a:gd name="connsiteX2" fmla="*/ 298365 w 310550"/>
                <a:gd name="connsiteY2" fmla="*/ 299056 h 508606"/>
                <a:gd name="connsiteX3" fmla="*/ 145965 w 310550"/>
                <a:gd name="connsiteY3" fmla="*/ 508606 h 508606"/>
                <a:gd name="connsiteX0" fmla="*/ 0 w 310550"/>
                <a:gd name="connsiteY0" fmla="*/ 3781 h 508606"/>
                <a:gd name="connsiteX1" fmla="*/ 219076 w 310550"/>
                <a:gd name="connsiteY1" fmla="*/ 49213 h 508606"/>
                <a:gd name="connsiteX2" fmla="*/ 298365 w 310550"/>
                <a:gd name="connsiteY2" fmla="*/ 299056 h 508606"/>
                <a:gd name="connsiteX3" fmla="*/ 145965 w 310550"/>
                <a:gd name="connsiteY3" fmla="*/ 508606 h 508606"/>
                <a:gd name="connsiteX0" fmla="*/ 0 w 310550"/>
                <a:gd name="connsiteY0" fmla="*/ 3781 h 508606"/>
                <a:gd name="connsiteX1" fmla="*/ 219076 w 310550"/>
                <a:gd name="connsiteY1" fmla="*/ 49213 h 508606"/>
                <a:gd name="connsiteX2" fmla="*/ 298365 w 310550"/>
                <a:gd name="connsiteY2" fmla="*/ 299056 h 508606"/>
                <a:gd name="connsiteX3" fmla="*/ 145965 w 310550"/>
                <a:gd name="connsiteY3" fmla="*/ 508606 h 508606"/>
                <a:gd name="connsiteX0" fmla="*/ 0 w 310550"/>
                <a:gd name="connsiteY0" fmla="*/ 0 h 504825"/>
                <a:gd name="connsiteX1" fmla="*/ 219076 w 310550"/>
                <a:gd name="connsiteY1" fmla="*/ 45432 h 504825"/>
                <a:gd name="connsiteX2" fmla="*/ 298365 w 310550"/>
                <a:gd name="connsiteY2" fmla="*/ 295275 h 504825"/>
                <a:gd name="connsiteX3" fmla="*/ 145965 w 310550"/>
                <a:gd name="connsiteY3" fmla="*/ 504825 h 504825"/>
                <a:gd name="connsiteX0" fmla="*/ 0 w 310550"/>
                <a:gd name="connsiteY0" fmla="*/ 0 h 504825"/>
                <a:gd name="connsiteX1" fmla="*/ 219076 w 310550"/>
                <a:gd name="connsiteY1" fmla="*/ 45432 h 504825"/>
                <a:gd name="connsiteX2" fmla="*/ 298365 w 310550"/>
                <a:gd name="connsiteY2" fmla="*/ 295275 h 504825"/>
                <a:gd name="connsiteX3" fmla="*/ 145965 w 310550"/>
                <a:gd name="connsiteY3" fmla="*/ 504825 h 50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550" h="504825">
                  <a:moveTo>
                    <a:pt x="0" y="0"/>
                  </a:moveTo>
                  <a:cubicBezTo>
                    <a:pt x="163813" y="13759"/>
                    <a:pt x="141210" y="11815"/>
                    <a:pt x="219076" y="45432"/>
                  </a:cubicBezTo>
                  <a:cubicBezTo>
                    <a:pt x="268804" y="94645"/>
                    <a:pt x="310550" y="218710"/>
                    <a:pt x="298365" y="295275"/>
                  </a:cubicBezTo>
                  <a:cubicBezTo>
                    <a:pt x="286180" y="371841"/>
                    <a:pt x="226927" y="442119"/>
                    <a:pt x="145965" y="504825"/>
                  </a:cubicBezTo>
                </a:path>
              </a:pathLst>
            </a:custGeom>
            <a:ln w="571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459394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Quiz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dirty="0" smtClean="0"/>
              <a:t>The C type guaranteed to always be a 64-bit signed integer is </a:t>
            </a:r>
            <a:r>
              <a:rPr lang="en-US" sz="3000" b="1" dirty="0" smtClean="0">
                <a:solidFill>
                  <a:srgbClr val="FF0000"/>
                </a:solidFill>
              </a:rPr>
              <a:t>int64_t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If we declare </a:t>
            </a:r>
            <a:r>
              <a:rPr lang="en-US" sz="3000" b="1" dirty="0" smtClean="0"/>
              <a:t>uint8_t x = 255</a:t>
            </a:r>
            <a:r>
              <a:rPr lang="en-US" sz="3000" dirty="0" smtClean="0"/>
              <a:t>, which of the following expressions yields </a:t>
            </a:r>
            <a:r>
              <a:rPr lang="en-US" sz="3000" b="1" dirty="0" smtClean="0"/>
              <a:t>-1</a:t>
            </a:r>
            <a:r>
              <a:rPr lang="en-US" sz="3000" dirty="0" smtClean="0"/>
              <a:t> as a 32 bit value?</a:t>
            </a:r>
          </a:p>
          <a:p>
            <a:pPr marL="914400" lvl="1" indent="-282575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/>
              <a:t>(int32_t)(uint32_t)x</a:t>
            </a:r>
          </a:p>
          <a:p>
            <a:pPr marL="914400" lvl="1" indent="-282575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600" dirty="0" smtClean="0">
                <a:solidFill>
                  <a:srgbClr val="FF0000"/>
                </a:solidFill>
              </a:rPr>
              <a:t>(int32_t)(int8_t)x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Reasoning about values of type float is difficult because </a:t>
            </a:r>
            <a:r>
              <a:rPr lang="en-US" sz="3000" dirty="0" smtClean="0">
                <a:solidFill>
                  <a:srgbClr val="FF0000"/>
                </a:solidFill>
              </a:rPr>
              <a:t>rounding errors / the laws of arithmetic don’t hold tr</a:t>
            </a:r>
            <a:r>
              <a:rPr lang="en-US" sz="3000" dirty="0" smtClean="0"/>
              <a:t>ue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Where does the C0 </a:t>
            </a:r>
            <a:r>
              <a:rPr lang="en-US" sz="3000" dirty="0" err="1" smtClean="0"/>
              <a:t>bytecode</a:t>
            </a:r>
            <a:r>
              <a:rPr lang="en-US" sz="3000" dirty="0" smtClean="0"/>
              <a:t> instruction </a:t>
            </a:r>
            <a:r>
              <a:rPr lang="en-US" sz="3000" b="1" dirty="0" err="1" smtClean="0"/>
              <a:t>iadd</a:t>
            </a:r>
            <a:r>
              <a:rPr lang="en-US" sz="3000" dirty="0" smtClean="0"/>
              <a:t> get its operands from? </a:t>
            </a:r>
            <a:r>
              <a:rPr lang="en-US" sz="3000" dirty="0" smtClean="0">
                <a:solidFill>
                  <a:srgbClr val="FF0000"/>
                </a:solidFill>
              </a:rPr>
              <a:t>From the sta</a:t>
            </a:r>
            <a:r>
              <a:rPr lang="en-US" sz="3000" dirty="0" smtClean="0"/>
              <a:t>ck</a:t>
            </a:r>
          </a:p>
          <a:p>
            <a:pPr marL="51435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3000" dirty="0" smtClean="0"/>
              <a:t>The maximum number of </a:t>
            </a:r>
            <a:r>
              <a:rPr lang="en-US" sz="3000" dirty="0" err="1" smtClean="0"/>
              <a:t>opcodes</a:t>
            </a:r>
            <a:r>
              <a:rPr lang="en-US" sz="3000" dirty="0" smtClean="0"/>
              <a:t> in the C0 </a:t>
            </a:r>
            <a:r>
              <a:rPr lang="en-US" sz="3000" dirty="0" err="1" smtClean="0"/>
              <a:t>bytecode</a:t>
            </a:r>
            <a:r>
              <a:rPr lang="en-US" sz="3000" dirty="0" smtClean="0"/>
              <a:t> is </a:t>
            </a:r>
            <a:r>
              <a:rPr lang="en-US" sz="3000" dirty="0" smtClean="0">
                <a:solidFill>
                  <a:srgbClr val="FF0000"/>
                </a:solidFill>
              </a:rPr>
              <a:t>256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2562" y="503434"/>
            <a:ext cx="21659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</a:rPr>
              <a:t>Solutions</a:t>
            </a: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5939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347</Words>
  <Application>Microsoft Macintosh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Version A</vt:lpstr>
      <vt:lpstr>   Go to      or          cs.cmu.edu/~15122/quiz</vt:lpstr>
      <vt:lpstr>Quiz</vt:lpstr>
      <vt:lpstr>Version B</vt:lpstr>
      <vt:lpstr>   Go to      or          cs.cmu.edu/~15122/quiz</vt:lpstr>
      <vt:lpstr>Quiz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</dc:title>
  <dc:creator>Frank Pfenning</dc:creator>
  <cp:lastModifiedBy>iliano</cp:lastModifiedBy>
  <cp:revision>42</cp:revision>
  <dcterms:created xsi:type="dcterms:W3CDTF">2016-03-03T13:23:29Z</dcterms:created>
  <dcterms:modified xsi:type="dcterms:W3CDTF">2018-11-11T14:10:05Z</dcterms:modified>
</cp:coreProperties>
</file>