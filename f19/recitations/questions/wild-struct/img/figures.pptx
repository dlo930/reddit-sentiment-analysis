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8" r:id="rId2"/>
    <p:sldId id="278" r:id="rId3"/>
    <p:sldId id="277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31"/>
    <p:restoredTop sz="94660"/>
  </p:normalViewPr>
  <p:slideViewPr>
    <p:cSldViewPr snapToObjects="1">
      <p:cViewPr varScale="1">
        <p:scale>
          <a:sx n="98" d="100"/>
          <a:sy n="98" d="100"/>
        </p:scale>
        <p:origin x="200" y="3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A8F51-48B2-4A54-B8F7-B67A2836F7A7}" type="datetimeFigureOut">
              <a:rPr lang="en-US" smtClean="0"/>
              <a:pPr/>
              <a:t>2/17/17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202015-F8A1-408C-BD74-83FEB1D7336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2/17/17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2/17/17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905125"/>
            <a:ext cx="7772400" cy="1362075"/>
          </a:xfrm>
        </p:spPr>
        <p:txBody>
          <a:bodyPr anchor="t">
            <a:noAutofit/>
          </a:bodyPr>
          <a:lstStyle>
            <a:lvl1pPr algn="ctr">
              <a:defRPr sz="4800" b="1" cap="none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2672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2/17/17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2/17/17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2/17/17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2/17/17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2/17/17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2/17/17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2/17/17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2/17/17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2/17/17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FBE773-AFD6-1F41-B544-3BE70B961224}" type="datetimeFigureOut">
              <a:rPr lang="en-US" smtClean="0"/>
              <a:pPr/>
              <a:t>2/17/17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Pictures for </a:t>
            </a:r>
            <a:r>
              <a:rPr lang="en-US" smtClean="0"/>
              <a:t>this recitation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en-US" b="1" dirty="0" smtClean="0">
                <a:solidFill>
                  <a:schemeClr val="tx1"/>
                </a:solidFill>
              </a:rPr>
              <a:t>To save a picture (1 per slide):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select the picture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right-click ‘</a:t>
            </a:r>
            <a:r>
              <a:rPr lang="en-US" i="1" dirty="0" smtClean="0">
                <a:solidFill>
                  <a:schemeClr val="tx1"/>
                </a:solidFill>
              </a:rPr>
              <a:t>Save as Picture …</a:t>
            </a:r>
            <a:r>
              <a:rPr lang="en-US" dirty="0" smtClean="0">
                <a:solidFill>
                  <a:schemeClr val="tx1"/>
                </a:solidFill>
              </a:rPr>
              <a:t>’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Select the PNG format and use the slide title as the file name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structs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505200" y="2895600"/>
            <a:ext cx="1295400" cy="6096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smtClean="0">
                <a:solidFill>
                  <a:schemeClr val="tx1"/>
                </a:solidFill>
              </a:rPr>
              <a:t>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05200" y="3505200"/>
            <a:ext cx="1295400" cy="6096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smtClean="0">
                <a:solidFill>
                  <a:schemeClr val="tx1"/>
                </a:solidFill>
              </a:rPr>
              <a:t>b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09800" y="2743200"/>
            <a:ext cx="493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foo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3505200" y="4343400"/>
            <a:ext cx="1295400" cy="6096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smtClean="0">
                <a:solidFill>
                  <a:schemeClr val="tx1"/>
                </a:solidFill>
              </a:rPr>
              <a:t>c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505200" y="4953000"/>
            <a:ext cx="1295400" cy="6096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smtClean="0">
                <a:solidFill>
                  <a:schemeClr val="tx1"/>
                </a:solidFill>
              </a:rPr>
              <a:t>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505200" y="5562600"/>
            <a:ext cx="1295400" cy="6096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smtClean="0">
                <a:solidFill>
                  <a:schemeClr val="tx1"/>
                </a:solidFill>
              </a:rPr>
              <a:t>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09800" y="4191000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bar</a:t>
            </a:r>
            <a:endParaRPr lang="en-US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2664529" y="2926080"/>
            <a:ext cx="801482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660175" y="4384766"/>
            <a:ext cx="801482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0127" y="2114089"/>
            <a:ext cx="648575" cy="138499"/>
          </a:xfrm>
          <a:prstGeom prst="rect">
            <a:avLst/>
          </a:prstGeom>
          <a:noFill/>
        </p:spPr>
        <p:txBody>
          <a:bodyPr wrap="none" lIns="45720" tIns="22860" rIns="45720" bIns="22860" rtlCol="0">
            <a:spAutoFit/>
          </a:bodyPr>
          <a:lstStyle/>
          <a:p>
            <a:r>
              <a:rPr lang="en-US" sz="600" i="1" dirty="0">
                <a:latin typeface="Times New Roman"/>
                <a:cs typeface="Times New Roman"/>
              </a:rPr>
              <a:t>local </a:t>
            </a:r>
            <a:r>
              <a:rPr lang="en-US" sz="600" i="1" dirty="0" err="1">
                <a:latin typeface="Times New Roman"/>
                <a:cs typeface="Times New Roman"/>
              </a:rPr>
              <a:t>vars</a:t>
            </a:r>
            <a:r>
              <a:rPr lang="en-US" sz="600" i="1" dirty="0">
                <a:latin typeface="Times New Roman"/>
                <a:cs typeface="Times New Roman"/>
              </a:rPr>
              <a:t> of </a:t>
            </a:r>
            <a:r>
              <a:rPr lang="en-US" sz="600" i="1" dirty="0" smtClean="0">
                <a:latin typeface="Times New Roman"/>
                <a:cs typeface="Times New Roman"/>
              </a:rPr>
              <a:t>main</a:t>
            </a:r>
            <a:endParaRPr lang="en-US" sz="600" i="1" dirty="0">
              <a:latin typeface="Times New Roman"/>
              <a:cs typeface="Times New Roman"/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>
            <a:off x="2907786" y="1981200"/>
            <a:ext cx="0" cy="459175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959741" y="2114089"/>
            <a:ext cx="643766" cy="138499"/>
          </a:xfrm>
          <a:prstGeom prst="rect">
            <a:avLst/>
          </a:prstGeom>
          <a:noFill/>
        </p:spPr>
        <p:txBody>
          <a:bodyPr wrap="none" lIns="45720" tIns="22860" rIns="45720" bIns="22860" rtlCol="0">
            <a:spAutoFit/>
          </a:bodyPr>
          <a:lstStyle/>
          <a:p>
            <a:r>
              <a:rPr lang="en-US" sz="600" i="1" dirty="0" smtClean="0">
                <a:latin typeface="Times New Roman"/>
                <a:cs typeface="Times New Roman"/>
              </a:rPr>
              <a:t>allocated memory</a:t>
            </a:r>
            <a:endParaRPr lang="en-US" sz="600" i="1" dirty="0">
              <a:latin typeface="Times New Roman"/>
              <a:cs typeface="Times New Roman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122561" y="2268978"/>
            <a:ext cx="611415" cy="2510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45720" tIns="22860" rIns="45720" bIns="22860" spcCol="0" rtlCol="0" anchor="ctr"/>
          <a:lstStyle/>
          <a:p>
            <a:pPr algn="ctr"/>
            <a:endParaRPr lang="en-US"/>
          </a:p>
        </p:txBody>
      </p:sp>
      <p:graphicFrame>
        <p:nvGraphicFramePr>
          <p:cNvPr id="51" name="Table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343142"/>
              </p:ext>
            </p:extLst>
          </p:nvPr>
        </p:nvGraphicFramePr>
        <p:xfrm>
          <a:off x="122560" y="2303930"/>
          <a:ext cx="576782" cy="185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349"/>
                <a:gridCol w="454433"/>
              </a:tblGrid>
              <a:tr h="185420">
                <a:tc>
                  <a:txBody>
                    <a:bodyPr/>
                    <a:lstStyle/>
                    <a:p>
                      <a:pPr algn="r"/>
                      <a:r>
                        <a:rPr lang="en-US" sz="900" dirty="0" smtClean="0"/>
                        <a:t>S</a:t>
                      </a:r>
                      <a:endParaRPr lang="en-US" sz="900" dirty="0"/>
                    </a:p>
                  </a:txBody>
                  <a:tcPr marL="45720" marR="45720" marT="22860" marB="2286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900" dirty="0">
                        <a:latin typeface="Courier New"/>
                        <a:cs typeface="Courier New"/>
                      </a:endParaRPr>
                    </a:p>
                  </a:txBody>
                  <a:tcPr marL="45720" marR="45720" marT="22860" marB="2286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8" name="TextBox 197"/>
          <p:cNvSpPr txBox="1"/>
          <p:nvPr/>
        </p:nvSpPr>
        <p:spPr>
          <a:xfrm>
            <a:off x="70127" y="3442979"/>
            <a:ext cx="648575" cy="138499"/>
          </a:xfrm>
          <a:prstGeom prst="rect">
            <a:avLst/>
          </a:prstGeom>
          <a:noFill/>
        </p:spPr>
        <p:txBody>
          <a:bodyPr wrap="none" lIns="45720" tIns="22860" rIns="45720" bIns="22860" rtlCol="0">
            <a:spAutoFit/>
          </a:bodyPr>
          <a:lstStyle/>
          <a:p>
            <a:r>
              <a:rPr lang="en-US" sz="600" i="1" dirty="0">
                <a:latin typeface="Times New Roman"/>
                <a:cs typeface="Times New Roman"/>
              </a:rPr>
              <a:t>local </a:t>
            </a:r>
            <a:r>
              <a:rPr lang="en-US" sz="600" i="1" dirty="0" err="1">
                <a:latin typeface="Times New Roman"/>
                <a:cs typeface="Times New Roman"/>
              </a:rPr>
              <a:t>vars</a:t>
            </a:r>
            <a:r>
              <a:rPr lang="en-US" sz="600" i="1" dirty="0">
                <a:latin typeface="Times New Roman"/>
                <a:cs typeface="Times New Roman"/>
              </a:rPr>
              <a:t> of </a:t>
            </a:r>
            <a:r>
              <a:rPr lang="en-US" sz="600" i="1" dirty="0" smtClean="0">
                <a:latin typeface="Times New Roman"/>
                <a:cs typeface="Times New Roman"/>
              </a:rPr>
              <a:t>main</a:t>
            </a:r>
            <a:endParaRPr lang="en-US" sz="600" i="1" dirty="0">
              <a:latin typeface="Times New Roman"/>
              <a:cs typeface="Times New Roman"/>
            </a:endParaRPr>
          </a:p>
        </p:txBody>
      </p:sp>
      <p:sp>
        <p:nvSpPr>
          <p:cNvPr id="204" name="Rectangle 203"/>
          <p:cNvSpPr/>
          <p:nvPr/>
        </p:nvSpPr>
        <p:spPr>
          <a:xfrm>
            <a:off x="122561" y="3597867"/>
            <a:ext cx="611415" cy="2510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45720" tIns="22860" rIns="45720" bIns="22860" spcCol="0" rtlCol="0" anchor="ctr"/>
          <a:lstStyle/>
          <a:p>
            <a:pPr algn="ctr"/>
            <a:endParaRPr lang="en-US"/>
          </a:p>
        </p:txBody>
      </p:sp>
      <p:graphicFrame>
        <p:nvGraphicFramePr>
          <p:cNvPr id="205" name="Table 2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7783543"/>
              </p:ext>
            </p:extLst>
          </p:nvPr>
        </p:nvGraphicFramePr>
        <p:xfrm>
          <a:off x="122560" y="3632819"/>
          <a:ext cx="576782" cy="185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349"/>
                <a:gridCol w="454433"/>
              </a:tblGrid>
              <a:tr h="185420">
                <a:tc>
                  <a:txBody>
                    <a:bodyPr/>
                    <a:lstStyle/>
                    <a:p>
                      <a:pPr algn="r"/>
                      <a:r>
                        <a:rPr lang="en-US" sz="900" dirty="0" smtClean="0"/>
                        <a:t>S</a:t>
                      </a:r>
                      <a:endParaRPr lang="en-US" sz="900" dirty="0"/>
                    </a:p>
                  </a:txBody>
                  <a:tcPr marL="45720" marR="45720" marT="22860" marB="2286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smtClean="0">
                          <a:latin typeface="Courier New"/>
                          <a:cs typeface="Courier New"/>
                        </a:rPr>
                        <a:t>0xE78</a:t>
                      </a:r>
                      <a:endParaRPr lang="en-US" sz="900" dirty="0">
                        <a:latin typeface="Courier New"/>
                        <a:cs typeface="Courier New"/>
                      </a:endParaRPr>
                    </a:p>
                  </a:txBody>
                  <a:tcPr marL="45720" marR="45720" marT="22860" marB="2286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6" name="Rectangle 205"/>
          <p:cNvSpPr/>
          <p:nvPr/>
        </p:nvSpPr>
        <p:spPr>
          <a:xfrm>
            <a:off x="856287" y="3592576"/>
            <a:ext cx="1695257" cy="2510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45720" tIns="22860" rIns="45720" bIns="22860" spcCol="0" rtlCol="0" anchor="ctr"/>
          <a:lstStyle/>
          <a:p>
            <a:pPr algn="ctr"/>
            <a:endParaRPr lang="en-US"/>
          </a:p>
        </p:txBody>
      </p:sp>
      <p:sp>
        <p:nvSpPr>
          <p:cNvPr id="207" name="TextBox 206"/>
          <p:cNvSpPr txBox="1"/>
          <p:nvPr/>
        </p:nvSpPr>
        <p:spPr>
          <a:xfrm>
            <a:off x="803852" y="3442979"/>
            <a:ext cx="720710" cy="138499"/>
          </a:xfrm>
          <a:prstGeom prst="rect">
            <a:avLst/>
          </a:prstGeom>
          <a:noFill/>
        </p:spPr>
        <p:txBody>
          <a:bodyPr wrap="none" lIns="45720" tIns="22860" rIns="45720" bIns="22860" rtlCol="0">
            <a:spAutoFit/>
          </a:bodyPr>
          <a:lstStyle/>
          <a:p>
            <a:r>
              <a:rPr lang="en-US" sz="600" i="1" dirty="0">
                <a:latin typeface="Times New Roman"/>
                <a:cs typeface="Times New Roman"/>
              </a:rPr>
              <a:t>local </a:t>
            </a:r>
            <a:r>
              <a:rPr lang="en-US" sz="600" i="1" dirty="0" err="1">
                <a:latin typeface="Times New Roman"/>
                <a:cs typeface="Times New Roman"/>
              </a:rPr>
              <a:t>vars</a:t>
            </a:r>
            <a:r>
              <a:rPr lang="en-US" sz="600" i="1" dirty="0">
                <a:latin typeface="Times New Roman"/>
                <a:cs typeface="Times New Roman"/>
              </a:rPr>
              <a:t> of reverse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70127" y="2547834"/>
            <a:ext cx="648575" cy="138499"/>
          </a:xfrm>
          <a:prstGeom prst="rect">
            <a:avLst/>
          </a:prstGeom>
          <a:noFill/>
        </p:spPr>
        <p:txBody>
          <a:bodyPr wrap="none" lIns="45720" tIns="22860" rIns="45720" bIns="22860" rtlCol="0">
            <a:spAutoFit/>
          </a:bodyPr>
          <a:lstStyle/>
          <a:p>
            <a:r>
              <a:rPr lang="en-US" sz="600" i="1" dirty="0">
                <a:latin typeface="Times New Roman"/>
                <a:cs typeface="Times New Roman"/>
              </a:rPr>
              <a:t>local </a:t>
            </a:r>
            <a:r>
              <a:rPr lang="en-US" sz="600" i="1" dirty="0" err="1">
                <a:latin typeface="Times New Roman"/>
                <a:cs typeface="Times New Roman"/>
              </a:rPr>
              <a:t>vars</a:t>
            </a:r>
            <a:r>
              <a:rPr lang="en-US" sz="600" i="1" dirty="0">
                <a:latin typeface="Times New Roman"/>
                <a:cs typeface="Times New Roman"/>
              </a:rPr>
              <a:t> of </a:t>
            </a:r>
            <a:r>
              <a:rPr lang="en-US" sz="600" i="1" dirty="0" smtClean="0">
                <a:latin typeface="Times New Roman"/>
                <a:cs typeface="Times New Roman"/>
              </a:rPr>
              <a:t>main</a:t>
            </a:r>
            <a:endParaRPr lang="en-US" sz="600" i="1" dirty="0">
              <a:latin typeface="Times New Roman"/>
              <a:cs typeface="Times New Roman"/>
            </a:endParaRPr>
          </a:p>
        </p:txBody>
      </p:sp>
      <p:sp>
        <p:nvSpPr>
          <p:cNvPr id="210" name="TextBox 209"/>
          <p:cNvSpPr txBox="1"/>
          <p:nvPr/>
        </p:nvSpPr>
        <p:spPr>
          <a:xfrm>
            <a:off x="2959741" y="2547834"/>
            <a:ext cx="643766" cy="138499"/>
          </a:xfrm>
          <a:prstGeom prst="rect">
            <a:avLst/>
          </a:prstGeom>
          <a:noFill/>
        </p:spPr>
        <p:txBody>
          <a:bodyPr wrap="none" lIns="45720" tIns="22860" rIns="45720" bIns="22860" rtlCol="0">
            <a:spAutoFit/>
          </a:bodyPr>
          <a:lstStyle/>
          <a:p>
            <a:r>
              <a:rPr lang="en-US" sz="600" i="1" dirty="0" smtClean="0">
                <a:latin typeface="Times New Roman"/>
                <a:cs typeface="Times New Roman"/>
              </a:rPr>
              <a:t>allocated memory</a:t>
            </a:r>
            <a:endParaRPr lang="en-US" sz="600" i="1" dirty="0">
              <a:latin typeface="Times New Roman"/>
              <a:cs typeface="Times New Roman"/>
            </a:endParaRPr>
          </a:p>
        </p:txBody>
      </p:sp>
      <p:sp>
        <p:nvSpPr>
          <p:cNvPr id="211" name="Rectangle 210"/>
          <p:cNvSpPr/>
          <p:nvPr/>
        </p:nvSpPr>
        <p:spPr>
          <a:xfrm>
            <a:off x="2959741" y="2663133"/>
            <a:ext cx="369377" cy="138500"/>
          </a:xfrm>
          <a:prstGeom prst="rect">
            <a:avLst/>
          </a:prstGeom>
        </p:spPr>
        <p:txBody>
          <a:bodyPr wrap="none" lIns="45720" tIns="22860" rIns="45720" bIns="22860">
            <a:spAutoFit/>
          </a:bodyPr>
          <a:lstStyle/>
          <a:p>
            <a:r>
              <a:rPr lang="en-US" sz="600" dirty="0" smtClean="0">
                <a:latin typeface="Courier New"/>
                <a:cs typeface="Courier New"/>
              </a:rPr>
              <a:t>0xE78:</a:t>
            </a:r>
            <a:endParaRPr lang="en-US" sz="600" dirty="0">
              <a:latin typeface="Courier New"/>
              <a:cs typeface="Courier New"/>
            </a:endParaRPr>
          </a:p>
        </p:txBody>
      </p:sp>
      <p:graphicFrame>
        <p:nvGraphicFramePr>
          <p:cNvPr id="212" name="Table 2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1885157"/>
              </p:ext>
            </p:extLst>
          </p:nvPr>
        </p:nvGraphicFramePr>
        <p:xfrm>
          <a:off x="3311800" y="2708923"/>
          <a:ext cx="116840" cy="185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840"/>
              </a:tblGrid>
              <a:tr h="1854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 smtClean="0">
                        <a:latin typeface="Courier New"/>
                        <a:cs typeface="Courier New"/>
                      </a:endParaRPr>
                    </a:p>
                  </a:txBody>
                  <a:tcPr marL="45720" marR="45720" marT="22860" marB="2286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3" name="Right Arrow 212"/>
          <p:cNvSpPr/>
          <p:nvPr/>
        </p:nvSpPr>
        <p:spPr>
          <a:xfrm>
            <a:off x="3436315" y="2796124"/>
            <a:ext cx="144319" cy="98219"/>
          </a:xfrm>
          <a:prstGeom prst="rightArrow">
            <a:avLst/>
          </a:prstGeom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22860" rIns="45720" bIns="22860" rtlCol="0" anchor="ctr"/>
          <a:lstStyle/>
          <a:p>
            <a:pPr algn="ctr"/>
            <a:endParaRPr lang="en-US"/>
          </a:p>
        </p:txBody>
      </p:sp>
      <p:sp>
        <p:nvSpPr>
          <p:cNvPr id="214" name="Right Arrow 213"/>
          <p:cNvSpPr/>
          <p:nvPr/>
        </p:nvSpPr>
        <p:spPr>
          <a:xfrm rot="10800000">
            <a:off x="3436315" y="2715223"/>
            <a:ext cx="144319" cy="98219"/>
          </a:xfrm>
          <a:prstGeom prst="rightArrow">
            <a:avLst/>
          </a:prstGeom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22860" rIns="45720" bIns="22860" rtlCol="0" anchor="ctr"/>
          <a:lstStyle/>
          <a:p>
            <a:pPr algn="ctr"/>
            <a:endParaRPr lang="en-US"/>
          </a:p>
        </p:txBody>
      </p:sp>
      <p:sp>
        <p:nvSpPr>
          <p:cNvPr id="215" name="Rectangle 214"/>
          <p:cNvSpPr/>
          <p:nvPr/>
        </p:nvSpPr>
        <p:spPr>
          <a:xfrm>
            <a:off x="122561" y="2702723"/>
            <a:ext cx="611415" cy="2510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45720" tIns="22860" rIns="45720" bIns="22860" spcCol="0" rtlCol="0" anchor="ctr"/>
          <a:lstStyle/>
          <a:p>
            <a:pPr algn="ctr"/>
            <a:endParaRPr lang="en-US"/>
          </a:p>
        </p:txBody>
      </p:sp>
      <p:graphicFrame>
        <p:nvGraphicFramePr>
          <p:cNvPr id="216" name="Table 2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830751"/>
              </p:ext>
            </p:extLst>
          </p:nvPr>
        </p:nvGraphicFramePr>
        <p:xfrm>
          <a:off x="122560" y="2737675"/>
          <a:ext cx="576782" cy="185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349"/>
                <a:gridCol w="454433"/>
              </a:tblGrid>
              <a:tr h="185420">
                <a:tc>
                  <a:txBody>
                    <a:bodyPr/>
                    <a:lstStyle/>
                    <a:p>
                      <a:pPr algn="r"/>
                      <a:r>
                        <a:rPr lang="en-US" sz="900" dirty="0" smtClean="0"/>
                        <a:t>S</a:t>
                      </a:r>
                      <a:endParaRPr lang="en-US" sz="900" dirty="0"/>
                    </a:p>
                  </a:txBody>
                  <a:tcPr marL="45720" marR="45720" marT="22860" marB="2286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smtClean="0">
                          <a:latin typeface="Courier New"/>
                          <a:cs typeface="Courier New"/>
                        </a:rPr>
                        <a:t>0xE78</a:t>
                      </a:r>
                    </a:p>
                  </a:txBody>
                  <a:tcPr marL="45720" marR="45720" marT="22860" marB="2286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7" name="TextBox 216"/>
          <p:cNvSpPr txBox="1"/>
          <p:nvPr/>
        </p:nvSpPr>
        <p:spPr>
          <a:xfrm>
            <a:off x="70134" y="2995725"/>
            <a:ext cx="648575" cy="138499"/>
          </a:xfrm>
          <a:prstGeom prst="rect">
            <a:avLst/>
          </a:prstGeom>
          <a:noFill/>
        </p:spPr>
        <p:txBody>
          <a:bodyPr wrap="none" lIns="45720" tIns="22860" rIns="45720" bIns="22860" rtlCol="0">
            <a:spAutoFit/>
          </a:bodyPr>
          <a:lstStyle/>
          <a:p>
            <a:r>
              <a:rPr lang="en-US" sz="600" i="1" dirty="0">
                <a:latin typeface="Times New Roman"/>
                <a:cs typeface="Times New Roman"/>
              </a:rPr>
              <a:t>local </a:t>
            </a:r>
            <a:r>
              <a:rPr lang="en-US" sz="600" i="1" dirty="0" err="1">
                <a:latin typeface="Times New Roman"/>
                <a:cs typeface="Times New Roman"/>
              </a:rPr>
              <a:t>vars</a:t>
            </a:r>
            <a:r>
              <a:rPr lang="en-US" sz="600" i="1" dirty="0">
                <a:latin typeface="Times New Roman"/>
                <a:cs typeface="Times New Roman"/>
              </a:rPr>
              <a:t> of </a:t>
            </a:r>
            <a:r>
              <a:rPr lang="en-US" sz="600" i="1" dirty="0" smtClean="0">
                <a:latin typeface="Times New Roman"/>
                <a:cs typeface="Times New Roman"/>
              </a:rPr>
              <a:t>main</a:t>
            </a:r>
            <a:endParaRPr lang="en-US" sz="600" i="1" dirty="0">
              <a:latin typeface="Times New Roman"/>
              <a:cs typeface="Times New Roman"/>
            </a:endParaRPr>
          </a:p>
        </p:txBody>
      </p:sp>
      <p:sp>
        <p:nvSpPr>
          <p:cNvPr id="218" name="TextBox 217"/>
          <p:cNvSpPr txBox="1"/>
          <p:nvPr/>
        </p:nvSpPr>
        <p:spPr>
          <a:xfrm>
            <a:off x="2959748" y="2995725"/>
            <a:ext cx="643766" cy="138499"/>
          </a:xfrm>
          <a:prstGeom prst="rect">
            <a:avLst/>
          </a:prstGeom>
          <a:noFill/>
        </p:spPr>
        <p:txBody>
          <a:bodyPr wrap="none" lIns="45720" tIns="22860" rIns="45720" bIns="22860" rtlCol="0">
            <a:spAutoFit/>
          </a:bodyPr>
          <a:lstStyle/>
          <a:p>
            <a:r>
              <a:rPr lang="en-US" sz="600" i="1" dirty="0" smtClean="0">
                <a:latin typeface="Times New Roman"/>
                <a:cs typeface="Times New Roman"/>
              </a:rPr>
              <a:t>allocated memory</a:t>
            </a:r>
            <a:endParaRPr lang="en-US" sz="600" i="1" dirty="0">
              <a:latin typeface="Times New Roman"/>
              <a:cs typeface="Times New Roman"/>
            </a:endParaRPr>
          </a:p>
        </p:txBody>
      </p:sp>
      <p:sp>
        <p:nvSpPr>
          <p:cNvPr id="219" name="Rectangle 218"/>
          <p:cNvSpPr/>
          <p:nvPr/>
        </p:nvSpPr>
        <p:spPr>
          <a:xfrm>
            <a:off x="2959748" y="3111024"/>
            <a:ext cx="369377" cy="138500"/>
          </a:xfrm>
          <a:prstGeom prst="rect">
            <a:avLst/>
          </a:prstGeom>
        </p:spPr>
        <p:txBody>
          <a:bodyPr wrap="none" lIns="45720" tIns="22860" rIns="45720" bIns="22860">
            <a:spAutoFit/>
          </a:bodyPr>
          <a:lstStyle/>
          <a:p>
            <a:r>
              <a:rPr lang="en-US" sz="600" dirty="0" smtClean="0">
                <a:latin typeface="Courier New"/>
                <a:cs typeface="Courier New"/>
              </a:rPr>
              <a:t>0xE78:</a:t>
            </a:r>
            <a:endParaRPr lang="en-US" sz="600" dirty="0">
              <a:latin typeface="Courier New"/>
              <a:cs typeface="Courier New"/>
            </a:endParaRPr>
          </a:p>
        </p:txBody>
      </p:sp>
      <p:graphicFrame>
        <p:nvGraphicFramePr>
          <p:cNvPr id="220" name="Table 2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2845467"/>
              </p:ext>
            </p:extLst>
          </p:nvPr>
        </p:nvGraphicFramePr>
        <p:xfrm>
          <a:off x="3311807" y="3156814"/>
          <a:ext cx="446228" cy="185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6228"/>
              </a:tblGrid>
              <a:tr h="1854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 smtClean="0">
                          <a:solidFill>
                            <a:schemeClr val="tx1"/>
                          </a:solidFill>
                          <a:effectLst/>
                          <a:latin typeface="Courier New"/>
                          <a:ea typeface="+mn-ea"/>
                          <a:cs typeface="Courier New"/>
                        </a:rPr>
                        <a:t>"foo"</a:t>
                      </a:r>
                      <a:endParaRPr lang="en-US" sz="900" dirty="0" smtClean="0">
                        <a:latin typeface="Courier New"/>
                        <a:cs typeface="Courier New"/>
                      </a:endParaRPr>
                    </a:p>
                  </a:txBody>
                  <a:tcPr marL="45720" marR="45720" marT="22860" marB="2286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1" name="Right Arrow 220"/>
          <p:cNvSpPr/>
          <p:nvPr/>
        </p:nvSpPr>
        <p:spPr>
          <a:xfrm>
            <a:off x="3779793" y="3244015"/>
            <a:ext cx="144319" cy="98219"/>
          </a:xfrm>
          <a:prstGeom prst="rightArrow">
            <a:avLst/>
          </a:prstGeom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22860" rIns="45720" bIns="22860" rtlCol="0" anchor="ctr"/>
          <a:lstStyle/>
          <a:p>
            <a:pPr algn="ctr"/>
            <a:endParaRPr lang="en-US"/>
          </a:p>
        </p:txBody>
      </p:sp>
      <p:sp>
        <p:nvSpPr>
          <p:cNvPr id="222" name="Right Arrow 221"/>
          <p:cNvSpPr/>
          <p:nvPr/>
        </p:nvSpPr>
        <p:spPr>
          <a:xfrm rot="10800000">
            <a:off x="3779793" y="3163114"/>
            <a:ext cx="144319" cy="98219"/>
          </a:xfrm>
          <a:prstGeom prst="rightArrow">
            <a:avLst/>
          </a:prstGeom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22860" rIns="45720" bIns="22860" rtlCol="0" anchor="ctr"/>
          <a:lstStyle/>
          <a:p>
            <a:pPr algn="ctr"/>
            <a:endParaRPr lang="en-US"/>
          </a:p>
        </p:txBody>
      </p:sp>
      <p:sp>
        <p:nvSpPr>
          <p:cNvPr id="223" name="Rectangle 222"/>
          <p:cNvSpPr/>
          <p:nvPr/>
        </p:nvSpPr>
        <p:spPr>
          <a:xfrm>
            <a:off x="122568" y="3150614"/>
            <a:ext cx="611415" cy="2510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45720" tIns="22860" rIns="45720" bIns="22860" spcCol="0" rtlCol="0" anchor="ctr"/>
          <a:lstStyle/>
          <a:p>
            <a:pPr algn="ctr"/>
            <a:endParaRPr lang="en-US"/>
          </a:p>
        </p:txBody>
      </p:sp>
      <p:graphicFrame>
        <p:nvGraphicFramePr>
          <p:cNvPr id="224" name="Table 2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102416"/>
              </p:ext>
            </p:extLst>
          </p:nvPr>
        </p:nvGraphicFramePr>
        <p:xfrm>
          <a:off x="122567" y="3185566"/>
          <a:ext cx="576782" cy="185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349"/>
                <a:gridCol w="454433"/>
              </a:tblGrid>
              <a:tr h="185420">
                <a:tc>
                  <a:txBody>
                    <a:bodyPr/>
                    <a:lstStyle/>
                    <a:p>
                      <a:pPr algn="r"/>
                      <a:r>
                        <a:rPr lang="en-US" sz="900" dirty="0" smtClean="0"/>
                        <a:t>S</a:t>
                      </a:r>
                      <a:endParaRPr lang="en-US" sz="900" dirty="0"/>
                    </a:p>
                  </a:txBody>
                  <a:tcPr marL="45720" marR="45720" marT="22860" marB="2286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smtClean="0">
                          <a:latin typeface="Courier New"/>
                          <a:cs typeface="Courier New"/>
                        </a:rPr>
                        <a:t>0xE78</a:t>
                      </a:r>
                    </a:p>
                  </a:txBody>
                  <a:tcPr marL="45720" marR="45720" marT="22860" marB="2286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0" name="TextBox 229"/>
          <p:cNvSpPr txBox="1"/>
          <p:nvPr/>
        </p:nvSpPr>
        <p:spPr>
          <a:xfrm>
            <a:off x="2959748" y="3442868"/>
            <a:ext cx="643766" cy="138499"/>
          </a:xfrm>
          <a:prstGeom prst="rect">
            <a:avLst/>
          </a:prstGeom>
          <a:noFill/>
        </p:spPr>
        <p:txBody>
          <a:bodyPr wrap="none" lIns="45720" tIns="22860" rIns="45720" bIns="22860" rtlCol="0">
            <a:spAutoFit/>
          </a:bodyPr>
          <a:lstStyle/>
          <a:p>
            <a:r>
              <a:rPr lang="en-US" sz="600" i="1" dirty="0" smtClean="0">
                <a:latin typeface="Times New Roman"/>
                <a:cs typeface="Times New Roman"/>
              </a:rPr>
              <a:t>allocated memory</a:t>
            </a:r>
            <a:endParaRPr lang="en-US" sz="600" i="1" dirty="0">
              <a:latin typeface="Times New Roman"/>
              <a:cs typeface="Times New Roman"/>
            </a:endParaRPr>
          </a:p>
        </p:txBody>
      </p:sp>
      <p:sp>
        <p:nvSpPr>
          <p:cNvPr id="231" name="Rectangle 230"/>
          <p:cNvSpPr/>
          <p:nvPr/>
        </p:nvSpPr>
        <p:spPr>
          <a:xfrm>
            <a:off x="2959748" y="3558167"/>
            <a:ext cx="369377" cy="138500"/>
          </a:xfrm>
          <a:prstGeom prst="rect">
            <a:avLst/>
          </a:prstGeom>
        </p:spPr>
        <p:txBody>
          <a:bodyPr wrap="none" lIns="45720" tIns="22860" rIns="45720" bIns="22860">
            <a:spAutoFit/>
          </a:bodyPr>
          <a:lstStyle/>
          <a:p>
            <a:r>
              <a:rPr lang="en-US" sz="600" dirty="0" smtClean="0">
                <a:latin typeface="Courier New"/>
                <a:cs typeface="Courier New"/>
              </a:rPr>
              <a:t>0xE78:</a:t>
            </a:r>
            <a:endParaRPr lang="en-US" sz="600" dirty="0">
              <a:latin typeface="Courier New"/>
              <a:cs typeface="Courier New"/>
            </a:endParaRPr>
          </a:p>
        </p:txBody>
      </p:sp>
      <p:graphicFrame>
        <p:nvGraphicFramePr>
          <p:cNvPr id="232" name="Table 2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1360367"/>
              </p:ext>
            </p:extLst>
          </p:nvPr>
        </p:nvGraphicFramePr>
        <p:xfrm>
          <a:off x="3311807" y="3603957"/>
          <a:ext cx="446228" cy="185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6228"/>
              </a:tblGrid>
              <a:tr h="1854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 smtClean="0">
                          <a:solidFill>
                            <a:schemeClr val="tx1"/>
                          </a:solidFill>
                          <a:effectLst/>
                          <a:latin typeface="Courier New"/>
                          <a:ea typeface="+mn-ea"/>
                          <a:cs typeface="Courier New"/>
                        </a:rPr>
                        <a:t>"foo"</a:t>
                      </a:r>
                      <a:endParaRPr lang="en-US" sz="900" dirty="0" smtClean="0">
                        <a:latin typeface="Courier New"/>
                        <a:cs typeface="Courier New"/>
                      </a:endParaRPr>
                    </a:p>
                  </a:txBody>
                  <a:tcPr marL="45720" marR="45720" marT="22860" marB="2286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3" name="Right Arrow 232"/>
          <p:cNvSpPr/>
          <p:nvPr/>
        </p:nvSpPr>
        <p:spPr>
          <a:xfrm>
            <a:off x="3779793" y="3691158"/>
            <a:ext cx="144319" cy="98219"/>
          </a:xfrm>
          <a:prstGeom prst="rightArrow">
            <a:avLst/>
          </a:prstGeom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22860" rIns="45720" bIns="22860" rtlCol="0" anchor="ctr"/>
          <a:lstStyle/>
          <a:p>
            <a:pPr algn="ctr"/>
            <a:endParaRPr lang="en-US"/>
          </a:p>
        </p:txBody>
      </p:sp>
      <p:sp>
        <p:nvSpPr>
          <p:cNvPr id="234" name="Right Arrow 233"/>
          <p:cNvSpPr/>
          <p:nvPr/>
        </p:nvSpPr>
        <p:spPr>
          <a:xfrm rot="10800000">
            <a:off x="3779793" y="3610257"/>
            <a:ext cx="144319" cy="98219"/>
          </a:xfrm>
          <a:prstGeom prst="rightArrow">
            <a:avLst/>
          </a:prstGeom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22860" rIns="45720" bIns="22860" rtlCol="0" anchor="ctr"/>
          <a:lstStyle/>
          <a:p>
            <a:pPr algn="ctr"/>
            <a:endParaRPr lang="en-US"/>
          </a:p>
        </p:txBody>
      </p:sp>
      <p:sp>
        <p:nvSpPr>
          <p:cNvPr id="235" name="TextBox 234"/>
          <p:cNvSpPr txBox="1"/>
          <p:nvPr/>
        </p:nvSpPr>
        <p:spPr>
          <a:xfrm>
            <a:off x="70127" y="3874516"/>
            <a:ext cx="648575" cy="138499"/>
          </a:xfrm>
          <a:prstGeom prst="rect">
            <a:avLst/>
          </a:prstGeom>
          <a:noFill/>
        </p:spPr>
        <p:txBody>
          <a:bodyPr wrap="none" lIns="45720" tIns="22860" rIns="45720" bIns="22860" rtlCol="0">
            <a:spAutoFit/>
          </a:bodyPr>
          <a:lstStyle/>
          <a:p>
            <a:r>
              <a:rPr lang="en-US" sz="600" i="1" dirty="0">
                <a:latin typeface="Times New Roman"/>
                <a:cs typeface="Times New Roman"/>
              </a:rPr>
              <a:t>local </a:t>
            </a:r>
            <a:r>
              <a:rPr lang="en-US" sz="600" i="1" dirty="0" err="1">
                <a:latin typeface="Times New Roman"/>
                <a:cs typeface="Times New Roman"/>
              </a:rPr>
              <a:t>vars</a:t>
            </a:r>
            <a:r>
              <a:rPr lang="en-US" sz="600" i="1" dirty="0">
                <a:latin typeface="Times New Roman"/>
                <a:cs typeface="Times New Roman"/>
              </a:rPr>
              <a:t> of </a:t>
            </a:r>
            <a:r>
              <a:rPr lang="en-US" sz="600" i="1" dirty="0" smtClean="0">
                <a:latin typeface="Times New Roman"/>
                <a:cs typeface="Times New Roman"/>
              </a:rPr>
              <a:t>main</a:t>
            </a:r>
            <a:endParaRPr lang="en-US" sz="600" i="1" dirty="0">
              <a:latin typeface="Times New Roman"/>
              <a:cs typeface="Times New Roman"/>
            </a:endParaRPr>
          </a:p>
        </p:txBody>
      </p:sp>
      <p:sp>
        <p:nvSpPr>
          <p:cNvPr id="236" name="Rectangle 235"/>
          <p:cNvSpPr/>
          <p:nvPr/>
        </p:nvSpPr>
        <p:spPr>
          <a:xfrm>
            <a:off x="122561" y="4029404"/>
            <a:ext cx="611415" cy="2510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45720" tIns="22860" rIns="45720" bIns="22860" spcCol="0" rtlCol="0" anchor="ctr"/>
          <a:lstStyle/>
          <a:p>
            <a:pPr algn="ctr"/>
            <a:endParaRPr lang="en-US"/>
          </a:p>
        </p:txBody>
      </p:sp>
      <p:graphicFrame>
        <p:nvGraphicFramePr>
          <p:cNvPr id="237" name="Table 2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998261"/>
              </p:ext>
            </p:extLst>
          </p:nvPr>
        </p:nvGraphicFramePr>
        <p:xfrm>
          <a:off x="122560" y="4064356"/>
          <a:ext cx="576782" cy="185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349"/>
                <a:gridCol w="454433"/>
              </a:tblGrid>
              <a:tr h="185420">
                <a:tc>
                  <a:txBody>
                    <a:bodyPr/>
                    <a:lstStyle/>
                    <a:p>
                      <a:pPr algn="r"/>
                      <a:r>
                        <a:rPr lang="en-US" sz="900" dirty="0" smtClean="0"/>
                        <a:t>S</a:t>
                      </a:r>
                      <a:endParaRPr lang="en-US" sz="900" dirty="0"/>
                    </a:p>
                  </a:txBody>
                  <a:tcPr marL="45720" marR="45720" marT="22860" marB="2286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smtClean="0">
                          <a:latin typeface="Courier New"/>
                          <a:cs typeface="Courier New"/>
                        </a:rPr>
                        <a:t>0xE78</a:t>
                      </a:r>
                      <a:endParaRPr lang="en-US" sz="900" dirty="0">
                        <a:latin typeface="Courier New"/>
                        <a:cs typeface="Courier New"/>
                      </a:endParaRPr>
                    </a:p>
                  </a:txBody>
                  <a:tcPr marL="45720" marR="45720" marT="22860" marB="2286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9" name="TextBox 238"/>
          <p:cNvSpPr txBox="1"/>
          <p:nvPr/>
        </p:nvSpPr>
        <p:spPr>
          <a:xfrm>
            <a:off x="803852" y="3874516"/>
            <a:ext cx="720710" cy="138499"/>
          </a:xfrm>
          <a:prstGeom prst="rect">
            <a:avLst/>
          </a:prstGeom>
          <a:noFill/>
        </p:spPr>
        <p:txBody>
          <a:bodyPr wrap="none" lIns="45720" tIns="22860" rIns="45720" bIns="22860" rtlCol="0">
            <a:spAutoFit/>
          </a:bodyPr>
          <a:lstStyle/>
          <a:p>
            <a:r>
              <a:rPr lang="en-US" sz="600" i="1" dirty="0">
                <a:latin typeface="Times New Roman"/>
                <a:cs typeface="Times New Roman"/>
              </a:rPr>
              <a:t>local </a:t>
            </a:r>
            <a:r>
              <a:rPr lang="en-US" sz="600" i="1" dirty="0" err="1">
                <a:latin typeface="Times New Roman"/>
                <a:cs typeface="Times New Roman"/>
              </a:rPr>
              <a:t>vars</a:t>
            </a:r>
            <a:r>
              <a:rPr lang="en-US" sz="600" i="1" dirty="0">
                <a:latin typeface="Times New Roman"/>
                <a:cs typeface="Times New Roman"/>
              </a:rPr>
              <a:t> of reverse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2959748" y="3874405"/>
            <a:ext cx="643766" cy="138499"/>
          </a:xfrm>
          <a:prstGeom prst="rect">
            <a:avLst/>
          </a:prstGeom>
          <a:noFill/>
        </p:spPr>
        <p:txBody>
          <a:bodyPr wrap="none" lIns="45720" tIns="22860" rIns="45720" bIns="22860" rtlCol="0">
            <a:spAutoFit/>
          </a:bodyPr>
          <a:lstStyle/>
          <a:p>
            <a:r>
              <a:rPr lang="en-US" sz="600" i="1" dirty="0" smtClean="0">
                <a:latin typeface="Times New Roman"/>
                <a:cs typeface="Times New Roman"/>
              </a:rPr>
              <a:t>allocated memory</a:t>
            </a:r>
            <a:endParaRPr lang="en-US" sz="600" i="1" dirty="0">
              <a:latin typeface="Times New Roman"/>
              <a:cs typeface="Times New Roman"/>
            </a:endParaRPr>
          </a:p>
        </p:txBody>
      </p:sp>
      <p:sp>
        <p:nvSpPr>
          <p:cNvPr id="242" name="Rectangle 241"/>
          <p:cNvSpPr/>
          <p:nvPr/>
        </p:nvSpPr>
        <p:spPr>
          <a:xfrm>
            <a:off x="2959748" y="3989704"/>
            <a:ext cx="369377" cy="138500"/>
          </a:xfrm>
          <a:prstGeom prst="rect">
            <a:avLst/>
          </a:prstGeom>
        </p:spPr>
        <p:txBody>
          <a:bodyPr wrap="none" lIns="45720" tIns="22860" rIns="45720" bIns="22860">
            <a:spAutoFit/>
          </a:bodyPr>
          <a:lstStyle/>
          <a:p>
            <a:r>
              <a:rPr lang="en-US" sz="600" dirty="0" smtClean="0">
                <a:latin typeface="Courier New"/>
                <a:cs typeface="Courier New"/>
              </a:rPr>
              <a:t>0xE78:</a:t>
            </a:r>
            <a:endParaRPr lang="en-US" sz="600" dirty="0">
              <a:latin typeface="Courier New"/>
              <a:cs typeface="Courier New"/>
            </a:endParaRPr>
          </a:p>
        </p:txBody>
      </p:sp>
      <p:graphicFrame>
        <p:nvGraphicFramePr>
          <p:cNvPr id="243" name="Table 2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970973"/>
              </p:ext>
            </p:extLst>
          </p:nvPr>
        </p:nvGraphicFramePr>
        <p:xfrm>
          <a:off x="3311807" y="4035494"/>
          <a:ext cx="446228" cy="185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6228"/>
              </a:tblGrid>
              <a:tr h="1854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 smtClean="0">
                          <a:solidFill>
                            <a:schemeClr val="tx1"/>
                          </a:solidFill>
                          <a:effectLst/>
                          <a:latin typeface="Courier New"/>
                          <a:ea typeface="+mn-ea"/>
                          <a:cs typeface="Courier New"/>
                        </a:rPr>
                        <a:t>"foo"</a:t>
                      </a:r>
                      <a:endParaRPr lang="en-US" sz="900" dirty="0" smtClean="0">
                        <a:latin typeface="Courier New"/>
                        <a:cs typeface="Courier New"/>
                      </a:endParaRPr>
                    </a:p>
                  </a:txBody>
                  <a:tcPr marL="45720" marR="45720" marT="22860" marB="2286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4" name="Right Arrow 243"/>
          <p:cNvSpPr/>
          <p:nvPr/>
        </p:nvSpPr>
        <p:spPr>
          <a:xfrm>
            <a:off x="3779793" y="4122695"/>
            <a:ext cx="144319" cy="98219"/>
          </a:xfrm>
          <a:prstGeom prst="rightArrow">
            <a:avLst/>
          </a:prstGeom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22860" rIns="45720" bIns="22860" rtlCol="0" anchor="ctr"/>
          <a:lstStyle/>
          <a:p>
            <a:pPr algn="ctr"/>
            <a:endParaRPr lang="en-US"/>
          </a:p>
        </p:txBody>
      </p:sp>
      <p:sp>
        <p:nvSpPr>
          <p:cNvPr id="245" name="Right Arrow 244"/>
          <p:cNvSpPr/>
          <p:nvPr/>
        </p:nvSpPr>
        <p:spPr>
          <a:xfrm rot="10800000">
            <a:off x="3779793" y="4041794"/>
            <a:ext cx="144319" cy="98219"/>
          </a:xfrm>
          <a:prstGeom prst="rightArrow">
            <a:avLst/>
          </a:prstGeom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22860" rIns="45720" bIns="22860" rtlCol="0" anchor="ctr"/>
          <a:lstStyle/>
          <a:p>
            <a:pPr algn="ctr"/>
            <a:endParaRPr lang="en-US"/>
          </a:p>
        </p:txBody>
      </p:sp>
      <p:sp>
        <p:nvSpPr>
          <p:cNvPr id="246" name="Rectangle 245"/>
          <p:cNvSpPr/>
          <p:nvPr/>
        </p:nvSpPr>
        <p:spPr>
          <a:xfrm>
            <a:off x="4039528" y="3989704"/>
            <a:ext cx="369377" cy="138500"/>
          </a:xfrm>
          <a:prstGeom prst="rect">
            <a:avLst/>
          </a:prstGeom>
        </p:spPr>
        <p:txBody>
          <a:bodyPr wrap="none" lIns="45720" tIns="22860" rIns="45720" bIns="22860">
            <a:spAutoFit/>
          </a:bodyPr>
          <a:lstStyle/>
          <a:p>
            <a:r>
              <a:rPr lang="en-US" sz="600" dirty="0" smtClean="0">
                <a:latin typeface="Courier New"/>
                <a:cs typeface="Courier New"/>
              </a:rPr>
              <a:t>0x8A0:</a:t>
            </a:r>
            <a:endParaRPr lang="en-US" sz="600" dirty="0">
              <a:latin typeface="Courier New"/>
              <a:cs typeface="Courier New"/>
            </a:endParaRPr>
          </a:p>
        </p:txBody>
      </p:sp>
      <p:graphicFrame>
        <p:nvGraphicFramePr>
          <p:cNvPr id="247" name="Table 2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3989147"/>
              </p:ext>
            </p:extLst>
          </p:nvPr>
        </p:nvGraphicFramePr>
        <p:xfrm>
          <a:off x="4391588" y="4035494"/>
          <a:ext cx="116840" cy="185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840"/>
              </a:tblGrid>
              <a:tr h="1854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 smtClean="0">
                        <a:latin typeface="Courier New"/>
                        <a:cs typeface="Courier New"/>
                      </a:endParaRPr>
                    </a:p>
                  </a:txBody>
                  <a:tcPr marL="45720" marR="45720" marT="22860" marB="2286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8" name="Right Arrow 247"/>
          <p:cNvSpPr/>
          <p:nvPr/>
        </p:nvSpPr>
        <p:spPr>
          <a:xfrm>
            <a:off x="4516103" y="4122696"/>
            <a:ext cx="144319" cy="98219"/>
          </a:xfrm>
          <a:prstGeom prst="rightArrow">
            <a:avLst/>
          </a:prstGeom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22860" rIns="45720" bIns="22860" rtlCol="0" anchor="ctr"/>
          <a:lstStyle/>
          <a:p>
            <a:pPr algn="ctr"/>
            <a:endParaRPr lang="en-US"/>
          </a:p>
        </p:txBody>
      </p:sp>
      <p:sp>
        <p:nvSpPr>
          <p:cNvPr id="249" name="Right Arrow 248"/>
          <p:cNvSpPr/>
          <p:nvPr/>
        </p:nvSpPr>
        <p:spPr>
          <a:xfrm rot="10800000">
            <a:off x="4516103" y="4041794"/>
            <a:ext cx="144319" cy="98219"/>
          </a:xfrm>
          <a:prstGeom prst="rightArrow">
            <a:avLst/>
          </a:prstGeom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22860" rIns="45720" bIns="22860" rtlCol="0" anchor="ctr"/>
          <a:lstStyle/>
          <a:p>
            <a:pPr algn="ctr"/>
            <a:endParaRPr lang="en-US"/>
          </a:p>
        </p:txBody>
      </p:sp>
      <p:sp>
        <p:nvSpPr>
          <p:cNvPr id="250" name="TextBox 249"/>
          <p:cNvSpPr txBox="1"/>
          <p:nvPr/>
        </p:nvSpPr>
        <p:spPr>
          <a:xfrm>
            <a:off x="70127" y="4310519"/>
            <a:ext cx="648575" cy="138499"/>
          </a:xfrm>
          <a:prstGeom prst="rect">
            <a:avLst/>
          </a:prstGeom>
          <a:noFill/>
        </p:spPr>
        <p:txBody>
          <a:bodyPr wrap="none" lIns="45720" tIns="22860" rIns="45720" bIns="22860" rtlCol="0">
            <a:spAutoFit/>
          </a:bodyPr>
          <a:lstStyle/>
          <a:p>
            <a:r>
              <a:rPr lang="en-US" sz="600" i="1" dirty="0">
                <a:latin typeface="Times New Roman"/>
                <a:cs typeface="Times New Roman"/>
              </a:rPr>
              <a:t>local </a:t>
            </a:r>
            <a:r>
              <a:rPr lang="en-US" sz="600" i="1" dirty="0" err="1">
                <a:latin typeface="Times New Roman"/>
                <a:cs typeface="Times New Roman"/>
              </a:rPr>
              <a:t>vars</a:t>
            </a:r>
            <a:r>
              <a:rPr lang="en-US" sz="600" i="1" dirty="0">
                <a:latin typeface="Times New Roman"/>
                <a:cs typeface="Times New Roman"/>
              </a:rPr>
              <a:t> of </a:t>
            </a:r>
            <a:r>
              <a:rPr lang="en-US" sz="600" i="1" dirty="0" smtClean="0">
                <a:latin typeface="Times New Roman"/>
                <a:cs typeface="Times New Roman"/>
              </a:rPr>
              <a:t>main</a:t>
            </a:r>
            <a:endParaRPr lang="en-US" sz="600" i="1" dirty="0">
              <a:latin typeface="Times New Roman"/>
              <a:cs typeface="Times New Roman"/>
            </a:endParaRPr>
          </a:p>
        </p:txBody>
      </p:sp>
      <p:sp>
        <p:nvSpPr>
          <p:cNvPr id="251" name="Rectangle 250"/>
          <p:cNvSpPr/>
          <p:nvPr/>
        </p:nvSpPr>
        <p:spPr>
          <a:xfrm>
            <a:off x="122561" y="4465407"/>
            <a:ext cx="611415" cy="2510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45720" tIns="22860" rIns="45720" bIns="22860" spcCol="0" rtlCol="0" anchor="ctr"/>
          <a:lstStyle/>
          <a:p>
            <a:pPr algn="ctr"/>
            <a:endParaRPr lang="en-US"/>
          </a:p>
        </p:txBody>
      </p:sp>
      <p:graphicFrame>
        <p:nvGraphicFramePr>
          <p:cNvPr id="252" name="Table 2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3001287"/>
              </p:ext>
            </p:extLst>
          </p:nvPr>
        </p:nvGraphicFramePr>
        <p:xfrm>
          <a:off x="122560" y="4500359"/>
          <a:ext cx="576782" cy="185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349"/>
                <a:gridCol w="454433"/>
              </a:tblGrid>
              <a:tr h="185420">
                <a:tc>
                  <a:txBody>
                    <a:bodyPr/>
                    <a:lstStyle/>
                    <a:p>
                      <a:pPr algn="r"/>
                      <a:r>
                        <a:rPr lang="en-US" sz="900" dirty="0" smtClean="0"/>
                        <a:t>S</a:t>
                      </a:r>
                      <a:endParaRPr lang="en-US" sz="900" dirty="0"/>
                    </a:p>
                  </a:txBody>
                  <a:tcPr marL="45720" marR="45720" marT="22860" marB="2286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smtClean="0">
                          <a:latin typeface="Courier New"/>
                          <a:cs typeface="Courier New"/>
                        </a:rPr>
                        <a:t>0xE78</a:t>
                      </a:r>
                      <a:endParaRPr lang="en-US" sz="900" dirty="0">
                        <a:latin typeface="Courier New"/>
                        <a:cs typeface="Courier New"/>
                      </a:endParaRPr>
                    </a:p>
                  </a:txBody>
                  <a:tcPr marL="45720" marR="45720" marT="22860" marB="2286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3" name="Rectangle 252"/>
          <p:cNvSpPr/>
          <p:nvPr/>
        </p:nvSpPr>
        <p:spPr>
          <a:xfrm>
            <a:off x="856287" y="4460116"/>
            <a:ext cx="1891531" cy="2510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45720" tIns="22860" rIns="45720" bIns="22860" spcCol="0" rtlCol="0" anchor="ctr"/>
          <a:lstStyle/>
          <a:p>
            <a:pPr algn="ctr"/>
            <a:endParaRPr lang="en-US"/>
          </a:p>
        </p:txBody>
      </p:sp>
      <p:sp>
        <p:nvSpPr>
          <p:cNvPr id="254" name="TextBox 253"/>
          <p:cNvSpPr txBox="1"/>
          <p:nvPr/>
        </p:nvSpPr>
        <p:spPr>
          <a:xfrm>
            <a:off x="803852" y="4310519"/>
            <a:ext cx="720710" cy="138499"/>
          </a:xfrm>
          <a:prstGeom prst="rect">
            <a:avLst/>
          </a:prstGeom>
          <a:noFill/>
        </p:spPr>
        <p:txBody>
          <a:bodyPr wrap="none" lIns="45720" tIns="22860" rIns="45720" bIns="22860" rtlCol="0">
            <a:spAutoFit/>
          </a:bodyPr>
          <a:lstStyle/>
          <a:p>
            <a:r>
              <a:rPr lang="en-US" sz="600" i="1" dirty="0">
                <a:latin typeface="Times New Roman"/>
                <a:cs typeface="Times New Roman"/>
              </a:rPr>
              <a:t>local </a:t>
            </a:r>
            <a:r>
              <a:rPr lang="en-US" sz="600" i="1" dirty="0" err="1">
                <a:latin typeface="Times New Roman"/>
                <a:cs typeface="Times New Roman"/>
              </a:rPr>
              <a:t>vars</a:t>
            </a:r>
            <a:r>
              <a:rPr lang="en-US" sz="600" i="1" dirty="0">
                <a:latin typeface="Times New Roman"/>
                <a:cs typeface="Times New Roman"/>
              </a:rPr>
              <a:t> of reverse</a:t>
            </a:r>
          </a:p>
        </p:txBody>
      </p:sp>
      <p:graphicFrame>
        <p:nvGraphicFramePr>
          <p:cNvPr id="255" name="Table 2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209503"/>
              </p:ext>
            </p:extLst>
          </p:nvPr>
        </p:nvGraphicFramePr>
        <p:xfrm>
          <a:off x="874345" y="4494698"/>
          <a:ext cx="1838839" cy="185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119"/>
                <a:gridCol w="439809"/>
                <a:gridCol w="150091"/>
                <a:gridCol w="432955"/>
                <a:gridCol w="166250"/>
                <a:gridCol w="497615"/>
              </a:tblGrid>
              <a:tr h="185420">
                <a:tc>
                  <a:txBody>
                    <a:bodyPr/>
                    <a:lstStyle/>
                    <a:p>
                      <a:pPr algn="r"/>
                      <a:r>
                        <a:rPr lang="en-US" sz="900" dirty="0" smtClean="0"/>
                        <a:t>S</a:t>
                      </a:r>
                      <a:endParaRPr lang="en-US" sz="900" dirty="0"/>
                    </a:p>
                  </a:txBody>
                  <a:tcPr marL="45720" marR="45720" marT="22860" marB="2286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smtClean="0">
                          <a:latin typeface="Courier New"/>
                          <a:cs typeface="Courier New"/>
                        </a:rPr>
                        <a:t>0xE78</a:t>
                      </a:r>
                    </a:p>
                  </a:txBody>
                  <a:tcPr marL="45720" marR="45720" marT="22860" marB="2286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 smtClean="0"/>
                        <a:t>x</a:t>
                      </a:r>
                      <a:endParaRPr lang="en-US" sz="900" dirty="0"/>
                    </a:p>
                  </a:txBody>
                  <a:tcPr marL="45720" marR="45720" marT="22860" marB="2286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 smtClean="0">
                          <a:solidFill>
                            <a:schemeClr val="tx1"/>
                          </a:solidFill>
                          <a:effectLst/>
                          <a:latin typeface="Courier New"/>
                          <a:ea typeface="+mn-ea"/>
                          <a:cs typeface="Courier New"/>
                        </a:rPr>
                        <a:t>"foo"</a:t>
                      </a:r>
                      <a:endParaRPr lang="en-US" sz="900" dirty="0" smtClean="0">
                        <a:latin typeface="Courier New"/>
                        <a:cs typeface="Courier New"/>
                      </a:endParaRPr>
                    </a:p>
                  </a:txBody>
                  <a:tcPr marL="45720" marR="45720" marT="22860" marB="2286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 smtClean="0"/>
                        <a:t>R</a:t>
                      </a:r>
                      <a:endParaRPr lang="en-US" sz="900" dirty="0"/>
                    </a:p>
                  </a:txBody>
                  <a:tcPr marL="45720" marR="45720" marT="22860" marB="2286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smtClean="0">
                          <a:latin typeface="Courier New"/>
                          <a:cs typeface="Courier New"/>
                        </a:rPr>
                        <a:t>0x8A0</a:t>
                      </a:r>
                    </a:p>
                  </a:txBody>
                  <a:tcPr marL="45720" marR="45720" marT="22860" marB="2286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6" name="TextBox 255"/>
          <p:cNvSpPr txBox="1"/>
          <p:nvPr/>
        </p:nvSpPr>
        <p:spPr>
          <a:xfrm>
            <a:off x="2959748" y="4310408"/>
            <a:ext cx="643766" cy="138499"/>
          </a:xfrm>
          <a:prstGeom prst="rect">
            <a:avLst/>
          </a:prstGeom>
          <a:noFill/>
        </p:spPr>
        <p:txBody>
          <a:bodyPr wrap="none" lIns="45720" tIns="22860" rIns="45720" bIns="22860" rtlCol="0">
            <a:spAutoFit/>
          </a:bodyPr>
          <a:lstStyle/>
          <a:p>
            <a:r>
              <a:rPr lang="en-US" sz="600" i="1" dirty="0" smtClean="0">
                <a:latin typeface="Times New Roman"/>
                <a:cs typeface="Times New Roman"/>
              </a:rPr>
              <a:t>allocated memory</a:t>
            </a:r>
            <a:endParaRPr lang="en-US" sz="600" i="1" dirty="0">
              <a:latin typeface="Times New Roman"/>
              <a:cs typeface="Times New Roman"/>
            </a:endParaRPr>
          </a:p>
        </p:txBody>
      </p:sp>
      <p:sp>
        <p:nvSpPr>
          <p:cNvPr id="257" name="Rectangle 256"/>
          <p:cNvSpPr/>
          <p:nvPr/>
        </p:nvSpPr>
        <p:spPr>
          <a:xfrm>
            <a:off x="2959748" y="4425707"/>
            <a:ext cx="369377" cy="138500"/>
          </a:xfrm>
          <a:prstGeom prst="rect">
            <a:avLst/>
          </a:prstGeom>
        </p:spPr>
        <p:txBody>
          <a:bodyPr wrap="none" lIns="45720" tIns="22860" rIns="45720" bIns="22860">
            <a:spAutoFit/>
          </a:bodyPr>
          <a:lstStyle/>
          <a:p>
            <a:r>
              <a:rPr lang="en-US" sz="600" dirty="0" smtClean="0">
                <a:latin typeface="Courier New"/>
                <a:cs typeface="Courier New"/>
              </a:rPr>
              <a:t>0xE78:</a:t>
            </a:r>
            <a:endParaRPr lang="en-US" sz="600" dirty="0">
              <a:latin typeface="Courier New"/>
              <a:cs typeface="Courier New"/>
            </a:endParaRPr>
          </a:p>
        </p:txBody>
      </p:sp>
      <p:graphicFrame>
        <p:nvGraphicFramePr>
          <p:cNvPr id="258" name="Table 2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08082"/>
              </p:ext>
            </p:extLst>
          </p:nvPr>
        </p:nvGraphicFramePr>
        <p:xfrm>
          <a:off x="3311807" y="4471497"/>
          <a:ext cx="116840" cy="185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840"/>
              </a:tblGrid>
              <a:tr h="1854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 smtClean="0">
                        <a:latin typeface="Courier New"/>
                        <a:cs typeface="Courier New"/>
                      </a:endParaRPr>
                    </a:p>
                  </a:txBody>
                  <a:tcPr marL="45720" marR="45720" marT="22860" marB="2286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9" name="Right Arrow 258"/>
          <p:cNvSpPr/>
          <p:nvPr/>
        </p:nvSpPr>
        <p:spPr>
          <a:xfrm>
            <a:off x="3433443" y="4558698"/>
            <a:ext cx="144319" cy="98219"/>
          </a:xfrm>
          <a:prstGeom prst="rightArrow">
            <a:avLst/>
          </a:prstGeom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22860" rIns="45720" bIns="22860" rtlCol="0" anchor="ctr"/>
          <a:lstStyle/>
          <a:p>
            <a:pPr algn="ctr"/>
            <a:endParaRPr lang="en-US"/>
          </a:p>
        </p:txBody>
      </p:sp>
      <p:sp>
        <p:nvSpPr>
          <p:cNvPr id="260" name="Right Arrow 259"/>
          <p:cNvSpPr/>
          <p:nvPr/>
        </p:nvSpPr>
        <p:spPr>
          <a:xfrm rot="10800000">
            <a:off x="3433443" y="4477797"/>
            <a:ext cx="144319" cy="98219"/>
          </a:xfrm>
          <a:prstGeom prst="rightArrow">
            <a:avLst/>
          </a:prstGeom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22860" rIns="45720" bIns="22860" rtlCol="0" anchor="ctr"/>
          <a:lstStyle/>
          <a:p>
            <a:pPr algn="ctr"/>
            <a:endParaRPr lang="en-US"/>
          </a:p>
        </p:txBody>
      </p:sp>
      <p:sp>
        <p:nvSpPr>
          <p:cNvPr id="261" name="Rectangle 260"/>
          <p:cNvSpPr/>
          <p:nvPr/>
        </p:nvSpPr>
        <p:spPr>
          <a:xfrm>
            <a:off x="4036537" y="4425708"/>
            <a:ext cx="369377" cy="138500"/>
          </a:xfrm>
          <a:prstGeom prst="rect">
            <a:avLst/>
          </a:prstGeom>
        </p:spPr>
        <p:txBody>
          <a:bodyPr wrap="none" lIns="45720" tIns="22860" rIns="45720" bIns="22860">
            <a:spAutoFit/>
          </a:bodyPr>
          <a:lstStyle/>
          <a:p>
            <a:r>
              <a:rPr lang="en-US" sz="600" dirty="0" smtClean="0">
                <a:latin typeface="Courier New"/>
                <a:cs typeface="Courier New"/>
              </a:rPr>
              <a:t>0x8A0:</a:t>
            </a:r>
            <a:endParaRPr lang="en-US" sz="600" dirty="0">
              <a:latin typeface="Courier New"/>
              <a:cs typeface="Courier New"/>
            </a:endParaRPr>
          </a:p>
        </p:txBody>
      </p:sp>
      <p:graphicFrame>
        <p:nvGraphicFramePr>
          <p:cNvPr id="262" name="Table 2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2952532"/>
              </p:ext>
            </p:extLst>
          </p:nvPr>
        </p:nvGraphicFramePr>
        <p:xfrm>
          <a:off x="4388596" y="4471497"/>
          <a:ext cx="116840" cy="185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840"/>
              </a:tblGrid>
              <a:tr h="1854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 smtClean="0">
                        <a:latin typeface="Courier New"/>
                        <a:cs typeface="Courier New"/>
                      </a:endParaRPr>
                    </a:p>
                  </a:txBody>
                  <a:tcPr marL="45720" marR="45720" marT="22860" marB="2286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3" name="Right Arrow 262"/>
          <p:cNvSpPr/>
          <p:nvPr/>
        </p:nvSpPr>
        <p:spPr>
          <a:xfrm>
            <a:off x="4513111" y="4558699"/>
            <a:ext cx="144319" cy="98219"/>
          </a:xfrm>
          <a:prstGeom prst="rightArrow">
            <a:avLst/>
          </a:prstGeom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22860" rIns="45720" bIns="22860" rtlCol="0" anchor="ctr"/>
          <a:lstStyle/>
          <a:p>
            <a:pPr algn="ctr"/>
            <a:endParaRPr lang="en-US"/>
          </a:p>
        </p:txBody>
      </p:sp>
      <p:sp>
        <p:nvSpPr>
          <p:cNvPr id="264" name="Right Arrow 263"/>
          <p:cNvSpPr/>
          <p:nvPr/>
        </p:nvSpPr>
        <p:spPr>
          <a:xfrm rot="10800000">
            <a:off x="4513111" y="4477797"/>
            <a:ext cx="144319" cy="98219"/>
          </a:xfrm>
          <a:prstGeom prst="rightArrow">
            <a:avLst/>
          </a:prstGeom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22860" rIns="45720" bIns="22860" rtlCol="0" anchor="ctr"/>
          <a:lstStyle/>
          <a:p>
            <a:pPr algn="ctr"/>
            <a:endParaRPr lang="en-US"/>
          </a:p>
        </p:txBody>
      </p:sp>
      <p:sp>
        <p:nvSpPr>
          <p:cNvPr id="265" name="Rectangle 264"/>
          <p:cNvSpPr/>
          <p:nvPr/>
        </p:nvSpPr>
        <p:spPr>
          <a:xfrm>
            <a:off x="856287" y="4025980"/>
            <a:ext cx="1891531" cy="2510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45720" tIns="22860" rIns="45720" bIns="22860" spcCol="0" rtlCol="0" anchor="ctr"/>
          <a:lstStyle/>
          <a:p>
            <a:pPr algn="ctr"/>
            <a:endParaRPr lang="en-US"/>
          </a:p>
        </p:txBody>
      </p:sp>
      <p:graphicFrame>
        <p:nvGraphicFramePr>
          <p:cNvPr id="266" name="Table 2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071282"/>
              </p:ext>
            </p:extLst>
          </p:nvPr>
        </p:nvGraphicFramePr>
        <p:xfrm>
          <a:off x="874345" y="4060562"/>
          <a:ext cx="1838839" cy="185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119"/>
                <a:gridCol w="439809"/>
                <a:gridCol w="150091"/>
                <a:gridCol w="432955"/>
                <a:gridCol w="166250"/>
                <a:gridCol w="497615"/>
              </a:tblGrid>
              <a:tr h="185420">
                <a:tc>
                  <a:txBody>
                    <a:bodyPr/>
                    <a:lstStyle/>
                    <a:p>
                      <a:pPr algn="r"/>
                      <a:r>
                        <a:rPr lang="en-US" sz="900" dirty="0" smtClean="0"/>
                        <a:t>S</a:t>
                      </a:r>
                      <a:endParaRPr lang="en-US" sz="900" dirty="0"/>
                    </a:p>
                  </a:txBody>
                  <a:tcPr marL="45720" marR="45720" marT="22860" marB="2286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smtClean="0">
                          <a:latin typeface="Courier New"/>
                          <a:cs typeface="Courier New"/>
                        </a:rPr>
                        <a:t>0xE78</a:t>
                      </a:r>
                    </a:p>
                  </a:txBody>
                  <a:tcPr marL="45720" marR="45720" marT="22860" marB="2286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 smtClean="0"/>
                        <a:t>x</a:t>
                      </a:r>
                      <a:endParaRPr lang="en-US" sz="900" dirty="0"/>
                    </a:p>
                  </a:txBody>
                  <a:tcPr marL="45720" marR="45720" marT="22860" marB="2286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 smtClean="0">
                        <a:latin typeface="Courier New"/>
                        <a:cs typeface="Courier New"/>
                      </a:endParaRPr>
                    </a:p>
                  </a:txBody>
                  <a:tcPr marL="45720" marR="45720" marT="22860" marB="2286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 smtClean="0"/>
                        <a:t>R</a:t>
                      </a:r>
                      <a:endParaRPr lang="en-US" sz="900" dirty="0"/>
                    </a:p>
                  </a:txBody>
                  <a:tcPr marL="45720" marR="45720" marT="22860" marB="2286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smtClean="0">
                          <a:latin typeface="Courier New"/>
                          <a:cs typeface="Courier New"/>
                        </a:rPr>
                        <a:t>0x8A0</a:t>
                      </a:r>
                    </a:p>
                  </a:txBody>
                  <a:tcPr marL="45720" marR="45720" marT="22860" marB="2286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7" name="Rectangle 266"/>
          <p:cNvSpPr/>
          <p:nvPr/>
        </p:nvSpPr>
        <p:spPr>
          <a:xfrm>
            <a:off x="856287" y="3591009"/>
            <a:ext cx="1891531" cy="2510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45720" tIns="22860" rIns="45720" bIns="22860" spcCol="0" rtlCol="0" anchor="ctr"/>
          <a:lstStyle/>
          <a:p>
            <a:pPr algn="ctr"/>
            <a:endParaRPr lang="en-US"/>
          </a:p>
        </p:txBody>
      </p:sp>
      <p:graphicFrame>
        <p:nvGraphicFramePr>
          <p:cNvPr id="268" name="Table 2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8078397"/>
              </p:ext>
            </p:extLst>
          </p:nvPr>
        </p:nvGraphicFramePr>
        <p:xfrm>
          <a:off x="874345" y="3625591"/>
          <a:ext cx="1838839" cy="185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119"/>
                <a:gridCol w="439809"/>
                <a:gridCol w="150091"/>
                <a:gridCol w="432955"/>
                <a:gridCol w="166250"/>
                <a:gridCol w="497615"/>
              </a:tblGrid>
              <a:tr h="185420">
                <a:tc>
                  <a:txBody>
                    <a:bodyPr/>
                    <a:lstStyle/>
                    <a:p>
                      <a:pPr algn="r"/>
                      <a:r>
                        <a:rPr lang="en-US" sz="900" dirty="0" smtClean="0"/>
                        <a:t>S</a:t>
                      </a:r>
                      <a:endParaRPr lang="en-US" sz="900" dirty="0"/>
                    </a:p>
                  </a:txBody>
                  <a:tcPr marL="45720" marR="45720" marT="22860" marB="2286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smtClean="0">
                          <a:latin typeface="Courier New"/>
                          <a:cs typeface="Courier New"/>
                        </a:rPr>
                        <a:t>0xE78</a:t>
                      </a:r>
                    </a:p>
                  </a:txBody>
                  <a:tcPr marL="45720" marR="45720" marT="22860" marB="2286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 smtClean="0"/>
                        <a:t>x</a:t>
                      </a:r>
                      <a:endParaRPr lang="en-US" sz="900" dirty="0"/>
                    </a:p>
                  </a:txBody>
                  <a:tcPr marL="45720" marR="45720" marT="22860" marB="2286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 smtClean="0">
                        <a:latin typeface="Courier New"/>
                        <a:cs typeface="Courier New"/>
                      </a:endParaRPr>
                    </a:p>
                  </a:txBody>
                  <a:tcPr marL="45720" marR="45720" marT="22860" marB="2286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 smtClean="0"/>
                        <a:t>R</a:t>
                      </a:r>
                      <a:endParaRPr lang="en-US" sz="900" dirty="0"/>
                    </a:p>
                  </a:txBody>
                  <a:tcPr marL="45720" marR="45720" marT="22860" marB="2286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 smtClean="0">
                        <a:latin typeface="Courier New"/>
                        <a:cs typeface="Courier New"/>
                      </a:endParaRPr>
                    </a:p>
                  </a:txBody>
                  <a:tcPr marL="45720" marR="45720" marT="22860" marB="2286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3" name="TextBox 282"/>
          <p:cNvSpPr txBox="1"/>
          <p:nvPr/>
        </p:nvSpPr>
        <p:spPr>
          <a:xfrm>
            <a:off x="70134" y="4743688"/>
            <a:ext cx="648575" cy="138499"/>
          </a:xfrm>
          <a:prstGeom prst="rect">
            <a:avLst/>
          </a:prstGeom>
          <a:noFill/>
        </p:spPr>
        <p:txBody>
          <a:bodyPr wrap="none" lIns="45720" tIns="22860" rIns="45720" bIns="22860" rtlCol="0">
            <a:spAutoFit/>
          </a:bodyPr>
          <a:lstStyle/>
          <a:p>
            <a:r>
              <a:rPr lang="en-US" sz="600" i="1" dirty="0">
                <a:latin typeface="Times New Roman"/>
                <a:cs typeface="Times New Roman"/>
              </a:rPr>
              <a:t>local </a:t>
            </a:r>
            <a:r>
              <a:rPr lang="en-US" sz="600" i="1" dirty="0" err="1">
                <a:latin typeface="Times New Roman"/>
                <a:cs typeface="Times New Roman"/>
              </a:rPr>
              <a:t>vars</a:t>
            </a:r>
            <a:r>
              <a:rPr lang="en-US" sz="600" i="1" dirty="0">
                <a:latin typeface="Times New Roman"/>
                <a:cs typeface="Times New Roman"/>
              </a:rPr>
              <a:t> of </a:t>
            </a:r>
            <a:r>
              <a:rPr lang="en-US" sz="600" i="1" dirty="0" smtClean="0">
                <a:latin typeface="Times New Roman"/>
                <a:cs typeface="Times New Roman"/>
              </a:rPr>
              <a:t>main</a:t>
            </a:r>
            <a:endParaRPr lang="en-US" sz="600" i="1" dirty="0">
              <a:latin typeface="Times New Roman"/>
              <a:cs typeface="Times New Roman"/>
            </a:endParaRPr>
          </a:p>
        </p:txBody>
      </p:sp>
      <p:sp>
        <p:nvSpPr>
          <p:cNvPr id="284" name="Rectangle 283"/>
          <p:cNvSpPr/>
          <p:nvPr/>
        </p:nvSpPr>
        <p:spPr>
          <a:xfrm>
            <a:off x="122568" y="4898576"/>
            <a:ext cx="611415" cy="2510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45720" tIns="22860" rIns="45720" bIns="22860" spcCol="0" rtlCol="0" anchor="ctr"/>
          <a:lstStyle/>
          <a:p>
            <a:pPr algn="ctr"/>
            <a:endParaRPr lang="en-US"/>
          </a:p>
        </p:txBody>
      </p:sp>
      <p:graphicFrame>
        <p:nvGraphicFramePr>
          <p:cNvPr id="285" name="Table 2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0217221"/>
              </p:ext>
            </p:extLst>
          </p:nvPr>
        </p:nvGraphicFramePr>
        <p:xfrm>
          <a:off x="122567" y="4933528"/>
          <a:ext cx="576782" cy="185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349"/>
                <a:gridCol w="454433"/>
              </a:tblGrid>
              <a:tr h="185420">
                <a:tc>
                  <a:txBody>
                    <a:bodyPr/>
                    <a:lstStyle/>
                    <a:p>
                      <a:pPr algn="r"/>
                      <a:r>
                        <a:rPr lang="en-US" sz="900" dirty="0" smtClean="0"/>
                        <a:t>S</a:t>
                      </a:r>
                      <a:endParaRPr lang="en-US" sz="900" dirty="0"/>
                    </a:p>
                  </a:txBody>
                  <a:tcPr marL="45720" marR="45720" marT="22860" marB="2286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smtClean="0">
                          <a:latin typeface="Courier New"/>
                          <a:cs typeface="Courier New"/>
                        </a:rPr>
                        <a:t>0xE78</a:t>
                      </a:r>
                      <a:endParaRPr lang="en-US" sz="900" dirty="0">
                        <a:latin typeface="Courier New"/>
                        <a:cs typeface="Courier New"/>
                      </a:endParaRPr>
                    </a:p>
                  </a:txBody>
                  <a:tcPr marL="45720" marR="45720" marT="22860" marB="2286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6" name="Rectangle 285"/>
          <p:cNvSpPr/>
          <p:nvPr/>
        </p:nvSpPr>
        <p:spPr>
          <a:xfrm>
            <a:off x="856294" y="4893285"/>
            <a:ext cx="1891531" cy="2510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45720" tIns="22860" rIns="45720" bIns="22860" spcCol="0" rtlCol="0" anchor="ctr"/>
          <a:lstStyle/>
          <a:p>
            <a:pPr algn="ctr"/>
            <a:endParaRPr lang="en-US"/>
          </a:p>
        </p:txBody>
      </p:sp>
      <p:sp>
        <p:nvSpPr>
          <p:cNvPr id="287" name="TextBox 286"/>
          <p:cNvSpPr txBox="1"/>
          <p:nvPr/>
        </p:nvSpPr>
        <p:spPr>
          <a:xfrm>
            <a:off x="803859" y="4743688"/>
            <a:ext cx="720710" cy="138499"/>
          </a:xfrm>
          <a:prstGeom prst="rect">
            <a:avLst/>
          </a:prstGeom>
          <a:noFill/>
        </p:spPr>
        <p:txBody>
          <a:bodyPr wrap="none" lIns="45720" tIns="22860" rIns="45720" bIns="22860" rtlCol="0">
            <a:spAutoFit/>
          </a:bodyPr>
          <a:lstStyle/>
          <a:p>
            <a:r>
              <a:rPr lang="en-US" sz="600" i="1" dirty="0">
                <a:latin typeface="Times New Roman"/>
                <a:cs typeface="Times New Roman"/>
              </a:rPr>
              <a:t>local </a:t>
            </a:r>
            <a:r>
              <a:rPr lang="en-US" sz="600" i="1" dirty="0" err="1">
                <a:latin typeface="Times New Roman"/>
                <a:cs typeface="Times New Roman"/>
              </a:rPr>
              <a:t>vars</a:t>
            </a:r>
            <a:r>
              <a:rPr lang="en-US" sz="600" i="1" dirty="0">
                <a:latin typeface="Times New Roman"/>
                <a:cs typeface="Times New Roman"/>
              </a:rPr>
              <a:t> of reverse</a:t>
            </a:r>
          </a:p>
        </p:txBody>
      </p:sp>
      <p:graphicFrame>
        <p:nvGraphicFramePr>
          <p:cNvPr id="288" name="Table 2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846657"/>
              </p:ext>
            </p:extLst>
          </p:nvPr>
        </p:nvGraphicFramePr>
        <p:xfrm>
          <a:off x="874352" y="4927867"/>
          <a:ext cx="1838839" cy="185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119"/>
                <a:gridCol w="439809"/>
                <a:gridCol w="150091"/>
                <a:gridCol w="432955"/>
                <a:gridCol w="166250"/>
                <a:gridCol w="497615"/>
              </a:tblGrid>
              <a:tr h="185420">
                <a:tc>
                  <a:txBody>
                    <a:bodyPr/>
                    <a:lstStyle/>
                    <a:p>
                      <a:pPr algn="r"/>
                      <a:r>
                        <a:rPr lang="en-US" sz="900" dirty="0" smtClean="0"/>
                        <a:t>S</a:t>
                      </a:r>
                      <a:endParaRPr lang="en-US" sz="900" dirty="0"/>
                    </a:p>
                  </a:txBody>
                  <a:tcPr marL="45720" marR="45720" marT="22860" marB="2286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smtClean="0">
                          <a:latin typeface="Courier New"/>
                          <a:cs typeface="Courier New"/>
                        </a:rPr>
                        <a:t>0xE78</a:t>
                      </a:r>
                    </a:p>
                  </a:txBody>
                  <a:tcPr marL="45720" marR="45720" marT="22860" marB="2286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 smtClean="0"/>
                        <a:t>x</a:t>
                      </a:r>
                      <a:endParaRPr lang="en-US" sz="900" dirty="0"/>
                    </a:p>
                  </a:txBody>
                  <a:tcPr marL="45720" marR="45720" marT="22860" marB="2286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 smtClean="0">
                          <a:solidFill>
                            <a:schemeClr val="tx1"/>
                          </a:solidFill>
                          <a:effectLst/>
                          <a:latin typeface="Courier New"/>
                          <a:ea typeface="+mn-ea"/>
                          <a:cs typeface="Courier New"/>
                        </a:rPr>
                        <a:t>"foo"</a:t>
                      </a:r>
                      <a:endParaRPr lang="en-US" sz="900" dirty="0" smtClean="0">
                        <a:latin typeface="Courier New"/>
                        <a:cs typeface="Courier New"/>
                      </a:endParaRPr>
                    </a:p>
                  </a:txBody>
                  <a:tcPr marL="45720" marR="45720" marT="22860" marB="2286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 smtClean="0"/>
                        <a:t>R</a:t>
                      </a:r>
                      <a:endParaRPr lang="en-US" sz="900" dirty="0"/>
                    </a:p>
                  </a:txBody>
                  <a:tcPr marL="45720" marR="45720" marT="22860" marB="2286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smtClean="0">
                          <a:latin typeface="Courier New"/>
                          <a:cs typeface="Courier New"/>
                        </a:rPr>
                        <a:t>0x8A0</a:t>
                      </a:r>
                    </a:p>
                  </a:txBody>
                  <a:tcPr marL="45720" marR="45720" marT="22860" marB="2286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9" name="TextBox 288"/>
          <p:cNvSpPr txBox="1"/>
          <p:nvPr/>
        </p:nvSpPr>
        <p:spPr>
          <a:xfrm>
            <a:off x="2959755" y="4743577"/>
            <a:ext cx="643766" cy="138499"/>
          </a:xfrm>
          <a:prstGeom prst="rect">
            <a:avLst/>
          </a:prstGeom>
          <a:noFill/>
        </p:spPr>
        <p:txBody>
          <a:bodyPr wrap="none" lIns="45720" tIns="22860" rIns="45720" bIns="22860" rtlCol="0">
            <a:spAutoFit/>
          </a:bodyPr>
          <a:lstStyle/>
          <a:p>
            <a:r>
              <a:rPr lang="en-US" sz="600" i="1" dirty="0" smtClean="0">
                <a:latin typeface="Times New Roman"/>
                <a:cs typeface="Times New Roman"/>
              </a:rPr>
              <a:t>allocated memory</a:t>
            </a:r>
            <a:endParaRPr lang="en-US" sz="600" i="1" dirty="0">
              <a:latin typeface="Times New Roman"/>
              <a:cs typeface="Times New Roman"/>
            </a:endParaRPr>
          </a:p>
        </p:txBody>
      </p:sp>
      <p:sp>
        <p:nvSpPr>
          <p:cNvPr id="290" name="Rectangle 289"/>
          <p:cNvSpPr/>
          <p:nvPr/>
        </p:nvSpPr>
        <p:spPr>
          <a:xfrm>
            <a:off x="2959755" y="4858876"/>
            <a:ext cx="369377" cy="138500"/>
          </a:xfrm>
          <a:prstGeom prst="rect">
            <a:avLst/>
          </a:prstGeom>
        </p:spPr>
        <p:txBody>
          <a:bodyPr wrap="none" lIns="45720" tIns="22860" rIns="45720" bIns="22860">
            <a:spAutoFit/>
          </a:bodyPr>
          <a:lstStyle/>
          <a:p>
            <a:r>
              <a:rPr lang="en-US" sz="600" dirty="0" smtClean="0">
                <a:latin typeface="Courier New"/>
                <a:cs typeface="Courier New"/>
              </a:rPr>
              <a:t>0xE78:</a:t>
            </a:r>
            <a:endParaRPr lang="en-US" sz="600" dirty="0">
              <a:latin typeface="Courier New"/>
              <a:cs typeface="Courier New"/>
            </a:endParaRPr>
          </a:p>
        </p:txBody>
      </p:sp>
      <p:graphicFrame>
        <p:nvGraphicFramePr>
          <p:cNvPr id="291" name="Table 2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1511513"/>
              </p:ext>
            </p:extLst>
          </p:nvPr>
        </p:nvGraphicFramePr>
        <p:xfrm>
          <a:off x="3311814" y="4904666"/>
          <a:ext cx="116840" cy="185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840"/>
              </a:tblGrid>
              <a:tr h="1854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 smtClean="0">
                        <a:latin typeface="Courier New"/>
                        <a:cs typeface="Courier New"/>
                      </a:endParaRPr>
                    </a:p>
                  </a:txBody>
                  <a:tcPr marL="45720" marR="45720" marT="22860" marB="2286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92" name="Right Arrow 291"/>
          <p:cNvSpPr/>
          <p:nvPr/>
        </p:nvSpPr>
        <p:spPr>
          <a:xfrm>
            <a:off x="3433450" y="4991867"/>
            <a:ext cx="144319" cy="98219"/>
          </a:xfrm>
          <a:prstGeom prst="rightArrow">
            <a:avLst/>
          </a:prstGeom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22860" rIns="45720" bIns="22860" rtlCol="0" anchor="ctr"/>
          <a:lstStyle/>
          <a:p>
            <a:pPr algn="ctr"/>
            <a:endParaRPr lang="en-US"/>
          </a:p>
        </p:txBody>
      </p:sp>
      <p:sp>
        <p:nvSpPr>
          <p:cNvPr id="293" name="Right Arrow 292"/>
          <p:cNvSpPr/>
          <p:nvPr/>
        </p:nvSpPr>
        <p:spPr>
          <a:xfrm rot="10800000">
            <a:off x="3433450" y="4910966"/>
            <a:ext cx="144319" cy="98219"/>
          </a:xfrm>
          <a:prstGeom prst="rightArrow">
            <a:avLst/>
          </a:prstGeom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22860" rIns="45720" bIns="22860" rtlCol="0" anchor="ctr"/>
          <a:lstStyle/>
          <a:p>
            <a:pPr algn="ctr"/>
            <a:endParaRPr lang="en-US"/>
          </a:p>
        </p:txBody>
      </p:sp>
      <p:sp>
        <p:nvSpPr>
          <p:cNvPr id="294" name="Rectangle 293"/>
          <p:cNvSpPr/>
          <p:nvPr/>
        </p:nvSpPr>
        <p:spPr>
          <a:xfrm>
            <a:off x="4036544" y="4858877"/>
            <a:ext cx="369377" cy="138500"/>
          </a:xfrm>
          <a:prstGeom prst="rect">
            <a:avLst/>
          </a:prstGeom>
        </p:spPr>
        <p:txBody>
          <a:bodyPr wrap="none" lIns="45720" tIns="22860" rIns="45720" bIns="22860">
            <a:spAutoFit/>
          </a:bodyPr>
          <a:lstStyle/>
          <a:p>
            <a:r>
              <a:rPr lang="en-US" sz="600" dirty="0" smtClean="0">
                <a:latin typeface="Courier New"/>
                <a:cs typeface="Courier New"/>
              </a:rPr>
              <a:t>0x8A0:</a:t>
            </a:r>
            <a:endParaRPr lang="en-US" sz="600" dirty="0">
              <a:latin typeface="Courier New"/>
              <a:cs typeface="Courier New"/>
            </a:endParaRPr>
          </a:p>
        </p:txBody>
      </p:sp>
      <p:graphicFrame>
        <p:nvGraphicFramePr>
          <p:cNvPr id="295" name="Table 2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2671004"/>
              </p:ext>
            </p:extLst>
          </p:nvPr>
        </p:nvGraphicFramePr>
        <p:xfrm>
          <a:off x="4388603" y="4904666"/>
          <a:ext cx="451986" cy="185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1986"/>
              </a:tblGrid>
              <a:tr h="1854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 smtClean="0">
                          <a:solidFill>
                            <a:schemeClr val="tx1"/>
                          </a:solidFill>
                          <a:effectLst/>
                          <a:latin typeface="Courier New"/>
                          <a:ea typeface="+mn-ea"/>
                          <a:cs typeface="Courier New"/>
                        </a:rPr>
                        <a:t>"foo"</a:t>
                      </a:r>
                      <a:endParaRPr lang="en-US" sz="900" dirty="0" smtClean="0">
                        <a:latin typeface="Courier New"/>
                        <a:cs typeface="Courier New"/>
                      </a:endParaRPr>
                    </a:p>
                  </a:txBody>
                  <a:tcPr marL="45720" marR="45720" marT="22860" marB="2286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96" name="Right Arrow 295"/>
          <p:cNvSpPr/>
          <p:nvPr/>
        </p:nvSpPr>
        <p:spPr>
          <a:xfrm>
            <a:off x="4853696" y="4991868"/>
            <a:ext cx="144319" cy="98219"/>
          </a:xfrm>
          <a:prstGeom prst="rightArrow">
            <a:avLst/>
          </a:prstGeom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22860" rIns="45720" bIns="22860" rtlCol="0" anchor="ctr"/>
          <a:lstStyle/>
          <a:p>
            <a:pPr algn="ctr"/>
            <a:endParaRPr lang="en-US"/>
          </a:p>
        </p:txBody>
      </p:sp>
      <p:sp>
        <p:nvSpPr>
          <p:cNvPr id="297" name="Right Arrow 296"/>
          <p:cNvSpPr/>
          <p:nvPr/>
        </p:nvSpPr>
        <p:spPr>
          <a:xfrm rot="10800000">
            <a:off x="4853696" y="4910966"/>
            <a:ext cx="144319" cy="98219"/>
          </a:xfrm>
          <a:prstGeom prst="rightArrow">
            <a:avLst/>
          </a:prstGeom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22860" rIns="45720" bIns="22860" rtlCol="0" anchor="ctr"/>
          <a:lstStyle/>
          <a:p>
            <a:pPr algn="ctr"/>
            <a:endParaRPr lang="en-US"/>
          </a:p>
        </p:txBody>
      </p:sp>
      <p:sp>
        <p:nvSpPr>
          <p:cNvPr id="298" name="TextBox 297"/>
          <p:cNvSpPr txBox="1"/>
          <p:nvPr/>
        </p:nvSpPr>
        <p:spPr>
          <a:xfrm>
            <a:off x="70127" y="5186434"/>
            <a:ext cx="648575" cy="138499"/>
          </a:xfrm>
          <a:prstGeom prst="rect">
            <a:avLst/>
          </a:prstGeom>
          <a:noFill/>
        </p:spPr>
        <p:txBody>
          <a:bodyPr wrap="none" lIns="45720" tIns="22860" rIns="45720" bIns="22860" rtlCol="0">
            <a:spAutoFit/>
          </a:bodyPr>
          <a:lstStyle/>
          <a:p>
            <a:r>
              <a:rPr lang="en-US" sz="600" i="1" dirty="0">
                <a:latin typeface="Times New Roman"/>
                <a:cs typeface="Times New Roman"/>
              </a:rPr>
              <a:t>local </a:t>
            </a:r>
            <a:r>
              <a:rPr lang="en-US" sz="600" i="1" dirty="0" err="1">
                <a:latin typeface="Times New Roman"/>
                <a:cs typeface="Times New Roman"/>
              </a:rPr>
              <a:t>vars</a:t>
            </a:r>
            <a:r>
              <a:rPr lang="en-US" sz="600" i="1" dirty="0">
                <a:latin typeface="Times New Roman"/>
                <a:cs typeface="Times New Roman"/>
              </a:rPr>
              <a:t> of </a:t>
            </a:r>
            <a:r>
              <a:rPr lang="en-US" sz="600" i="1" dirty="0" smtClean="0">
                <a:latin typeface="Times New Roman"/>
                <a:cs typeface="Times New Roman"/>
              </a:rPr>
              <a:t>main</a:t>
            </a:r>
            <a:endParaRPr lang="en-US" sz="600" i="1" dirty="0">
              <a:latin typeface="Times New Roman"/>
              <a:cs typeface="Times New Roman"/>
            </a:endParaRPr>
          </a:p>
        </p:txBody>
      </p:sp>
      <p:sp>
        <p:nvSpPr>
          <p:cNvPr id="299" name="Rectangle 298"/>
          <p:cNvSpPr/>
          <p:nvPr/>
        </p:nvSpPr>
        <p:spPr>
          <a:xfrm>
            <a:off x="122561" y="5341322"/>
            <a:ext cx="611415" cy="2510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45720" tIns="22860" rIns="45720" bIns="22860" spcCol="0" rtlCol="0" anchor="ctr"/>
          <a:lstStyle/>
          <a:p>
            <a:pPr algn="ctr"/>
            <a:endParaRPr lang="en-US"/>
          </a:p>
        </p:txBody>
      </p:sp>
      <p:graphicFrame>
        <p:nvGraphicFramePr>
          <p:cNvPr id="300" name="Table 29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284866"/>
              </p:ext>
            </p:extLst>
          </p:nvPr>
        </p:nvGraphicFramePr>
        <p:xfrm>
          <a:off x="122560" y="5376274"/>
          <a:ext cx="576782" cy="185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349"/>
                <a:gridCol w="454433"/>
              </a:tblGrid>
              <a:tr h="185420">
                <a:tc>
                  <a:txBody>
                    <a:bodyPr/>
                    <a:lstStyle/>
                    <a:p>
                      <a:pPr algn="r"/>
                      <a:r>
                        <a:rPr lang="en-US" sz="900" dirty="0" smtClean="0"/>
                        <a:t>S</a:t>
                      </a:r>
                      <a:endParaRPr lang="en-US" sz="900" dirty="0"/>
                    </a:p>
                  </a:txBody>
                  <a:tcPr marL="45720" marR="45720" marT="22860" marB="2286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smtClean="0">
                          <a:latin typeface="Courier New"/>
                          <a:cs typeface="Courier New"/>
                        </a:rPr>
                        <a:t>0xE78</a:t>
                      </a:r>
                      <a:endParaRPr lang="en-US" sz="900" dirty="0">
                        <a:latin typeface="Courier New"/>
                        <a:cs typeface="Courier New"/>
                      </a:endParaRPr>
                    </a:p>
                  </a:txBody>
                  <a:tcPr marL="45720" marR="45720" marT="22860" marB="2286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1" name="Rectangle 300"/>
          <p:cNvSpPr/>
          <p:nvPr/>
        </p:nvSpPr>
        <p:spPr>
          <a:xfrm>
            <a:off x="856287" y="5336031"/>
            <a:ext cx="1891531" cy="2510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45720" tIns="22860" rIns="45720" bIns="22860" spcCol="0" rtlCol="0" anchor="ctr"/>
          <a:lstStyle/>
          <a:p>
            <a:pPr algn="ctr"/>
            <a:endParaRPr lang="en-US"/>
          </a:p>
        </p:txBody>
      </p:sp>
      <p:sp>
        <p:nvSpPr>
          <p:cNvPr id="302" name="TextBox 301"/>
          <p:cNvSpPr txBox="1"/>
          <p:nvPr/>
        </p:nvSpPr>
        <p:spPr>
          <a:xfrm>
            <a:off x="803852" y="5186434"/>
            <a:ext cx="720710" cy="138499"/>
          </a:xfrm>
          <a:prstGeom prst="rect">
            <a:avLst/>
          </a:prstGeom>
          <a:noFill/>
        </p:spPr>
        <p:txBody>
          <a:bodyPr wrap="none" lIns="45720" tIns="22860" rIns="45720" bIns="22860" rtlCol="0">
            <a:spAutoFit/>
          </a:bodyPr>
          <a:lstStyle/>
          <a:p>
            <a:r>
              <a:rPr lang="en-US" sz="600" i="1" dirty="0">
                <a:latin typeface="Times New Roman"/>
                <a:cs typeface="Times New Roman"/>
              </a:rPr>
              <a:t>local </a:t>
            </a:r>
            <a:r>
              <a:rPr lang="en-US" sz="600" i="1" dirty="0" err="1">
                <a:latin typeface="Times New Roman"/>
                <a:cs typeface="Times New Roman"/>
              </a:rPr>
              <a:t>vars</a:t>
            </a:r>
            <a:r>
              <a:rPr lang="en-US" sz="600" i="1" dirty="0">
                <a:latin typeface="Times New Roman"/>
                <a:cs typeface="Times New Roman"/>
              </a:rPr>
              <a:t> of reverse</a:t>
            </a:r>
          </a:p>
        </p:txBody>
      </p:sp>
      <p:graphicFrame>
        <p:nvGraphicFramePr>
          <p:cNvPr id="303" name="Table 3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108925"/>
              </p:ext>
            </p:extLst>
          </p:nvPr>
        </p:nvGraphicFramePr>
        <p:xfrm>
          <a:off x="874345" y="5370613"/>
          <a:ext cx="1838839" cy="185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119"/>
                <a:gridCol w="439809"/>
                <a:gridCol w="150091"/>
                <a:gridCol w="432955"/>
                <a:gridCol w="166250"/>
                <a:gridCol w="497615"/>
              </a:tblGrid>
              <a:tr h="185420">
                <a:tc>
                  <a:txBody>
                    <a:bodyPr/>
                    <a:lstStyle/>
                    <a:p>
                      <a:pPr algn="r"/>
                      <a:r>
                        <a:rPr lang="en-US" sz="900" dirty="0" smtClean="0"/>
                        <a:t>S</a:t>
                      </a:r>
                      <a:endParaRPr lang="en-US" sz="900" dirty="0"/>
                    </a:p>
                  </a:txBody>
                  <a:tcPr marL="45720" marR="45720" marT="22860" marB="2286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smtClean="0">
                          <a:latin typeface="Courier New"/>
                          <a:cs typeface="Courier New"/>
                        </a:rPr>
                        <a:t>0x8A0</a:t>
                      </a:r>
                    </a:p>
                  </a:txBody>
                  <a:tcPr marL="45720" marR="45720" marT="22860" marB="2286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 smtClean="0"/>
                        <a:t>x</a:t>
                      </a:r>
                      <a:endParaRPr lang="en-US" sz="900" dirty="0"/>
                    </a:p>
                  </a:txBody>
                  <a:tcPr marL="45720" marR="45720" marT="22860" marB="2286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 smtClean="0">
                          <a:solidFill>
                            <a:schemeClr val="tx1"/>
                          </a:solidFill>
                          <a:effectLst/>
                          <a:latin typeface="Courier New"/>
                          <a:ea typeface="+mn-ea"/>
                          <a:cs typeface="Courier New"/>
                        </a:rPr>
                        <a:t>"foo"</a:t>
                      </a:r>
                      <a:endParaRPr lang="en-US" sz="900" dirty="0" smtClean="0">
                        <a:latin typeface="Courier New"/>
                        <a:cs typeface="Courier New"/>
                      </a:endParaRPr>
                    </a:p>
                  </a:txBody>
                  <a:tcPr marL="45720" marR="45720" marT="22860" marB="2286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 smtClean="0"/>
                        <a:t>R</a:t>
                      </a:r>
                      <a:endParaRPr lang="en-US" sz="900" dirty="0"/>
                    </a:p>
                  </a:txBody>
                  <a:tcPr marL="45720" marR="45720" marT="22860" marB="2286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smtClean="0">
                          <a:latin typeface="Courier New"/>
                          <a:cs typeface="Courier New"/>
                        </a:rPr>
                        <a:t>0x8A0</a:t>
                      </a:r>
                    </a:p>
                  </a:txBody>
                  <a:tcPr marL="45720" marR="45720" marT="22860" marB="2286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4" name="TextBox 303"/>
          <p:cNvSpPr txBox="1"/>
          <p:nvPr/>
        </p:nvSpPr>
        <p:spPr>
          <a:xfrm>
            <a:off x="2959748" y="5186323"/>
            <a:ext cx="643766" cy="138499"/>
          </a:xfrm>
          <a:prstGeom prst="rect">
            <a:avLst/>
          </a:prstGeom>
          <a:noFill/>
        </p:spPr>
        <p:txBody>
          <a:bodyPr wrap="none" lIns="45720" tIns="22860" rIns="45720" bIns="22860" rtlCol="0">
            <a:spAutoFit/>
          </a:bodyPr>
          <a:lstStyle/>
          <a:p>
            <a:r>
              <a:rPr lang="en-US" sz="600" i="1" dirty="0" smtClean="0">
                <a:latin typeface="Times New Roman"/>
                <a:cs typeface="Times New Roman"/>
              </a:rPr>
              <a:t>allocated memory</a:t>
            </a:r>
            <a:endParaRPr lang="en-US" sz="600" i="1" dirty="0">
              <a:latin typeface="Times New Roman"/>
              <a:cs typeface="Times New Roman"/>
            </a:endParaRPr>
          </a:p>
        </p:txBody>
      </p:sp>
      <p:sp>
        <p:nvSpPr>
          <p:cNvPr id="305" name="Rectangle 304"/>
          <p:cNvSpPr/>
          <p:nvPr/>
        </p:nvSpPr>
        <p:spPr>
          <a:xfrm>
            <a:off x="2959748" y="5301622"/>
            <a:ext cx="369377" cy="138500"/>
          </a:xfrm>
          <a:prstGeom prst="rect">
            <a:avLst/>
          </a:prstGeom>
        </p:spPr>
        <p:txBody>
          <a:bodyPr wrap="none" lIns="45720" tIns="22860" rIns="45720" bIns="22860">
            <a:spAutoFit/>
          </a:bodyPr>
          <a:lstStyle/>
          <a:p>
            <a:r>
              <a:rPr lang="en-US" sz="600" dirty="0" smtClean="0">
                <a:latin typeface="Courier New"/>
                <a:cs typeface="Courier New"/>
              </a:rPr>
              <a:t>0xE78:</a:t>
            </a:r>
            <a:endParaRPr lang="en-US" sz="600" dirty="0">
              <a:latin typeface="Courier New"/>
              <a:cs typeface="Courier New"/>
            </a:endParaRPr>
          </a:p>
        </p:txBody>
      </p:sp>
      <p:graphicFrame>
        <p:nvGraphicFramePr>
          <p:cNvPr id="306" name="Table 3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983457"/>
              </p:ext>
            </p:extLst>
          </p:nvPr>
        </p:nvGraphicFramePr>
        <p:xfrm>
          <a:off x="3311807" y="5347412"/>
          <a:ext cx="116840" cy="185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840"/>
              </a:tblGrid>
              <a:tr h="1854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 smtClean="0">
                        <a:latin typeface="Courier New"/>
                        <a:cs typeface="Courier New"/>
                      </a:endParaRPr>
                    </a:p>
                  </a:txBody>
                  <a:tcPr marL="45720" marR="45720" marT="22860" marB="2286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7" name="Right Arrow 306"/>
          <p:cNvSpPr/>
          <p:nvPr/>
        </p:nvSpPr>
        <p:spPr>
          <a:xfrm>
            <a:off x="3433443" y="5434613"/>
            <a:ext cx="144319" cy="98219"/>
          </a:xfrm>
          <a:prstGeom prst="rightArrow">
            <a:avLst/>
          </a:prstGeom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22860" rIns="45720" bIns="22860" rtlCol="0" anchor="ctr"/>
          <a:lstStyle/>
          <a:p>
            <a:pPr algn="ctr"/>
            <a:endParaRPr lang="en-US"/>
          </a:p>
        </p:txBody>
      </p:sp>
      <p:sp>
        <p:nvSpPr>
          <p:cNvPr id="308" name="Right Arrow 307"/>
          <p:cNvSpPr/>
          <p:nvPr/>
        </p:nvSpPr>
        <p:spPr>
          <a:xfrm rot="10800000">
            <a:off x="3433443" y="5353712"/>
            <a:ext cx="144319" cy="98219"/>
          </a:xfrm>
          <a:prstGeom prst="rightArrow">
            <a:avLst/>
          </a:prstGeom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22860" rIns="45720" bIns="22860" rtlCol="0" anchor="ctr"/>
          <a:lstStyle/>
          <a:p>
            <a:pPr algn="ctr"/>
            <a:endParaRPr lang="en-US"/>
          </a:p>
        </p:txBody>
      </p:sp>
      <p:sp>
        <p:nvSpPr>
          <p:cNvPr id="309" name="Rectangle 308"/>
          <p:cNvSpPr/>
          <p:nvPr/>
        </p:nvSpPr>
        <p:spPr>
          <a:xfrm>
            <a:off x="4036537" y="5301623"/>
            <a:ext cx="369377" cy="138500"/>
          </a:xfrm>
          <a:prstGeom prst="rect">
            <a:avLst/>
          </a:prstGeom>
        </p:spPr>
        <p:txBody>
          <a:bodyPr wrap="none" lIns="45720" tIns="22860" rIns="45720" bIns="22860">
            <a:spAutoFit/>
          </a:bodyPr>
          <a:lstStyle/>
          <a:p>
            <a:r>
              <a:rPr lang="en-US" sz="600" dirty="0" smtClean="0">
                <a:latin typeface="Courier New"/>
                <a:cs typeface="Courier New"/>
              </a:rPr>
              <a:t>0x8A0:</a:t>
            </a:r>
            <a:endParaRPr lang="en-US" sz="600" dirty="0">
              <a:latin typeface="Courier New"/>
              <a:cs typeface="Courier New"/>
            </a:endParaRP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162908"/>
              </p:ext>
            </p:extLst>
          </p:nvPr>
        </p:nvGraphicFramePr>
        <p:xfrm>
          <a:off x="4388596" y="5347412"/>
          <a:ext cx="451986" cy="185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1986"/>
              </a:tblGrid>
              <a:tr h="1854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 smtClean="0">
                          <a:solidFill>
                            <a:schemeClr val="tx1"/>
                          </a:solidFill>
                          <a:effectLst/>
                          <a:latin typeface="Courier New"/>
                          <a:ea typeface="+mn-ea"/>
                          <a:cs typeface="Courier New"/>
                        </a:rPr>
                        <a:t>"foo"</a:t>
                      </a:r>
                      <a:endParaRPr lang="en-US" sz="900" dirty="0" smtClean="0">
                        <a:latin typeface="Courier New"/>
                        <a:cs typeface="Courier New"/>
                      </a:endParaRPr>
                    </a:p>
                  </a:txBody>
                  <a:tcPr marL="45720" marR="45720" marT="22860" marB="2286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1" name="Right Arrow 310"/>
          <p:cNvSpPr/>
          <p:nvPr/>
        </p:nvSpPr>
        <p:spPr>
          <a:xfrm>
            <a:off x="4853689" y="5434614"/>
            <a:ext cx="144319" cy="98219"/>
          </a:xfrm>
          <a:prstGeom prst="rightArrow">
            <a:avLst/>
          </a:prstGeom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22860" rIns="45720" bIns="22860" rtlCol="0" anchor="ctr"/>
          <a:lstStyle/>
          <a:p>
            <a:pPr algn="ctr"/>
            <a:endParaRPr lang="en-US"/>
          </a:p>
        </p:txBody>
      </p:sp>
      <p:sp>
        <p:nvSpPr>
          <p:cNvPr id="312" name="Right Arrow 311"/>
          <p:cNvSpPr/>
          <p:nvPr/>
        </p:nvSpPr>
        <p:spPr>
          <a:xfrm rot="10800000">
            <a:off x="4853689" y="5353712"/>
            <a:ext cx="144319" cy="98219"/>
          </a:xfrm>
          <a:prstGeom prst="rightArrow">
            <a:avLst/>
          </a:prstGeom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22860" rIns="45720" bIns="22860" rtlCol="0" anchor="ctr"/>
          <a:lstStyle/>
          <a:p>
            <a:pPr algn="ctr"/>
            <a:endParaRPr lang="en-US"/>
          </a:p>
        </p:txBody>
      </p:sp>
      <p:sp>
        <p:nvSpPr>
          <p:cNvPr id="313" name="TextBox 312"/>
          <p:cNvSpPr txBox="1"/>
          <p:nvPr/>
        </p:nvSpPr>
        <p:spPr>
          <a:xfrm>
            <a:off x="70134" y="5629718"/>
            <a:ext cx="648575" cy="138499"/>
          </a:xfrm>
          <a:prstGeom prst="rect">
            <a:avLst/>
          </a:prstGeom>
          <a:noFill/>
        </p:spPr>
        <p:txBody>
          <a:bodyPr wrap="none" lIns="45720" tIns="22860" rIns="45720" bIns="22860" rtlCol="0">
            <a:spAutoFit/>
          </a:bodyPr>
          <a:lstStyle/>
          <a:p>
            <a:r>
              <a:rPr lang="en-US" sz="600" i="1" dirty="0">
                <a:latin typeface="Times New Roman"/>
                <a:cs typeface="Times New Roman"/>
              </a:rPr>
              <a:t>local </a:t>
            </a:r>
            <a:r>
              <a:rPr lang="en-US" sz="600" i="1" dirty="0" err="1">
                <a:latin typeface="Times New Roman"/>
                <a:cs typeface="Times New Roman"/>
              </a:rPr>
              <a:t>vars</a:t>
            </a:r>
            <a:r>
              <a:rPr lang="en-US" sz="600" i="1" dirty="0">
                <a:latin typeface="Times New Roman"/>
                <a:cs typeface="Times New Roman"/>
              </a:rPr>
              <a:t> of </a:t>
            </a:r>
            <a:r>
              <a:rPr lang="en-US" sz="600" i="1" dirty="0" smtClean="0">
                <a:latin typeface="Times New Roman"/>
                <a:cs typeface="Times New Roman"/>
              </a:rPr>
              <a:t>main</a:t>
            </a:r>
            <a:endParaRPr lang="en-US" sz="600" i="1" dirty="0">
              <a:latin typeface="Times New Roman"/>
              <a:cs typeface="Times New Roman"/>
            </a:endParaRPr>
          </a:p>
        </p:txBody>
      </p:sp>
      <p:sp>
        <p:nvSpPr>
          <p:cNvPr id="314" name="Rectangle 313"/>
          <p:cNvSpPr/>
          <p:nvPr/>
        </p:nvSpPr>
        <p:spPr>
          <a:xfrm>
            <a:off x="122568" y="5784607"/>
            <a:ext cx="611415" cy="2510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45720" tIns="22860" rIns="45720" bIns="22860" spcCol="0" rtlCol="0" anchor="ctr"/>
          <a:lstStyle/>
          <a:p>
            <a:pPr algn="ctr"/>
            <a:endParaRPr lang="en-US"/>
          </a:p>
        </p:txBody>
      </p:sp>
      <p:graphicFrame>
        <p:nvGraphicFramePr>
          <p:cNvPr id="315" name="Table 3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448658"/>
              </p:ext>
            </p:extLst>
          </p:nvPr>
        </p:nvGraphicFramePr>
        <p:xfrm>
          <a:off x="122567" y="5819559"/>
          <a:ext cx="576782" cy="185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349"/>
                <a:gridCol w="454433"/>
              </a:tblGrid>
              <a:tr h="185420">
                <a:tc>
                  <a:txBody>
                    <a:bodyPr/>
                    <a:lstStyle/>
                    <a:p>
                      <a:pPr algn="r"/>
                      <a:r>
                        <a:rPr lang="en-US" sz="900" dirty="0" smtClean="0"/>
                        <a:t>S</a:t>
                      </a:r>
                      <a:endParaRPr lang="en-US" sz="900" dirty="0"/>
                    </a:p>
                  </a:txBody>
                  <a:tcPr marL="45720" marR="45720" marT="22860" marB="2286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smtClean="0">
                          <a:latin typeface="Courier New"/>
                          <a:cs typeface="Courier New"/>
                        </a:rPr>
                        <a:t>0xE78</a:t>
                      </a:r>
                      <a:endParaRPr lang="en-US" sz="900" dirty="0">
                        <a:latin typeface="Courier New"/>
                        <a:cs typeface="Courier New"/>
                      </a:endParaRPr>
                    </a:p>
                  </a:txBody>
                  <a:tcPr marL="45720" marR="45720" marT="22860" marB="2286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9" name="TextBox 318"/>
          <p:cNvSpPr txBox="1"/>
          <p:nvPr/>
        </p:nvSpPr>
        <p:spPr>
          <a:xfrm>
            <a:off x="2959755" y="5629608"/>
            <a:ext cx="643766" cy="138499"/>
          </a:xfrm>
          <a:prstGeom prst="rect">
            <a:avLst/>
          </a:prstGeom>
          <a:noFill/>
        </p:spPr>
        <p:txBody>
          <a:bodyPr wrap="none" lIns="45720" tIns="22860" rIns="45720" bIns="22860" rtlCol="0">
            <a:spAutoFit/>
          </a:bodyPr>
          <a:lstStyle/>
          <a:p>
            <a:r>
              <a:rPr lang="en-US" sz="600" i="1" dirty="0" smtClean="0">
                <a:latin typeface="Times New Roman"/>
                <a:cs typeface="Times New Roman"/>
              </a:rPr>
              <a:t>allocated memory</a:t>
            </a:r>
            <a:endParaRPr lang="en-US" sz="600" i="1" dirty="0">
              <a:latin typeface="Times New Roman"/>
              <a:cs typeface="Times New Roman"/>
            </a:endParaRPr>
          </a:p>
        </p:txBody>
      </p:sp>
      <p:sp>
        <p:nvSpPr>
          <p:cNvPr id="320" name="Rectangle 319"/>
          <p:cNvSpPr/>
          <p:nvPr/>
        </p:nvSpPr>
        <p:spPr>
          <a:xfrm>
            <a:off x="2959755" y="5744907"/>
            <a:ext cx="369377" cy="138500"/>
          </a:xfrm>
          <a:prstGeom prst="rect">
            <a:avLst/>
          </a:prstGeom>
        </p:spPr>
        <p:txBody>
          <a:bodyPr wrap="none" lIns="45720" tIns="22860" rIns="45720" bIns="22860">
            <a:spAutoFit/>
          </a:bodyPr>
          <a:lstStyle/>
          <a:p>
            <a:r>
              <a:rPr lang="en-US" sz="600" dirty="0" smtClean="0">
                <a:latin typeface="Courier New"/>
                <a:cs typeface="Courier New"/>
              </a:rPr>
              <a:t>0xE78:</a:t>
            </a:r>
            <a:endParaRPr lang="en-US" sz="600" dirty="0">
              <a:latin typeface="Courier New"/>
              <a:cs typeface="Courier New"/>
            </a:endParaRPr>
          </a:p>
        </p:txBody>
      </p:sp>
      <p:graphicFrame>
        <p:nvGraphicFramePr>
          <p:cNvPr id="321" name="Table 3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5042125"/>
              </p:ext>
            </p:extLst>
          </p:nvPr>
        </p:nvGraphicFramePr>
        <p:xfrm>
          <a:off x="3311814" y="5790696"/>
          <a:ext cx="116840" cy="185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840"/>
              </a:tblGrid>
              <a:tr h="1854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 smtClean="0">
                        <a:latin typeface="Courier New"/>
                        <a:cs typeface="Courier New"/>
                      </a:endParaRPr>
                    </a:p>
                  </a:txBody>
                  <a:tcPr marL="45720" marR="45720" marT="22860" marB="2286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22" name="Right Arrow 321"/>
          <p:cNvSpPr/>
          <p:nvPr/>
        </p:nvSpPr>
        <p:spPr>
          <a:xfrm>
            <a:off x="3433450" y="5877898"/>
            <a:ext cx="144319" cy="98219"/>
          </a:xfrm>
          <a:prstGeom prst="rightArrow">
            <a:avLst/>
          </a:prstGeom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22860" rIns="45720" bIns="22860" rtlCol="0" anchor="ctr"/>
          <a:lstStyle/>
          <a:p>
            <a:pPr algn="ctr"/>
            <a:endParaRPr lang="en-US"/>
          </a:p>
        </p:txBody>
      </p:sp>
      <p:sp>
        <p:nvSpPr>
          <p:cNvPr id="323" name="Right Arrow 322"/>
          <p:cNvSpPr/>
          <p:nvPr/>
        </p:nvSpPr>
        <p:spPr>
          <a:xfrm rot="10800000">
            <a:off x="3433450" y="5796996"/>
            <a:ext cx="144319" cy="98219"/>
          </a:xfrm>
          <a:prstGeom prst="rightArrow">
            <a:avLst/>
          </a:prstGeom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22860" rIns="45720" bIns="22860" rtlCol="0" anchor="ctr"/>
          <a:lstStyle/>
          <a:p>
            <a:pPr algn="ctr"/>
            <a:endParaRPr lang="en-US"/>
          </a:p>
        </p:txBody>
      </p:sp>
      <p:sp>
        <p:nvSpPr>
          <p:cNvPr id="324" name="Rectangle 323"/>
          <p:cNvSpPr/>
          <p:nvPr/>
        </p:nvSpPr>
        <p:spPr>
          <a:xfrm>
            <a:off x="4036544" y="5744907"/>
            <a:ext cx="369377" cy="138500"/>
          </a:xfrm>
          <a:prstGeom prst="rect">
            <a:avLst/>
          </a:prstGeom>
        </p:spPr>
        <p:txBody>
          <a:bodyPr wrap="none" lIns="45720" tIns="22860" rIns="45720" bIns="22860">
            <a:spAutoFit/>
          </a:bodyPr>
          <a:lstStyle/>
          <a:p>
            <a:r>
              <a:rPr lang="en-US" sz="600" dirty="0" smtClean="0">
                <a:latin typeface="Courier New"/>
                <a:cs typeface="Courier New"/>
              </a:rPr>
              <a:t>0x8A0:</a:t>
            </a:r>
            <a:endParaRPr lang="en-US" sz="600" dirty="0">
              <a:latin typeface="Courier New"/>
              <a:cs typeface="Courier New"/>
            </a:endParaRPr>
          </a:p>
        </p:txBody>
      </p:sp>
      <p:graphicFrame>
        <p:nvGraphicFramePr>
          <p:cNvPr id="325" name="Table 3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052402"/>
              </p:ext>
            </p:extLst>
          </p:nvPr>
        </p:nvGraphicFramePr>
        <p:xfrm>
          <a:off x="4388603" y="5790697"/>
          <a:ext cx="451986" cy="185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1986"/>
              </a:tblGrid>
              <a:tr h="1854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 smtClean="0">
                          <a:solidFill>
                            <a:schemeClr val="tx1"/>
                          </a:solidFill>
                          <a:effectLst/>
                          <a:latin typeface="Courier New"/>
                          <a:ea typeface="+mn-ea"/>
                          <a:cs typeface="Courier New"/>
                        </a:rPr>
                        <a:t>"foo"</a:t>
                      </a:r>
                      <a:endParaRPr lang="en-US" sz="900" dirty="0" smtClean="0">
                        <a:latin typeface="Courier New"/>
                        <a:cs typeface="Courier New"/>
                      </a:endParaRPr>
                    </a:p>
                  </a:txBody>
                  <a:tcPr marL="45720" marR="45720" marT="22860" marB="2286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26" name="Right Arrow 325"/>
          <p:cNvSpPr/>
          <p:nvPr/>
        </p:nvSpPr>
        <p:spPr>
          <a:xfrm>
            <a:off x="4853696" y="5877898"/>
            <a:ext cx="144319" cy="98219"/>
          </a:xfrm>
          <a:prstGeom prst="rightArrow">
            <a:avLst/>
          </a:prstGeom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22860" rIns="45720" bIns="22860" rtlCol="0" anchor="ctr"/>
          <a:lstStyle/>
          <a:p>
            <a:pPr algn="ctr"/>
            <a:endParaRPr lang="en-US"/>
          </a:p>
        </p:txBody>
      </p:sp>
      <p:sp>
        <p:nvSpPr>
          <p:cNvPr id="327" name="Right Arrow 326"/>
          <p:cNvSpPr/>
          <p:nvPr/>
        </p:nvSpPr>
        <p:spPr>
          <a:xfrm rot="10800000">
            <a:off x="4853696" y="5796997"/>
            <a:ext cx="144319" cy="98219"/>
          </a:xfrm>
          <a:prstGeom prst="rightArrow">
            <a:avLst/>
          </a:prstGeom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22860" rIns="45720" bIns="22860" rtlCol="0" anchor="ctr"/>
          <a:lstStyle/>
          <a:p>
            <a:pPr algn="ctr"/>
            <a:endParaRPr lang="en-US"/>
          </a:p>
        </p:txBody>
      </p:sp>
      <p:sp>
        <p:nvSpPr>
          <p:cNvPr id="328" name="TextBox 327"/>
          <p:cNvSpPr txBox="1"/>
          <p:nvPr/>
        </p:nvSpPr>
        <p:spPr>
          <a:xfrm>
            <a:off x="856294" y="5810010"/>
            <a:ext cx="1061987" cy="184666"/>
          </a:xfrm>
          <a:prstGeom prst="rect">
            <a:avLst/>
          </a:prstGeom>
          <a:noFill/>
        </p:spPr>
        <p:txBody>
          <a:bodyPr wrap="none" lIns="45720" tIns="22860" rIns="45720" bIns="22860" rtlCol="0">
            <a:spAutoFit/>
          </a:bodyPr>
          <a:lstStyle/>
          <a:p>
            <a:r>
              <a:rPr lang="en-US" sz="900" dirty="0" smtClean="0">
                <a:latin typeface="Courier New"/>
                <a:cs typeface="Courier New"/>
              </a:rPr>
              <a:t>*** return ***</a:t>
            </a:r>
            <a:endParaRPr lang="en-US" sz="900" dirty="0">
              <a:latin typeface="Courier New"/>
              <a:cs typeface="Courier New"/>
            </a:endParaRPr>
          </a:p>
        </p:txBody>
      </p:sp>
      <p:pic>
        <p:nvPicPr>
          <p:cNvPr id="329" name="Picture 3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691245">
            <a:off x="4000981" y="5645894"/>
            <a:ext cx="738038" cy="777600"/>
          </a:xfrm>
          <a:prstGeom prst="rect">
            <a:avLst/>
          </a:prstGeom>
        </p:spPr>
      </p:pic>
      <p:sp>
        <p:nvSpPr>
          <p:cNvPr id="334" name="TextBox 333"/>
          <p:cNvSpPr txBox="1"/>
          <p:nvPr/>
        </p:nvSpPr>
        <p:spPr>
          <a:xfrm>
            <a:off x="70134" y="6075158"/>
            <a:ext cx="648575" cy="138499"/>
          </a:xfrm>
          <a:prstGeom prst="rect">
            <a:avLst/>
          </a:prstGeom>
          <a:noFill/>
        </p:spPr>
        <p:txBody>
          <a:bodyPr wrap="none" lIns="45720" tIns="22860" rIns="45720" bIns="22860" rtlCol="0">
            <a:spAutoFit/>
          </a:bodyPr>
          <a:lstStyle/>
          <a:p>
            <a:r>
              <a:rPr lang="en-US" sz="600" i="1" dirty="0">
                <a:latin typeface="Times New Roman"/>
                <a:cs typeface="Times New Roman"/>
              </a:rPr>
              <a:t>local </a:t>
            </a:r>
            <a:r>
              <a:rPr lang="en-US" sz="600" i="1" dirty="0" err="1">
                <a:latin typeface="Times New Roman"/>
                <a:cs typeface="Times New Roman"/>
              </a:rPr>
              <a:t>vars</a:t>
            </a:r>
            <a:r>
              <a:rPr lang="en-US" sz="600" i="1" dirty="0">
                <a:latin typeface="Times New Roman"/>
                <a:cs typeface="Times New Roman"/>
              </a:rPr>
              <a:t> of </a:t>
            </a:r>
            <a:r>
              <a:rPr lang="en-US" sz="600" i="1" dirty="0" smtClean="0">
                <a:latin typeface="Times New Roman"/>
                <a:cs typeface="Times New Roman"/>
              </a:rPr>
              <a:t>main</a:t>
            </a:r>
            <a:endParaRPr lang="en-US" sz="600" i="1" dirty="0">
              <a:latin typeface="Times New Roman"/>
              <a:cs typeface="Times New Roman"/>
            </a:endParaRPr>
          </a:p>
        </p:txBody>
      </p:sp>
      <p:sp>
        <p:nvSpPr>
          <p:cNvPr id="335" name="Rectangle 334"/>
          <p:cNvSpPr/>
          <p:nvPr/>
        </p:nvSpPr>
        <p:spPr>
          <a:xfrm>
            <a:off x="122568" y="6230046"/>
            <a:ext cx="611415" cy="2510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45720" tIns="22860" rIns="45720" bIns="22860" spcCol="0" rtlCol="0" anchor="ctr"/>
          <a:lstStyle/>
          <a:p>
            <a:pPr algn="ctr"/>
            <a:endParaRPr lang="en-US"/>
          </a:p>
        </p:txBody>
      </p:sp>
      <p:graphicFrame>
        <p:nvGraphicFramePr>
          <p:cNvPr id="336" name="Table 3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32367"/>
              </p:ext>
            </p:extLst>
          </p:nvPr>
        </p:nvGraphicFramePr>
        <p:xfrm>
          <a:off x="122567" y="6264998"/>
          <a:ext cx="576782" cy="185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349"/>
                <a:gridCol w="454433"/>
              </a:tblGrid>
              <a:tr h="185420">
                <a:tc>
                  <a:txBody>
                    <a:bodyPr/>
                    <a:lstStyle/>
                    <a:p>
                      <a:pPr algn="r"/>
                      <a:r>
                        <a:rPr lang="en-US" sz="900" dirty="0" smtClean="0"/>
                        <a:t>S</a:t>
                      </a:r>
                      <a:endParaRPr lang="en-US" sz="900" dirty="0"/>
                    </a:p>
                  </a:txBody>
                  <a:tcPr marL="45720" marR="45720" marT="22860" marB="2286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smtClean="0">
                          <a:latin typeface="Courier New"/>
                          <a:cs typeface="Courier New"/>
                        </a:rPr>
                        <a:t>0xE78</a:t>
                      </a:r>
                      <a:endParaRPr lang="en-US" sz="900" dirty="0">
                        <a:latin typeface="Courier New"/>
                        <a:cs typeface="Courier New"/>
                      </a:endParaRPr>
                    </a:p>
                  </a:txBody>
                  <a:tcPr marL="45720" marR="45720" marT="22860" marB="2286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43" name="TextBox 342"/>
          <p:cNvSpPr txBox="1"/>
          <p:nvPr/>
        </p:nvSpPr>
        <p:spPr>
          <a:xfrm>
            <a:off x="70127" y="6572950"/>
            <a:ext cx="3263073" cy="184666"/>
          </a:xfrm>
          <a:prstGeom prst="rect">
            <a:avLst/>
          </a:prstGeom>
          <a:noFill/>
        </p:spPr>
        <p:txBody>
          <a:bodyPr wrap="none" lIns="45720" tIns="22860" rIns="45720" bIns="22860" rtlCol="0">
            <a:spAutoFit/>
          </a:bodyPr>
          <a:lstStyle/>
          <a:p>
            <a:r>
              <a:rPr lang="en-US" sz="900" dirty="0" smtClean="0">
                <a:latin typeface="Courier New"/>
                <a:cs typeface="Courier New"/>
              </a:rPr>
              <a:t>*** </a:t>
            </a:r>
            <a:r>
              <a:rPr lang="en-US" sz="900" dirty="0">
                <a:latin typeface="Courier New"/>
                <a:cs typeface="Courier New"/>
              </a:rPr>
              <a:t>S</a:t>
            </a:r>
            <a:r>
              <a:rPr lang="en-US" sz="900" dirty="0" smtClean="0">
                <a:latin typeface="Courier New"/>
                <a:cs typeface="Courier New"/>
              </a:rPr>
              <a:t>afety violation! The stack S is empty.***</a:t>
            </a:r>
            <a:endParaRPr lang="en-US" sz="900" dirty="0">
              <a:latin typeface="Courier New"/>
              <a:cs typeface="Courier New"/>
            </a:endParaRPr>
          </a:p>
        </p:txBody>
      </p:sp>
      <p:sp>
        <p:nvSpPr>
          <p:cNvPr id="346" name="TextBox 345"/>
          <p:cNvSpPr txBox="1"/>
          <p:nvPr/>
        </p:nvSpPr>
        <p:spPr>
          <a:xfrm>
            <a:off x="2963440" y="6176665"/>
            <a:ext cx="643766" cy="138499"/>
          </a:xfrm>
          <a:prstGeom prst="rect">
            <a:avLst/>
          </a:prstGeom>
          <a:noFill/>
        </p:spPr>
        <p:txBody>
          <a:bodyPr wrap="none" lIns="45720" tIns="22860" rIns="45720" bIns="22860" rtlCol="0">
            <a:spAutoFit/>
          </a:bodyPr>
          <a:lstStyle/>
          <a:p>
            <a:r>
              <a:rPr lang="en-US" sz="600" i="1" dirty="0" smtClean="0">
                <a:latin typeface="Times New Roman"/>
                <a:cs typeface="Times New Roman"/>
              </a:rPr>
              <a:t>allocated memory</a:t>
            </a:r>
            <a:endParaRPr lang="en-US" sz="600" i="1" dirty="0">
              <a:latin typeface="Times New Roman"/>
              <a:cs typeface="Times New Roman"/>
            </a:endParaRPr>
          </a:p>
        </p:txBody>
      </p:sp>
      <p:sp>
        <p:nvSpPr>
          <p:cNvPr id="347" name="Rectangle 346"/>
          <p:cNvSpPr/>
          <p:nvPr/>
        </p:nvSpPr>
        <p:spPr>
          <a:xfrm>
            <a:off x="2963440" y="6291964"/>
            <a:ext cx="369377" cy="138500"/>
          </a:xfrm>
          <a:prstGeom prst="rect">
            <a:avLst/>
          </a:prstGeom>
        </p:spPr>
        <p:txBody>
          <a:bodyPr wrap="none" lIns="45720" tIns="22860" rIns="45720" bIns="22860">
            <a:spAutoFit/>
          </a:bodyPr>
          <a:lstStyle/>
          <a:p>
            <a:r>
              <a:rPr lang="en-US" sz="600" dirty="0" smtClean="0">
                <a:latin typeface="Courier New"/>
                <a:cs typeface="Courier New"/>
              </a:rPr>
              <a:t>0xE78:</a:t>
            </a:r>
            <a:endParaRPr lang="en-US" sz="600" dirty="0">
              <a:latin typeface="Courier New"/>
              <a:cs typeface="Courier New"/>
            </a:endParaRPr>
          </a:p>
        </p:txBody>
      </p:sp>
      <p:graphicFrame>
        <p:nvGraphicFramePr>
          <p:cNvPr id="348" name="Table 3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9427553"/>
              </p:ext>
            </p:extLst>
          </p:nvPr>
        </p:nvGraphicFramePr>
        <p:xfrm>
          <a:off x="3315499" y="6337753"/>
          <a:ext cx="116840" cy="185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840"/>
              </a:tblGrid>
              <a:tr h="1854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 smtClean="0">
                        <a:latin typeface="Courier New"/>
                        <a:cs typeface="Courier New"/>
                      </a:endParaRPr>
                    </a:p>
                  </a:txBody>
                  <a:tcPr marL="45720" marR="45720" marT="22860" marB="2286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49" name="Right Arrow 348"/>
          <p:cNvSpPr/>
          <p:nvPr/>
        </p:nvSpPr>
        <p:spPr>
          <a:xfrm>
            <a:off x="3437136" y="6424955"/>
            <a:ext cx="144319" cy="98219"/>
          </a:xfrm>
          <a:prstGeom prst="rightArrow">
            <a:avLst/>
          </a:prstGeom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22860" rIns="45720" bIns="22860" rtlCol="0" anchor="ctr"/>
          <a:lstStyle/>
          <a:p>
            <a:pPr algn="ctr"/>
            <a:endParaRPr lang="en-US"/>
          </a:p>
        </p:txBody>
      </p:sp>
      <p:sp>
        <p:nvSpPr>
          <p:cNvPr id="350" name="Right Arrow 349"/>
          <p:cNvSpPr/>
          <p:nvPr/>
        </p:nvSpPr>
        <p:spPr>
          <a:xfrm rot="10800000">
            <a:off x="3437136" y="6344053"/>
            <a:ext cx="144319" cy="98219"/>
          </a:xfrm>
          <a:prstGeom prst="rightArrow">
            <a:avLst/>
          </a:prstGeom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22860" rIns="45720" bIns="22860" rtlCol="0" anchor="ctr"/>
          <a:lstStyle/>
          <a:p>
            <a:pPr algn="ctr"/>
            <a:endParaRPr lang="en-US"/>
          </a:p>
        </p:txBody>
      </p:sp>
      <p:sp>
        <p:nvSpPr>
          <p:cNvPr id="118" name="Title 1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tracerev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585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845</TotalTime>
  <Words>235</Words>
  <Application>Microsoft Macintosh PowerPoint</Application>
  <PresentationFormat>On-screen Show (4:3)</PresentationFormat>
  <Paragraphs>107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Courier New</vt:lpstr>
      <vt:lpstr>Times New Roman</vt:lpstr>
      <vt:lpstr>Office Theme</vt:lpstr>
      <vt:lpstr>Pictures for this recitation</vt:lpstr>
      <vt:lpstr>structs</vt:lpstr>
      <vt:lpstr>tracerev</vt:lpstr>
    </vt:vector>
  </TitlesOfParts>
  <Company>Carnegie Mellon University</Company>
  <LinksUpToDate>false</LinksUpToDate>
  <SharedDoc>false</SharedDoc>
  <HyperlinksChanged>false</HyperlinksChanged>
  <AppVersion>15.0031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Frank Pfenning</dc:creator>
  <cp:lastModifiedBy>Jonathan Burns</cp:lastModifiedBy>
  <cp:revision>59</cp:revision>
  <dcterms:created xsi:type="dcterms:W3CDTF">2011-02-11T13:14:12Z</dcterms:created>
  <dcterms:modified xsi:type="dcterms:W3CDTF">2017-02-17T18:10:27Z</dcterms:modified>
</cp:coreProperties>
</file>